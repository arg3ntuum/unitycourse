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1" r:id="rId3"/>
    <p:sldId id="262" r:id="rId4"/>
    <p:sldId id="263" r:id="rId5"/>
    <p:sldId id="292" r:id="rId6"/>
    <p:sldId id="290" r:id="rId7"/>
    <p:sldId id="291" r:id="rId8"/>
    <p:sldId id="258" r:id="rId9"/>
    <p:sldId id="295" r:id="rId10"/>
    <p:sldId id="259" r:id="rId11"/>
    <p:sldId id="260" r:id="rId12"/>
    <p:sldId id="264" r:id="rId13"/>
    <p:sldId id="265" r:id="rId14"/>
    <p:sldId id="266" r:id="rId15"/>
    <p:sldId id="267" r:id="rId16"/>
    <p:sldId id="269" r:id="rId17"/>
    <p:sldId id="268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96" r:id="rId27"/>
    <p:sldId id="298" r:id="rId28"/>
    <p:sldId id="278" r:id="rId29"/>
    <p:sldId id="279" r:id="rId30"/>
    <p:sldId id="280" r:id="rId31"/>
    <p:sldId id="281" r:id="rId32"/>
    <p:sldId id="282" r:id="rId33"/>
    <p:sldId id="283" r:id="rId34"/>
    <p:sldId id="285" r:id="rId35"/>
    <p:sldId id="286" r:id="rId36"/>
    <p:sldId id="287" r:id="rId37"/>
    <p:sldId id="293" r:id="rId38"/>
    <p:sldId id="288" r:id="rId39"/>
    <p:sldId id="294" r:id="rId40"/>
    <p:sldId id="299" r:id="rId41"/>
    <p:sldId id="300" r:id="rId42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80" d="100"/>
          <a:sy n="80" d="100"/>
        </p:scale>
        <p:origin x="61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62191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16.07.2025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390387" y="3568704"/>
            <a:ext cx="9411231" cy="28946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Структура проекту. </a:t>
            </a:r>
          </a:p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Змінні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2BE045-04C0-4091-B2BF-1F8172ABF80C}"/>
              </a:ext>
            </a:extLst>
          </p:cNvPr>
          <p:cNvSpPr txBox="1"/>
          <p:nvPr/>
        </p:nvSpPr>
        <p:spPr>
          <a:xfrm>
            <a:off x="400049" y="1473465"/>
            <a:ext cx="385385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початку треба створити проект</a:t>
            </a:r>
            <a:r>
              <a:rPr lang="en-US" sz="2400" dirty="0">
                <a:solidFill>
                  <a:srgbClr val="000000"/>
                </a:solidFill>
              </a:rPr>
              <a:t>. </a:t>
            </a:r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Оберіть в мовах програмування «</a:t>
            </a:r>
            <a:r>
              <a:rPr lang="en-US" sz="2400" dirty="0">
                <a:solidFill>
                  <a:srgbClr val="000000"/>
                </a:solidFill>
              </a:rPr>
              <a:t>C#</a:t>
            </a:r>
            <a:r>
              <a:rPr lang="uk-UA" sz="2400" dirty="0">
                <a:solidFill>
                  <a:srgbClr val="000000"/>
                </a:solidFill>
              </a:rPr>
              <a:t>» в лівому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</a:t>
            </a:r>
            <a:r>
              <a:rPr lang="en-US" sz="2400" dirty="0">
                <a:solidFill>
                  <a:srgbClr val="000000"/>
                </a:solidFill>
              </a:rPr>
              <a:t>.</a:t>
            </a: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uk-UA" sz="2400" dirty="0">
                <a:solidFill>
                  <a:srgbClr val="000000"/>
                </a:solidFill>
              </a:rPr>
              <a:t>«Консоль (.</a:t>
            </a:r>
            <a:r>
              <a:rPr lang="en-US" sz="2400" dirty="0">
                <a:solidFill>
                  <a:srgbClr val="000000"/>
                </a:solidFill>
              </a:rPr>
              <a:t>NET Framework</a:t>
            </a:r>
            <a:r>
              <a:rPr lang="uk-UA" sz="2400" dirty="0">
                <a:solidFill>
                  <a:srgbClr val="000000"/>
                </a:solidFill>
              </a:rPr>
              <a:t>)» в правому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«Консольний додаток».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CC266B-FFC3-4F37-AEEE-E762AC985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719" y="1473465"/>
            <a:ext cx="6966266" cy="463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60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endParaRPr lang="uk-UA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67992D6-76F5-45DE-8736-FCD92E185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03" y="1441021"/>
            <a:ext cx="7791797" cy="518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400049" y="1473465"/>
            <a:ext cx="385385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У обведене червоне поле напишіть назву латинськими (англійськими) літерами.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«Місце знаходження вашого проекту» за допомогою наступного синього поля.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</a:t>
            </a:r>
            <a:r>
              <a:rPr lang="en-US" sz="2400" dirty="0">
                <a:solidFill>
                  <a:srgbClr val="000000"/>
                </a:solidFill>
              </a:rPr>
              <a:t>Next</a:t>
            </a:r>
            <a:r>
              <a:rPr lang="uk-UA" sz="2400" dirty="0">
                <a:solidFill>
                  <a:srgbClr val="000000"/>
                </a:solidFill>
              </a:rPr>
              <a:t>».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597821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</a:t>
            </a:r>
            <a:r>
              <a:rPr lang="en-US" sz="2400" dirty="0">
                <a:solidFill>
                  <a:srgbClr val="000000"/>
                </a:solidFill>
              </a:rPr>
              <a:t>1. </a:t>
            </a:r>
            <a:r>
              <a:rPr lang="uk-UA" sz="2400" dirty="0">
                <a:solidFill>
                  <a:srgbClr val="000000"/>
                </a:solidFill>
              </a:rPr>
              <a:t>Натискайте </a:t>
            </a:r>
            <a:r>
              <a:rPr lang="en-US" sz="2400" dirty="0">
                <a:solidFill>
                  <a:srgbClr val="000000"/>
                </a:solidFill>
              </a:rPr>
              <a:t>Create.</a:t>
            </a:r>
          </a:p>
          <a:p>
            <a:endParaRPr lang="en-US" sz="2400" dirty="0">
              <a:solidFill>
                <a:srgbClr val="000000"/>
              </a:solidFill>
            </a:endParaRPr>
          </a:p>
          <a:p>
            <a:endParaRPr lang="uk-UA" sz="2400" dirty="0">
              <a:solidFill>
                <a:srgbClr val="000000"/>
              </a:solidFill>
            </a:endParaRPr>
          </a:p>
          <a:p>
            <a:endParaRPr lang="en-US" sz="2400" dirty="0">
              <a:solidFill>
                <a:srgbClr val="000000"/>
              </a:solidFill>
            </a:endParaRPr>
          </a:p>
          <a:p>
            <a:pPr algn="ctr"/>
            <a:r>
              <a:rPr lang="uk-UA" sz="2400" dirty="0">
                <a:solidFill>
                  <a:srgbClr val="000000"/>
                </a:solidFill>
              </a:rPr>
              <a:t>Вітаю вас у світі програмування!</a:t>
            </a:r>
            <a:endParaRPr lang="uk-UA" sz="24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A74AC15-E9B4-4A67-824E-DCA521CA5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9075" y="1342951"/>
            <a:ext cx="8073776" cy="537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271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Саме таке вікно у вас повинно було відкритись.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8D38976-E18F-4935-974F-14D3CD7D5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1941321"/>
            <a:ext cx="8319247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652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того, щоб додати бібліотеки </a:t>
            </a:r>
            <a:r>
              <a:rPr lang="uk-UA" sz="2400" dirty="0" err="1">
                <a:solidFill>
                  <a:srgbClr val="000000"/>
                </a:solidFill>
              </a:rPr>
              <a:t>недостаючі</a:t>
            </a:r>
            <a:r>
              <a:rPr lang="uk-UA" sz="2400" dirty="0">
                <a:solidFill>
                  <a:srgbClr val="000000"/>
                </a:solidFill>
              </a:rPr>
              <a:t>, натисніть: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96638C-563D-491D-AAB0-44CC7CB30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562" y="1917832"/>
            <a:ext cx="5754289" cy="302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44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Переконайтесь, що у вас інстальовані наступні бібліотеки: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3F5A3-7688-4DCB-AAFF-687DF264DC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96" t="11710" r="29044" b="28433"/>
          <a:stretch/>
        </p:blipFill>
        <p:spPr>
          <a:xfrm>
            <a:off x="4940051" y="1238249"/>
            <a:ext cx="6591300" cy="3218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E39D895-E697-472E-AF61-69C61C92D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4629151"/>
            <a:ext cx="599122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03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Весь код програми мовою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міститься у файли 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у проекті, який створюється 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(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а також при використанні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CLI),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вже є один файл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-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файл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 таким вмістом:</a:t>
            </a:r>
            <a:endParaRPr lang="uk-UA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5E71CD-A0F1-4286-9CE7-6928E7CFDA91}"/>
              </a:ext>
            </a:extLst>
          </p:cNvPr>
          <p:cNvSpPr txBox="1"/>
          <p:nvPr/>
        </p:nvSpPr>
        <p:spPr>
          <a:xfrm>
            <a:off x="400049" y="5453539"/>
            <a:ext cx="113252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Саме код файлу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виконується за умовчанням, якщо ми запустимо проект виконання. Але за потреби ми також можемо додавати інші файли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765D78-174C-4CCF-86FC-0357BE0DC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007" y="2730024"/>
            <a:ext cx="3363985" cy="257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958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Найголовніше, що треба знати – це те, що код треба писати в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Main,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бо він є точкою запуску компілятора.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D6B560-6F7D-4744-A9A7-9205282E0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2235458"/>
            <a:ext cx="4243387" cy="3220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26874E-EF6A-4899-8A12-67A7C137205B}"/>
              </a:ext>
            </a:extLst>
          </p:cNvPr>
          <p:cNvSpPr txBox="1"/>
          <p:nvPr/>
        </p:nvSpPr>
        <p:spPr>
          <a:xfrm>
            <a:off x="400049" y="3697066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– це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програма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яка переписує код, написаний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у машинний код або код мовою асемблера. </a:t>
            </a:r>
            <a:endParaRPr lang="en-US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Цей процес дає змогу створювати файли, які можуть запускатися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конкретному вашому комп’ютері. </a:t>
            </a: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Кожен раз, коли ви відкриваєте файл – він підлаштовуються під систему, де ви його запускаєте, що дозволяє запускати його на різних комп’ютерних системах.</a:t>
            </a:r>
          </a:p>
        </p:txBody>
      </p:sp>
    </p:spTree>
    <p:extLst>
      <p:ext uri="{BB962C8B-B14F-4D97-AF65-F5344CB8AC3E}">
        <p14:creationId xmlns:p14="http://schemas.microsoft.com/office/powerpoint/2010/main" val="2043470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66726" y="1404461"/>
            <a:ext cx="112585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</a:rPr>
              <a:t>Базовим будівельним блоком програми є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інструкції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 (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statement).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Інструкція представляє певну дію, наприклад, арифметичну операцію, виклик методу, оголошення змінної та присвоєння їй значення. Наприкінці кожної інструкції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ставиться крапка з комою (;). Цей знак вказує компілятор на кінець інструкції. Наприклад, у проекті консольної програми, який створюється за замовчуванням, є такий рядок:</a:t>
            </a:r>
            <a:endParaRPr lang="uk-UA" sz="2400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BA83AC41-6E10-432B-8B6F-1EC83F132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2" y="3712785"/>
            <a:ext cx="112585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5E0D20C-4628-44FA-89DF-26E16003C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726" y="3999012"/>
            <a:ext cx="1125854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Цей рядок представляє виклик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який виводить на консоль рядок. У разі виклик методу є інструкцією і тому завершується точкою з комою.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5133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4877F-3FD0-4D0E-A44B-2D03394683A0}"/>
              </a:ext>
            </a:extLst>
          </p:cNvPr>
          <p:cNvSpPr txBox="1"/>
          <p:nvPr/>
        </p:nvSpPr>
        <p:spPr>
          <a:xfrm>
            <a:off x="552450" y="1400086"/>
            <a:ext cx="110299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Набір інструкцій може поєднуватися в блок коду. Блок коду полягає у фігурних дужках, а інструкції поміщаються між відкриває і закриває фігурними дужками.</a:t>
            </a:r>
            <a:r>
              <a:rPr kumimoji="0" lang="en-US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змінимо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 код файлу </a:t>
            </a:r>
            <a:r>
              <a:rPr lang="ru-RU" sz="2400" b="1" i="0" dirty="0" err="1">
                <a:solidFill>
                  <a:srgbClr val="000000"/>
                </a:solidFill>
                <a:effectLst/>
                <a:latin typeface="+mn-lt"/>
              </a:rPr>
              <a:t>Program.cs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 на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наступний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5A44CB-E75E-4BFD-8D9D-0D0600867CB3}"/>
              </a:ext>
            </a:extLst>
          </p:cNvPr>
          <p:cNvSpPr txBox="1"/>
          <p:nvPr/>
        </p:nvSpPr>
        <p:spPr>
          <a:xfrm>
            <a:off x="552450" y="5616485"/>
            <a:ext cx="1102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два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286EBE-A04C-4063-ACFA-2C4CEACF340E}"/>
              </a:ext>
            </a:extLst>
          </p:cNvPr>
          <p:cNvSpPr txBox="1"/>
          <p:nvPr/>
        </p:nvSpPr>
        <p:spPr>
          <a:xfrm>
            <a:off x="609600" y="2540188"/>
            <a:ext cx="620077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System;</a:t>
            </a:r>
          </a:p>
          <a:p>
            <a:endParaRPr lang="uk-UA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Test2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internal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Program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{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{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починається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block!"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Гарної подорожі у світі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C#"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}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}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закінчується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uk-UA" sz="10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E570977-B102-4616-B051-D66C45C3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263" y="2612847"/>
            <a:ext cx="5640248" cy="300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34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4" y="1314361"/>
            <a:ext cx="1039177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три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58C604A-2E7C-4132-A891-42D8A98DE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2" y="2068413"/>
            <a:ext cx="11801477" cy="923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kumimoji="0" lang="ru-RU" altLang="uk-UA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block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у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св?т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C#</a:t>
            </a:r>
            <a:endParaRPr kumimoji="0" lang="uk-UA" altLang="uk-UA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7520B8-A2FF-41EF-B85F-0616F0E9A292}"/>
              </a:ext>
            </a:extLst>
          </p:cNvPr>
          <p:cNvSpPr txBox="1"/>
          <p:nvPr/>
        </p:nvSpPr>
        <p:spPr>
          <a:xfrm>
            <a:off x="314323" y="3046302"/>
            <a:ext cx="11506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</a:rPr>
              <a:t>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блоці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які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виводять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певний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рядок.</a:t>
            </a:r>
            <a:endParaRPr lang="uk-UA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E0049E-BCB7-4026-9809-48394C08A73A}"/>
              </a:ext>
            </a:extLst>
          </p:cNvPr>
          <p:cNvSpPr txBox="1"/>
          <p:nvPr/>
        </p:nvSpPr>
        <p:spPr>
          <a:xfrm>
            <a:off x="314323" y="36485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Одні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можуть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інші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блоки:</a:t>
            </a:r>
            <a:endParaRPr lang="uk-UA" sz="2400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A9259BAB-CAF9-4B8D-8D53-88E4E2577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3" y="4066311"/>
            <a:ext cx="11353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"Перший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"Другий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645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 err="1">
                <a:solidFill>
                  <a:srgbClr val="000000"/>
                </a:solidFill>
                <a:latin typeface="-apple-system"/>
              </a:rPr>
              <a:t>Регістрозалежність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5" y="1352461"/>
            <a:ext cx="103917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регістрозалежною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мовою. Це означає, що в залежності від регістру символів певні назви можуть представляти різні класи, методи, змінні 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Наприклад, для виведення на консоль використовується метод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його ім'я починається саме з великої літери: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WriteLine". </a:t>
            </a:r>
            <a:endParaRPr lang="uk-UA" sz="2400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Якщо ми замість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напишемо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то програма не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скомпілюється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, тому що даний метод обов'язково має називатися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 не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якось інакше.</a:t>
            </a:r>
          </a:p>
        </p:txBody>
      </p:sp>
    </p:spTree>
    <p:extLst>
      <p:ext uri="{BB962C8B-B14F-4D97-AF65-F5344CB8AC3E}">
        <p14:creationId xmlns:p14="http://schemas.microsoft.com/office/powerpoint/2010/main" val="3476856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Коментарі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26" y="1254244"/>
            <a:ext cx="11739716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Важливою частиною програмного коду є коментарі.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Вони не є частиною програми, при компіляції вони ігноруються. Проте коментарі роблять код програми зрозумілішим, допомагаючи зрозуміти ті чи інші його частини.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є два типи коментарів: однорядковий та багаторядковий. Однорядковий коментар розміщується на одному рядку після подвійного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слішу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//. А багаторядковий коментар полягає між символами /* текст коментаря */. Він може розміщуватись на декількох рядках. Наприклад: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50C07F-5161-4193-8FA5-394BA0C0D7E1}"/>
              </a:ext>
            </a:extLst>
          </p:cNvPr>
          <p:cNvSpPr txBox="1"/>
          <p:nvPr/>
        </p:nvSpPr>
        <p:spPr>
          <a:xfrm>
            <a:off x="324464" y="4648363"/>
            <a:ext cx="1154307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/*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перша программа на C#,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яка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виводить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</a:t>
            </a:r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#”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");//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endParaRPr lang="en-US" sz="1400" b="0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fontAlgn="base"/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або можна перед якоюсь дією ставити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C#"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 подорожі у світі 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C#");</a:t>
            </a:r>
          </a:p>
        </p:txBody>
      </p:sp>
    </p:spTree>
    <p:extLst>
      <p:ext uri="{BB962C8B-B14F-4D97-AF65-F5344CB8AC3E}">
        <p14:creationId xmlns:p14="http://schemas.microsoft.com/office/powerpoint/2010/main" val="1315322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464" y="1322866"/>
            <a:ext cx="11543071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У кожному проекті проекту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файл, який відповідає за загальну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проекту. За промовчанням цей файл називається </a:t>
            </a:r>
            <a:r>
              <a:rPr lang="uk-UA" sz="2400" b="1" i="0" dirty="0" err="1">
                <a:solidFill>
                  <a:srgbClr val="000000"/>
                </a:solidFill>
                <a:effectLst/>
                <a:latin typeface="-apple-system"/>
              </a:rPr>
              <a:t>Назва_проекту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-apple-system"/>
              </a:rPr>
              <a:t>csproj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Отже, відкриємо цей файл. Для цього або подвійним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кліком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лівою кнопкою миші натиснемо на назву проекту, або натиснемо на назву проекту правою кнопкою миші і в меню виберемо пункт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Edit Project File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92BA122-F68D-4FAE-894A-00738CE33B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694" b="43869"/>
          <a:stretch/>
        </p:blipFill>
        <p:spPr>
          <a:xfrm>
            <a:off x="1199534" y="3429000"/>
            <a:ext cx="9792929" cy="24678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84AABD7-6E95-44E9-B43B-C2B09733B557}"/>
              </a:ext>
            </a:extLst>
          </p:cNvPr>
          <p:cNvSpPr txBox="1"/>
          <p:nvPr/>
        </p:nvSpPr>
        <p:spPr>
          <a:xfrm>
            <a:off x="314632" y="6046442"/>
            <a:ext cx="115430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виглядатиме, як малюнок вище.</a:t>
            </a:r>
          </a:p>
          <a:p>
            <a:br>
              <a:rPr lang="uk-UA" sz="2400" dirty="0"/>
            </a:b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1977701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3836F9-83B8-43F6-97AF-016BEB6360E5}"/>
              </a:ext>
            </a:extLst>
          </p:cNvPr>
          <p:cNvSpPr txBox="1"/>
          <p:nvPr/>
        </p:nvSpPr>
        <p:spPr>
          <a:xfrm>
            <a:off x="352425" y="219851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Sdk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Microsoft.NET.Sdk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Exe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net8.0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C7456-831B-4407-B968-6608FC0A0A9C}"/>
              </a:ext>
            </a:extLst>
          </p:cNvPr>
          <p:cNvSpPr txBox="1"/>
          <p:nvPr/>
        </p:nvSpPr>
        <p:spPr>
          <a:xfrm>
            <a:off x="352425" y="1367522"/>
            <a:ext cx="108775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</a:t>
            </a:r>
            <a:r>
              <a:rPr lang="uk-UA" sz="2400" dirty="0">
                <a:solidFill>
                  <a:srgbClr val="000000"/>
                </a:solidFill>
              </a:rPr>
              <a:t> наступним чином:</a:t>
            </a:r>
            <a:endParaRPr lang="uk-UA" sz="24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40595-5A50-41F7-9D59-56EAC5958EB5}"/>
              </a:ext>
            </a:extLst>
          </p:cNvPr>
          <p:cNvSpPr txBox="1"/>
          <p:nvPr/>
        </p:nvSpPr>
        <p:spPr>
          <a:xfrm>
            <a:off x="352425" y="5337840"/>
            <a:ext cx="114871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Цей файл у вигляді коду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xml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проекту і може містити безліч елементів. 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2886137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1D9BF1-998E-46E4-9928-3804B3B221F7}"/>
              </a:ext>
            </a:extLst>
          </p:cNvPr>
          <p:cNvSpPr txBox="1"/>
          <p:nvPr/>
        </p:nvSpPr>
        <p:spPr>
          <a:xfrm>
            <a:off x="371475" y="1332369"/>
            <a:ext cx="115443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Зупинимось тільки на двох основних:</a:t>
            </a:r>
          </a:p>
          <a:p>
            <a:pPr algn="l"/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OutputType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вихідний тип проекту.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Це може бути додаток у вигляді файлу з розширенням 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exe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який запускається по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натисканню.І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також це може бути файл із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dll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деякий набір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функціональностей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, який використовується іншими проектами.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тут встановлено значення "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Exe",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означає, що ми створюємо програму, що виконується.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TargetFramework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версію фреймворку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застосовується для компіляції. У разі це значення "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net6.0 " 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тобто застосовується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6.0.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На ранніх етапах цей файл може не знадобитися, проте згодом може знадобитися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внести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деякі зміни в конфігурацію, і тоді може виникнути потреба у зверненні до цього файлу.</a:t>
            </a:r>
          </a:p>
        </p:txBody>
      </p:sp>
    </p:spTree>
    <p:extLst>
      <p:ext uri="{BB962C8B-B14F-4D97-AF65-F5344CB8AC3E}">
        <p14:creationId xmlns:p14="http://schemas.microsoft.com/office/powerpoint/2010/main" val="3082052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8" y="1386682"/>
            <a:ext cx="11728961" cy="3440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Для зберігання даних у програмі застосовуються </a:t>
            </a:r>
            <a:r>
              <a:rPr kumimoji="0" lang="uk-UA" altLang="uk-UA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змінні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Змінна являє саме ванну область пам'яті, в якій зберігається значення певного типу. Змінна має тип, ім'я та значення.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6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Тип визначає, що такого роду інформацію може зберігати змінна.</a:t>
            </a:r>
            <a:r>
              <a:rPr lang="uk-UA" altLang="uk-UA" sz="2600" dirty="0"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Перед використанням будь-яку змінну слід визначити. Синтаксис визначення змінної виглядає так: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D036D-538E-4EE3-88BE-53C04DCD696D}"/>
              </a:ext>
            </a:extLst>
          </p:cNvPr>
          <p:cNvSpPr txBox="1"/>
          <p:nvPr/>
        </p:nvSpPr>
        <p:spPr>
          <a:xfrm>
            <a:off x="231518" y="4827624"/>
            <a:ext cx="4227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тип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ім’я_змінної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7860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9" y="1428452"/>
            <a:ext cx="11728961" cy="4001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Спочатку йде тип змінної, потім її ім'я. Як ім'я змінної може виступати будь-яка довільна назва, яка задовольняє наступним вимогам: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може містити будь-які цифри, букви та символ підкреслення, при цьому перший символ в імені має бути буквою або символом підкреслення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В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імені не повинно бути знаків пунктуації та пропусків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не може бути ключовим словом мови C#. Таких слів не так багато, і під час роботи у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Visual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Studio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середовище розробки підсвічує ключові слова синім кольором.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Хоча ім'я зміною може бути будь-яким, але слід давати змінним описові імена, які будуть говорити про їхнє призначення.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98446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706" y="1759140"/>
            <a:ext cx="11454581" cy="38410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>
                <a:solidFill>
                  <a:srgbClr val="000000"/>
                </a:solidFill>
                <a:latin typeface="+mn-lt"/>
              </a:rPr>
              <a:t>     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Наприклад, визначимо найпростішу змінну: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В даному випадку визначено змінну name, яка має тип </a:t>
            </a:r>
            <a:r>
              <a:rPr kumimoji="0" lang="uk-UA" altLang="uk-UA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тобто змінна представляє рядок. Оскільки визначення змінної є інструкцією, то після нього ставиться крапка з комою.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При цьому слід враховувати, що C# є регістрозалежною мовою, тому наступні два визначення змінних будуть представляти дві різні змінні: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137CF2-74BA-44EA-BCB1-C091622A80B3}"/>
              </a:ext>
            </a:extLst>
          </p:cNvPr>
          <p:cNvSpPr txBox="1"/>
          <p:nvPr/>
        </p:nvSpPr>
        <p:spPr>
          <a:xfrm>
            <a:off x="629265" y="20989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578679-E8CB-4826-B6B7-9D82AB546F9A}"/>
              </a:ext>
            </a:extLst>
          </p:cNvPr>
          <p:cNvSpPr txBox="1"/>
          <p:nvPr/>
        </p:nvSpPr>
        <p:spPr>
          <a:xfrm>
            <a:off x="629265" y="49538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</p:spTree>
    <p:extLst>
      <p:ext uri="{BB962C8B-B14F-4D97-AF65-F5344CB8AC3E}">
        <p14:creationId xmlns:p14="http://schemas.microsoft.com/office/powerpoint/2010/main" val="1113228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893" y="847062"/>
            <a:ext cx="1145458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 dirty="0">
                <a:solidFill>
                  <a:srgbClr val="000000"/>
                </a:solidFill>
                <a:latin typeface="+mn-lt"/>
              </a:rPr>
              <a:t>    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Після визначення змінної можна надати деяке значення: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Оскільки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представляє тип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тобто рядок, ми можемо присвоїти їй рядок в подвійних лапках. Причому змінної можна присвоїти лише те значення, яке відповідає її типу.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4C1438-4121-4BFB-82B6-0B27FBF71C76}"/>
              </a:ext>
            </a:extLst>
          </p:cNvPr>
          <p:cNvSpPr txBox="1"/>
          <p:nvPr/>
        </p:nvSpPr>
        <p:spPr>
          <a:xfrm>
            <a:off x="432619" y="15920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"Tom";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4D97575-A4AF-4AF8-802D-2CBA810BC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3798332"/>
            <a:ext cx="10432025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Надалі за допомогою імені змінної ми зможемо звертатися до тієї області пам'яті, де зберігається її 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Також ми можемо відразу при визначенні присвоїти змінної значення.</a:t>
            </a:r>
            <a:r>
              <a:rPr kumimoji="0" lang="en-US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 називаєтьс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я </a:t>
            </a:r>
            <a:r>
              <a:rPr lang="uk-UA" altLang="uk-UA" sz="2600" b="1" dirty="0">
                <a:solidFill>
                  <a:srgbClr val="000000"/>
                </a:solidFill>
                <a:latin typeface="+mn-lt"/>
              </a:rPr>
              <a:t>ініціалізацією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F5C427-EE6D-4785-853F-E75E61E9C733}"/>
              </a:ext>
            </a:extLst>
          </p:cNvPr>
          <p:cNvSpPr txBox="1"/>
          <p:nvPr/>
        </p:nvSpPr>
        <p:spPr>
          <a:xfrm>
            <a:off x="432619" y="3429000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3F8971-252D-44E7-A849-AE2B3EE9C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5398144"/>
            <a:ext cx="289502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 </a:t>
            </a:r>
          </a:p>
        </p:txBody>
      </p:sp>
    </p:spTree>
    <p:extLst>
      <p:ext uri="{BB962C8B-B14F-4D97-AF65-F5344CB8AC3E}">
        <p14:creationId xmlns:p14="http://schemas.microsoft.com/office/powerpoint/2010/main" val="2501974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02BFAB-B2EC-4918-BE71-506FC4A63B99}"/>
              </a:ext>
            </a:extLst>
          </p:cNvPr>
          <p:cNvSpPr txBox="1"/>
          <p:nvPr/>
        </p:nvSpPr>
        <p:spPr>
          <a:xfrm>
            <a:off x="838200" y="1393577"/>
            <a:ext cx="9829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Відмінною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рисою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є те,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в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багаторазово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міняти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</a:t>
            </a:r>
            <a:endParaRPr lang="uk-UA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91BB8B-18B4-47B1-A93B-62FD322EDFAD}"/>
              </a:ext>
            </a:extLst>
          </p:cNvPr>
          <p:cNvSpPr txBox="1"/>
          <p:nvPr/>
        </p:nvSpPr>
        <p:spPr>
          <a:xfrm>
            <a:off x="838200" y="3458600"/>
            <a:ext cx="66770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Консольний висновок програми:</a:t>
            </a:r>
            <a:endParaRPr lang="uk-UA" sz="240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6FEE259D-3D26-41F6-AD89-BFD42C69C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973224"/>
            <a:ext cx="495300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0" lang="en-US" altLang="uk-UA" sz="1200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C9D269-E32B-4F5E-B0CB-2D033E55AE5F}"/>
              </a:ext>
            </a:extLst>
          </p:cNvPr>
          <p:cNvSpPr txBox="1"/>
          <p:nvPr/>
        </p:nvSpPr>
        <p:spPr>
          <a:xfrm>
            <a:off x="838200" y="2205312"/>
            <a:ext cx="9829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  // 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створюємо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зміну і </a:t>
            </a:r>
            <a:r>
              <a:rPr lang="uk-UA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ініціалізуємо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її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Tom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"Bob";       // 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змінюємо значення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Bob</a:t>
            </a:r>
          </a:p>
        </p:txBody>
      </p:sp>
    </p:spTree>
    <p:extLst>
      <p:ext uri="{BB962C8B-B14F-4D97-AF65-F5344CB8AC3E}">
        <p14:creationId xmlns:p14="http://schemas.microsoft.com/office/powerpoint/2010/main" val="2547940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657224" y="1317189"/>
            <a:ext cx="110394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Відмінною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особливістю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їхнє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Але,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у C# є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 </a:t>
            </a:r>
            <a:r>
              <a:rPr lang="ru-RU" sz="20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обов'язково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ініціалізована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і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після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змінено</a:t>
            </a:r>
            <a:endParaRPr lang="ru-RU" sz="20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призначені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опису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таких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повинні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змінюватись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ключове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слово </a:t>
            </a:r>
            <a:r>
              <a:rPr lang="ru-RU" sz="2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const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яке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вказується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перед типом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42BFB8E-B228-44CA-8F26-0B4599A9E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" y="3290500"/>
            <a:ext cx="716862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определяем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константу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49D32AF-ACE8-4C6C-B4AF-FEEC6BD9A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4" y="3636734"/>
            <a:ext cx="11782425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Так, у даному випадку визначена константа NAME, яка зберігає рядок "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Tom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".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8969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383458" y="1290266"/>
            <a:ext cx="1134642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пам'ятати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оголосити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лише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один раз і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момент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компіляції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мають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Так,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отримаємо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помилку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надано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початкове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B5C56-C3CA-4056-A045-B1CF48755254}"/>
              </a:ext>
            </a:extLst>
          </p:cNvPr>
          <p:cNvSpPr txBox="1"/>
          <p:nvPr/>
        </p:nvSpPr>
        <p:spPr>
          <a:xfrm>
            <a:off x="383457" y="2819348"/>
            <a:ext cx="100878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NAME;  // !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- константа NAME не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ініціалізована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6657B-189B-4A83-A867-210C6442F005}"/>
              </a:ext>
            </a:extLst>
          </p:cNvPr>
          <p:cNvSpPr txBox="1"/>
          <p:nvPr/>
        </p:nvSpPr>
        <p:spPr>
          <a:xfrm>
            <a:off x="383457" y="3214933"/>
            <a:ext cx="9527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9D07E6EB-5348-4CE9-B8E4-BAD2AF789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182" y="3645821"/>
            <a:ext cx="8822928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створюємо константу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!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- 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констати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неможна змінити значення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6526FE-8061-492D-8429-A47E2B22FF4D}"/>
              </a:ext>
            </a:extLst>
          </p:cNvPr>
          <p:cNvSpPr txBox="1"/>
          <p:nvPr/>
        </p:nvSpPr>
        <p:spPr>
          <a:xfrm>
            <a:off x="383457" y="4257452"/>
            <a:ext cx="11346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Таким чином,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нам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зберігати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деякі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але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987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endParaRPr lang="uk-UA" dirty="0"/>
          </a:p>
        </p:txBody>
      </p:sp>
      <p:pic>
        <p:nvPicPr>
          <p:cNvPr id="6146" name="Picture 2" descr="Тема 2. Основи мови програмування C#">
            <a:extLst>
              <a:ext uri="{FF2B5EF4-FFF2-40B4-BE49-F238E27FC236}">
                <a16:creationId xmlns:a16="http://schemas.microsoft.com/office/drawing/2014/main" id="{8A573EBF-5EFD-4DA3-8D0D-70DD6FFC3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7781" y="1404547"/>
            <a:ext cx="9596438" cy="5191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Таблиця 3">
            <a:extLst>
              <a:ext uri="{FF2B5EF4-FFF2-40B4-BE49-F238E27FC236}">
                <a16:creationId xmlns:a16="http://schemas.microsoft.com/office/drawing/2014/main" id="{CE0A0BEB-3D85-470F-92C8-11302C810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0461524"/>
              </p:ext>
            </p:extLst>
          </p:nvPr>
        </p:nvGraphicFramePr>
        <p:xfrm>
          <a:off x="1343025" y="143156"/>
          <a:ext cx="1052195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83">
                  <a:extLst>
                    <a:ext uri="{9D8B030D-6E8A-4147-A177-3AD203B41FA5}">
                      <a16:colId xmlns:a16="http://schemas.microsoft.com/office/drawing/2014/main" val="3227524368"/>
                    </a:ext>
                  </a:extLst>
                </a:gridCol>
                <a:gridCol w="3756879">
                  <a:extLst>
                    <a:ext uri="{9D8B030D-6E8A-4147-A177-3AD203B41FA5}">
                      <a16:colId xmlns:a16="http://schemas.microsoft.com/office/drawing/2014/main" val="235546212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132117597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2376947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Ім’я типу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Граничні значення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Розмір займаної пам’яті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Приклад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469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3258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43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934E2F-92E7-4D56-B356-6D4C496DD1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44453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isRunning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isStaying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4DC7A9-AE5F-4EFC-98C3-17936BD0E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1686798"/>
            <a:ext cx="2468625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coinsGet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0611C4-CEDA-4DF1-B49F-41E60B208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1933019"/>
            <a:ext cx="345607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score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-101;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sizeOfInventory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CEFED8-0D5C-451A-90B1-EFE28F7C4D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73419"/>
            <a:ext cx="296234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enemyAlive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enemyKilled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0960B159-447B-43C7-A5B1-2293531FC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2703989"/>
            <a:ext cx="1974900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n1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n2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3610D4E-7730-4895-B77C-7C03503BE5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3107770"/>
            <a:ext cx="3694471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altLang="uk-UA" sz="16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двійкова форма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 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шістнадцядкова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форма c = 255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2BC0AE8B-E6D6-42E3-8319-C83DA4C6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353475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B2B4FC5B-4676-4271-8294-0DFB8BD28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3913188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-10;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C3468DF6-CC24-4128-B443-741732437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4651852"/>
            <a:ext cx="1974900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8CFD15AB-64CE-4781-A901-5A8BBE7CE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4647823"/>
            <a:ext cx="222176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'\x5A'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'\u0420'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F83D89E8-4880-49EF-9DEA-36ABA88420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5463382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15">
            <a:extLst>
              <a:ext uri="{FF2B5EF4-FFF2-40B4-BE49-F238E27FC236}">
                <a16:creationId xmlns:a16="http://schemas.microsoft.com/office/drawing/2014/main" id="{7B945E54-2EF0-4851-8F5F-E8505F945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5863885"/>
            <a:ext cx="296234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22;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3.14;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228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E829E7-DB50-43DE-9B5B-F246EFCE3E1F}"/>
              </a:ext>
            </a:extLst>
          </p:cNvPr>
          <p:cNvSpPr txBox="1"/>
          <p:nvPr/>
        </p:nvSpPr>
        <p:spPr>
          <a:xfrm>
            <a:off x="876300" y="22286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value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numberf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symbol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02BA-5B97-4692-B26C-EB38F4482194}"/>
              </a:ext>
            </a:extLst>
          </p:cNvPr>
          <p:cNvSpPr txBox="1"/>
          <p:nvPr/>
        </p:nvSpPr>
        <p:spPr>
          <a:xfrm>
            <a:off x="876300" y="3669890"/>
            <a:ext cx="10439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За допомогою саме такого запису, як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uk-UA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можна дізнатись максимальне значення обраного типу даних, або мінімальне. </a:t>
            </a:r>
          </a:p>
        </p:txBody>
      </p:sp>
    </p:spTree>
    <p:extLst>
      <p:ext uri="{BB962C8B-B14F-4D97-AF65-F5344CB8AC3E}">
        <p14:creationId xmlns:p14="http://schemas.microsoft.com/office/powerpoint/2010/main" val="1986080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Суфікси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E4122-7B62-4C93-A89B-BB5701DC264D}"/>
              </a:ext>
            </a:extLst>
          </p:cNvPr>
          <p:cNvSpPr txBox="1"/>
          <p:nvPr/>
        </p:nvSpPr>
        <p:spPr>
          <a:xfrm>
            <a:off x="619125" y="1309147"/>
            <a:ext cx="1078690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присвоєння значень слід пам'ятати таку тонкість: все речові літерали (дрібні числа)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щоб вказати, що дробове число представляє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необхідно до літералу додавати суфікс: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F/f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M/m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F3E529D-EEAF-4E6D-B748-3BFCCE058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2813447"/>
            <a:ext cx="2468625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3.14F;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30.6f;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1005.8M;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334.8m;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D2FEA-E3FE-4276-83A9-B4A89B10C1B6}"/>
              </a:ext>
            </a:extLst>
          </p:cNvPr>
          <p:cNvSpPr txBox="1"/>
          <p:nvPr/>
        </p:nvSpPr>
        <p:spPr>
          <a:xfrm>
            <a:off x="619125" y="3979193"/>
            <a:ext cx="1065125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Подібним чином всі цілі літерали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Щоб явним чином вказати, що цілий літерал представляє значення типу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треба використовувати 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U/u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L/l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 для типу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UL/ul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F882E93-6623-4136-8EFB-AD2ACE7225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5548852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10U;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20L;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30UL;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101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Використання системних типів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1618C-F070-4A9D-BAE0-2240AAB1F02B}"/>
              </a:ext>
            </a:extLst>
          </p:cNvPr>
          <p:cNvSpPr txBox="1"/>
          <p:nvPr/>
        </p:nvSpPr>
        <p:spPr>
          <a:xfrm>
            <a:off x="952500" y="1728878"/>
            <a:ext cx="10763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Вище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перерахуванні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базових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типів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кожного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згадувався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системний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тип.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вбудованого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типу по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скороченим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позначенням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системного типу.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будуть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еквівалентні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за типом: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27611DE-2019-4C9D-8E43-36FB8D948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0" y="3429000"/>
            <a:ext cx="234519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System.Int32 b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455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Неявна типізація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C63A764-B723-45BE-934E-622F626B3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624" y="1295111"/>
            <a:ext cx="1149514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Раніше ми явно вказували тип змінних, наприклад,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x;. І компілятор при запуску вже знав, що x зберігає ціле значення.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Проте ми можемо використати і модель неявної типізації: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1EEF8B3-ADA1-4FB5-99D5-E40BF1C4D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2156885"/>
            <a:ext cx="300723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60A1889-1A1C-46F9-9E7D-E911E765C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2715409"/>
            <a:ext cx="1140407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неявної типізації замість назви типу даних використовується ключове слово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var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Потім вже за компіляції компілятор сам виводить тип даних з присвоєного значення. Так як за умовчанням всі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цілочисленні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значення розглядаються як значення типу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 в результаті змінна c матиме тип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Аналогічно змінній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helloнадається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рядок, тому ця змінна матиме тип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lang="uk-UA" altLang="uk-UA" sz="1600" dirty="0">
                <a:solidFill>
                  <a:srgbClr val="000000"/>
                </a:solidFill>
                <a:cs typeface="Arial" panose="020B0604020202020204" pitchFamily="34" charset="0"/>
              </a:rPr>
              <a:t>.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 змінні подібні до звичайних, проте вони мають деякі обмеження.</a:t>
            </a:r>
            <a:r>
              <a:rPr lang="uk-UA" altLang="uk-UA" sz="1600" dirty="0">
                <a:cs typeface="Arial" panose="020B0604020202020204" pitchFamily="34" charset="0"/>
              </a:rPr>
              <a:t>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По-перше, ми не можемо спочатку оголосити змінну, що неявно типізується, а потім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ініціалізувати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1A32396-4423-420B-8524-D0AF25CCA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4010404"/>
            <a:ext cx="12272501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</a:t>
            </a:r>
            <a:r>
              <a:rPr lang="uk-UA" altLang="uk-UA" sz="14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1BB5A8D-0E53-4EAE-88E4-BFA68E55A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4595179"/>
            <a:ext cx="1203099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По-друге, ми не можемо вказати як значення змінної, що неявно типізується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C30764A1-EA41-496C-9761-8EE645E01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5945823"/>
            <a:ext cx="2148024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c=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F0E1F8-705D-4890-AB38-ECF152FC3916}"/>
              </a:ext>
            </a:extLst>
          </p:cNvPr>
          <p:cNvSpPr txBox="1"/>
          <p:nvPr/>
        </p:nvSpPr>
        <p:spPr>
          <a:xfrm>
            <a:off x="483624" y="5562889"/>
            <a:ext cx="126688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Оскільки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7991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</a:t>
            </a:r>
            <a:r>
              <a:rPr lang="uk-UA" b="1" i="0" dirty="0" err="1">
                <a:solidFill>
                  <a:srgbClr val="000000"/>
                </a:solidFill>
                <a:effectLst/>
                <a:latin typeface="-apple-system"/>
              </a:rPr>
              <a:t>ввиведення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DF10D9-E04B-455C-A51A-7CBCBE93AEAA}"/>
              </a:ext>
            </a:extLst>
          </p:cNvPr>
          <p:cNvSpPr txBox="1"/>
          <p:nvPr/>
        </p:nvSpPr>
        <p:spPr>
          <a:xfrm>
            <a:off x="600074" y="1361986"/>
            <a:ext cx="112109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виведення інформації на консоль ми вже використовували вбудований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Тобто, якщо ми хочемо вивести деяку інформацію на консоль, нам треба передати її в метод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7E866A3-FF50-4ECD-857C-B29280D57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2501363"/>
            <a:ext cx="11134724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(24.5);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0EC2F8-0467-4C30-A758-88A6C19BC8BA}"/>
              </a:ext>
            </a:extLst>
          </p:cNvPr>
          <p:cNvSpPr txBox="1"/>
          <p:nvPr/>
        </p:nvSpPr>
        <p:spPr>
          <a:xfrm>
            <a:off x="600074" y="4044484"/>
            <a:ext cx="6396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Консольний висновок: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09344364-EE8F-42CF-87D7-3313B6DB5A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4448579"/>
            <a:ext cx="1858201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 C#!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 24,5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6358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</a:t>
            </a:r>
            <a:r>
              <a:rPr lang="uk-UA" b="1" i="0" dirty="0" err="1">
                <a:solidFill>
                  <a:srgbClr val="000000"/>
                </a:solidFill>
                <a:effectLst/>
                <a:latin typeface="-apple-system"/>
              </a:rPr>
              <a:t>ввиведення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3DAFF-F918-4003-8219-1D34F99AF69C}"/>
              </a:ext>
            </a:extLst>
          </p:cNvPr>
          <p:cNvSpPr txBox="1"/>
          <p:nvPr/>
        </p:nvSpPr>
        <p:spPr>
          <a:xfrm>
            <a:off x="561974" y="1403832"/>
            <a:ext cx="111156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Нерідко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виникає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необхідність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в одному рядку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прийом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називається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інтерполяцією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147E3FE-5DC7-4C22-BB72-C5420F2CE0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5" y="2543424"/>
            <a:ext cx="802303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6AEC11AB-BCF4-483A-8FBF-1A81ED35A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3621732"/>
            <a:ext cx="1111567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вбудовування окремих значень у рядок, що виводиться на консоль, використовуються фігурні дужки, в які полягає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вбудовуване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значення {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}.{4 + 7}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виведенні на консоль замість поміщених у фігурні дужки виразів виводитимуться їх значення: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468A21ED-258C-4B90-8BAE-441CA6794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5654147"/>
            <a:ext cx="1229824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34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209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</a:t>
            </a:r>
            <a:r>
              <a:rPr lang="uk-UA" b="1" i="0" dirty="0" err="1">
                <a:solidFill>
                  <a:srgbClr val="000000"/>
                </a:solidFill>
                <a:effectLst/>
                <a:latin typeface="-apple-system"/>
              </a:rPr>
              <a:t>ввиведення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C239EB-A06D-444B-BD06-A6F97A6A62C2}"/>
              </a:ext>
            </a:extLst>
          </p:cNvPr>
          <p:cNvSpPr txBox="1"/>
          <p:nvPr/>
        </p:nvSpPr>
        <p:spPr>
          <a:xfrm>
            <a:off x="546611" y="1335793"/>
            <a:ext cx="8784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спосіб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8BDD27A0-D394-4CB0-9874-2A367448C6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013" y="2152573"/>
            <a:ext cx="901048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Ім’я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{0}  Вік: {2}  Зріст: {1}м"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6109EE4E-E73F-419C-81AA-1EE7ADF4E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611" y="3061852"/>
            <a:ext cx="1116360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Тут бачимо, що рядок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Console.WriteLineмістить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деякі числа у фігурних дужках: {0}, {1}, {2}. Це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плейсхолдери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замість яких під час виведення рядка на консоль будуть підставлятися деякі значення. Значення, що підставляються, вказуються після рядка через кому.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цьому важливий порядок подібних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плейсхолдерів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Наприклад, в даному випадку після рядка першої вказана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і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E4B56E-5DB4-475A-9536-3592C87876A2}"/>
              </a:ext>
            </a:extLst>
          </p:cNvPr>
          <p:cNvSpPr txBox="1"/>
          <p:nvPr/>
        </p:nvSpPr>
        <p:spPr>
          <a:xfrm>
            <a:off x="644013" y="5362984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{0}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{2}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{1}м"</a:t>
            </a:r>
            <a:endParaRPr lang="uk-UA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522BD-AA2B-4C02-B131-5E1908F545BD}"/>
              </a:ext>
            </a:extLst>
          </p:cNvPr>
          <p:cNvSpPr txBox="1"/>
          <p:nvPr/>
        </p:nvSpPr>
        <p:spPr>
          <a:xfrm>
            <a:off x="1088001" y="5814111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буде замінено на</a:t>
            </a:r>
            <a:endParaRPr lang="uk-UA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615A3-618C-459E-BE0A-72ADFDB13C2F}"/>
              </a:ext>
            </a:extLst>
          </p:cNvPr>
          <p:cNvSpPr txBox="1"/>
          <p:nvPr/>
        </p:nvSpPr>
        <p:spPr>
          <a:xfrm>
            <a:off x="644013" y="6265238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Tom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34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1,7м"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291626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виведення. </a:t>
            </a:r>
            <a:r>
              <a:rPr lang="en-US" b="1" i="0" dirty="0" err="1">
                <a:solidFill>
                  <a:srgbClr val="000000"/>
                </a:solidFill>
                <a:effectLst/>
                <a:latin typeface="-apple-system"/>
              </a:rPr>
              <a:t>Console.Write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8A5534C-4D99-4059-B97A-98C2EA6F1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90097"/>
            <a:ext cx="11353800" cy="15696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Крім того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()можна використовувати метод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він працює так само за тим винятком, що не додає перехід на наступний рядок, тобто наступний консольний висновок буде виводитися на тому ж рядку.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E085122-4720-42F9-9446-A3F491AB5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2993924"/>
            <a:ext cx="840935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965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FFE07D-F3A4-4729-8779-151FA912BDBD}"/>
              </a:ext>
            </a:extLst>
          </p:cNvPr>
          <p:cNvSpPr txBox="1"/>
          <p:nvPr/>
        </p:nvSpPr>
        <p:spPr>
          <a:xfrm>
            <a:off x="570271" y="1357783"/>
            <a:ext cx="110514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Окрім виведення інформації на консоль, ми можемо отримувати інформацію з консолі. Для цього призначений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Він дозволяє отримати введений рядок.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D4E7EC6-5BF5-4870-A85C-67EB02241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2607442"/>
            <a:ext cx="4443524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Console.Write(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"Введите свое имя: 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name = Console.ReadLine();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"Привет {name}"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A2107-CDCE-43C2-A3E4-82D1340D50D9}"/>
              </a:ext>
            </a:extLst>
          </p:cNvPr>
          <p:cNvSpPr txBox="1"/>
          <p:nvPr/>
        </p:nvSpPr>
        <p:spPr>
          <a:xfrm>
            <a:off x="570271" y="3462725"/>
            <a:ext cx="110514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 разі все, що вводить користувач, з допомогою методу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передається змінну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0F4205-B2ED-4DE8-87CB-DF5CCCECB85D}"/>
              </a:ext>
            </a:extLst>
          </p:cNvPr>
          <p:cNvSpPr txBox="1"/>
          <p:nvPr/>
        </p:nvSpPr>
        <p:spPr>
          <a:xfrm>
            <a:off x="570271" y="4343054"/>
            <a:ext cx="647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роботи програми: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9AF97A02-7085-4B93-8D46-F09B449A9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4854051"/>
            <a:ext cx="2323072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своє 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Том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474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0B954DB-6839-44C0-AD13-03D4958FF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05819"/>
            <a:ext cx="11353800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Особливістю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()є те, що він може вважати інформацію з консолі лише у вигляді рядка. Крім того, можлива ситуація, коли для методу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не виявиться доступних для зчитування рядків, тобто коли йому нема чого зчитувати, він повертає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тобто, грубо кажучи, фактично відсутність значення. І щоб відобразити цю ситуацію ми визначаємо змінну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в яку отримуємо введення з консолі, як змінну типу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. Тут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stringвказує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що змінна може зберігати значення типу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тобто рядки. А знак питання 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показує, що змінна також може зберігати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 насправді не мати ніякого значення. Далі ми детальніше розберемо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nullі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як з ним працювати.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307331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75A147-A935-4BC4-BE9A-A3E6CCF95EB6}"/>
              </a:ext>
            </a:extLst>
          </p:cNvPr>
          <p:cNvSpPr txBox="1"/>
          <p:nvPr/>
        </p:nvSpPr>
        <p:spPr>
          <a:xfrm>
            <a:off x="676275" y="1563588"/>
            <a:ext cx="108585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Однак, може виникнути питання, як нам бути, якщо, припустимо, ми хочемо ввести вік у змінну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іншу інформацію у змінні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чи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decimal?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 замовчуванням платформа .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надає низку методів, які дозволяють конвертувати різні значення до типів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int, 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Деякі з цих методів: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Convert.ToInt32()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Convert.ToDouble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Convert.ToDecimal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decimal)</a:t>
            </a:r>
          </a:p>
        </p:txBody>
      </p:sp>
    </p:spTree>
    <p:extLst>
      <p:ext uri="{BB962C8B-B14F-4D97-AF65-F5344CB8AC3E}">
        <p14:creationId xmlns:p14="http://schemas.microsoft.com/office/powerpoint/2010/main" val="2615656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2034F4-8579-4FCD-9CAE-A52D54807202}"/>
              </a:ext>
            </a:extLst>
          </p:cNvPr>
          <p:cNvSpPr txBox="1"/>
          <p:nvPr/>
        </p:nvSpPr>
        <p:spPr>
          <a:xfrm>
            <a:off x="638175" y="132135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введення значень: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12D9FC8-2A50-41F2-86A2-7049FED69D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1809751"/>
            <a:ext cx="12573000" cy="320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м’я: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вік: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Convert.ToInt32(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зріст: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розмір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  Зарплата: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}$"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95223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B21ADB-400C-4C89-92CE-8022FA205CBE}"/>
              </a:ext>
            </a:extLst>
          </p:cNvPr>
          <p:cNvSpPr txBox="1"/>
          <p:nvPr/>
        </p:nvSpPr>
        <p:spPr>
          <a:xfrm>
            <a:off x="838200" y="1518880"/>
            <a:ext cx="10515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важливо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враховувати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операційну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систему. В одних культурах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між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дробовою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точка (США,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Великобританія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...), в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 кома (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Німеччина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ОС -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українською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вводити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числа з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коми.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локалізація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англомовна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значить,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час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буде точка.</a:t>
            </a:r>
          </a:p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6FD2272-8120-462F-BCBC-083A4DA0F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925" y="4473128"/>
            <a:ext cx="2601994" cy="15696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зростання: 1,75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розмір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300,67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1,75м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Зарплата: 300,67$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857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радіус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 (тип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), 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потім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обчислює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площу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довжину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радіус: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radius = </a:t>
            </a:r>
            <a:r>
              <a:rPr lang="fr-FR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Формули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для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площі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кола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area =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 * radius;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2 * 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area: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радіус: 2.5</a:t>
            </a:r>
          </a:p>
          <a:p>
            <a:r>
              <a:rPr lang="uk-UA" dirty="0"/>
              <a:t>Площа кола: 19.63</a:t>
            </a:r>
          </a:p>
          <a:p>
            <a:r>
              <a:rPr lang="uk-UA" dirty="0"/>
              <a:t>Довжина кола: 15.71</a:t>
            </a:r>
          </a:p>
        </p:txBody>
      </p:sp>
    </p:spTree>
    <p:extLst>
      <p:ext uri="{BB962C8B-B14F-4D97-AF65-F5344CB8AC3E}">
        <p14:creationId xmlns:p14="http://schemas.microsoft.com/office/powerpoint/2010/main" val="7568678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ціле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число і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виводить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його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наступне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попереднє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число: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Обчислимо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значення</a:t>
            </a:r>
            <a:endParaRPr lang="ru-RU" sz="1800" dirty="0">
              <a:solidFill>
                <a:srgbClr val="008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previous = number - 1;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next = number + 1;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число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{previous}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 число: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next}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Введи число: 10</a:t>
            </a:r>
          </a:p>
          <a:p>
            <a:r>
              <a:rPr lang="ru-RU" dirty="0" err="1"/>
              <a:t>Попереднє</a:t>
            </a:r>
            <a:r>
              <a:rPr lang="ru-RU" dirty="0"/>
              <a:t> число: 9</a:t>
            </a:r>
          </a:p>
          <a:p>
            <a:r>
              <a:rPr lang="ru-RU" dirty="0" err="1"/>
              <a:t>Наступне</a:t>
            </a:r>
            <a:r>
              <a:rPr lang="ru-RU" dirty="0"/>
              <a:t> число: 11</a:t>
            </a:r>
          </a:p>
        </p:txBody>
      </p:sp>
    </p:spTree>
    <p:extLst>
      <p:ext uri="{BB962C8B-B14F-4D97-AF65-F5344CB8AC3E}">
        <p14:creationId xmlns:p14="http://schemas.microsoft.com/office/powerpoint/2010/main" val="36827003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7482</TotalTime>
  <Words>3620</Words>
  <Application>Microsoft Office PowerPoint</Application>
  <PresentationFormat>Широкий екран</PresentationFormat>
  <Paragraphs>356</Paragraphs>
  <Slides>41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41</vt:i4>
      </vt:variant>
    </vt:vector>
  </HeadingPairs>
  <TitlesOfParts>
    <vt:vector size="52" baseType="lpstr">
      <vt:lpstr>-apple-system</vt:lpstr>
      <vt:lpstr>Aptos</vt:lpstr>
      <vt:lpstr>Arial</vt:lpstr>
      <vt:lpstr>Calibri</vt:lpstr>
      <vt:lpstr>Calibri Light</vt:lpstr>
      <vt:lpstr>Cascadia Code</vt:lpstr>
      <vt:lpstr>Cascadia Mono</vt:lpstr>
      <vt:lpstr>Comfortaa</vt:lpstr>
      <vt:lpstr>Courier New</vt:lpstr>
      <vt:lpstr>SFMono-Regular</vt:lpstr>
      <vt:lpstr>Тема Office</vt:lpstr>
      <vt:lpstr>Презентація PowerPoint</vt:lpstr>
      <vt:lpstr>Створення проекту</vt:lpstr>
      <vt:lpstr>Створення проекту</vt:lpstr>
      <vt:lpstr>Створення проекту</vt:lpstr>
      <vt:lpstr>Створення проекту</vt:lpstr>
      <vt:lpstr>Як додати бібліотеки?</vt:lpstr>
      <vt:lpstr>Як додати бібліотеки?</vt:lpstr>
      <vt:lpstr>Виконання програми</vt:lpstr>
      <vt:lpstr>Виконання програми</vt:lpstr>
      <vt:lpstr>Інструкції</vt:lpstr>
      <vt:lpstr>Інструкції</vt:lpstr>
      <vt:lpstr>Інструкції</vt:lpstr>
      <vt:lpstr>Регістрозалежність</vt:lpstr>
      <vt:lpstr>Коментарі</vt:lpstr>
      <vt:lpstr>Файл проекту</vt:lpstr>
      <vt:lpstr>Файл проекту</vt:lpstr>
      <vt:lpstr>Файл проекту</vt:lpstr>
      <vt:lpstr>Зміні</vt:lpstr>
      <vt:lpstr>Зміні</vt:lpstr>
      <vt:lpstr>Зміні</vt:lpstr>
      <vt:lpstr>Зміні</vt:lpstr>
      <vt:lpstr>Зміні</vt:lpstr>
      <vt:lpstr>Константи</vt:lpstr>
      <vt:lpstr>Константи</vt:lpstr>
      <vt:lpstr>Типи даних</vt:lpstr>
      <vt:lpstr>Типи даних. Приклади</vt:lpstr>
      <vt:lpstr>Типи даних. Приклади</vt:lpstr>
      <vt:lpstr>Типи даних. Суфікси</vt:lpstr>
      <vt:lpstr>Типи даних. Використання системних типів</vt:lpstr>
      <vt:lpstr>Типи даних. Неявна типізація</vt:lpstr>
      <vt:lpstr>Консольне ввиведення</vt:lpstr>
      <vt:lpstr>Консольне ввиведення</vt:lpstr>
      <vt:lpstr>Консольне ввиведення</vt:lpstr>
      <vt:lpstr>Консольне виведення. Console.Write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Приклад 1. </vt:lpstr>
      <vt:lpstr>Приклад 2.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56</cp:revision>
  <dcterms:created xsi:type="dcterms:W3CDTF">2024-06-01T09:56:10Z</dcterms:created>
  <dcterms:modified xsi:type="dcterms:W3CDTF">2025-07-15T22:04:33Z</dcterms:modified>
</cp:coreProperties>
</file>