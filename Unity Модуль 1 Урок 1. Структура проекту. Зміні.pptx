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61" r:id="rId3"/>
    <p:sldId id="262" r:id="rId4"/>
    <p:sldId id="263" r:id="rId5"/>
    <p:sldId id="292" r:id="rId6"/>
    <p:sldId id="290" r:id="rId7"/>
    <p:sldId id="291" r:id="rId8"/>
    <p:sldId id="258" r:id="rId9"/>
    <p:sldId id="295" r:id="rId10"/>
    <p:sldId id="259" r:id="rId11"/>
    <p:sldId id="260" r:id="rId12"/>
    <p:sldId id="264" r:id="rId13"/>
    <p:sldId id="265" r:id="rId14"/>
    <p:sldId id="266" r:id="rId15"/>
    <p:sldId id="267" r:id="rId16"/>
    <p:sldId id="269" r:id="rId17"/>
    <p:sldId id="268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96" r:id="rId27"/>
    <p:sldId id="298" r:id="rId28"/>
    <p:sldId id="278" r:id="rId29"/>
    <p:sldId id="279" r:id="rId30"/>
    <p:sldId id="280" r:id="rId31"/>
    <p:sldId id="281" r:id="rId32"/>
    <p:sldId id="282" r:id="rId33"/>
    <p:sldId id="283" r:id="rId34"/>
    <p:sldId id="285" r:id="rId35"/>
    <p:sldId id="286" r:id="rId36"/>
    <p:sldId id="287" r:id="rId37"/>
    <p:sldId id="293" r:id="rId38"/>
    <p:sldId id="288" r:id="rId39"/>
    <p:sldId id="294" r:id="rId40"/>
    <p:sldId id="299" r:id="rId41"/>
    <p:sldId id="300" r:id="rId42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80" d="100"/>
          <a:sy n="80" d="100"/>
        </p:scale>
        <p:origin x="61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81528B-9B6F-4248-9BF4-341C8496BA36}" type="datetimeFigureOut">
              <a:rPr lang="uk-UA" smtClean="0"/>
              <a:t>16.07.2025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40F577-1FC1-4001-B2C2-9EAF79F39BE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58069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62191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31F6D5-EE77-F05F-8B36-EE698B21D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A3D416F-B419-0893-CF2A-60046F97A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3563C5-2ABA-6BE0-F79B-E9DB4BDEE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16.07.2025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A4729E-F6C7-6BDF-624A-6D985B5B2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D99CCF-CF8A-37C1-30D7-3A4F12E72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1530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5A7231-C686-D8CF-FA17-0D8627ABD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66263C-782F-0D49-1AA1-2BD5EF1B6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3FAE1C-22C9-0EC4-2ED7-9EEA6D420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16.07.2025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4513AF-D9EC-2C9B-46F0-FBC11B991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56EC0D-BDCD-2993-E5B6-0E8FE2449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84143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D93858-E4D8-D43B-ACB3-0C9AC6B4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2040E3-EA86-307F-07E0-BC7B3D6F1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FAE8B8-12AD-19AA-1620-86D64CDAC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16.07.2025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D6F026-C83D-F5A0-ED0E-2732983D4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54D0E8-1B97-2B88-CD05-460E8D351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70361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BF168-E018-8BDB-B8FF-CC85551D8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47B9E1-A4ED-1B6A-D2BD-234805750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711F3B-E99A-650B-790B-EB9151C87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4DA05C-7C21-661B-A41E-A547C6359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16.07.2025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32F842-7036-1B37-4C83-51CF5CEBD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764A6A-7702-7ADF-5C4F-9C5F07082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3049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5BEFC3-A00E-807A-05C0-DF79AA11D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433749-A6A0-DF88-073F-1B884AAF6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B0E37A-0FCA-2171-00F0-57CBBAF9C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1F75DC5-C2F0-8632-D5C2-78870B4131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550BBA9-0F72-E537-3AA6-E7220DF4F4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31BD10E-2051-5B25-60B5-3B3C1F256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16.07.2025</a:t>
            </a:fld>
            <a:endParaRPr lang="uk-UA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C1E8CCA-C8B9-B59E-93D2-886D22ACB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068BBCF-B605-D7C3-4AAB-2C25A24E7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17059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09D7A6-AA5A-4E60-C4B7-DBCAEB9CA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954A816-DE8A-F94F-C031-AF59E488A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16.07.2025</a:t>
            </a:fld>
            <a:endParaRPr lang="uk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08AEBC4-A90F-6450-4083-5BE5A5035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955FBB7-22A4-3058-7C37-CEE2D4841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78562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E350C2A-8EFE-9689-19C1-BF14E82E9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16.07.2025</a:t>
            </a:fld>
            <a:endParaRPr lang="uk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7E8B880-58A1-F037-1F63-5083FFA5C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2F4755-3B72-F832-ABB2-A0AEFEFC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5896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DA3BB8-B52E-7EBB-C0BE-35834C4E5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3E0E39-1E9D-35C3-4F60-A75C61D82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D482B5-6263-8E79-4B0C-E15B27B9A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289D75-50AD-DA3E-808C-305E48204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16.07.2025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EA4FEA-94A7-4925-FE8D-43CA865E7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861DBB-094D-CF71-2FF9-19A30C11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58092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27B8C0-2FB7-6B3A-8E33-A5354D6C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BABF2AA-3490-C8C9-E0EC-E11BE8F7C1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17CE27-4946-90C2-B284-DCBA830BC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A6B0D4C-582D-74B3-9532-199CDED2B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16.07.2025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EFBF8CF-6DE6-47BA-C3FB-BF90B375B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9C40B4-5CEF-7836-05EF-3B723EB2F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85147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3A3CA9-4FCE-04E1-42BD-5B8A476C3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8239AA0-5AD0-1B0E-FA81-48CE982A8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EA6C21-4BC9-7300-3FB7-F3398A823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16.07.2025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E7A3A4-7067-8108-E4DF-8C6E4CD8E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C10FF2-CD08-629F-DDE1-7A138E0AE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76875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5CB9DE7-6C28-F2AB-69D7-564D017BB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CC1730D-0865-98A5-9C17-905D8F0BB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87782F-B42D-DC1E-E695-5BB95E779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16.07.2025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8BE4FF-3308-A3BB-13AB-CB0656A1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42E754-E68F-D875-966D-BDE24CA16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47476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F21754-49F4-99BC-3186-F93ABDD1E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49F773-8CE3-A1B9-D56C-9ADA522E7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9E54FD-E9A9-BB88-3366-5240E179C1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3972C-1D59-4812-9879-0ADA85AB86FA}" type="datetimeFigureOut">
              <a:rPr lang="uk-UA" smtClean="0"/>
              <a:t>16.07.2025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3AFDBA-1AD2-2DC3-7099-9ED422E2C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368F6C-F98C-ABE5-567C-0C5A0D209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428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2.svg"/><Relationship Id="rId4" Type="http://schemas.openxmlformats.org/officeDocument/2006/relationships/tags" Target="../tags/tag4.xm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hape4326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858000"/>
            <a:chOff x="-635000" y="-635000"/>
            <a:chExt cx="12192000" cy="6858000"/>
          </a:xfrm>
          <a:noFill/>
        </p:grpSpPr>
        <p:sp>
          <p:nvSpPr>
            <p:cNvPr id="10" name="Shape4323">
              <a:extLst>
                <a:ext uri="{FF2B5EF4-FFF2-40B4-BE49-F238E27FC236}">
                  <a16:creationId xmlns:a16="http://schemas.microsoft.com/office/drawing/2014/main" id="{141CCFB4-2F64-06B8-AF1D-C9E48150CDA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635000" y="-63500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>
              <a:noAutofit/>
            </a:bodyPr>
            <a:lstStyle/>
            <a:p>
              <a:pPr algn="ctr"/>
              <a:endParaRPr lang="ru-RU" sz="1100">
                <a:solidFill>
                  <a:srgbClr val="000000"/>
                </a:solidFill>
                <a:latin typeface="Comfortaa"/>
                <a:cs typeface="Comfortaa"/>
              </a:endParaRPr>
            </a:p>
          </p:txBody>
        </p:sp>
      </p:grpSp>
      <p:grpSp>
        <p:nvGrpSpPr>
          <p:cNvPr id="3" name="Shape4327"/>
          <p:cNvGrpSpPr/>
          <p:nvPr>
            <p:custDataLst>
              <p:tags r:id="rId2"/>
            </p:custDataLst>
          </p:nvPr>
        </p:nvGrpSpPr>
        <p:grpSpPr>
          <a:xfrm>
            <a:off x="5197365" y="984555"/>
            <a:ext cx="1797269" cy="1797269"/>
            <a:chOff x="4562366" y="349555"/>
            <a:chExt cx="1797269" cy="1797269"/>
          </a:xfrm>
        </p:grpSpPr>
        <p:pic>
          <p:nvPicPr>
            <p:cNvPr id="5" name="Shape4328"/>
            <p:cNvPicPr/>
            <p:nvPr>
              <p:custDataLst>
                <p:tags r:id="rId6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562366" y="349555"/>
              <a:ext cx="1797269" cy="1797269"/>
            </a:xfrm>
            <a:prstGeom prst="rect">
              <a:avLst/>
            </a:prstGeom>
          </p:spPr>
        </p:pic>
      </p:grpSp>
      <p:grpSp>
        <p:nvGrpSpPr>
          <p:cNvPr id="7" name="Shape4329"/>
          <p:cNvGrpSpPr/>
          <p:nvPr>
            <p:custDataLst>
              <p:tags r:id="rId3"/>
            </p:custDataLst>
          </p:nvPr>
        </p:nvGrpSpPr>
        <p:grpSpPr>
          <a:xfrm>
            <a:off x="5557345" y="3238244"/>
            <a:ext cx="1077311" cy="55245"/>
            <a:chOff x="4925483" y="2578947"/>
            <a:chExt cx="1077311" cy="55245"/>
          </a:xfrm>
        </p:grpSpPr>
        <p:sp>
          <p:nvSpPr>
            <p:cNvPr id="8" name="Shape4325">
              <a:extLst>
                <a:ext uri="{FF2B5EF4-FFF2-40B4-BE49-F238E27FC236}">
                  <a16:creationId xmlns:a16="http://schemas.microsoft.com/office/drawing/2014/main" id="{21F15AB7-005A-EB90-56E9-C5761A58FD3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flipV="1">
              <a:off x="4925483" y="2578947"/>
              <a:ext cx="1077311" cy="55245"/>
            </a:xfrm>
            <a:prstGeom prst="rect">
              <a:avLst/>
            </a:prstGeom>
            <a:solidFill>
              <a:schemeClr val="bg2"/>
            </a:solidFill>
            <a:ln w="28575">
              <a:noFill/>
              <a:prstDash val="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412717"/>
              <a:endParaRPr lang="en-US" sz="800">
                <a:solidFill>
                  <a:schemeClr val="tx1"/>
                </a:solidFill>
                <a:latin typeface="Comfortaa"/>
                <a:ea typeface="Comfortaa"/>
                <a:cs typeface="Comfortaa"/>
              </a:endParaRPr>
            </a:p>
          </p:txBody>
        </p:sp>
      </p:grpSp>
      <p:sp>
        <p:nvSpPr>
          <p:cNvPr id="6" name="Shape4324">
            <a:extLst>
              <a:ext uri="{FF2B5EF4-FFF2-40B4-BE49-F238E27FC236}">
                <a16:creationId xmlns:a16="http://schemas.microsoft.com/office/drawing/2014/main" id="{9CB60D78-BFA7-FBF3-D935-4D20CC03291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390387" y="3568704"/>
            <a:ext cx="9411231" cy="28946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6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Тема</a:t>
            </a:r>
            <a:r>
              <a:rPr lang="en-US" sz="6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66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уроку</a:t>
            </a:r>
            <a:r>
              <a:rPr lang="en-US" sz="6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:
</a:t>
            </a:r>
            <a:r>
              <a:rPr lang="uk-UA" sz="6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Структура проекту. </a:t>
            </a:r>
          </a:p>
          <a:p>
            <a:pPr algn="ctr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uk-UA" sz="6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Змінні</a:t>
            </a:r>
            <a:endParaRPr lang="en-US" sz="66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Створення проекту</a:t>
            </a:r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2BE045-04C0-4091-B2BF-1F8172ABF80C}"/>
              </a:ext>
            </a:extLst>
          </p:cNvPr>
          <p:cNvSpPr txBox="1"/>
          <p:nvPr/>
        </p:nvSpPr>
        <p:spPr>
          <a:xfrm>
            <a:off x="400049" y="1473465"/>
            <a:ext cx="385385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solidFill>
                  <a:srgbClr val="000000"/>
                </a:solidFill>
              </a:rPr>
              <a:t>Для початку треба створити проект</a:t>
            </a:r>
            <a:r>
              <a:rPr lang="en-US" sz="2400" dirty="0">
                <a:solidFill>
                  <a:srgbClr val="000000"/>
                </a:solidFill>
              </a:rPr>
              <a:t>. </a:t>
            </a:r>
            <a:r>
              <a:rPr lang="uk-UA" sz="2400" dirty="0">
                <a:solidFill>
                  <a:srgbClr val="000000"/>
                </a:solidFill>
              </a:rPr>
              <a:t>Виконайте наступні кроки:</a:t>
            </a:r>
          </a:p>
          <a:p>
            <a:r>
              <a:rPr lang="uk-UA" sz="2400" dirty="0">
                <a:solidFill>
                  <a:srgbClr val="000000"/>
                </a:solidFill>
              </a:rPr>
              <a:t>	1. Оберіть в мовах програмування «</a:t>
            </a:r>
            <a:r>
              <a:rPr lang="en-US" sz="2400" dirty="0">
                <a:solidFill>
                  <a:srgbClr val="000000"/>
                </a:solidFill>
              </a:rPr>
              <a:t>C#</a:t>
            </a:r>
            <a:r>
              <a:rPr lang="uk-UA" sz="2400" dirty="0">
                <a:solidFill>
                  <a:srgbClr val="000000"/>
                </a:solidFill>
              </a:rPr>
              <a:t>» в лівому </a:t>
            </a:r>
            <a:r>
              <a:rPr lang="uk-UA" sz="2400" dirty="0" err="1">
                <a:solidFill>
                  <a:srgbClr val="000000"/>
                </a:solidFill>
              </a:rPr>
              <a:t>випадаючому</a:t>
            </a:r>
            <a:r>
              <a:rPr lang="uk-UA" sz="2400" dirty="0">
                <a:solidFill>
                  <a:srgbClr val="000000"/>
                </a:solidFill>
              </a:rPr>
              <a:t> меню</a:t>
            </a:r>
            <a:r>
              <a:rPr lang="en-US" sz="2400" dirty="0">
                <a:solidFill>
                  <a:srgbClr val="000000"/>
                </a:solidFill>
              </a:rPr>
              <a:t>.</a:t>
            </a:r>
          </a:p>
          <a:p>
            <a:r>
              <a:rPr lang="en-US" sz="2400" dirty="0">
                <a:solidFill>
                  <a:srgbClr val="000000"/>
                </a:solidFill>
              </a:rPr>
              <a:t>	2. </a:t>
            </a:r>
            <a:r>
              <a:rPr lang="uk-UA" sz="2400" dirty="0">
                <a:solidFill>
                  <a:srgbClr val="000000"/>
                </a:solidFill>
              </a:rPr>
              <a:t>Оберіть </a:t>
            </a:r>
            <a:endParaRPr lang="en-US" sz="2400" dirty="0">
              <a:solidFill>
                <a:srgbClr val="000000"/>
              </a:solidFill>
            </a:endParaRPr>
          </a:p>
          <a:p>
            <a:r>
              <a:rPr lang="uk-UA" sz="2400" dirty="0">
                <a:solidFill>
                  <a:srgbClr val="000000"/>
                </a:solidFill>
              </a:rPr>
              <a:t>«Консоль (.</a:t>
            </a:r>
            <a:r>
              <a:rPr lang="en-US" sz="2400" dirty="0">
                <a:solidFill>
                  <a:srgbClr val="000000"/>
                </a:solidFill>
              </a:rPr>
              <a:t>NET Framework</a:t>
            </a:r>
            <a:r>
              <a:rPr lang="uk-UA" sz="2400" dirty="0">
                <a:solidFill>
                  <a:srgbClr val="000000"/>
                </a:solidFill>
              </a:rPr>
              <a:t>)» в правому </a:t>
            </a:r>
            <a:r>
              <a:rPr lang="uk-UA" sz="2400" dirty="0" err="1">
                <a:solidFill>
                  <a:srgbClr val="000000"/>
                </a:solidFill>
              </a:rPr>
              <a:t>випадаючому</a:t>
            </a:r>
            <a:r>
              <a:rPr lang="uk-UA" sz="2400" dirty="0">
                <a:solidFill>
                  <a:srgbClr val="000000"/>
                </a:solidFill>
              </a:rPr>
              <a:t> меню.</a:t>
            </a:r>
          </a:p>
          <a:p>
            <a:r>
              <a:rPr lang="uk-UA" sz="2400" dirty="0">
                <a:solidFill>
                  <a:srgbClr val="000000"/>
                </a:solidFill>
              </a:rPr>
              <a:t>	3. Оберіть «Консольний додаток».</a:t>
            </a:r>
            <a:endParaRPr lang="uk-UA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CC266B-FFC3-4F37-AEEE-E762AC985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719" y="1473465"/>
            <a:ext cx="6966266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601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Створення проекту</a:t>
            </a:r>
            <a:endParaRPr lang="uk-UA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67992D6-76F5-45DE-8736-FCD92E185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903" y="1441021"/>
            <a:ext cx="7791797" cy="51883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699028-F2F0-49E9-AD31-DB896BD54F4D}"/>
              </a:ext>
            </a:extLst>
          </p:cNvPr>
          <p:cNvSpPr txBox="1"/>
          <p:nvPr/>
        </p:nvSpPr>
        <p:spPr>
          <a:xfrm>
            <a:off x="400049" y="1473465"/>
            <a:ext cx="385385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solidFill>
                  <a:srgbClr val="000000"/>
                </a:solidFill>
              </a:rPr>
              <a:t>Виконайте наступні кроки:</a:t>
            </a:r>
          </a:p>
          <a:p>
            <a:r>
              <a:rPr lang="uk-UA" sz="2400" dirty="0">
                <a:solidFill>
                  <a:srgbClr val="000000"/>
                </a:solidFill>
              </a:rPr>
              <a:t>	1. У обведене червоне поле напишіть назву латинськими (англійськими) літерами.</a:t>
            </a:r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dirty="0">
                <a:solidFill>
                  <a:srgbClr val="000000"/>
                </a:solidFill>
              </a:rPr>
              <a:t>	2. </a:t>
            </a:r>
            <a:r>
              <a:rPr lang="uk-UA" sz="2400" dirty="0">
                <a:solidFill>
                  <a:srgbClr val="000000"/>
                </a:solidFill>
              </a:rPr>
              <a:t>Оберіть «Місце знаходження вашого проекту» за допомогою наступного синього поля.</a:t>
            </a:r>
          </a:p>
          <a:p>
            <a:r>
              <a:rPr lang="uk-UA" sz="2400" dirty="0">
                <a:solidFill>
                  <a:srgbClr val="000000"/>
                </a:solidFill>
              </a:rPr>
              <a:t>	3. Оберіть «</a:t>
            </a:r>
            <a:r>
              <a:rPr lang="en-US" sz="2400" dirty="0">
                <a:solidFill>
                  <a:srgbClr val="000000"/>
                </a:solidFill>
              </a:rPr>
              <a:t>Next</a:t>
            </a:r>
            <a:r>
              <a:rPr lang="uk-UA" sz="2400" dirty="0">
                <a:solidFill>
                  <a:srgbClr val="000000"/>
                </a:solidFill>
              </a:rPr>
              <a:t>».</a:t>
            </a: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597821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Створення проекту</a:t>
            </a:r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699028-F2F0-49E9-AD31-DB896BD54F4D}"/>
              </a:ext>
            </a:extLst>
          </p:cNvPr>
          <p:cNvSpPr txBox="1"/>
          <p:nvPr/>
        </p:nvSpPr>
        <p:spPr>
          <a:xfrm>
            <a:off x="89149" y="1473465"/>
            <a:ext cx="383515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solidFill>
                  <a:srgbClr val="000000"/>
                </a:solidFill>
              </a:rPr>
              <a:t>Виконайте наступні кроки:</a:t>
            </a:r>
          </a:p>
          <a:p>
            <a:r>
              <a:rPr lang="uk-UA" sz="2400" dirty="0">
                <a:solidFill>
                  <a:srgbClr val="000000"/>
                </a:solidFill>
              </a:rPr>
              <a:t>	</a:t>
            </a:r>
            <a:r>
              <a:rPr lang="en-US" sz="2400" dirty="0">
                <a:solidFill>
                  <a:srgbClr val="000000"/>
                </a:solidFill>
              </a:rPr>
              <a:t>1. </a:t>
            </a:r>
            <a:r>
              <a:rPr lang="uk-UA" sz="2400" dirty="0">
                <a:solidFill>
                  <a:srgbClr val="000000"/>
                </a:solidFill>
              </a:rPr>
              <a:t>Натискайте </a:t>
            </a:r>
            <a:r>
              <a:rPr lang="en-US" sz="2400" dirty="0">
                <a:solidFill>
                  <a:srgbClr val="000000"/>
                </a:solidFill>
              </a:rPr>
              <a:t>Create.</a:t>
            </a:r>
          </a:p>
          <a:p>
            <a:endParaRPr lang="en-US" sz="2400" dirty="0">
              <a:solidFill>
                <a:srgbClr val="000000"/>
              </a:solidFill>
            </a:endParaRPr>
          </a:p>
          <a:p>
            <a:endParaRPr lang="uk-UA" sz="2400" dirty="0">
              <a:solidFill>
                <a:srgbClr val="000000"/>
              </a:solidFill>
            </a:endParaRPr>
          </a:p>
          <a:p>
            <a:endParaRPr lang="en-US" sz="2400" dirty="0">
              <a:solidFill>
                <a:srgbClr val="000000"/>
              </a:solidFill>
            </a:endParaRPr>
          </a:p>
          <a:p>
            <a:pPr algn="ctr"/>
            <a:r>
              <a:rPr lang="uk-UA" sz="2400" dirty="0">
                <a:solidFill>
                  <a:srgbClr val="000000"/>
                </a:solidFill>
              </a:rPr>
              <a:t>Вітаю вас у світі програмування!</a:t>
            </a:r>
            <a:endParaRPr lang="uk-UA" sz="24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A74AC15-E9B4-4A67-824E-DCA521CA5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075" y="1342951"/>
            <a:ext cx="8073776" cy="537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271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Створення проекту</a:t>
            </a:r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699028-F2F0-49E9-AD31-DB896BD54F4D}"/>
              </a:ext>
            </a:extLst>
          </p:cNvPr>
          <p:cNvSpPr txBox="1"/>
          <p:nvPr/>
        </p:nvSpPr>
        <p:spPr>
          <a:xfrm>
            <a:off x="89149" y="1473465"/>
            <a:ext cx="38351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solidFill>
                  <a:srgbClr val="000000"/>
                </a:solidFill>
              </a:rPr>
              <a:t>Саме таке вікно у вас повинно було відкритись.</a:t>
            </a:r>
            <a:endParaRPr lang="uk-UA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8D38976-E18F-4935-974F-14D3CD7D5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0" y="1941321"/>
            <a:ext cx="8319247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652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Як додати бібліотеки?</a:t>
            </a:r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699028-F2F0-49E9-AD31-DB896BD54F4D}"/>
              </a:ext>
            </a:extLst>
          </p:cNvPr>
          <p:cNvSpPr txBox="1"/>
          <p:nvPr/>
        </p:nvSpPr>
        <p:spPr>
          <a:xfrm>
            <a:off x="660649" y="2616465"/>
            <a:ext cx="38351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solidFill>
                  <a:srgbClr val="000000"/>
                </a:solidFill>
              </a:rPr>
              <a:t>Для того, щоб додати бібліотеки </a:t>
            </a:r>
            <a:r>
              <a:rPr lang="uk-UA" sz="2400" dirty="0" err="1">
                <a:solidFill>
                  <a:srgbClr val="000000"/>
                </a:solidFill>
              </a:rPr>
              <a:t>недостаючі</a:t>
            </a:r>
            <a:r>
              <a:rPr lang="uk-UA" sz="2400" dirty="0">
                <a:solidFill>
                  <a:srgbClr val="000000"/>
                </a:solidFill>
              </a:rPr>
              <a:t>, натисніть:</a:t>
            </a:r>
            <a:endParaRPr lang="uk-UA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A96638C-563D-491D-AAB0-44CC7CB30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562" y="1917832"/>
            <a:ext cx="5754289" cy="302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844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Як додати бібліотеки?</a:t>
            </a:r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699028-F2F0-49E9-AD31-DB896BD54F4D}"/>
              </a:ext>
            </a:extLst>
          </p:cNvPr>
          <p:cNvSpPr txBox="1"/>
          <p:nvPr/>
        </p:nvSpPr>
        <p:spPr>
          <a:xfrm>
            <a:off x="660649" y="2616465"/>
            <a:ext cx="38351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solidFill>
                  <a:srgbClr val="000000"/>
                </a:solidFill>
              </a:rPr>
              <a:t>Переконайтесь, що у вас інстальовані наступні бібліотеки:</a:t>
            </a:r>
            <a:endParaRPr lang="uk-UA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0A3F5A3-7688-4DCB-AAFF-687DF264DC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96" t="11710" r="29044" b="28433"/>
          <a:stretch/>
        </p:blipFill>
        <p:spPr>
          <a:xfrm>
            <a:off x="4940051" y="1238249"/>
            <a:ext cx="6591300" cy="32181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E39D895-E697-472E-AF61-69C61C92D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575" y="4629151"/>
            <a:ext cx="599122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032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z="4400" b="1" i="0" dirty="0">
                <a:solidFill>
                  <a:srgbClr val="000000"/>
                </a:solidFill>
                <a:effectLst/>
                <a:latin typeface="-apple-system"/>
              </a:rPr>
              <a:t>Виконання програми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8CAB76-9F72-445F-8282-B4725C7868B1}"/>
              </a:ext>
            </a:extLst>
          </p:cNvPr>
          <p:cNvSpPr txBox="1"/>
          <p:nvPr/>
        </p:nvSpPr>
        <p:spPr>
          <a:xfrm>
            <a:off x="400049" y="1404461"/>
            <a:ext cx="113252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</a:rPr>
              <a:t>Весь код програми мовою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C#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міститься у файли з розширенням </a:t>
            </a:r>
            <a:r>
              <a:rPr lang="uk-UA" sz="2400" b="1" i="0" dirty="0">
                <a:solidFill>
                  <a:srgbClr val="000000"/>
                </a:solidFill>
                <a:effectLst/>
              </a:rPr>
              <a:t>.</a:t>
            </a:r>
            <a:r>
              <a:rPr lang="en-US" sz="2400" b="1" i="0" dirty="0">
                <a:solidFill>
                  <a:srgbClr val="000000"/>
                </a:solidFill>
                <a:effectLst/>
              </a:rPr>
              <a:t>cs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 .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За замовчуванням у проекті, який створюється у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Visual Studio (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а також при використанні .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NET CLI),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вже є один файл з кодом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C# -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файл </a:t>
            </a:r>
            <a:r>
              <a:rPr lang="en-US" sz="2400" b="1" i="0" dirty="0" err="1">
                <a:solidFill>
                  <a:srgbClr val="000000"/>
                </a:solidFill>
                <a:effectLst/>
              </a:rPr>
              <a:t>Program.cs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 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з таким вмістом:</a:t>
            </a:r>
            <a:endParaRPr lang="uk-UA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5E71CD-A0F1-4286-9CE7-6928E7CFDA91}"/>
              </a:ext>
            </a:extLst>
          </p:cNvPr>
          <p:cNvSpPr txBox="1"/>
          <p:nvPr/>
        </p:nvSpPr>
        <p:spPr>
          <a:xfrm>
            <a:off x="400049" y="5453539"/>
            <a:ext cx="113252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</a:rPr>
              <a:t>Саме код файлу </a:t>
            </a:r>
            <a:r>
              <a:rPr lang="en-US" sz="2400" b="1" i="0" dirty="0" err="1">
                <a:solidFill>
                  <a:srgbClr val="000000"/>
                </a:solidFill>
                <a:effectLst/>
              </a:rPr>
              <a:t>Program.cs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 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виконується за умовчанням, якщо ми запустимо проект виконання. Але за потреби ми також можемо додавати інші файли з кодом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C#.</a:t>
            </a:r>
            <a:endParaRPr lang="uk-UA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0765D78-174C-4CCF-86FC-0357BE0DC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007" y="2730024"/>
            <a:ext cx="3363985" cy="257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958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z="4400" b="1" i="0" dirty="0">
                <a:solidFill>
                  <a:srgbClr val="000000"/>
                </a:solidFill>
                <a:effectLst/>
                <a:latin typeface="-apple-system"/>
              </a:rPr>
              <a:t>Виконання програми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8CAB76-9F72-445F-8282-B4725C7868B1}"/>
              </a:ext>
            </a:extLst>
          </p:cNvPr>
          <p:cNvSpPr txBox="1"/>
          <p:nvPr/>
        </p:nvSpPr>
        <p:spPr>
          <a:xfrm>
            <a:off x="400049" y="1404461"/>
            <a:ext cx="113252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</a:rPr>
              <a:t>Найголовніше, що треба знати – це те, що код треба писати в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Main,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бо він є точкою запуску компілятора.</a:t>
            </a:r>
            <a:endParaRPr lang="uk-UA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D6B560-6F7D-4744-A9A7-9205282E0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887" y="2235458"/>
            <a:ext cx="4243387" cy="32201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26874E-EF6A-4899-8A12-67A7C137205B}"/>
              </a:ext>
            </a:extLst>
          </p:cNvPr>
          <p:cNvSpPr txBox="1"/>
          <p:nvPr/>
        </p:nvSpPr>
        <p:spPr>
          <a:xfrm>
            <a:off x="400049" y="3697066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Компілятор</a:t>
            </a:r>
            <a:r>
              <a:rPr lang="uk-UA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– це </a:t>
            </a:r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програма</a:t>
            </a:r>
            <a:r>
              <a:rPr lang="uk-UA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яка переписує код, написаний на </a:t>
            </a:r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uk-UA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у машинний код або код мовою асемблера. </a:t>
            </a:r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uk-UA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Цей процес дає змогу створювати файли, які можуть запускатися на </a:t>
            </a:r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конкретному вашому комп’ютері. </a:t>
            </a:r>
            <a:b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Кожен раз, коли ви відкриваєте файл – він підлаштовуються під систему, де ви його запускаєте, що дозволяє запускати його на різних комп’ютерних системах.</a:t>
            </a:r>
          </a:p>
        </p:txBody>
      </p:sp>
    </p:spTree>
    <p:extLst>
      <p:ext uri="{BB962C8B-B14F-4D97-AF65-F5344CB8AC3E}">
        <p14:creationId xmlns:p14="http://schemas.microsoft.com/office/powerpoint/2010/main" val="2043470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Інструкції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8CAB76-9F72-445F-8282-B4725C7868B1}"/>
              </a:ext>
            </a:extLst>
          </p:cNvPr>
          <p:cNvSpPr txBox="1"/>
          <p:nvPr/>
        </p:nvSpPr>
        <p:spPr>
          <a:xfrm>
            <a:off x="466726" y="1404461"/>
            <a:ext cx="112585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sz="2400" b="0" i="0" dirty="0">
                <a:solidFill>
                  <a:srgbClr val="000000"/>
                </a:solidFill>
                <a:effectLst/>
              </a:rPr>
              <a:t>Базовим будівельним блоком програми є </a:t>
            </a:r>
            <a:r>
              <a:rPr lang="uk-UA" sz="2400" b="1" i="0" dirty="0">
                <a:solidFill>
                  <a:srgbClr val="000000"/>
                </a:solidFill>
                <a:effectLst/>
              </a:rPr>
              <a:t>інструкції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 (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statement).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Інструкція представляє певну дію, наприклад, арифметичну операцію, виклик методу, оголошення змінної та присвоєння їй значення. Наприкінці кожної інструкції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C#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ставиться крапка з комою (;). Цей знак вказує компілятор на кінець інструкції. Наприклад, у проекті консольної програми, який створюється за замовчуванням, є такий рядок:</a:t>
            </a:r>
            <a:endParaRPr lang="uk-UA" sz="240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A83AC41-6E10-432B-8B6F-1EC83F132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2" y="3712785"/>
            <a:ext cx="1125854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World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!"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5E0D20C-4628-44FA-89DF-26E16003C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6" y="3999012"/>
            <a:ext cx="1125854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Цей рядок представляє виклик методу 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який виводить на консоль рядок. У разі виклик методу є інструкцією і тому завершується точкою з комою.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5133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Інструкції</a:t>
            </a:r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34877F-3FD0-4D0E-A44B-2D03394683A0}"/>
              </a:ext>
            </a:extLst>
          </p:cNvPr>
          <p:cNvSpPr txBox="1"/>
          <p:nvPr/>
        </p:nvSpPr>
        <p:spPr>
          <a:xfrm>
            <a:off x="552450" y="1400086"/>
            <a:ext cx="110299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Набір інструкцій може поєднуватися в блок коду. Блок коду полягає у фігурних дужках, а інструкції поміщаються між відкриває і закриває фігурними дужками.</a:t>
            </a:r>
            <a:r>
              <a:rPr kumimoji="0" lang="en-US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+mn-lt"/>
              </a:rPr>
              <a:t>Наприклад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+mn-lt"/>
              </a:rPr>
              <a:t>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+mn-lt"/>
              </a:rPr>
              <a:t>змінимо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+mn-lt"/>
              </a:rPr>
              <a:t> код файлу </a:t>
            </a:r>
            <a:r>
              <a:rPr lang="ru-RU" sz="2400" b="1" i="0" dirty="0" err="1">
                <a:solidFill>
                  <a:srgbClr val="000000"/>
                </a:solidFill>
                <a:effectLst/>
                <a:latin typeface="+mn-lt"/>
              </a:rPr>
              <a:t>Program.cs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+mn-lt"/>
              </a:rPr>
              <a:t> на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+mn-lt"/>
              </a:rPr>
              <a:t>наступний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+mn-lt"/>
              </a:rPr>
              <a:t>: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5A44CB-E75E-4BFD-8D9D-0D0600867CB3}"/>
              </a:ext>
            </a:extLst>
          </p:cNvPr>
          <p:cNvSpPr txBox="1"/>
          <p:nvPr/>
        </p:nvSpPr>
        <p:spPr>
          <a:xfrm>
            <a:off x="552450" y="5616485"/>
            <a:ext cx="110299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</a:rPr>
              <a:t>Тут блок коду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містить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дві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інструкції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. І при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виконанні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цього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коду, консоль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виведе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два рядки:</a:t>
            </a:r>
          </a:p>
          <a:p>
            <a:br>
              <a:rPr lang="ru-RU" sz="2400" b="0" i="0" dirty="0">
                <a:solidFill>
                  <a:srgbClr val="000000"/>
                </a:solidFill>
                <a:effectLst/>
              </a:rPr>
            </a:br>
            <a:endParaRPr lang="uk-UA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286EBE-A04C-4063-ACFA-2C4CEACF340E}"/>
              </a:ext>
            </a:extLst>
          </p:cNvPr>
          <p:cNvSpPr txBox="1"/>
          <p:nvPr/>
        </p:nvSpPr>
        <p:spPr>
          <a:xfrm>
            <a:off x="609600" y="2540188"/>
            <a:ext cx="620077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System;</a:t>
            </a:r>
          </a:p>
          <a:p>
            <a:endParaRPr lang="uk-UA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Test2</a:t>
            </a:r>
          </a:p>
          <a:p>
            <a:r>
              <a:rPr lang="uk-U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internal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Program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uk-U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uk-U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uk-UA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Вітаю 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 </a:t>
            </a:r>
            <a:r>
              <a:rPr lang="ru-RU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з символу { </a:t>
            </a:r>
            <a:r>
              <a:rPr lang="ru-RU" sz="1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починається</a:t>
            </a:r>
            <a:r>
              <a:rPr lang="ru-RU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блок коду</a:t>
            </a:r>
            <a:endParaRPr lang="ru-RU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uk-UA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Вітаю 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block!"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uk-UA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Гарної подорожі у світі 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C#"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 </a:t>
            </a:r>
            <a:r>
              <a:rPr lang="ru-RU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з символу } </a:t>
            </a:r>
            <a:r>
              <a:rPr lang="ru-RU" sz="1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закінчується</a:t>
            </a:r>
            <a:r>
              <a:rPr lang="ru-RU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блок коду</a:t>
            </a:r>
            <a:endParaRPr lang="ru-RU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uk-U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uk-U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uk-U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uk-UA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E570977-B102-4616-B051-D66C45C3C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263" y="2612847"/>
            <a:ext cx="5640248" cy="300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934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Інструкції</a:t>
            </a:r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AF84A6-84B2-4523-8B3C-E4A1FD89DF8D}"/>
              </a:ext>
            </a:extLst>
          </p:cNvPr>
          <p:cNvSpPr txBox="1"/>
          <p:nvPr/>
        </p:nvSpPr>
        <p:spPr>
          <a:xfrm>
            <a:off x="314324" y="1314361"/>
            <a:ext cx="103917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</a:rPr>
              <a:t>Тут блок коду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містить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дві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інструкції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. І при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виконанні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цього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коду, консоль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виведе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три рядки:</a:t>
            </a:r>
          </a:p>
          <a:p>
            <a:br>
              <a:rPr lang="ru-RU" sz="2400" b="0" i="0" dirty="0">
                <a:solidFill>
                  <a:srgbClr val="000000"/>
                </a:solidFill>
                <a:effectLst/>
              </a:rPr>
            </a:br>
            <a:endParaRPr lang="uk-UA" sz="24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58C604A-2E7C-4132-A891-42D8A98DE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2" y="2068413"/>
            <a:ext cx="11801477" cy="92333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uk-UA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В?таю</a:t>
            </a:r>
            <a:r>
              <a:rPr kumimoji="0" lang="ru-RU" altLang="uk-UA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ru-RU" altLang="uk-UA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kumimoji="0" lang="ru-RU" altLang="uk-UA" b="0" i="0" u="none" strike="noStrike" cap="none" normalizeH="0" baseline="0" dirty="0">
              <a:ln>
                <a:noFill/>
              </a:ln>
              <a:solidFill>
                <a:srgbClr val="EEEEEE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uk-UA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В?таю</a:t>
            </a:r>
            <a:r>
              <a:rPr kumimoji="0" lang="ru-RU" altLang="uk-UA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ru-RU" altLang="uk-UA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r>
              <a:rPr kumimoji="0" lang="ru-RU" altLang="uk-UA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uk-UA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Гарної</a:t>
            </a:r>
            <a:r>
              <a:rPr kumimoji="0" lang="ru-RU" altLang="uk-UA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ru-RU" altLang="uk-UA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подорож</a:t>
            </a:r>
            <a:r>
              <a:rPr kumimoji="0" lang="ru-RU" altLang="uk-UA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? у </a:t>
            </a:r>
            <a:r>
              <a:rPr kumimoji="0" lang="ru-RU" altLang="uk-UA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св?т</a:t>
            </a:r>
            <a:r>
              <a:rPr kumimoji="0" lang="ru-RU" altLang="uk-UA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? C#</a:t>
            </a:r>
            <a:endParaRPr kumimoji="0" lang="uk-UA" altLang="uk-UA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7520B8-A2FF-41EF-B85F-0616F0E9A292}"/>
              </a:ext>
            </a:extLst>
          </p:cNvPr>
          <p:cNvSpPr txBox="1"/>
          <p:nvPr/>
        </p:nvSpPr>
        <p:spPr>
          <a:xfrm>
            <a:off x="314323" y="3046302"/>
            <a:ext cx="11506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>
                <a:solidFill>
                  <a:srgbClr val="000000"/>
                </a:solidFill>
                <a:effectLst/>
              </a:rPr>
              <a:t>У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цьому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блоці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коду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дві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інструкції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,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які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виводять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на консоль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певний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рядок.</a:t>
            </a:r>
            <a:endParaRPr lang="uk-UA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E0049E-BCB7-4026-9809-48394C08A73A}"/>
              </a:ext>
            </a:extLst>
          </p:cNvPr>
          <p:cNvSpPr txBox="1"/>
          <p:nvPr/>
        </p:nvSpPr>
        <p:spPr>
          <a:xfrm>
            <a:off x="314323" y="364859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 err="1">
                <a:solidFill>
                  <a:srgbClr val="000000"/>
                </a:solidFill>
                <a:effectLst/>
              </a:rPr>
              <a:t>Одні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блоки коду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можуть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містити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інші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блоки:</a:t>
            </a:r>
            <a:endParaRPr lang="uk-UA" sz="2400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9259BAB-CAF9-4B8D-8D53-88E4E2577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3" y="4066311"/>
            <a:ext cx="113538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"Перший блок"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{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"Другий блок"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}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645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 err="1">
                <a:solidFill>
                  <a:srgbClr val="000000"/>
                </a:solidFill>
                <a:latin typeface="-apple-system"/>
              </a:rPr>
              <a:t>Регістрозалежність</a:t>
            </a:r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AF84A6-84B2-4523-8B3C-E4A1FD89DF8D}"/>
              </a:ext>
            </a:extLst>
          </p:cNvPr>
          <p:cNvSpPr txBox="1"/>
          <p:nvPr/>
        </p:nvSpPr>
        <p:spPr>
          <a:xfrm>
            <a:off x="314325" y="1352461"/>
            <a:ext cx="1039177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C#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є </a:t>
            </a:r>
            <a:r>
              <a:rPr lang="uk-UA" sz="2400" b="0" i="0" dirty="0" err="1">
                <a:solidFill>
                  <a:srgbClr val="000000"/>
                </a:solidFill>
                <a:effectLst/>
                <a:latin typeface="-apple-system"/>
              </a:rPr>
              <a:t>регістрозалежною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 мовою. Це означає, що в залежності від регістру символів певні назви можуть представляти різні класи, методи, змінні і </a:t>
            </a:r>
            <a:r>
              <a:rPr lang="uk-UA" sz="2400" b="0" i="0" dirty="0" err="1">
                <a:solidFill>
                  <a:srgbClr val="000000"/>
                </a:solidFill>
                <a:effectLst/>
                <a:latin typeface="-apple-system"/>
              </a:rPr>
              <a:t>т.д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. </a:t>
            </a:r>
          </a:p>
          <a:p>
            <a:pPr algn="l"/>
            <a:endParaRPr lang="uk-UA" sz="2400" dirty="0">
              <a:solidFill>
                <a:srgbClr val="000000"/>
              </a:solidFill>
              <a:latin typeface="-apple-system"/>
            </a:endParaRPr>
          </a:p>
          <a:p>
            <a:pPr algn="l"/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Наприклад, для виведення на консоль використовується метод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-apple-system"/>
              </a:rPr>
              <a:t>WriteLine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 –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його ім'я починається саме з великої літери: 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WriteLine". </a:t>
            </a:r>
            <a:endParaRPr lang="uk-UA" sz="2400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uk-UA" sz="2400" dirty="0">
              <a:solidFill>
                <a:srgbClr val="000000"/>
              </a:solidFill>
              <a:latin typeface="-apple-system"/>
            </a:endParaRPr>
          </a:p>
          <a:p>
            <a:pPr algn="l"/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Якщо ми замість "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-apple-system"/>
              </a:rPr>
              <a:t>Console.WriteLine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"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напишемо "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-apple-system"/>
              </a:rPr>
              <a:t>Console.writeline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",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то програма не </a:t>
            </a:r>
            <a:r>
              <a:rPr lang="uk-UA" sz="2400" b="0" i="0" dirty="0" err="1">
                <a:solidFill>
                  <a:srgbClr val="000000"/>
                </a:solidFill>
                <a:effectLst/>
                <a:latin typeface="-apple-system"/>
              </a:rPr>
              <a:t>скомпілюється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, тому що даний метод обов'язково має називатися 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WriteLine",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а не "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-apple-system"/>
              </a:rPr>
              <a:t>writeline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"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або 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WRITELINE"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або якось інакше.</a:t>
            </a:r>
          </a:p>
        </p:txBody>
      </p:sp>
    </p:spTree>
    <p:extLst>
      <p:ext uri="{BB962C8B-B14F-4D97-AF65-F5344CB8AC3E}">
        <p14:creationId xmlns:p14="http://schemas.microsoft.com/office/powerpoint/2010/main" val="3476856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Коментарі</a:t>
            </a:r>
            <a:endParaRPr lang="uk-U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50D0E1-41EE-4C19-BCD8-E02A97515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626" y="1254244"/>
            <a:ext cx="1173971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Важливою частиною програмного коду є коментарі.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uk-UA" altLang="uk-UA" sz="2400" dirty="0">
              <a:solidFill>
                <a:srgbClr val="000000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Вони не є частиною програми, при компіляції вони ігноруються. Проте коментарі роблять код програми зрозумілішим, допомагаючи зрозуміти ті чи інші його частини.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є два типи коментарів: однорядковий та багаторядковий. Однорядковий коментар розміщується на одному рядку після подвійного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слішу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//. А багаторядковий коментар полягає між символами /* текст коментаря */. Він може розміщуватись на декількох рядках. Наприклад: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50C07F-5161-4193-8FA5-394BA0C0D7E1}"/>
              </a:ext>
            </a:extLst>
          </p:cNvPr>
          <p:cNvSpPr txBox="1"/>
          <p:nvPr/>
        </p:nvSpPr>
        <p:spPr>
          <a:xfrm>
            <a:off x="324464" y="4648363"/>
            <a:ext cx="1154307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</a:p>
          <a:p>
            <a:pPr algn="l" fontAlgn="base"/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перша программа на C#,</a:t>
            </a:r>
          </a:p>
          <a:p>
            <a:pPr algn="l" fontAlgn="base"/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яка 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виводить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Гарної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подорожі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у 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світі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С</a:t>
            </a:r>
            <a:r>
              <a:rPr lang="en-US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#”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l" fontAlgn="base"/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pPr algn="l" fontAlgn="base"/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Вітаю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");// 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Виводимо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строку "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Вітаю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endParaRPr lang="en-US" sz="1400" b="0" i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fontAlgn="base"/>
            <a:r>
              <a:rPr lang="en-US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uk-U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або можна перед якоюсь дією ставити</a:t>
            </a:r>
          </a:p>
          <a:p>
            <a:pPr algn="l" fontAlgn="base"/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Виводимо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строку "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Гарної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подорожі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у 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світі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C#"</a:t>
            </a:r>
          </a:p>
          <a:p>
            <a:pPr algn="l" fontAlgn="base"/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Гарної подорожі у світі 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C#");</a:t>
            </a:r>
          </a:p>
        </p:txBody>
      </p:sp>
    </p:spTree>
    <p:extLst>
      <p:ext uri="{BB962C8B-B14F-4D97-AF65-F5344CB8AC3E}">
        <p14:creationId xmlns:p14="http://schemas.microsoft.com/office/powerpoint/2010/main" val="1315322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Файл проекту</a:t>
            </a:r>
            <a:endParaRPr lang="uk-U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50D0E1-41EE-4C19-BCD8-E02A97515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64" y="1322866"/>
            <a:ext cx="11543071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У кожному проекті проекту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C#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є файл, який відповідає за загальну </a:t>
            </a:r>
            <a:r>
              <a:rPr lang="uk-UA" sz="2400" b="0" i="0" dirty="0" err="1">
                <a:solidFill>
                  <a:srgbClr val="000000"/>
                </a:solidFill>
                <a:effectLst/>
                <a:latin typeface="-apple-system"/>
              </a:rPr>
              <a:t>конфгурацію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 проекту. За промовчанням цей файл називається </a:t>
            </a:r>
            <a:r>
              <a:rPr lang="uk-UA" sz="2400" b="1" i="0" dirty="0" err="1">
                <a:solidFill>
                  <a:srgbClr val="000000"/>
                </a:solidFill>
                <a:effectLst/>
                <a:latin typeface="-apple-system"/>
              </a:rPr>
              <a:t>Назва_проекту</a:t>
            </a:r>
            <a:r>
              <a:rPr lang="uk-UA" sz="2400" b="1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-apple-system"/>
              </a:rPr>
              <a:t>csproj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 .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Отже, відкриємо цей файл. Для цього або подвійним </a:t>
            </a:r>
            <a:r>
              <a:rPr lang="uk-UA" sz="2400" b="0" i="0" dirty="0" err="1">
                <a:solidFill>
                  <a:srgbClr val="000000"/>
                </a:solidFill>
                <a:effectLst/>
                <a:latin typeface="-apple-system"/>
              </a:rPr>
              <a:t>кліком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 лівою кнопкою миші натиснемо на назву проекту, або натиснемо на назву проекту правою кнопкою миші і в меню виберемо пункт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-apple-system"/>
              </a:rPr>
              <a:t>Edit Project File</a:t>
            </a:r>
            <a:r>
              <a:rPr lang="uk-UA" sz="2400" b="1" i="0" dirty="0">
                <a:solidFill>
                  <a:srgbClr val="000000"/>
                </a:solidFill>
                <a:effectLst/>
                <a:latin typeface="-apple-system"/>
              </a:rPr>
              <a:t>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92BA122-F68D-4FAE-894A-00738CE33B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694" b="43869"/>
          <a:stretch/>
        </p:blipFill>
        <p:spPr>
          <a:xfrm>
            <a:off x="1199534" y="3429000"/>
            <a:ext cx="9792929" cy="24678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84AABD7-6E95-44E9-B43B-C2B09733B557}"/>
              </a:ext>
            </a:extLst>
          </p:cNvPr>
          <p:cNvSpPr txBox="1"/>
          <p:nvPr/>
        </p:nvSpPr>
        <p:spPr>
          <a:xfrm>
            <a:off x="314632" y="6046442"/>
            <a:ext cx="115430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uk-UA" sz="2400" b="0" i="0" dirty="0">
                <a:solidFill>
                  <a:srgbClr val="000000"/>
                </a:solidFill>
                <a:effectLst/>
              </a:rPr>
              <a:t>Після цього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Visual Studio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відкриє нам файл проекту, який виглядатиме, як малюнок вище.</a:t>
            </a:r>
          </a:p>
          <a:p>
            <a:br>
              <a:rPr lang="uk-UA" sz="2400" dirty="0"/>
            </a:b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1977701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Файл проекту</a:t>
            </a:r>
            <a:endParaRPr lang="uk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3836F9-83B8-43F6-97AF-016BEB6360E5}"/>
              </a:ext>
            </a:extLst>
          </p:cNvPr>
          <p:cNvSpPr txBox="1"/>
          <p:nvPr/>
        </p:nvSpPr>
        <p:spPr>
          <a:xfrm>
            <a:off x="352425" y="2198519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Project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Sdk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Microsoft.NET.Sdk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uk-UA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PropertyGroup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OutputType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Exe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OutputType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TargetFramework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net8.0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TargetFramework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ImplicitUsings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enable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ImplicitUsings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Nullable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enable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Nullable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&lt;/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PropertyGroup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uk-UA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Project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7C7456-831B-4407-B968-6608FC0A0A9C}"/>
              </a:ext>
            </a:extLst>
          </p:cNvPr>
          <p:cNvSpPr txBox="1"/>
          <p:nvPr/>
        </p:nvSpPr>
        <p:spPr>
          <a:xfrm>
            <a:off x="352425" y="1367522"/>
            <a:ext cx="108775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uk-UA" sz="2400" b="0" i="0" dirty="0">
                <a:solidFill>
                  <a:srgbClr val="000000"/>
                </a:solidFill>
                <a:effectLst/>
              </a:rPr>
              <a:t>Після цього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Visual Studio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відкриє нам файл проекту, який виглядатиме</a:t>
            </a:r>
            <a:r>
              <a:rPr lang="uk-UA" sz="2400" dirty="0">
                <a:solidFill>
                  <a:srgbClr val="000000"/>
                </a:solidFill>
              </a:rPr>
              <a:t> наступним чином:</a:t>
            </a:r>
            <a:endParaRPr lang="uk-UA" sz="2400" b="0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940595-5A50-41F7-9D59-56EAC5958EB5}"/>
              </a:ext>
            </a:extLst>
          </p:cNvPr>
          <p:cNvSpPr txBox="1"/>
          <p:nvPr/>
        </p:nvSpPr>
        <p:spPr>
          <a:xfrm>
            <a:off x="352425" y="5337840"/>
            <a:ext cx="114871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</a:rPr>
              <a:t>Цей файл у вигляді коду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xml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визначає </a:t>
            </a:r>
            <a:r>
              <a:rPr lang="uk-UA" sz="2400" b="0" i="0" dirty="0" err="1">
                <a:solidFill>
                  <a:srgbClr val="000000"/>
                </a:solidFill>
                <a:effectLst/>
              </a:rPr>
              <a:t>конфгурацію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 проекту і може містити безліч елементів. </a:t>
            </a: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2886137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Файл проекту</a:t>
            </a:r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1D9BF1-998E-46E4-9928-3804B3B221F7}"/>
              </a:ext>
            </a:extLst>
          </p:cNvPr>
          <p:cNvSpPr txBox="1"/>
          <p:nvPr/>
        </p:nvSpPr>
        <p:spPr>
          <a:xfrm>
            <a:off x="371475" y="1332369"/>
            <a:ext cx="115443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uk-UA" sz="2400" b="0" i="0" dirty="0">
                <a:solidFill>
                  <a:srgbClr val="000000"/>
                </a:solidFill>
                <a:effectLst/>
              </a:rPr>
              <a:t>Зупинимось тільки на двох основних:</a:t>
            </a:r>
          </a:p>
          <a:p>
            <a:pPr algn="l"/>
            <a:endParaRPr lang="uk-UA" sz="2400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000000"/>
                </a:solidFill>
                <a:effectLst/>
              </a:rPr>
              <a:t>OutputType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 :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визначає вихідний тип проекту. </a:t>
            </a:r>
          </a:p>
          <a:p>
            <a:pPr algn="l"/>
            <a:r>
              <a:rPr lang="uk-UA" sz="2400" b="0" i="0" dirty="0">
                <a:solidFill>
                  <a:srgbClr val="000000"/>
                </a:solidFill>
                <a:effectLst/>
              </a:rPr>
              <a:t>Це може бути додаток у вигляді файлу з розширенням </a:t>
            </a:r>
            <a:r>
              <a:rPr lang="en-US" sz="2400" b="1" i="0" dirty="0">
                <a:solidFill>
                  <a:srgbClr val="000000"/>
                </a:solidFill>
                <a:effectLst/>
              </a:rPr>
              <a:t>exe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 ,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який запускається по </a:t>
            </a:r>
            <a:r>
              <a:rPr lang="uk-UA" sz="2400" b="0" i="0" dirty="0" err="1">
                <a:solidFill>
                  <a:srgbClr val="000000"/>
                </a:solidFill>
                <a:effectLst/>
              </a:rPr>
              <a:t>натисканню.І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 також це може бути файл із розширенням </a:t>
            </a:r>
            <a:r>
              <a:rPr lang="uk-UA" sz="2400" b="1" i="0" dirty="0">
                <a:solidFill>
                  <a:srgbClr val="000000"/>
                </a:solidFill>
                <a:effectLst/>
              </a:rPr>
              <a:t>.</a:t>
            </a:r>
            <a:r>
              <a:rPr lang="en-US" sz="2400" b="1" i="0" dirty="0" err="1">
                <a:solidFill>
                  <a:srgbClr val="000000"/>
                </a:solidFill>
                <a:effectLst/>
              </a:rPr>
              <a:t>dll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 –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деякий набір </a:t>
            </a:r>
            <a:r>
              <a:rPr lang="uk-UA" sz="2400" b="0" i="0" dirty="0" err="1">
                <a:solidFill>
                  <a:srgbClr val="000000"/>
                </a:solidFill>
                <a:effectLst/>
              </a:rPr>
              <a:t>функціональностей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, який використовується іншими проектами. </a:t>
            </a:r>
          </a:p>
          <a:p>
            <a:pPr algn="l"/>
            <a:r>
              <a:rPr lang="uk-UA" sz="2400" b="0" i="0" dirty="0">
                <a:solidFill>
                  <a:srgbClr val="000000"/>
                </a:solidFill>
                <a:effectLst/>
              </a:rPr>
              <a:t>За замовчуванням тут встановлено значення "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Exe",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що означає, що ми створюємо програму, що виконується.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uk-UA" sz="2400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000000"/>
                </a:solidFill>
                <a:effectLst/>
              </a:rPr>
              <a:t>TargetFramework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 :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визначає версію фреймворку .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NET,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що застосовується для компіляції. У разі це значення "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net6.0 " ,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тобто застосовується .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NET 6.0.</a:t>
            </a:r>
          </a:p>
          <a:p>
            <a:pPr algn="l"/>
            <a:r>
              <a:rPr lang="uk-UA" sz="2400" b="0" i="0" dirty="0">
                <a:solidFill>
                  <a:srgbClr val="000000"/>
                </a:solidFill>
                <a:effectLst/>
              </a:rPr>
              <a:t>На ранніх етапах цей файл може не знадобитися, проте згодом може знадобитися </a:t>
            </a:r>
            <a:r>
              <a:rPr lang="uk-UA" sz="2400" b="0" i="0" dirty="0" err="1">
                <a:solidFill>
                  <a:srgbClr val="000000"/>
                </a:solidFill>
                <a:effectLst/>
              </a:rPr>
              <a:t>внести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 деякі зміни в конфігурацію, і тоді може виникнути потреба у зверненні до цього файлу.</a:t>
            </a:r>
          </a:p>
        </p:txBody>
      </p:sp>
    </p:spTree>
    <p:extLst>
      <p:ext uri="{BB962C8B-B14F-4D97-AF65-F5344CB8AC3E}">
        <p14:creationId xmlns:p14="http://schemas.microsoft.com/office/powerpoint/2010/main" val="3082052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Зміні</a:t>
            </a:r>
            <a:endParaRPr lang="uk-UA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358A5E8-966A-4931-AB43-C03DEEEF0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518" y="1386682"/>
            <a:ext cx="11728961" cy="344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Для зберігання даних у програмі застосовуються </a:t>
            </a:r>
            <a:r>
              <a:rPr kumimoji="0" lang="uk-UA" altLang="uk-UA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змінні</a:t>
            </a: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. Змінна являє саме ванну область пам'яті, в якій зберігається значення певного типу. Змінна має тип, ім'я та значення.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uk-UA" altLang="uk-UA" sz="2600" dirty="0">
              <a:solidFill>
                <a:srgbClr val="000000"/>
              </a:solidFill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Тип визначає, що такого роду інформацію може зберігати змінна.</a:t>
            </a:r>
            <a:r>
              <a:rPr lang="uk-UA" altLang="uk-UA" sz="2600" dirty="0">
                <a:latin typeface="+mn-lt"/>
              </a:rPr>
              <a:t> </a:t>
            </a: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Перед використанням будь-яку змінну слід визначити. Синтаксис визначення змінної виглядає так:</a:t>
            </a:r>
            <a:endParaRPr kumimoji="0" lang="uk-UA" altLang="uk-UA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4D036D-538E-4EE3-88BE-53C04DCD696D}"/>
              </a:ext>
            </a:extLst>
          </p:cNvPr>
          <p:cNvSpPr txBox="1"/>
          <p:nvPr/>
        </p:nvSpPr>
        <p:spPr>
          <a:xfrm>
            <a:off x="231518" y="4827624"/>
            <a:ext cx="4227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тип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ім’я_змінної</a:t>
            </a:r>
            <a:endParaRPr lang="uk-U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860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Зміні</a:t>
            </a:r>
            <a:endParaRPr lang="uk-UA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358A5E8-966A-4931-AB43-C03DEEEF0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519" y="1428452"/>
            <a:ext cx="11728961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Спочатку йде тип змінної, потім її ім'я. Як ім'я змінної може виступати будь-яка довільна назва, яка задовольняє наступним вимогам:</a:t>
            </a:r>
            <a:endParaRPr kumimoji="0" lang="uk-UA" altLang="uk-UA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Ім'я може містити будь-які цифри, букви та символ підкреслення, при цьому перший символ в імені має бути буквою або символом підкреслення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uk-UA" altLang="uk-UA" sz="2600" dirty="0">
                <a:solidFill>
                  <a:srgbClr val="000000"/>
                </a:solidFill>
                <a:latin typeface="+mn-lt"/>
              </a:rPr>
              <a:t>В</a:t>
            </a: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імені не повинно бути знаків пунктуації та пропусків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Ім'я не може бути ключовим словом мови C#. Таких слів не так багато, і під час роботи у </a:t>
            </a:r>
            <a:r>
              <a:rPr kumimoji="0" lang="uk-UA" altLang="uk-UA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Visual</a:t>
            </a: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uk-UA" altLang="uk-UA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Studio</a:t>
            </a: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середовище розробки підсвічує ключові слова синім кольором.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Хоча ім'я зміною може бути будь-яким, але слід давати змінним описові імена, які будуть говорити про їхнє призначення.</a:t>
            </a:r>
            <a:endParaRPr kumimoji="0" lang="uk-UA" altLang="uk-UA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8446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1A019DB6-1679-40F0-80B9-819631902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06" y="1759140"/>
            <a:ext cx="11454581" cy="3841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uk-UA" altLang="uk-UA" sz="2400">
                <a:solidFill>
                  <a:srgbClr val="000000"/>
                </a:solidFill>
                <a:latin typeface="+mn-lt"/>
              </a:rPr>
              <a:t>     </a:t>
            </a:r>
            <a:r>
              <a:rPr kumimoji="0" lang="uk-UA" altLang="uk-UA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Наприклад, визначимо найпростішу змінну: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В даному випадку визначено змінну name, яка має тип </a:t>
            </a:r>
            <a:r>
              <a:rPr kumimoji="0" lang="uk-UA" altLang="uk-UA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string</a:t>
            </a:r>
            <a:r>
              <a:rPr kumimoji="0" lang="uk-UA" altLang="uk-UA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. тобто змінна представляє рядок. Оскільки визначення змінної є інструкцією, то після нього ставиться крапка з комою.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При цьому слід враховувати, що C# є регістрозалежною мовою, тому наступні два визначення змінних будуть представляти дві різні змінні: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uk-UA" altLang="uk-UA" sz="2400">
              <a:solidFill>
                <a:srgbClr val="000000"/>
              </a:solidFill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Зміні</a:t>
            </a:r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137CF2-74BA-44EA-BCB1-C091622A80B3}"/>
              </a:ext>
            </a:extLst>
          </p:cNvPr>
          <p:cNvSpPr txBox="1"/>
          <p:nvPr/>
        </p:nvSpPr>
        <p:spPr>
          <a:xfrm>
            <a:off x="629265" y="20989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name;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578679-E8CB-4826-B6B7-9D82AB546F9A}"/>
              </a:ext>
            </a:extLst>
          </p:cNvPr>
          <p:cNvSpPr txBox="1"/>
          <p:nvPr/>
        </p:nvSpPr>
        <p:spPr>
          <a:xfrm>
            <a:off x="629265" y="495386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name;</a:t>
            </a:r>
          </a:p>
          <a:p>
            <a:pPr algn="l" fontAlgn="base"/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Name;</a:t>
            </a:r>
          </a:p>
        </p:txBody>
      </p:sp>
    </p:spTree>
    <p:extLst>
      <p:ext uri="{BB962C8B-B14F-4D97-AF65-F5344CB8AC3E}">
        <p14:creationId xmlns:p14="http://schemas.microsoft.com/office/powerpoint/2010/main" val="1113228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1A019DB6-1679-40F0-80B9-819631902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893" y="847062"/>
            <a:ext cx="1145458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uk-UA" altLang="uk-UA" sz="2400" dirty="0">
                <a:solidFill>
                  <a:srgbClr val="000000"/>
                </a:solidFill>
                <a:latin typeface="+mn-lt"/>
              </a:rPr>
              <a:t>    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Після визначення змінної можна надати деяке значення: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uk-UA" altLang="uk-UA" sz="2400" dirty="0">
              <a:solidFill>
                <a:srgbClr val="000000"/>
              </a:solidFill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Оскільки змінна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name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представляє тип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string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тобто рядок, ми можемо присвоїти їй рядок в подвійних лапках. Причому змінної можна присвоїти лише те значення, яке відповідає її типу.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Зміні</a:t>
            </a:r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4C1438-4121-4BFB-82B6-0B27FBF71C76}"/>
              </a:ext>
            </a:extLst>
          </p:cNvPr>
          <p:cNvSpPr txBox="1"/>
          <p:nvPr/>
        </p:nvSpPr>
        <p:spPr>
          <a:xfrm>
            <a:off x="432619" y="159204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name;</a:t>
            </a:r>
          </a:p>
          <a:p>
            <a:pPr algn="l" fontAlgn="base"/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 = "Tom";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4D97575-A4AF-4AF8-802D-2CBA810BC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10" y="3798332"/>
            <a:ext cx="10432025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Надалі за допомогою імені змінної ми зможемо звертатися до тієї області пам'яті, де зберігається її значення.</a:t>
            </a:r>
            <a:endParaRPr kumimoji="0" lang="uk-UA" altLang="uk-UA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Також ми можемо відразу при визначенні присвоїти змінної значення.</a:t>
            </a:r>
            <a:r>
              <a:rPr kumimoji="0" lang="en-US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Це називаєтьс</a:t>
            </a:r>
            <a:r>
              <a:rPr lang="uk-UA" altLang="uk-UA" sz="2600" dirty="0">
                <a:solidFill>
                  <a:srgbClr val="000000"/>
                </a:solidFill>
                <a:latin typeface="+mn-lt"/>
              </a:rPr>
              <a:t>я </a:t>
            </a:r>
            <a:r>
              <a:rPr lang="uk-UA" altLang="uk-UA" sz="2600" b="1" dirty="0">
                <a:solidFill>
                  <a:srgbClr val="000000"/>
                </a:solidFill>
                <a:latin typeface="+mn-lt"/>
              </a:rPr>
              <a:t>ініціалізацією</a:t>
            </a:r>
            <a:r>
              <a:rPr lang="uk-UA" altLang="uk-UA" sz="2600" dirty="0">
                <a:solidFill>
                  <a:srgbClr val="000000"/>
                </a:solidFill>
                <a:latin typeface="+mn-lt"/>
              </a:rPr>
              <a:t>.</a:t>
            </a:r>
            <a:endParaRPr kumimoji="0" lang="uk-UA" altLang="uk-UA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F5C427-EE6D-4785-853F-E75E61E9C733}"/>
              </a:ext>
            </a:extLst>
          </p:cNvPr>
          <p:cNvSpPr txBox="1"/>
          <p:nvPr/>
        </p:nvSpPr>
        <p:spPr>
          <a:xfrm>
            <a:off x="432619" y="3429000"/>
            <a:ext cx="63123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name = "Tom"</a:t>
            </a:r>
            <a:endParaRPr lang="uk-U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3F8971-252D-44E7-A849-AE2B3EE9C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10" y="5398144"/>
            <a:ext cx="289502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name = "Tom"; </a:t>
            </a:r>
          </a:p>
        </p:txBody>
      </p:sp>
    </p:spTree>
    <p:extLst>
      <p:ext uri="{BB962C8B-B14F-4D97-AF65-F5344CB8AC3E}">
        <p14:creationId xmlns:p14="http://schemas.microsoft.com/office/powerpoint/2010/main" val="2501974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Зміні</a:t>
            </a:r>
            <a:endParaRPr lang="uk-U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02BFAB-B2EC-4918-BE71-506FC4A63B99}"/>
              </a:ext>
            </a:extLst>
          </p:cNvPr>
          <p:cNvSpPr txBox="1"/>
          <p:nvPr/>
        </p:nvSpPr>
        <p:spPr>
          <a:xfrm>
            <a:off x="838200" y="1393577"/>
            <a:ext cx="9829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 err="1">
                <a:solidFill>
                  <a:srgbClr val="000000"/>
                </a:solidFill>
                <a:effectLst/>
              </a:rPr>
              <a:t>Відмінною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рисою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змінних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є те,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що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в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програмі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можна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багаторазово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міняти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їх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значення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.</a:t>
            </a:r>
            <a:endParaRPr lang="uk-UA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91BB8B-18B4-47B1-A93B-62FD322EDFAD}"/>
              </a:ext>
            </a:extLst>
          </p:cNvPr>
          <p:cNvSpPr txBox="1"/>
          <p:nvPr/>
        </p:nvSpPr>
        <p:spPr>
          <a:xfrm>
            <a:off x="838200" y="3458600"/>
            <a:ext cx="66770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</a:rPr>
              <a:t>Консольний висновок програми:</a:t>
            </a:r>
            <a:endParaRPr lang="uk-UA" sz="240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FEE259D-3D26-41F6-AD89-BFD42C69C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973224"/>
            <a:ext cx="495300" cy="46166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Tom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uk-UA" sz="1200" b="0" i="0" u="none" strike="noStrike" cap="none" normalizeH="0" baseline="0" dirty="0">
              <a:ln>
                <a:noFill/>
              </a:ln>
              <a:solidFill>
                <a:srgbClr val="EEEEEE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Bob</a:t>
            </a:r>
            <a:r>
              <a:rPr kumimoji="0" lang="uk-UA" altLang="uk-UA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C9D269-E32B-4F5E-B0CB-2D033E55AE5F}"/>
              </a:ext>
            </a:extLst>
          </p:cNvPr>
          <p:cNvSpPr txBox="1"/>
          <p:nvPr/>
        </p:nvSpPr>
        <p:spPr>
          <a:xfrm>
            <a:off x="838200" y="2205312"/>
            <a:ext cx="9829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name = "Tom";  // 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створюємо</a:t>
            </a:r>
            <a:r>
              <a:rPr lang="uk-UA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зміну і </a:t>
            </a:r>
            <a:r>
              <a:rPr lang="uk-UA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ініціалізуємо</a:t>
            </a:r>
            <a:r>
              <a:rPr lang="uk-UA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її</a:t>
            </a:r>
          </a:p>
          <a:p>
            <a:pPr algn="l" fontAlgn="base"/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(name);    // Tom</a:t>
            </a:r>
          </a:p>
          <a:p>
            <a:pPr algn="l" fontAlgn="base"/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 = "Bob";       // </a:t>
            </a:r>
            <a:r>
              <a:rPr lang="uk-UA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змінюємо значення</a:t>
            </a:r>
          </a:p>
          <a:p>
            <a:pPr algn="l" fontAlgn="base"/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(name);    // Bob</a:t>
            </a:r>
          </a:p>
        </p:txBody>
      </p:sp>
    </p:spTree>
    <p:extLst>
      <p:ext uri="{BB962C8B-B14F-4D97-AF65-F5344CB8AC3E}">
        <p14:creationId xmlns:p14="http://schemas.microsoft.com/office/powerpoint/2010/main" val="2547940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Константи</a:t>
            </a:r>
            <a:endParaRPr lang="uk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6D0BD2-3751-4FF2-8F9D-EAB8B10D70EA}"/>
              </a:ext>
            </a:extLst>
          </p:cNvPr>
          <p:cNvSpPr txBox="1"/>
          <p:nvPr/>
        </p:nvSpPr>
        <p:spPr>
          <a:xfrm>
            <a:off x="657224" y="1317189"/>
            <a:ext cx="1103947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Відмінною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особливістю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змінних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є те,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ми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можемо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змінити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їхнє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значення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процесі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роботи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програми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Але,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крім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того, у C# є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константи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ru-RU" sz="2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Константа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має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бути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обов'язково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ініціалізована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при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визначенні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і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після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визначення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значення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константи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не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може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бути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змінено</a:t>
            </a:r>
            <a:endParaRPr lang="ru-RU" sz="20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Константи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призначені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для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опису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таких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значень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які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не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повинні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змінюватись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у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програмі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Для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визначення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констант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використовується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ключове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слово </a:t>
            </a:r>
            <a:r>
              <a:rPr lang="ru-RU" sz="20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const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, яке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вказується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перед типом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константи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42BFB8E-B228-44CA-8F26-0B4599A9E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3290500"/>
            <a:ext cx="716862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NAME =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Tom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 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определяем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константу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49D32AF-ACE8-4C6C-B4AF-FEEC6BD9A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4" y="3636734"/>
            <a:ext cx="11782425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Так, у даному випадку визначена константа NAME, яка зберігає рядок "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Tom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".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89692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Константи</a:t>
            </a:r>
            <a:endParaRPr lang="uk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6D0BD2-3751-4FF2-8F9D-EAB8B10D70EA}"/>
              </a:ext>
            </a:extLst>
          </p:cNvPr>
          <p:cNvSpPr txBox="1"/>
          <p:nvPr/>
        </p:nvSpPr>
        <p:spPr>
          <a:xfrm>
            <a:off x="383458" y="1290266"/>
            <a:ext cx="113464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використанні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констант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слід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пам'ятати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оголосити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ми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їх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можемо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лише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один раз і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на момент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компіляції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вони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мають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бути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визначені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Так, 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наступному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випадку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ми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отримаємо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помилку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тому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константі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не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надано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початкове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значення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8B5C56-C3CA-4056-A045-B1CF48755254}"/>
              </a:ext>
            </a:extLst>
          </p:cNvPr>
          <p:cNvSpPr txBox="1"/>
          <p:nvPr/>
        </p:nvSpPr>
        <p:spPr>
          <a:xfrm>
            <a:off x="383457" y="2819348"/>
            <a:ext cx="100878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NAME;  // !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Ошибка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- константа NAME не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ініціалізована</a:t>
            </a:r>
            <a:endParaRPr lang="uk-U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6657B-189B-4A83-A867-210C6442F005}"/>
              </a:ext>
            </a:extLst>
          </p:cNvPr>
          <p:cNvSpPr txBox="1"/>
          <p:nvPr/>
        </p:nvSpPr>
        <p:spPr>
          <a:xfrm>
            <a:off x="383457" y="3214933"/>
            <a:ext cx="9527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Крім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того, ми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її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не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зможемо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змінити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процесі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роботи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програми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D07E6EB-5348-4CE9-B8E4-BAD2AF789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182" y="3645821"/>
            <a:ext cx="882292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NAME =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Tom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 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створюємо константу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 =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Bob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  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!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Ошибка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 у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констати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неможна змінити значення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6526FE-8061-492D-8429-A47E2B22FF4D}"/>
              </a:ext>
            </a:extLst>
          </p:cNvPr>
          <p:cNvSpPr txBox="1"/>
          <p:nvPr/>
        </p:nvSpPr>
        <p:spPr>
          <a:xfrm>
            <a:off x="383457" y="4257452"/>
            <a:ext cx="113464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Таким чином,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якщо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нам треба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зберігати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програмі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деякі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дані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але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їх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не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слід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змінити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вони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визначаються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вигляді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констант.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Якщо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їх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можна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змінювати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всі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вони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визначаються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вигляді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змінних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987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Типи даних</a:t>
            </a:r>
            <a:endParaRPr lang="uk-UA" dirty="0"/>
          </a:p>
        </p:txBody>
      </p:sp>
      <p:pic>
        <p:nvPicPr>
          <p:cNvPr id="6146" name="Picture 2" descr="Тема 2. Основи мови програмування C#">
            <a:extLst>
              <a:ext uri="{FF2B5EF4-FFF2-40B4-BE49-F238E27FC236}">
                <a16:creationId xmlns:a16="http://schemas.microsoft.com/office/drawing/2014/main" id="{8A573EBF-5EFD-4DA3-8D0D-70DD6FFC3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7781" y="1404547"/>
            <a:ext cx="9596438" cy="5191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Таблиця 3">
            <a:extLst>
              <a:ext uri="{FF2B5EF4-FFF2-40B4-BE49-F238E27FC236}">
                <a16:creationId xmlns:a16="http://schemas.microsoft.com/office/drawing/2014/main" id="{CE0A0BEB-3D85-470F-92C8-11302C810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783441"/>
              </p:ext>
            </p:extLst>
          </p:nvPr>
        </p:nvGraphicFramePr>
        <p:xfrm>
          <a:off x="1193006" y="-112712"/>
          <a:ext cx="10521950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083">
                  <a:extLst>
                    <a:ext uri="{9D8B030D-6E8A-4147-A177-3AD203B41FA5}">
                      <a16:colId xmlns:a16="http://schemas.microsoft.com/office/drawing/2014/main" val="3227524368"/>
                    </a:ext>
                  </a:extLst>
                </a:gridCol>
                <a:gridCol w="3756879">
                  <a:extLst>
                    <a:ext uri="{9D8B030D-6E8A-4147-A177-3AD203B41FA5}">
                      <a16:colId xmlns:a16="http://schemas.microsoft.com/office/drawing/2014/main" val="2355462124"/>
                    </a:ext>
                  </a:extLst>
                </a:gridCol>
                <a:gridCol w="2680494">
                  <a:extLst>
                    <a:ext uri="{9D8B030D-6E8A-4147-A177-3AD203B41FA5}">
                      <a16:colId xmlns:a16="http://schemas.microsoft.com/office/drawing/2014/main" val="1321175974"/>
                    </a:ext>
                  </a:extLst>
                </a:gridCol>
                <a:gridCol w="2680494">
                  <a:extLst>
                    <a:ext uri="{9D8B030D-6E8A-4147-A177-3AD203B41FA5}">
                      <a16:colId xmlns:a16="http://schemas.microsoft.com/office/drawing/2014/main" val="23769476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dirty="0"/>
                        <a:t>Ім’я типу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/>
                        <a:t>Граничні значення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/>
                        <a:t>Розмір займаної пам’яті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/>
                        <a:t>Приклад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469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bool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r>
                        <a:rPr lang="uk-UA" dirty="0"/>
                        <a:t>, </a:t>
                      </a:r>
                      <a:r>
                        <a:rPr lang="en-US" dirty="0"/>
                        <a:t>false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325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char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symbol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‘f’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680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sbyte</a:t>
                      </a:r>
                      <a:r>
                        <a:rPr lang="en-US" dirty="0"/>
                        <a:t> 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Число від -128 до 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227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byte 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Число від 0 до 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910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short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Число від -32768 до 32767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-256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055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ushort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Число від 0 до 65535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60000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854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Число від -2147483648 до 2147483647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-200000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880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uint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Число від 0 до 4294967295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2000000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97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04318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Типи даних</a:t>
            </a:r>
            <a:r>
              <a:rPr lang="en-US" b="1" dirty="0">
                <a:solidFill>
                  <a:srgbClr val="000000"/>
                </a:solidFill>
                <a:latin typeface="-apple-system"/>
              </a:rPr>
              <a:t>. </a:t>
            </a:r>
            <a:r>
              <a:rPr lang="uk-UA" b="1" dirty="0">
                <a:solidFill>
                  <a:srgbClr val="000000"/>
                </a:solidFill>
                <a:latin typeface="-apple-system"/>
              </a:rPr>
              <a:t>Приклади</a:t>
            </a:r>
            <a:endParaRPr lang="uk-U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934E2F-92E7-4D56-B356-6D4C496DD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344453"/>
            <a:ext cx="2838919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isRunning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uk-UA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isStaying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4DC7A9-AE5F-4EFC-98C3-17936BD0E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6182" y="1686798"/>
            <a:ext cx="2468625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uk-UA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counter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1;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coinsGet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102;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0611C4-CEDA-4DF1-B49F-41E60B208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901" y="1933019"/>
            <a:ext cx="345607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sbyte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uk-UA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-101;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sbyte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uk-UA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sizeOfInventory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102;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CEFED8-0D5C-451A-90B1-EFE28F7C4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273419"/>
            <a:ext cx="2962349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short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enemyAlive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1;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short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uk-UA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enemyKilled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102;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0960B159-447B-43C7-A5B1-2293531FC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6182" y="2703989"/>
            <a:ext cx="19749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ushort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n1 = 1;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ushort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n2 = 102;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33610D4E-7730-4895-B77C-7C03503BE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901" y="3107770"/>
            <a:ext cx="3694471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10;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0b101; 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uk-UA" altLang="uk-UA" sz="1600" dirty="0">
                <a:solidFill>
                  <a:srgbClr val="0082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двійкова форма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 =5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 = 0xFF;  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шістнадцядкова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форма c = 255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2BC0AE8B-E6D6-42E3-8319-C83DA4C62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353475"/>
            <a:ext cx="1851469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10;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0b101;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 = 0xFF;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B2B4FC5B-4676-4271-8294-0DFB8BD28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810" y="3913188"/>
            <a:ext cx="1851469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-10;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0b101;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 = 0xFF;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C3468DF6-CC24-4128-B443-741732437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901" y="4651852"/>
            <a:ext cx="19749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ulong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10;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ulong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0b101;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ulong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 = 0xFF;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8CFD15AB-64CE-4781-A901-5A8BBE7CE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647823"/>
            <a:ext cx="222176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'\x5A'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 = 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'\u0420'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F83D89E8-4880-49EF-9DEA-36ABA8842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810" y="5463382"/>
            <a:ext cx="2838919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word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world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7B945E54-2EF0-4851-8F5F-E8505F945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901" y="5863885"/>
            <a:ext cx="2962349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22;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3.14;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 =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code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2285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Типи даних</a:t>
            </a:r>
            <a:r>
              <a:rPr lang="en-US" b="1" dirty="0">
                <a:solidFill>
                  <a:srgbClr val="000000"/>
                </a:solidFill>
                <a:latin typeface="-apple-system"/>
              </a:rPr>
              <a:t>. </a:t>
            </a:r>
            <a:r>
              <a:rPr lang="uk-UA" b="1" dirty="0">
                <a:solidFill>
                  <a:srgbClr val="000000"/>
                </a:solidFill>
                <a:latin typeface="-apple-system"/>
              </a:rPr>
              <a:t>Приклади</a:t>
            </a:r>
            <a:endParaRPr lang="uk-UA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E829E7-DB50-43DE-9B5B-F246EFCE3E1F}"/>
              </a:ext>
            </a:extLst>
          </p:cNvPr>
          <p:cNvSpPr txBox="1"/>
          <p:nvPr/>
        </p:nvSpPr>
        <p:spPr>
          <a:xfrm>
            <a:off x="876300" y="222867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value =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.MaxValue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number =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.MinValue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numberf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.MaxValue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symbol =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.MinValue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uk-U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202BA-5B97-4692-B26C-EB38F4482194}"/>
              </a:ext>
            </a:extLst>
          </p:cNvPr>
          <p:cNvSpPr txBox="1"/>
          <p:nvPr/>
        </p:nvSpPr>
        <p:spPr>
          <a:xfrm>
            <a:off x="876300" y="3669890"/>
            <a:ext cx="104393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400" dirty="0">
                <a:latin typeface="Arial" panose="020B0604020202020204" pitchFamily="34" charset="0"/>
                <a:cs typeface="Arial" panose="020B0604020202020204" pitchFamily="34" charset="0"/>
              </a:rPr>
              <a:t>За допомогою саме такого запису, як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.MinValue</a:t>
            </a:r>
            <a:r>
              <a:rPr lang="uk-UA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sz="2400" dirty="0">
                <a:latin typeface="Arial" panose="020B0604020202020204" pitchFamily="34" charset="0"/>
                <a:cs typeface="Arial" panose="020B0604020202020204" pitchFamily="34" charset="0"/>
              </a:rPr>
              <a:t>можна дізнатись максимальне значення обраного типу даних, або мінімальне. </a:t>
            </a:r>
          </a:p>
        </p:txBody>
      </p:sp>
    </p:spTree>
    <p:extLst>
      <p:ext uri="{BB962C8B-B14F-4D97-AF65-F5344CB8AC3E}">
        <p14:creationId xmlns:p14="http://schemas.microsoft.com/office/powerpoint/2010/main" val="19860800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Типи даних. Суфікси</a:t>
            </a:r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1E4122-7B62-4C93-A89B-BB5701DC264D}"/>
              </a:ext>
            </a:extLst>
          </p:cNvPr>
          <p:cNvSpPr txBox="1"/>
          <p:nvPr/>
        </p:nvSpPr>
        <p:spPr>
          <a:xfrm>
            <a:off x="619125" y="1309147"/>
            <a:ext cx="1078690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 присвоєння значень слід пам'ятати таку тонкість: все речові літерали (дрібні числа) розглядаються як значення типу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.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І щоб вказати, що дробове число представляє тип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float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або тип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decimal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,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необхідно до літералу додавати суфікс: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F/f –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float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та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M/m –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decimal.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F3E529D-EEAF-4E6D-B748-3BFCCE058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545" y="2813447"/>
            <a:ext cx="2468625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3.14F;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30.6f;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decimal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 = 1005.8M;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decimal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 = 334.8m;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4D2FEA-E3FE-4276-83A9-B4A89B10C1B6}"/>
              </a:ext>
            </a:extLst>
          </p:cNvPr>
          <p:cNvSpPr txBox="1"/>
          <p:nvPr/>
        </p:nvSpPr>
        <p:spPr>
          <a:xfrm>
            <a:off x="619125" y="3979193"/>
            <a:ext cx="1065125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Подібним чином всі цілі літерали розглядаються як значення типу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.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Щоб явним чином вказати, що цілий літерал представляє значення типу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uint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треба використовувати суфікс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U/u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,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для типу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long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-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суфікс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L/l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,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 для типу 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ulong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-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суфікс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UL/ul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: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F882E93-6623-4136-8EFB-AD2ACE722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545" y="5548852"/>
            <a:ext cx="1851469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10U;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20L;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ulong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 = 30UL;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1012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Типи даних. </a:t>
            </a:r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Використання системних типів</a:t>
            </a:r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1618C-F070-4A9D-BAE0-2240AAB1F02B}"/>
              </a:ext>
            </a:extLst>
          </p:cNvPr>
          <p:cNvSpPr txBox="1"/>
          <p:nvPr/>
        </p:nvSpPr>
        <p:spPr>
          <a:xfrm>
            <a:off x="952500" y="1728878"/>
            <a:ext cx="107632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Вище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при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перерахуванні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всіх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базових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типів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даних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кожного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згадувався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системний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тип. Тому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назва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вбудованого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типу по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суті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є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скороченим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позначенням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системного типу.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Наприклад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наступні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змінні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будуть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еквівалентні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за типом: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27611DE-2019-4C9D-8E43-36FB8D948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50" y="3429000"/>
            <a:ext cx="234519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4;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System.Int32 b = 4;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4558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Типи даних. </a:t>
            </a:r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Неявна типізація</a:t>
            </a:r>
            <a:endParaRPr lang="uk-UA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C63A764-B723-45BE-934E-622F626B3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624" y="1295111"/>
            <a:ext cx="1149514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Раніше ми явно вказували тип змінних, наприклад, 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x;. І компілятор при запуску вже знав, що x зберігає ціле значення.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Проте ми можемо використати і модель неявної типізації: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1EEF8B3-ADA1-4FB5-99D5-E40BF1C4D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348" y="2156885"/>
            <a:ext cx="300723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Hell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World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 = 20;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60A1889-1A1C-46F9-9E7D-E911E765C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072" y="2715409"/>
            <a:ext cx="1140407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Для неявної типізації замість назви типу даних використовується ключове слово 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var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. Потім вже за компіляції компілятор сам виводить тип даних з присвоєного значення. Так як за умовчанням всі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цілочисленні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значення розглядаються як значення типу 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 то в результаті змінна c матиме тип 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. Аналогічно змінній 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helloнадається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рядок, тому ця змінна матиме тип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string</a:t>
            </a:r>
            <a:r>
              <a:rPr lang="uk-UA" altLang="uk-UA" sz="1600" dirty="0">
                <a:solidFill>
                  <a:srgbClr val="000000"/>
                </a:solidFill>
                <a:cs typeface="Arial" panose="020B0604020202020204" pitchFamily="34" charset="0"/>
              </a:rPr>
              <a:t>.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Ці змінні подібні до звичайних, проте вони мають деякі обмеження.</a:t>
            </a:r>
            <a:r>
              <a:rPr lang="uk-UA" altLang="uk-UA" sz="1600" dirty="0">
                <a:cs typeface="Arial" panose="020B0604020202020204" pitchFamily="34" charset="0"/>
              </a:rPr>
              <a:t>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По-перше, ми не можемо спочатку оголосити змінну, що неявно типізується, а потім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ініціалізувати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: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1A32396-4423-420B-8524-D0AF25CCA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348" y="4010404"/>
            <a:ext cx="12272501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цей код працює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= 20;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цей код не прац</a:t>
            </a:r>
            <a:r>
              <a:rPr lang="uk-UA" altLang="uk-UA" sz="1400" dirty="0">
                <a:solidFill>
                  <a:srgbClr val="0082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ює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c= 20;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1BB5A8D-0E53-4EAE-88E4-BFA68E55A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072" y="4595179"/>
            <a:ext cx="12030997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По-друге, ми не можемо вказати як значення змінної, що неявно типізується 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C30764A1-EA41-496C-9761-8EE645E01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348" y="5945823"/>
            <a:ext cx="214802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цей код не працює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c=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F0E1F8-705D-4890-AB38-ECF152FC3916}"/>
              </a:ext>
            </a:extLst>
          </p:cNvPr>
          <p:cNvSpPr txBox="1"/>
          <p:nvPr/>
        </p:nvSpPr>
        <p:spPr>
          <a:xfrm>
            <a:off x="483624" y="5562889"/>
            <a:ext cx="126688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Оскільки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значення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то </a:t>
            </a:r>
            <a:r>
              <a:rPr lang="ru-RU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компілятор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зможе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вивести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тип </a:t>
            </a:r>
            <a:r>
              <a:rPr lang="ru-RU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даних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uk-UA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7991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77CD1-D653-460A-8B6B-FA45390F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Консольне </a:t>
            </a:r>
            <a:r>
              <a:rPr lang="uk-UA" b="1" i="0" dirty="0" err="1">
                <a:solidFill>
                  <a:srgbClr val="000000"/>
                </a:solidFill>
                <a:effectLst/>
                <a:latin typeface="-apple-system"/>
              </a:rPr>
              <a:t>ввиведення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DF10D9-E04B-455C-A51A-7CBCBE93AEAA}"/>
              </a:ext>
            </a:extLst>
          </p:cNvPr>
          <p:cNvSpPr txBox="1"/>
          <p:nvPr/>
        </p:nvSpPr>
        <p:spPr>
          <a:xfrm>
            <a:off x="600074" y="1361986"/>
            <a:ext cx="112109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Для виведення інформації на консоль ми вже використовували вбудований метод 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Console.WriteLine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.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Тобто, якщо ми хочемо вивести деяку інформацію на консоль, нам треба передати її в метод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Console.WriteLine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7E866A3-FF50-4ECD-857C-B29280D57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275" y="2501363"/>
            <a:ext cx="11134724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uk-UA" altLang="uk-UA" sz="1600" dirty="0">
                <a:solidFill>
                  <a:srgbClr val="DB00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Привіт світ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uk-UA" altLang="uk-UA" sz="1600" dirty="0">
                <a:solidFill>
                  <a:srgbClr val="DB00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Вітаю у світі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C#!"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Пока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світ..."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(24.5);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0EC2F8-0467-4C30-A758-88A6C19BC8BA}"/>
              </a:ext>
            </a:extLst>
          </p:cNvPr>
          <p:cNvSpPr txBox="1"/>
          <p:nvPr/>
        </p:nvSpPr>
        <p:spPr>
          <a:xfrm>
            <a:off x="600074" y="4044484"/>
            <a:ext cx="6396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Консольний висновок: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09344364-EE8F-42CF-87D7-3313B6DB5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275" y="4448579"/>
            <a:ext cx="1858201" cy="64633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Привіт світ! </a:t>
            </a:r>
            <a:b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Вітаю у світі C#! </a:t>
            </a:r>
            <a:b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200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Пока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світ... 24,5</a:t>
            </a:r>
            <a:r>
              <a:rPr kumimoji="0" lang="uk-UA" altLang="uk-UA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3586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77CD1-D653-460A-8B6B-FA45390F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Консольне </a:t>
            </a:r>
            <a:r>
              <a:rPr lang="uk-UA" b="1" i="0" dirty="0" err="1">
                <a:solidFill>
                  <a:srgbClr val="000000"/>
                </a:solidFill>
                <a:effectLst/>
                <a:latin typeface="-apple-system"/>
              </a:rPr>
              <a:t>ввиведення</a:t>
            </a:r>
            <a:endParaRPr lang="uk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83DAFF-F918-4003-8219-1D34F99AF69C}"/>
              </a:ext>
            </a:extLst>
          </p:cNvPr>
          <p:cNvSpPr txBox="1"/>
          <p:nvPr/>
        </p:nvSpPr>
        <p:spPr>
          <a:xfrm>
            <a:off x="561974" y="1403832"/>
            <a:ext cx="111156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Нерідко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виникає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необхідність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вивести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на консоль в одному рядку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значення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відразу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кількох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змінних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цьому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випадку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ми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можемо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використовувати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прийом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який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називається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інтерполяцією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147E3FE-5DC7-4C22-BB72-C5420F2CE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5" y="2543424"/>
            <a:ext cx="8023030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Tom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34;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1.7;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($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"Ім’я: {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  Вік: {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  Зріст: {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}м"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AEC11AB-BCF4-483A-8FBF-1A81ED35A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4" y="3621732"/>
            <a:ext cx="1111567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Для вбудовування окремих значень у рядок, що виводиться на консоль, використовуються фігурні дужки, в які полягає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вбудовуване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значення {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name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}.{4 + 7}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При виведенні на консоль замість поміщених у фігурні дужки виразів виводитимуться їх значення: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68A21ED-258C-4B90-8BAE-441CA6794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4" y="5654147"/>
            <a:ext cx="1229824" cy="64633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Ім'я: </a:t>
            </a:r>
            <a:r>
              <a:rPr kumimoji="0" lang="uk-UA" altLang="uk-UA" sz="1200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Tom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Вік: 34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Зріст: 1,7м</a:t>
            </a:r>
            <a:r>
              <a:rPr kumimoji="0" lang="uk-UA" altLang="uk-UA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2098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77CD1-D653-460A-8B6B-FA45390F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Консольне </a:t>
            </a:r>
            <a:r>
              <a:rPr lang="uk-UA" b="1" i="0" dirty="0" err="1">
                <a:solidFill>
                  <a:srgbClr val="000000"/>
                </a:solidFill>
                <a:effectLst/>
                <a:latin typeface="-apple-system"/>
              </a:rPr>
              <a:t>ввиведення</a:t>
            </a:r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C239EB-A06D-444B-BD06-A6F97A6A62C2}"/>
              </a:ext>
            </a:extLst>
          </p:cNvPr>
          <p:cNvSpPr txBox="1"/>
          <p:nvPr/>
        </p:nvSpPr>
        <p:spPr>
          <a:xfrm>
            <a:off x="546611" y="1335793"/>
            <a:ext cx="87842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Є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інший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спосіб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виведення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на консоль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відразу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кількох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значень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BDD27A0-D394-4CB0-9874-2A367448C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013" y="2152573"/>
            <a:ext cx="9010480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Tom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34;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1.7;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uk-UA" altLang="uk-UA" sz="1600" dirty="0">
                <a:solidFill>
                  <a:srgbClr val="DB00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Ім’я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{0}  Вік: {2}  Зріст: {1}м"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6109EE4E-E73F-419C-81AA-1EE7ADF4E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611" y="3061852"/>
            <a:ext cx="1116360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Тут бачимо, що рядок 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Console.WriteLineмістить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деякі числа у фігурних дужках: {0}, {1}, {2}. Це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плейсхолдери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 замість яких під час виведення рядка на консоль будуть підставлятися деякі значення. Значення, що підставляються, вказуються після рядка через кому.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При цьому важливий порядок подібних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плейсхолдерів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. Наприклад, в даному випадку після рядка першої вказана змінна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name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 потім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heage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і потім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age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.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E4B56E-5DB4-475A-9536-3592C87876A2}"/>
              </a:ext>
            </a:extLst>
          </p:cNvPr>
          <p:cNvSpPr txBox="1"/>
          <p:nvPr/>
        </p:nvSpPr>
        <p:spPr>
          <a:xfrm>
            <a:off x="644013" y="5362984"/>
            <a:ext cx="9198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DB003E"/>
                </a:solidFill>
                <a:effectLst/>
                <a:latin typeface="SFMono-Regular"/>
              </a:rPr>
              <a:t>"</a:t>
            </a:r>
            <a:r>
              <a:rPr lang="ru-RU" b="0" i="0" dirty="0" err="1">
                <a:solidFill>
                  <a:srgbClr val="DB003E"/>
                </a:solidFill>
                <a:effectLst/>
                <a:latin typeface="SFMono-Regular"/>
              </a:rPr>
              <a:t>Ім’я</a:t>
            </a:r>
            <a:r>
              <a:rPr lang="ru-RU" b="0" i="0" dirty="0">
                <a:solidFill>
                  <a:srgbClr val="DB003E"/>
                </a:solidFill>
                <a:effectLst/>
                <a:latin typeface="SFMono-Regular"/>
              </a:rPr>
              <a:t>: {0}  </a:t>
            </a:r>
            <a:r>
              <a:rPr lang="ru-RU" b="0" i="0" dirty="0" err="1">
                <a:solidFill>
                  <a:srgbClr val="DB003E"/>
                </a:solidFill>
                <a:effectLst/>
                <a:latin typeface="SFMono-Regular"/>
              </a:rPr>
              <a:t>Вік</a:t>
            </a:r>
            <a:r>
              <a:rPr lang="ru-RU" b="0" i="0" dirty="0">
                <a:solidFill>
                  <a:srgbClr val="DB003E"/>
                </a:solidFill>
                <a:effectLst/>
                <a:latin typeface="SFMono-Regular"/>
              </a:rPr>
              <a:t>: {2}  </a:t>
            </a:r>
            <a:r>
              <a:rPr lang="ru-RU" b="0" i="0" dirty="0" err="1">
                <a:solidFill>
                  <a:srgbClr val="DB003E"/>
                </a:solidFill>
                <a:effectLst/>
                <a:latin typeface="SFMono-Regular"/>
              </a:rPr>
              <a:t>Зріст</a:t>
            </a:r>
            <a:r>
              <a:rPr lang="ru-RU" b="0" i="0" dirty="0">
                <a:solidFill>
                  <a:srgbClr val="DB003E"/>
                </a:solidFill>
                <a:effectLst/>
                <a:latin typeface="SFMono-Regular"/>
              </a:rPr>
              <a:t>: {1}м"</a:t>
            </a:r>
            <a:endParaRPr lang="uk-UA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1522BD-AA2B-4C02-B131-5E1908F545BD}"/>
              </a:ext>
            </a:extLst>
          </p:cNvPr>
          <p:cNvSpPr txBox="1"/>
          <p:nvPr/>
        </p:nvSpPr>
        <p:spPr>
          <a:xfrm>
            <a:off x="1088001" y="5814111"/>
            <a:ext cx="9198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буде замінено на</a:t>
            </a:r>
            <a:endParaRPr lang="uk-UA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6615A3-618C-459E-BE0A-72ADFDB13C2F}"/>
              </a:ext>
            </a:extLst>
          </p:cNvPr>
          <p:cNvSpPr txBox="1"/>
          <p:nvPr/>
        </p:nvSpPr>
        <p:spPr>
          <a:xfrm>
            <a:off x="644013" y="6265238"/>
            <a:ext cx="9198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DB003E"/>
                </a:solidFill>
                <a:effectLst/>
                <a:latin typeface="SFMono-Regular"/>
              </a:rPr>
              <a:t>"</a:t>
            </a:r>
            <a:r>
              <a:rPr lang="ru-RU" b="0" i="0" dirty="0" err="1">
                <a:solidFill>
                  <a:srgbClr val="DB003E"/>
                </a:solidFill>
                <a:effectLst/>
                <a:latin typeface="SFMono-Regular"/>
              </a:rPr>
              <a:t>Ім’я</a:t>
            </a:r>
            <a:r>
              <a:rPr lang="ru-RU" b="0" i="0" dirty="0">
                <a:solidFill>
                  <a:srgbClr val="DB003E"/>
                </a:solidFill>
                <a:effectLst/>
                <a:latin typeface="SFMono-Regular"/>
              </a:rPr>
              <a:t>: </a:t>
            </a:r>
            <a:r>
              <a:rPr lang="ru-RU" b="0" i="0" dirty="0" err="1">
                <a:solidFill>
                  <a:srgbClr val="DB003E"/>
                </a:solidFill>
                <a:effectLst/>
                <a:latin typeface="SFMono-Regular"/>
              </a:rPr>
              <a:t>Tom</a:t>
            </a:r>
            <a:r>
              <a:rPr lang="ru-RU" b="0" i="0" dirty="0">
                <a:solidFill>
                  <a:srgbClr val="DB003E"/>
                </a:solidFill>
                <a:effectLst/>
                <a:latin typeface="SFMono-Regular"/>
              </a:rPr>
              <a:t>  </a:t>
            </a:r>
            <a:r>
              <a:rPr lang="ru-RU" b="0" i="0" dirty="0" err="1">
                <a:solidFill>
                  <a:srgbClr val="DB003E"/>
                </a:solidFill>
                <a:effectLst/>
                <a:latin typeface="SFMono-Regular"/>
              </a:rPr>
              <a:t>Вік</a:t>
            </a:r>
            <a:r>
              <a:rPr lang="ru-RU" b="0" i="0" dirty="0">
                <a:solidFill>
                  <a:srgbClr val="DB003E"/>
                </a:solidFill>
                <a:effectLst/>
                <a:latin typeface="SFMono-Regular"/>
              </a:rPr>
              <a:t>: 34  </a:t>
            </a:r>
            <a:r>
              <a:rPr lang="ru-RU" b="0" i="0" dirty="0" err="1">
                <a:solidFill>
                  <a:srgbClr val="DB003E"/>
                </a:solidFill>
                <a:effectLst/>
                <a:latin typeface="SFMono-Regular"/>
              </a:rPr>
              <a:t>Зріст</a:t>
            </a:r>
            <a:r>
              <a:rPr lang="ru-RU" b="0" i="0" dirty="0">
                <a:solidFill>
                  <a:srgbClr val="DB003E"/>
                </a:solidFill>
                <a:effectLst/>
                <a:latin typeface="SFMono-Regular"/>
              </a:rPr>
              <a:t>: 1,7м"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916266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77CD1-D653-460A-8B6B-FA45390F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Консольне виведення.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-apple-system"/>
              </a:rPr>
              <a:t>Console.Write</a:t>
            </a:r>
            <a:endParaRPr lang="uk-UA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8A5534C-4D99-4059-B97A-98C2EA6F1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1390097"/>
            <a:ext cx="11353800" cy="15696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Крім того 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Console.WriteLine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()можна використовувати метод 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Console.Write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()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, він працює так само за тим винятком, що не додає перехід на наступний рядок, тобто наступний консольний висновок буде виводитися на тому ж рядку.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E085122-4720-42F9-9446-A3F491AB5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993924"/>
            <a:ext cx="840935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Tom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34;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1.7;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($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"Ім’я: {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  Вік: {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  Зріст: {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}м"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9657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77CD1-D653-460A-8B6B-FA45390F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Консольне введення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FFE07D-F3A4-4729-8779-151FA912BDBD}"/>
              </a:ext>
            </a:extLst>
          </p:cNvPr>
          <p:cNvSpPr txBox="1"/>
          <p:nvPr/>
        </p:nvSpPr>
        <p:spPr>
          <a:xfrm>
            <a:off x="570271" y="1357783"/>
            <a:ext cx="110514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Окрім виведення інформації на консоль, ми можемо отримувати інформацію з консолі. Для цього призначений метод 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Console.ReadLine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.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Він дозволяє отримати введений рядок.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D4E7EC6-5BF5-4870-A85C-67EB02241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677" y="2607442"/>
            <a:ext cx="444352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Console.Write(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"Введите свое имя: "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? name = Console.ReadLine();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Console.WriteLine($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"Привет {name}"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BA2107-CDCE-43C2-A3E4-82D1340D50D9}"/>
              </a:ext>
            </a:extLst>
          </p:cNvPr>
          <p:cNvSpPr txBox="1"/>
          <p:nvPr/>
        </p:nvSpPr>
        <p:spPr>
          <a:xfrm>
            <a:off x="570271" y="3462725"/>
            <a:ext cx="110514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 разі все, що вводить користувач, з допомогою методу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Console.ReadLine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передається змінну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name.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0F4205-B2ED-4DE8-87CB-DF5CCCECB85D}"/>
              </a:ext>
            </a:extLst>
          </p:cNvPr>
          <p:cNvSpPr txBox="1"/>
          <p:nvPr/>
        </p:nvSpPr>
        <p:spPr>
          <a:xfrm>
            <a:off x="570271" y="4343054"/>
            <a:ext cx="6477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Приклад роботи програми: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AF97A02-7085-4B93-8D46-F09B449A9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677" y="4854051"/>
            <a:ext cx="2323072" cy="46166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Введіть своє ім'я: Том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Привіт Том</a:t>
            </a:r>
            <a:r>
              <a:rPr kumimoji="0" lang="uk-UA" altLang="uk-UA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4745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77CD1-D653-460A-8B6B-FA45390F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Консольне введення</a:t>
            </a:r>
            <a:endParaRPr lang="uk-UA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0B954DB-6839-44C0-AD13-03D4958FF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1305819"/>
            <a:ext cx="11353800" cy="378565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Особливістю методу 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Console.ReadLine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()є те, що він може вважати інформацію з консолі лише у вигляді рядка. Крім того, можлива ситуація, коли для методу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Console.ReadLine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не виявиться доступних для зчитування рядків, тобто коли йому нема чого зчитувати, він повертає значення 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null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, тобто, грубо кажучи, фактично відсутність значення. І щоб відобразити цю ситуацію ми визначаємо змінну 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name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 в яку отримуємо введення з консолі, як змінну типу 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string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?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. Тут 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stringвказує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 що змінна може зберігати значення типу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string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 тобто рядки. А знак питання 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?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показує, що змінна також може зберігати значення 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null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, тобто насправді не мати ніякого значення. Далі ми детальніше розберемо 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nullі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як з ним працювати.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07331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77CD1-D653-460A-8B6B-FA45390F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Консольне введення</a:t>
            </a:r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75A147-A935-4BC4-BE9A-A3E6CCF95EB6}"/>
              </a:ext>
            </a:extLst>
          </p:cNvPr>
          <p:cNvSpPr txBox="1"/>
          <p:nvPr/>
        </p:nvSpPr>
        <p:spPr>
          <a:xfrm>
            <a:off x="676275" y="1563588"/>
            <a:ext cx="108585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Однак, може виникнути питання, як нам бути, якщо, припустимо, ми хочемо ввести вік у змінну типу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або іншу інформацію у змінні типу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чи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decimal?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 замовчуванням платформа .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NET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надає низку методів, які дозволяють конвертувати різні значення до типів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int, double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і </a:t>
            </a:r>
            <a:r>
              <a:rPr lang="uk-UA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т.д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Деякі з цих методів: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Convert.ToInt32()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перетворює до типу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Convert.ToDouble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перетворює до типу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Convert.ToDecimal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перетворює до типу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decimal)</a:t>
            </a:r>
          </a:p>
        </p:txBody>
      </p:sp>
    </p:spTree>
    <p:extLst>
      <p:ext uri="{BB962C8B-B14F-4D97-AF65-F5344CB8AC3E}">
        <p14:creationId xmlns:p14="http://schemas.microsoft.com/office/powerpoint/2010/main" val="26156567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77CD1-D653-460A-8B6B-FA45390F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Консольне введення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2034F4-8579-4FCD-9CAE-A52D54807202}"/>
              </a:ext>
            </a:extLst>
          </p:cNvPr>
          <p:cNvSpPr txBox="1"/>
          <p:nvPr/>
        </p:nvSpPr>
        <p:spPr>
          <a:xfrm>
            <a:off x="638175" y="132135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Приклад введення значень: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12D9FC8-2A50-41F2-86A2-7049FED69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1809751"/>
            <a:ext cx="12573000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"Введіть </a:t>
            </a:r>
            <a:r>
              <a:rPr lang="uk-UA" altLang="uk-UA" sz="1600" dirty="0">
                <a:solidFill>
                  <a:srgbClr val="DB00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і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м’я: 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?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"Введіть вік: 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Convert.ToInt32(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"Введіть зріст: 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Convert.ToDouble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"Введіть розмір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зп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decimal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salary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Convert.ToDecimal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($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"Ім’я: {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  Вік: {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  Зріст: {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}м  Зарплата: {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salary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}$"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5223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B21ADB-400C-4C89-92CE-8022FA205CBE}"/>
              </a:ext>
            </a:extLst>
          </p:cNvPr>
          <p:cNvSpPr txBox="1"/>
          <p:nvPr/>
        </p:nvSpPr>
        <p:spPr>
          <a:xfrm>
            <a:off x="838200" y="1518880"/>
            <a:ext cx="10515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введенні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важливо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враховувати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поточну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операційну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систему. В одних культурах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роздільником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між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цілою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та дробовою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частиною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є точка (США,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Великобританія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...), в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інших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 кома (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Україна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Німеччина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...).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Наприклад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якщо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поточна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ОС -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українською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то треба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вводити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дробові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числа з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роздільником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коми.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Якщо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локалізація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англомовна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значить,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роздільником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цілої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дробової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частини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під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час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введення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буде точка.</a:t>
            </a:r>
          </a:p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Приклад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роботи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програми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FBD2F3A-1E6C-4792-AD1D-2EF50F39C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Консольне введення</a:t>
            </a:r>
            <a:endParaRPr lang="uk-UA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6FD2272-8120-462F-BCBC-083A4DA0F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925" y="4473128"/>
            <a:ext cx="2601994" cy="156966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ім'я: Том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Введіть вік: 25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Введіть зростання: 1,75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Введіть розмір </a:t>
            </a:r>
            <a:r>
              <a:rPr kumimoji="0" lang="uk-UA" altLang="uk-UA" sz="1200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зп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300,67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Ім'я: Том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Вік: 25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Зріст: 1,75м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Зарплата: 300,67$</a:t>
            </a:r>
            <a:r>
              <a:rPr kumimoji="0" lang="uk-UA" altLang="uk-UA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8574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FBD2F3A-1E6C-4792-AD1D-2EF50F39C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Приклад 1. </a:t>
            </a:r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2706E0-ECA0-49BF-9A7C-1F9764DA14A0}"/>
              </a:ext>
            </a:extLst>
          </p:cNvPr>
          <p:cNvSpPr txBox="1"/>
          <p:nvPr/>
        </p:nvSpPr>
        <p:spPr>
          <a:xfrm>
            <a:off x="676275" y="1452860"/>
            <a:ext cx="108394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Умова</a:t>
            </a:r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Напиши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програму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, яка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запитує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у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користувача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радіус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кола (тип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), а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потім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обчислює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площу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довжину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кола.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A440F2-C90E-489F-B311-29A816D55D18}"/>
              </a:ext>
            </a:extLst>
          </p:cNvPr>
          <p:cNvSpPr txBox="1"/>
          <p:nvPr/>
        </p:nvSpPr>
        <p:spPr>
          <a:xfrm>
            <a:off x="676275" y="3136622"/>
            <a:ext cx="825817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.Write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uk-UA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Введи радіус: "</a:t>
            </a:r>
            <a:r>
              <a:rPr lang="uk-UA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fr-FR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radius = </a:t>
            </a:r>
            <a:r>
              <a:rPr lang="fr-FR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fr-FR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.Parse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1800" dirty="0" err="1">
                <a:solidFill>
                  <a:srgbClr val="2B91A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fr-FR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.ReadLine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endParaRPr lang="uk-UA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18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Формули</a:t>
            </a:r>
            <a:r>
              <a:rPr lang="ru-RU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для </a:t>
            </a:r>
            <a:r>
              <a:rPr lang="ru-RU" sz="18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площі</a:t>
            </a:r>
            <a:r>
              <a:rPr lang="ru-RU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та </a:t>
            </a:r>
            <a:r>
              <a:rPr lang="ru-RU" sz="18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довжини</a:t>
            </a:r>
            <a:r>
              <a:rPr lang="ru-RU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кола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area =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.PI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* radius * radius;</a:t>
            </a:r>
          </a:p>
          <a:p>
            <a:r>
              <a:rPr lang="fr-FR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circumference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2 * </a:t>
            </a:r>
            <a:r>
              <a:rPr lang="fr-FR" sz="1800" dirty="0" err="1">
                <a:solidFill>
                  <a:srgbClr val="2B91A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fr-FR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.PI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* radius;</a:t>
            </a:r>
          </a:p>
          <a:p>
            <a:endParaRPr lang="uk-UA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$"</a:t>
            </a:r>
            <a:r>
              <a:rPr lang="uk-UA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Площа кола: </a:t>
            </a:r>
            <a:r>
              <a:rPr lang="uk-UA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area: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F2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$"</a:t>
            </a:r>
            <a:r>
              <a:rPr lang="uk-UA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Довжина кола: </a:t>
            </a:r>
            <a:r>
              <a:rPr lang="uk-UA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circumference: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F2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uk-U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EC9DF7-D112-4123-A5C1-7F6AEA32FE0D}"/>
              </a:ext>
            </a:extLst>
          </p:cNvPr>
          <p:cNvSpPr txBox="1"/>
          <p:nvPr/>
        </p:nvSpPr>
        <p:spPr>
          <a:xfrm>
            <a:off x="9601200" y="5721945"/>
            <a:ext cx="24003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Введи радіус: 2.5</a:t>
            </a:r>
          </a:p>
          <a:p>
            <a:r>
              <a:rPr lang="uk-UA" dirty="0"/>
              <a:t>Площа кола: 19.63</a:t>
            </a:r>
          </a:p>
          <a:p>
            <a:r>
              <a:rPr lang="uk-UA" dirty="0"/>
              <a:t>Довжина кола: 15.71</a:t>
            </a:r>
          </a:p>
        </p:txBody>
      </p:sp>
    </p:spTree>
    <p:extLst>
      <p:ext uri="{BB962C8B-B14F-4D97-AF65-F5344CB8AC3E}">
        <p14:creationId xmlns:p14="http://schemas.microsoft.com/office/powerpoint/2010/main" val="7568678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FBD2F3A-1E6C-4792-AD1D-2EF50F39C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Приклад 2. </a:t>
            </a:r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2706E0-ECA0-49BF-9A7C-1F9764DA14A0}"/>
              </a:ext>
            </a:extLst>
          </p:cNvPr>
          <p:cNvSpPr txBox="1"/>
          <p:nvPr/>
        </p:nvSpPr>
        <p:spPr>
          <a:xfrm>
            <a:off x="676275" y="1452860"/>
            <a:ext cx="108394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Умова</a:t>
            </a:r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Напиши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програму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, яка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запитує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у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користувача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ціле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число і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виводить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його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наступне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попереднє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значення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A440F2-C90E-489F-B311-29A816D55D18}"/>
              </a:ext>
            </a:extLst>
          </p:cNvPr>
          <p:cNvSpPr txBox="1"/>
          <p:nvPr/>
        </p:nvSpPr>
        <p:spPr>
          <a:xfrm>
            <a:off x="676275" y="3136622"/>
            <a:ext cx="825817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.Write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uk-UA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Введи число: "</a:t>
            </a:r>
            <a:r>
              <a:rPr lang="uk-UA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number =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.Parse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.ReadLine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endParaRPr lang="uk-UA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18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Обчислимо</a:t>
            </a:r>
            <a:r>
              <a:rPr lang="ru-RU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8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попереднє</a:t>
            </a:r>
            <a:r>
              <a:rPr lang="ru-RU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та </a:t>
            </a:r>
            <a:r>
              <a:rPr lang="ru-RU" sz="18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наступне</a:t>
            </a:r>
            <a:r>
              <a:rPr lang="ru-RU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8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значення</a:t>
            </a:r>
            <a:endParaRPr lang="ru-RU" sz="1800" dirty="0">
              <a:solidFill>
                <a:srgbClr val="008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previous = number - 1;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next = number + 1;</a:t>
            </a:r>
          </a:p>
          <a:p>
            <a:endParaRPr lang="uk-UA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$"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Попереднє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число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{previous}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$"</a:t>
            </a:r>
            <a:r>
              <a:rPr lang="uk-UA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Наступне число: </a:t>
            </a:r>
            <a:r>
              <a:rPr lang="uk-UA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next}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uk-U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EC9DF7-D112-4123-A5C1-7F6AEA32FE0D}"/>
              </a:ext>
            </a:extLst>
          </p:cNvPr>
          <p:cNvSpPr txBox="1"/>
          <p:nvPr/>
        </p:nvSpPr>
        <p:spPr>
          <a:xfrm>
            <a:off x="9601200" y="5721945"/>
            <a:ext cx="24003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Введи число: 10</a:t>
            </a:r>
          </a:p>
          <a:p>
            <a:r>
              <a:rPr lang="ru-RU" dirty="0" err="1"/>
              <a:t>Попереднє</a:t>
            </a:r>
            <a:r>
              <a:rPr lang="ru-RU" dirty="0"/>
              <a:t> число: 9</a:t>
            </a:r>
          </a:p>
          <a:p>
            <a:r>
              <a:rPr lang="ru-RU" dirty="0" err="1"/>
              <a:t>Наступне</a:t>
            </a:r>
            <a:r>
              <a:rPr lang="ru-RU" dirty="0"/>
              <a:t> число: 11</a:t>
            </a:r>
          </a:p>
        </p:txBody>
      </p:sp>
    </p:spTree>
    <p:extLst>
      <p:ext uri="{BB962C8B-B14F-4D97-AF65-F5344CB8AC3E}">
        <p14:creationId xmlns:p14="http://schemas.microsoft.com/office/powerpoint/2010/main" val="36827003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3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7976</TotalTime>
  <Words>3679</Words>
  <Application>Microsoft Office PowerPoint</Application>
  <PresentationFormat>Широкий екран</PresentationFormat>
  <Paragraphs>380</Paragraphs>
  <Slides>41</Slides>
  <Notes>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41</vt:i4>
      </vt:variant>
    </vt:vector>
  </HeadingPairs>
  <TitlesOfParts>
    <vt:vector size="52" baseType="lpstr">
      <vt:lpstr>-apple-system</vt:lpstr>
      <vt:lpstr>Aptos</vt:lpstr>
      <vt:lpstr>Arial</vt:lpstr>
      <vt:lpstr>Calibri</vt:lpstr>
      <vt:lpstr>Calibri Light</vt:lpstr>
      <vt:lpstr>Cascadia Code</vt:lpstr>
      <vt:lpstr>Cascadia Mono</vt:lpstr>
      <vt:lpstr>Comfortaa</vt:lpstr>
      <vt:lpstr>Courier New</vt:lpstr>
      <vt:lpstr>SFMono-Regular</vt:lpstr>
      <vt:lpstr>Тема Office</vt:lpstr>
      <vt:lpstr>Презентація PowerPoint</vt:lpstr>
      <vt:lpstr>Створення проекту</vt:lpstr>
      <vt:lpstr>Створення проекту</vt:lpstr>
      <vt:lpstr>Створення проекту</vt:lpstr>
      <vt:lpstr>Створення проекту</vt:lpstr>
      <vt:lpstr>Як додати бібліотеки?</vt:lpstr>
      <vt:lpstr>Як додати бібліотеки?</vt:lpstr>
      <vt:lpstr>Виконання програми</vt:lpstr>
      <vt:lpstr>Виконання програми</vt:lpstr>
      <vt:lpstr>Інструкції</vt:lpstr>
      <vt:lpstr>Інструкції</vt:lpstr>
      <vt:lpstr>Інструкції</vt:lpstr>
      <vt:lpstr>Регістрозалежність</vt:lpstr>
      <vt:lpstr>Коментарі</vt:lpstr>
      <vt:lpstr>Файл проекту</vt:lpstr>
      <vt:lpstr>Файл проекту</vt:lpstr>
      <vt:lpstr>Файл проекту</vt:lpstr>
      <vt:lpstr>Зміні</vt:lpstr>
      <vt:lpstr>Зміні</vt:lpstr>
      <vt:lpstr>Зміні</vt:lpstr>
      <vt:lpstr>Зміні</vt:lpstr>
      <vt:lpstr>Зміні</vt:lpstr>
      <vt:lpstr>Константи</vt:lpstr>
      <vt:lpstr>Константи</vt:lpstr>
      <vt:lpstr>Типи даних</vt:lpstr>
      <vt:lpstr>Типи даних. Приклади</vt:lpstr>
      <vt:lpstr>Типи даних. Приклади</vt:lpstr>
      <vt:lpstr>Типи даних. Суфікси</vt:lpstr>
      <vt:lpstr>Типи даних. Використання системних типів</vt:lpstr>
      <vt:lpstr>Типи даних. Неявна типізація</vt:lpstr>
      <vt:lpstr>Консольне ввиведення</vt:lpstr>
      <vt:lpstr>Консольне ввиведення</vt:lpstr>
      <vt:lpstr>Консольне ввиведення</vt:lpstr>
      <vt:lpstr>Консольне виведення. Console.Write</vt:lpstr>
      <vt:lpstr>Консольне введення</vt:lpstr>
      <vt:lpstr>Консольне введення</vt:lpstr>
      <vt:lpstr>Консольне введення</vt:lpstr>
      <vt:lpstr>Консольне введення</vt:lpstr>
      <vt:lpstr>Консольне введення</vt:lpstr>
      <vt:lpstr>Приклад 1. </vt:lpstr>
      <vt:lpstr>Приклад 2.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Шейко Ростислав Олександрович</dc:creator>
  <cp:lastModifiedBy>Шейко Ростислав Олександрович</cp:lastModifiedBy>
  <cp:revision>59</cp:revision>
  <dcterms:created xsi:type="dcterms:W3CDTF">2024-06-01T09:56:10Z</dcterms:created>
  <dcterms:modified xsi:type="dcterms:W3CDTF">2025-07-16T06:17:46Z</dcterms:modified>
</cp:coreProperties>
</file>