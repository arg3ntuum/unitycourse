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6" r:id="rId11"/>
    <p:sldId id="288" r:id="rId12"/>
    <p:sldId id="287" r:id="rId13"/>
    <p:sldId id="283" r:id="rId14"/>
    <p:sldId id="285" r:id="rId15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із теми 1 –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із теми 1 –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0" d="100"/>
          <a:sy n="80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1528B-9B6F-4248-9BF4-341C8496BA36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0F577-1FC1-4001-B2C2-9EAF79F39B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806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39a2024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39a20246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39a20246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39a20246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39a202466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39a202466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39a20246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39a20246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39a202466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39a202466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39a202466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39a202466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39a202466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39a202466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39a202466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39a202466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39a202466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39a202466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841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39a202466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39a202466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3111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39a202466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39a202466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623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3145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669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1F6D5-EE77-F05F-8B36-EE698B21D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3D416F-B419-0893-CF2A-60046F97A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563C5-2ABA-6BE0-F79B-E9DB4BDE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A4729E-F6C7-6BDF-624A-6D985B5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99CCF-CF8A-37C1-30D7-3A4F12E7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53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A7231-C686-D8CF-FA17-0D8627AB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6263C-782F-0D49-1AA1-2BD5EF1B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FAE1C-22C9-0EC4-2ED7-9EEA6D4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513AF-D9EC-2C9B-46F0-FBC11B99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56EC0D-BDCD-2993-E5B6-0E8FE24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4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93858-E4D8-D43B-ACB3-0C9AC6B4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040E3-EA86-307F-07E0-BC7B3D6F1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AE8B8-12AD-19AA-1620-86D64CDA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6F026-C83D-F5A0-ED0E-2732983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4D0E8-1B97-2B88-CD05-460E8D35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36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F168-E018-8BDB-B8FF-CC85551D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7B9E1-A4ED-1B6A-D2BD-234805750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711F3B-E99A-650B-790B-EB9151C87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4DA05C-7C21-661B-A41E-A547C635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32F842-7036-1B37-4C83-51CF5CEB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764A6A-7702-7ADF-5C4F-9C5F070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304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EFC3-A00E-807A-05C0-DF79AA11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33749-A6A0-DF88-073F-1B884AAF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B0E37A-0FCA-2171-00F0-57CBBAF9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F75DC5-C2F0-8632-D5C2-78870B413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50BBA9-0F72-E537-3AA6-E7220DF4F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1BD10E-2051-5B25-60B5-3B3C1F25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1E8CCA-C8B9-B59E-93D2-886D22AC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68BBCF-B605-D7C3-4AAB-2C25A24E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705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9D7A6-AA5A-4E60-C4B7-DBCAEB9C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54A816-DE8A-F94F-C031-AF59E48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8AEBC4-A90F-6450-4083-5BE5A503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55FBB7-22A4-3058-7C37-CEE2D484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85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350C2A-8EFE-9689-19C1-BF14E82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8B880-58A1-F037-1F63-5083FFA5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2F4755-3B72-F832-ABB2-A0AEFEFC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89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A3BB8-B52E-7EBB-C0BE-35834C4E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3E0E39-1E9D-35C3-4F60-A75C61D8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D482B5-6263-8E79-4B0C-E15B27B9A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289D75-50AD-DA3E-808C-305E4820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A4FEA-94A7-4925-FE8D-43CA865E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861DBB-094D-CF71-2FF9-19A30C11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09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7B8C0-2FB7-6B3A-8E33-A5354D6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ABF2AA-3490-C8C9-E0EC-E11BE8F7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7CE27-4946-90C2-B284-DCBA830B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B0D4C-582D-74B3-9532-199CDED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BF8CF-6DE6-47BA-C3FB-BF90B375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C40B4-5CEF-7836-05EF-3B723EB2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14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A3CA9-4FCE-04E1-42BD-5B8A476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39AA0-5AD0-1B0E-FA81-48CE982A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A6C21-4BC9-7300-3FB7-F3398A82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7A3A4-7067-8108-E4DF-8C6E4CD8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0FF2-CD08-629F-DDE1-7A138E0A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687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CB9DE7-6C28-F2AB-69D7-564D017B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C1730D-0865-98A5-9C17-905D8F0B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7782F-B42D-DC1E-E695-5BB95E7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8BE4FF-3308-A3BB-13AB-CB0656A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2E754-E68F-D875-966D-BDE24CA1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7476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375760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21754-49F4-99BC-3186-F93ABDD1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49F773-8CE3-A1B9-D56C-9ADA522E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54FD-E9A9-BB88-3366-5240E179C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972C-1D59-4812-9879-0ADA85AB86FA}" type="datetimeFigureOut">
              <a:rPr lang="uk-UA" smtClean="0"/>
              <a:t>04.08.2025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AFDBA-1AD2-2DC3-7099-9ED422E2C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68F6C-F98C-ABE5-567C-0C5A0D209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2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sv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4326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858000"/>
            <a:chOff x="-635000" y="-635000"/>
            <a:chExt cx="12192000" cy="6858000"/>
          </a:xfrm>
          <a:noFill/>
        </p:grpSpPr>
        <p:sp>
          <p:nvSpPr>
            <p:cNvPr id="10" name="Shape4323">
              <a:extLst>
                <a:ext uri="{FF2B5EF4-FFF2-40B4-BE49-F238E27FC236}">
                  <a16:creationId xmlns:a16="http://schemas.microsoft.com/office/drawing/2014/main" id="{141CCFB4-2F64-06B8-AF1D-C9E48150CD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/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</p:grpSp>
      <p:grpSp>
        <p:nvGrpSpPr>
          <p:cNvPr id="3" name="Shape4327"/>
          <p:cNvGrpSpPr/>
          <p:nvPr>
            <p:custDataLst>
              <p:tags r:id="rId2"/>
            </p:custDataLst>
          </p:nvPr>
        </p:nvGrpSpPr>
        <p:grpSpPr>
          <a:xfrm>
            <a:off x="5197365" y="984555"/>
            <a:ext cx="1797269" cy="1797269"/>
            <a:chOff x="4562366" y="349555"/>
            <a:chExt cx="1797269" cy="1797269"/>
          </a:xfrm>
        </p:grpSpPr>
        <p:pic>
          <p:nvPicPr>
            <p:cNvPr id="5" name="Shape4328"/>
            <p:cNvPicPr/>
            <p:nvPr>
              <p:custDataLst>
                <p:tags r:id="rId6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2366" y="349555"/>
              <a:ext cx="1797269" cy="1797269"/>
            </a:xfrm>
            <a:prstGeom prst="rect">
              <a:avLst/>
            </a:prstGeom>
          </p:spPr>
        </p:pic>
      </p:grpSp>
      <p:grpSp>
        <p:nvGrpSpPr>
          <p:cNvPr id="7" name="Shape4329"/>
          <p:cNvGrpSpPr/>
          <p:nvPr>
            <p:custDataLst>
              <p:tags r:id="rId3"/>
            </p:custDataLst>
          </p:nvPr>
        </p:nvGrpSpPr>
        <p:grpSpPr>
          <a:xfrm>
            <a:off x="5557345" y="3238244"/>
            <a:ext cx="1077311" cy="55245"/>
            <a:chOff x="4925483" y="2578947"/>
            <a:chExt cx="1077311" cy="55245"/>
          </a:xfrm>
        </p:grpSpPr>
        <p:sp>
          <p:nvSpPr>
            <p:cNvPr id="8" name="Shape4325">
              <a:extLst>
                <a:ext uri="{FF2B5EF4-FFF2-40B4-BE49-F238E27FC236}">
                  <a16:creationId xmlns:a16="http://schemas.microsoft.com/office/drawing/2014/main" id="{21F15AB7-005A-EB90-56E9-C5761A58FD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4925483" y="2578947"/>
              <a:ext cx="1077311" cy="55245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12717"/>
              <a:endParaRPr lang="en-US" sz="800">
                <a:solidFill>
                  <a:schemeClr val="tx1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6" name="Shape4324">
            <a:extLst>
              <a:ext uri="{FF2B5EF4-FFF2-40B4-BE49-F238E27FC236}">
                <a16:creationId xmlns:a16="http://schemas.microsoft.com/office/drawing/2014/main" id="{9CB60D78-BFA7-FBF3-D935-4D20CC0329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371700" y="3568704"/>
            <a:ext cx="5448607" cy="1929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Тема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уроку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:
</a:t>
            </a: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enum</a:t>
            </a:r>
            <a:endParaRPr lang="en-US" sz="6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68133" y="211967"/>
            <a:ext cx="8487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uk" sz="4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Що таке </a:t>
            </a:r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масив </a:t>
            </a:r>
            <a:r>
              <a:rPr lang="uk" sz="4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пальцях</a:t>
            </a:r>
            <a:endParaRPr sz="1467">
              <a:solidFill>
                <a:srgbClr val="000000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80633" y="1113734"/>
            <a:ext cx="11479600" cy="2013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</a:pPr>
            <a:r>
              <a:rPr lang="uk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Крім примітивних типів даних у мові програмування C# є такий тип як </a:t>
            </a:r>
            <a:r>
              <a:rPr lang="uk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enum</a:t>
            </a:r>
            <a:r>
              <a:rPr lang="uk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чи </a:t>
            </a:r>
            <a:r>
              <a:rPr lang="uk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перерахування</a:t>
            </a:r>
            <a:r>
              <a:rPr lang="uk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 Перерахування представляють набір логічно пов'язаних констант.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Оголошення перерахування відбувається за допомогою оператора </a:t>
            </a:r>
            <a:r>
              <a:rPr lang="uk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enum</a:t>
            </a:r>
            <a:r>
              <a:rPr lang="uk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68133" y="2657234"/>
            <a:ext cx="4000000" cy="2710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назва_перерахування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значення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перерахування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значення1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значення2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.......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значенняN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77100" y="5278833"/>
            <a:ext cx="4000000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Після оператора </a:t>
            </a:r>
            <a:r>
              <a:rPr lang="uk" sz="1600">
                <a:solidFill>
                  <a:srgbClr val="188038"/>
                </a:solidFill>
                <a:highlight>
                  <a:srgbClr val="F7F7FA"/>
                </a:highlight>
                <a:latin typeface="Roboto Mono"/>
                <a:ea typeface="Roboto Mono"/>
                <a:cs typeface="Roboto Mono"/>
                <a:sym typeface="Roboto Mono"/>
              </a:rPr>
              <a:t>enum</a:t>
            </a:r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йде назва перерахування. І потім у фігурних дужках через кому перераховуються константи перерахування.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168133" y="211967"/>
            <a:ext cx="8487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uk" sz="4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Що таке </a:t>
            </a:r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масив </a:t>
            </a:r>
            <a:r>
              <a:rPr lang="uk" sz="4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пальцях</a:t>
            </a:r>
            <a:endParaRPr sz="1467">
              <a:solidFill>
                <a:srgbClr val="000000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10500" y="1197167"/>
            <a:ext cx="8226000" cy="104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Визначимо найпростіше перерахування: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10500" y="1689567"/>
            <a:ext cx="4000000" cy="240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Morning,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Afternoon,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Evening,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Night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58000" y="4002767"/>
            <a:ext cx="12076000" cy="199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uk" sz="1600">
                <a:solidFill>
                  <a:schemeClr val="dk1"/>
                </a:solidFill>
              </a:rPr>
              <a:t>Тут визначено перелік DayTime, який має чотири значення: </a:t>
            </a:r>
            <a:r>
              <a:rPr lang="uk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Morning, Afternoon, Evening</a:t>
            </a:r>
            <a:r>
              <a:rPr lang="uk" sz="1600">
                <a:solidFill>
                  <a:schemeClr val="dk1"/>
                </a:solidFill>
              </a:rPr>
              <a:t>і</a:t>
            </a:r>
            <a:r>
              <a:rPr lang="uk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Night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Кожне перерахування фактично визначає новий тип даних, за допомогою яких ми також, як і за допомогою іншого типу, можемо визначати змінні, константи, параметри методів і т.д. Як значення змінної, константи та параметра методу, які представляють перерахування, повинна виступати одна з констант цього перерахування, наприклад: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63100" y="5550367"/>
            <a:ext cx="78316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2400"/>
              <a:t>const DayTime dayTime = DayTime.Morning;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168133" y="211967"/>
            <a:ext cx="8487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uk" sz="4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Що таке </a:t>
            </a:r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масив </a:t>
            </a:r>
            <a:r>
              <a:rPr lang="uk" sz="4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пальцях</a:t>
            </a:r>
            <a:endParaRPr sz="1467">
              <a:solidFill>
                <a:srgbClr val="000000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289400" y="1299200"/>
            <a:ext cx="9287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Далі у програмі ми можемо використовувати подібні змінні/константи/параметри як і будь-які інші:</a:t>
            </a:r>
            <a:endParaRPr sz="2400"/>
          </a:p>
        </p:txBody>
      </p:sp>
      <p:sp>
        <p:nvSpPr>
          <p:cNvPr id="85" name="Google Shape;85;p17"/>
          <p:cNvSpPr txBox="1"/>
          <p:nvPr/>
        </p:nvSpPr>
        <p:spPr>
          <a:xfrm>
            <a:off x="412167" y="2367867"/>
            <a:ext cx="4000000" cy="421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 dayTime = DayTime.Morning;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(dayTime == DayTime.Morning) 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Console.WriteLine(</a:t>
            </a:r>
            <a:r>
              <a:rPr lang="uk" sz="1400">
                <a:solidFill>
                  <a:srgbClr val="DB003E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"Доброе утро"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400">
              <a:solidFill>
                <a:srgbClr val="006699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Console.WriteLine(</a:t>
            </a:r>
            <a:r>
              <a:rPr lang="uk" sz="1400">
                <a:solidFill>
                  <a:srgbClr val="DB003E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"Привет"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Morning,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Afternoon,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Evening,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Night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15000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168133" y="211968"/>
            <a:ext cx="8487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Зберігання стану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168133" y="1271633"/>
            <a:ext cx="4000000" cy="180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Найчастіше змінна перерахування виступає як сховища стану, залежно від якого виконуються деякі дії: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168133" y="2532433"/>
            <a:ext cx="10611600" cy="374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 now = DayTime.Evening;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33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PrintMessage(now);               	</a:t>
            </a:r>
            <a:r>
              <a:rPr lang="uk" sz="733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Добрый вечер</a:t>
            </a:r>
            <a:endParaRPr sz="733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PrintMessage(DayTime.Afternoon);	</a:t>
            </a:r>
            <a:r>
              <a:rPr lang="uk" sz="733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Добрый день</a:t>
            </a:r>
            <a:endParaRPr sz="733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PrintMessage(DayTime.Night);    	</a:t>
            </a:r>
            <a:r>
              <a:rPr lang="uk" sz="733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Доброй ночи</a:t>
            </a:r>
            <a:endParaRPr sz="733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33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uk" sz="733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PrintMessage(DayTime dayTime)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lang="uk" sz="733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(dayTime)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uk" sz="733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DayTime.Morning: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Console.WriteLine(</a:t>
            </a:r>
            <a:r>
              <a:rPr lang="uk" sz="733">
                <a:solidFill>
                  <a:srgbClr val="DB003E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"Доброе утро"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uk" sz="733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DayTime.Afternoon: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Console.WriteLine(</a:t>
            </a:r>
            <a:r>
              <a:rPr lang="uk" sz="733">
                <a:solidFill>
                  <a:srgbClr val="DB003E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"Добрый день"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uk" sz="733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DayTime.Evening: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Console.WriteLine(</a:t>
            </a:r>
            <a:r>
              <a:rPr lang="uk" sz="733">
                <a:solidFill>
                  <a:srgbClr val="DB003E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"Добрый вечер"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uk" sz="733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DayTime.Night: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Console.WriteLine(</a:t>
            </a:r>
            <a:r>
              <a:rPr lang="uk" sz="733">
                <a:solidFill>
                  <a:srgbClr val="DB003E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"Доброй ночи"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uk" sz="733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Morning,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Afternoon,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Evening,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Night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733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33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5568833" y="3050634"/>
            <a:ext cx="4000000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Тут визначено перелік Operation, який представляє арифметичні операції. Кожен тип операцій визначено як однієї з констант перерахування. І також визначено метод </a:t>
            </a:r>
            <a:r>
              <a:rPr lang="uk" sz="1600">
                <a:solidFill>
                  <a:srgbClr val="188038"/>
                </a:solidFill>
                <a:highlight>
                  <a:srgbClr val="F7F7FA"/>
                </a:highlight>
                <a:latin typeface="Roboto Mono"/>
                <a:ea typeface="Roboto Mono"/>
                <a:cs typeface="Roboto Mono"/>
                <a:sym typeface="Roboto Mono"/>
              </a:rPr>
              <a:t>DoOperation()</a:t>
            </a:r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, який як параметри приймає два числа і тип операції у вигляді константи перерахування і в залежності від цього типу повертає з конструкції </a:t>
            </a:r>
            <a:r>
              <a:rPr lang="uk" sz="1600">
                <a:solidFill>
                  <a:srgbClr val="188038"/>
                </a:solidFill>
                <a:highlight>
                  <a:srgbClr val="F7F7FA"/>
                </a:highlight>
                <a:latin typeface="Roboto Mono"/>
                <a:ea typeface="Roboto Mono"/>
                <a:cs typeface="Roboto Mono"/>
                <a:sym typeface="Roboto Mono"/>
              </a:rPr>
              <a:t>switch</a:t>
            </a:r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результат певної операції.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168133" y="211967"/>
            <a:ext cx="12024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Тип та значення констант перерахування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168133" y="1271634"/>
            <a:ext cx="7794800" cy="260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</a:pPr>
            <a:r>
              <a:rPr lang="uk" sz="1600">
                <a:solidFill>
                  <a:schemeClr val="dk1"/>
                </a:solidFill>
              </a:rPr>
              <a:t>Константи переліку можуть мати тип. Тип вказується після назви перерахування через двокрапку:</a:t>
            </a:r>
            <a:endParaRPr sz="1600">
              <a:solidFill>
                <a:schemeClr val="dk1"/>
              </a:solidFill>
            </a:endParaRPr>
          </a:p>
          <a:p>
            <a:pPr>
              <a:lnSpc>
                <a:spcPct val="156000"/>
              </a:lnSpc>
              <a:spcBef>
                <a:spcPts val="1600"/>
              </a:spcBef>
            </a:pPr>
            <a:endParaRPr sz="1600">
              <a:solidFill>
                <a:schemeClr val="dk1"/>
              </a:solidFill>
            </a:endParaRPr>
          </a:p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89400" y="2272400"/>
            <a:ext cx="4000000" cy="240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Time : </a:t>
            </a: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byte</a:t>
            </a:r>
            <a:endParaRPr sz="1400">
              <a:solidFill>
                <a:srgbClr val="006699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Morning,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Afternoon,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Evening,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Night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85867" y="4585601"/>
            <a:ext cx="400000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2400"/>
              <a:t>Тип перерахування обов'язково повинен представляти цілий тип (byte , sbyte, short, ushort, int, uint, long, ulong) 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/>
        </p:nvSpPr>
        <p:spPr>
          <a:xfrm>
            <a:off x="168133" y="211967"/>
            <a:ext cx="12024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Тип та значення констант перерахування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271867" y="991001"/>
            <a:ext cx="4000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Тип впливає значення, які можуть мати константи. За замовчуванням кожному елементу перерахування надається ціле значення, причому перший елемент матиме значення 0, другий - 1 і так далі. Наприклад, візьмемо вище певне DayTime:</a:t>
            </a:r>
            <a:endParaRPr sz="2400"/>
          </a:p>
        </p:txBody>
      </p:sp>
      <p:sp>
        <p:nvSpPr>
          <p:cNvPr id="108" name="Google Shape;108;p20"/>
          <p:cNvSpPr txBox="1"/>
          <p:nvPr/>
        </p:nvSpPr>
        <p:spPr>
          <a:xfrm>
            <a:off x="385867" y="3551768"/>
            <a:ext cx="4000000" cy="2536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 now = DayTime.Morning;</a:t>
            </a:r>
            <a:endParaRPr sz="867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7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Console.WriteLine((</a:t>
            </a:r>
            <a:r>
              <a:rPr lang="uk" sz="867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) now);  </a:t>
            </a:r>
            <a:r>
              <a:rPr lang="uk" sz="867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0</a:t>
            </a:r>
            <a:endParaRPr sz="867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Console.WriteLine((</a:t>
            </a:r>
            <a:r>
              <a:rPr lang="uk" sz="867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) DayTime.Night);  </a:t>
            </a:r>
            <a:r>
              <a:rPr lang="uk" sz="867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3</a:t>
            </a:r>
            <a:endParaRPr sz="867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7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uk" sz="867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</a:t>
            </a:r>
            <a:endParaRPr sz="867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67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Morning,</a:t>
            </a:r>
            <a:endParaRPr sz="867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Afternoon,</a:t>
            </a:r>
            <a:endParaRPr sz="867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Evening,</a:t>
            </a:r>
            <a:endParaRPr sz="867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Night</a:t>
            </a:r>
            <a:endParaRPr sz="867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867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867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168133" y="211967"/>
            <a:ext cx="12024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Тип та значення констант перерахування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271867" y="991001"/>
            <a:ext cx="115848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Ми можемо використовувати операцію приведення, щоб отримати ціле значення константи перерахування:</a:t>
            </a:r>
            <a:endParaRPr sz="1600">
              <a:solidFill>
                <a:schemeClr val="dk1"/>
              </a:solidFill>
              <a:highlight>
                <a:srgbClr val="F7F7FA"/>
              </a:highlight>
            </a:endParaRPr>
          </a:p>
          <a:p>
            <a:endParaRPr sz="1600">
              <a:solidFill>
                <a:schemeClr val="dk1"/>
              </a:solidFill>
              <a:highlight>
                <a:srgbClr val="F7F7FA"/>
              </a:highlight>
            </a:endParaRPr>
          </a:p>
          <a:p>
            <a:endParaRPr sz="1600">
              <a:solidFill>
                <a:schemeClr val="dk1"/>
              </a:solidFill>
              <a:highlight>
                <a:srgbClr val="F7F7FA"/>
              </a:highlight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228033" y="14821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2400"/>
              <a:t>(int) DayTime.Night // 3</a:t>
            </a:r>
            <a:endParaRPr sz="2400"/>
          </a:p>
        </p:txBody>
      </p:sp>
      <p:sp>
        <p:nvSpPr>
          <p:cNvPr id="116" name="Google Shape;116;p21"/>
          <p:cNvSpPr txBox="1"/>
          <p:nvPr/>
        </p:nvSpPr>
        <p:spPr>
          <a:xfrm>
            <a:off x="228033" y="2015700"/>
            <a:ext cx="4000000" cy="219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У той же час, незважаючи на те, що кожна константа зіставляється з певним числом, ми не можемо надати їй числове значення: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228033" y="3660901"/>
            <a:ext cx="400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2400"/>
              <a:t>DayTime now = 2;    // ! Ошибка</a:t>
            </a:r>
            <a:endParaRPr sz="2400"/>
          </a:p>
        </p:txBody>
      </p:sp>
      <p:sp>
        <p:nvSpPr>
          <p:cNvPr id="118" name="Google Shape;118;p21"/>
          <p:cNvSpPr txBox="1"/>
          <p:nvPr/>
        </p:nvSpPr>
        <p:spPr>
          <a:xfrm>
            <a:off x="228033" y="4148133"/>
            <a:ext cx="4000000" cy="180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Можна також явно вказати значення елементів, або вказавши значення першого елемента: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4805867" y="3429001"/>
            <a:ext cx="4000000" cy="332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Morning = 3,	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каждый следующий элемент по умолчанию увеличивается на единицу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Afternoon,  	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этот элемент равен 4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Evening,    	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5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Night       	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6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168133" y="211967"/>
            <a:ext cx="12024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Тип та значення констант перерахування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271867" y="1341800"/>
            <a:ext cx="40000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Але можна і для всіх елементів явно вказати значення:</a:t>
            </a:r>
            <a:endParaRPr sz="2400"/>
          </a:p>
        </p:txBody>
      </p:sp>
      <p:sp>
        <p:nvSpPr>
          <p:cNvPr id="126" name="Google Shape;126;p22"/>
          <p:cNvSpPr txBox="1"/>
          <p:nvPr/>
        </p:nvSpPr>
        <p:spPr>
          <a:xfrm>
            <a:off x="168133" y="2272400"/>
            <a:ext cx="4000000" cy="240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Morning = 2,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Afternoon = 4,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Evening = 8,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Night = 16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271867" y="4832167"/>
            <a:ext cx="4000000" cy="219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При цьому константи перерахування можуть мати однакові значення, або навіть можна надавати одній константі значення іншої константи: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5121567" y="4297200"/>
            <a:ext cx="4000000" cy="240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DayTime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Morning = 1,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Afternoon = Morning,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Evening = 2,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Night = 2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168133" y="211967"/>
            <a:ext cx="12024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4800" b="1" dirty="0" err="1"/>
              <a:t>Enum</a:t>
            </a:r>
            <a:r>
              <a:rPr lang="ru-RU" sz="4800" b="1" dirty="0"/>
              <a:t> </a:t>
            </a:r>
            <a:r>
              <a:rPr lang="ru-RU" sz="4800" b="1" dirty="0" err="1"/>
              <a:t>приклади</a:t>
            </a:r>
            <a:endParaRPr lang="ru-RU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E4E707-EA37-4CD2-BBE7-7CBC87AB27F3}"/>
              </a:ext>
            </a:extLst>
          </p:cNvPr>
          <p:cNvSpPr txBox="1"/>
          <p:nvPr/>
        </p:nvSpPr>
        <p:spPr>
          <a:xfrm>
            <a:off x="168133" y="1306825"/>
            <a:ext cx="61388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HttpStatusCode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OK = 200,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201,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NotFound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404,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InternalServerError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500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03C4C1-22E8-43F2-9100-508BAF0DE2A7}"/>
              </a:ext>
            </a:extLst>
          </p:cNvPr>
          <p:cNvSpPr txBox="1"/>
          <p:nvPr/>
        </p:nvSpPr>
        <p:spPr>
          <a:xfrm>
            <a:off x="4010025" y="4337709"/>
            <a:ext cx="81129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CharacterType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Warrior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Mage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Archer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b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CharacterType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hero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CharacterType.Mage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switch(hero) {</a:t>
            </a:r>
            <a:b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CharacterType.Warrior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// 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меч    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CharacterType.Mage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   // 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магія    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CharacterType.Archer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 // 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стріли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350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168133" y="211967"/>
            <a:ext cx="12024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Flags</a:t>
            </a: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A11AB5-3924-4FDB-B0D3-514612F2C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84" y="1073721"/>
            <a:ext cx="118970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Флаги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в C# — це особливий тип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який дозволяє комбінувати кілька значень в одній змінній. Зазвичай, кожному значенню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присвоюється степінь двійки (1, 2, 4, 8 і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т.д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.). Це дає змогу використовувати побітові операції (OR, AND, NOT) для маніпуляцій з цими значеннями.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AD8D7D-C11D-44BC-B610-B7DC351B9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33" y="1997051"/>
            <a:ext cx="77379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 [</a:t>
            </a:r>
            <a:r>
              <a:rPr kumimoji="0" lang="uk-UA" altLang="uk-U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kumimoji="0" lang="en-US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Щоб створити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флагами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потрібно додати атрибут [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Flags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перед оголошенням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Це не впливає на логіку коду, але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допомагає іншим розробникам зрозуміти, що цей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призначений для комбінування, і дозволяє методу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коректно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відображати комбіновані значення.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Степені двійки</a:t>
            </a:r>
            <a:endParaRPr lang="en-US" alt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Кожне значення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повинно бути степенем двійки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(20=1,21=2,22=4,23=8 і так далі). Це забезпечує унікальність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кожного біта.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Комбінування</a:t>
            </a:r>
            <a:endParaRPr lang="en-US" alt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Щоб об'єднати кілька значень, використовується побітова операція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(|).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Перевірка</a:t>
            </a:r>
            <a:endParaRPr lang="en-US" alt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Щоб перевірити, чи містить змінна певне значення,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використовується побітова операція 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(&amp;).</a:t>
            </a:r>
          </a:p>
        </p:txBody>
      </p:sp>
    </p:spTree>
    <p:extLst>
      <p:ext uri="{BB962C8B-B14F-4D97-AF65-F5344CB8AC3E}">
        <p14:creationId xmlns:p14="http://schemas.microsoft.com/office/powerpoint/2010/main" val="651974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168133" y="211967"/>
            <a:ext cx="12024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Flags</a:t>
            </a: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3D51F-321B-4271-805C-56D75F717B96}"/>
              </a:ext>
            </a:extLst>
          </p:cNvPr>
          <p:cNvSpPr txBox="1"/>
          <p:nvPr/>
        </p:nvSpPr>
        <p:spPr>
          <a:xfrm>
            <a:off x="1981200" y="459724"/>
            <a:ext cx="963691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Flags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0,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1,      // 0001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2,     // 0010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4,   // 0100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8     // 1000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Комбінуємо права: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Permissions.Read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Permissions.Write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($"Користувач має права: {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}"); // Виведе: "Користувач має права: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Перевіряємо, чи має користувач право на запис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((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Permissions.Write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 ==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Permissions.Write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("Користувач може записувати дані.");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Перевіряємо, чи має користувач право на виконання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((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Permissions.Execute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 ==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Permissions.Execute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("Користувач може виконувати файли.");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("Користувач НЕ може виконувати файли.");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Додаємо нове право (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|=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Permissions.Execute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($"Нові права користувача: {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}"); // Виведе: "Нові права користувача: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uk-UA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Видаляємо право (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&amp;= ~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Permissions.Write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($"Права після видалення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userPermissions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}"); // Виведе: "Права після видалення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uk-UA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476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1</a:t>
            </a:r>
            <a:endParaRPr lang="uk-U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80B134-B650-4A18-8A3F-63771BFD5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2" y="1321356"/>
            <a:ext cx="119953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Створи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TrafficLight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 елементами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Yellow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Виведи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повідомлення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кольору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світлофора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A0701-0DF9-4217-9449-D1AE1B5B90FF}"/>
              </a:ext>
            </a:extLst>
          </p:cNvPr>
          <p:cNvSpPr txBox="1"/>
          <p:nvPr/>
        </p:nvSpPr>
        <p:spPr>
          <a:xfrm>
            <a:off x="190499" y="1675299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 Red, Yellow, Green 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TrafficLight.Red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TrafficLight.Red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("Стоп!");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TrafficLight.Yellow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("Приготуйся!");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TrafficLight.Green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("Йди!");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7776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2</a:t>
            </a:r>
            <a:endParaRPr lang="uk-U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D0A51B-9064-4681-8351-3876D1DDA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49" y="1294300"/>
            <a:ext cx="117729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Вивести числове значення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DayTime.Morning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uk-U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Вивести значення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DayTime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якщо задано індекс.</a:t>
            </a:r>
            <a:r>
              <a:rPr kumimoji="0" lang="en-US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користувачем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належить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8E6C00-9D5B-4042-9EFB-32E66E13059A}"/>
              </a:ext>
            </a:extLst>
          </p:cNvPr>
          <p:cNvSpPr txBox="1"/>
          <p:nvPr/>
        </p:nvSpPr>
        <p:spPr>
          <a:xfrm>
            <a:off x="209549" y="2351603"/>
            <a:ext cx="7610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DayTime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Morning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Afternoon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Evening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Night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DayTime.Morning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); // Виведе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18E6C-2112-4A57-8FBF-33FA2E6264F0}"/>
              </a:ext>
            </a:extLst>
          </p:cNvPr>
          <p:cNvSpPr txBox="1"/>
          <p:nvPr/>
        </p:nvSpPr>
        <p:spPr>
          <a:xfrm>
            <a:off x="6381750" y="305949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DayTime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DayTime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); //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Evening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20834-09C3-4331-8D7C-C40A713FCD52}"/>
              </a:ext>
            </a:extLst>
          </p:cNvPr>
          <p:cNvSpPr txBox="1"/>
          <p:nvPr/>
        </p:nvSpPr>
        <p:spPr>
          <a:xfrm>
            <a:off x="209549" y="3924985"/>
            <a:ext cx="62388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Enum.TryParse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DayTime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($"Ви ввели: {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}");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uk-U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("Невірне значення");</a:t>
            </a:r>
          </a:p>
          <a:p>
            <a:r>
              <a:rPr lang="uk-U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3894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12554</TotalTime>
  <Words>1534</Words>
  <Application>Microsoft Office PowerPoint</Application>
  <PresentationFormat>Широкий екран</PresentationFormat>
  <Paragraphs>238</Paragraphs>
  <Slides>14</Slides>
  <Notes>13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25" baseType="lpstr">
      <vt:lpstr>-apple-system</vt:lpstr>
      <vt:lpstr>Aptos</vt:lpstr>
      <vt:lpstr>Arial</vt:lpstr>
      <vt:lpstr>Calibri</vt:lpstr>
      <vt:lpstr>Calibri Light</vt:lpstr>
      <vt:lpstr>Cascadia Code</vt:lpstr>
      <vt:lpstr>Comfortaa</vt:lpstr>
      <vt:lpstr>Courier New</vt:lpstr>
      <vt:lpstr>Roboto Mono</vt:lpstr>
      <vt:lpstr>Times New Roman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Приклад 1</vt:lpstr>
      <vt:lpstr>Приклад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105</cp:revision>
  <dcterms:created xsi:type="dcterms:W3CDTF">2024-06-01T09:56:10Z</dcterms:created>
  <dcterms:modified xsi:type="dcterms:W3CDTF">2025-08-04T20:40:51Z</dcterms:modified>
</cp:coreProperties>
</file>