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705" r:id="rId4"/>
    <p:sldId id="262" r:id="rId5"/>
    <p:sldId id="263" r:id="rId6"/>
    <p:sldId id="265" r:id="rId7"/>
    <p:sldId id="267" r:id="rId8"/>
    <p:sldId id="914" r:id="rId9"/>
    <p:sldId id="915" r:id="rId10"/>
    <p:sldId id="916" r:id="rId11"/>
    <p:sldId id="917" r:id="rId1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Шейко Ростислав Олександрович" initials="ШРО" lastIdx="1" clrIdx="0">
    <p:extLst>
      <p:ext uri="{19B8F6BF-5375-455C-9EA6-DF929625EA0E}">
        <p15:presenceInfo xmlns:p15="http://schemas.microsoft.com/office/powerpoint/2012/main" userId="Шейко Ростислав Олександ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18C3B-5615-4532-8AB6-D80322BC11B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C2AB2-E042-4ECB-9FA3-4A42197EC05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589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30D56-32A8-405F-A7CD-81769EABB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FA76A6-34FF-4383-A626-D608041B5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D394F4-C9AF-4F4E-B60A-820EC564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CA19BC-F400-47A9-982B-8F6422F8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43A9B-26A3-47DF-8E1A-D7AF2D49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0568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69C89-E7E3-4566-A4F6-11A4A670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3CA540-4E52-4741-942F-636E07F4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E26BB8-4CA1-4426-8030-958D3D13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E4A9B-934E-49EA-9574-3F3E5934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FF8F06-0286-4ED1-9A80-743818DE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810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E5450-C780-4B6C-B3A1-7C18AC6C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D74565-3B36-4ACD-BC33-81F82FB5E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585B7-7B66-4B80-9E70-79733497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B7463E-3807-47EE-AFE9-EA82DB4A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D4412F-DD94-48F1-B4F8-77EAAC4F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541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79418-08FB-4D23-B95F-CD489542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D3F3A-AE35-49D6-93A6-B6C5D22C8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A3B214-FA0D-4173-A401-CABEA4AA9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C32439-2C26-4CA7-95A9-6EFC60AC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1B2A11-D883-4B74-96E8-31E1CE31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3F548C-BCFE-48AA-969E-2A6B8424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167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D7AAE-3CC2-48DA-B3C0-151D18BE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01D466-D044-46B8-81A5-F4D9BCCF0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688694-B3C4-4003-ADBA-4CEC6470C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3BCA08-6C65-458F-A8A1-4AEAE2E1B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607A9D-0149-4DB6-B925-62DE4BFAF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7BBBB6-4A16-4D86-9991-0455C852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A0EB2F-22C2-4162-9977-73ACE1A2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05B426-CBE2-41A9-A8C4-B897E678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600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3497E-2365-4FF8-A6AE-A3F8BBDD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BC06206-3F7A-4165-920D-C1BB46D7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2BAC23-7E6A-4740-B350-17E9E888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AD6D93-A21A-498A-804A-173653DC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973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AAE57-84CA-4DD0-9EDB-AF0C2631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8AE4A0-6A46-4FD6-9B0C-98D6F8B7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F99CE0-23EA-4D81-84E1-86F656A5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323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58B3E-981F-48E5-9A62-8F36D7F8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932EBB-2D10-49C9-9BD9-7CC4142D5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CACDC5-01B7-4694-BAFD-0ADC902EB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47B97B-288C-4722-8E35-FD514D9A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80E19E-E7B7-46E0-9B75-5035A8922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45BC1F-7E6B-4F8F-B3F7-422DC745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8892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44E22-99C5-44E5-896C-99A69D8A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3E3F8B-2BF5-43A8-AABF-ACB585281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18A75-ED12-4F3F-9341-6E8F0A0E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7F3898-F354-42FA-A883-CAE471B7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779C34-6A14-4DC7-A0D5-4C996C6D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53D945-DE6C-4596-8CB4-48FC8423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92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540B5-0964-46A8-9FC2-3A36A73E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D0D701-A2E9-4E4E-8079-B67922677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7124DE-FFB5-44CB-B3A6-C41AE128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8D6FC-EF8A-4A56-AD4C-5F2B6975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F6C59-ED16-4D27-8EA5-3893BC0A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330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0EBAA2-6B6D-4CD7-BB1B-C1789F047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76BC23-FD2D-430F-B7DA-57E8C7E8D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A26002-7D11-4843-87DF-362F41C6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00060E-6C88-43AA-B306-FF5BFDF3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74BE6E-390A-4829-8274-2C49C393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5726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24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A72B2-A4BC-420F-B784-34F24E17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AE69FD-5B8F-4246-907D-A544887F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F04919-568A-40D4-91C7-4E08D69F6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1E9BA-8501-4193-BA88-839E340A9D5A}" type="datetimeFigureOut">
              <a:rPr lang="uk-UA" smtClean="0"/>
              <a:t>04.09.2025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4942F1-AA25-40B2-A33C-A99D13D35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C16C9A-558E-4420-90BC-EB362D969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370FB-27A2-46E2-A309-7F3F3F72CF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691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96BCE-DE62-4164-80FA-57C5796D8B28}"/>
              </a:ext>
            </a:extLst>
          </p:cNvPr>
          <p:cNvSpPr txBox="1"/>
          <p:nvPr/>
        </p:nvSpPr>
        <p:spPr>
          <a:xfrm>
            <a:off x="1223423" y="3096446"/>
            <a:ext cx="9745154" cy="304698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ru-RU" sz="9600" dirty="0">
                <a:latin typeface="Bahnschrift Light SemiCondensed" panose="020B0502040204020203" pitchFamily="34" charset="0"/>
                <a:cs typeface="Times New Roman" panose="02020603050405020304" pitchFamily="18" charset="0"/>
              </a:rPr>
              <a:t>Тема уроку: </a:t>
            </a:r>
            <a:r>
              <a:rPr lang="en-US" sz="9600" dirty="0">
                <a:latin typeface="Bahnschrift Light SemiCondensed" panose="020B0502040204020203" pitchFamily="34" charset="0"/>
                <a:cs typeface="Times New Roman" panose="02020603050405020304" pitchFamily="18" charset="0"/>
              </a:rPr>
              <a:t>if else switch case</a:t>
            </a:r>
            <a:endParaRPr lang="uk-UA" sz="9600" dirty="0">
              <a:latin typeface="Bahnschrift Light SemiCondensed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Shape4327">
            <a:extLst>
              <a:ext uri="{FF2B5EF4-FFF2-40B4-BE49-F238E27FC236}">
                <a16:creationId xmlns:a16="http://schemas.microsoft.com/office/drawing/2014/main" id="{CCA2C7CF-66F1-4A59-B9F1-4C402394939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197366" y="504725"/>
            <a:ext cx="1797269" cy="1797269"/>
            <a:chOff x="4562366" y="349555"/>
            <a:chExt cx="1797269" cy="1797269"/>
          </a:xfrm>
        </p:grpSpPr>
        <p:pic>
          <p:nvPicPr>
            <p:cNvPr id="5" name="Shape4328">
              <a:extLst>
                <a:ext uri="{FF2B5EF4-FFF2-40B4-BE49-F238E27FC236}">
                  <a16:creationId xmlns:a16="http://schemas.microsoft.com/office/drawing/2014/main" id="{773DF6DB-04C1-4490-912C-D988452E968F}"/>
                </a:ext>
              </a:extLst>
            </p:cNvPr>
            <p:cNvPicPr/>
            <p:nvPr>
              <p:custDataLst>
                <p:tags r:id="rId4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6" name="Shape4329">
            <a:extLst>
              <a:ext uri="{FF2B5EF4-FFF2-40B4-BE49-F238E27FC236}">
                <a16:creationId xmlns:a16="http://schemas.microsoft.com/office/drawing/2014/main" id="{3EDEEDEB-1CFA-4320-AF35-792BC3C74B6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557346" y="2758414"/>
            <a:ext cx="1077311" cy="55245"/>
            <a:chOff x="4925483" y="2578947"/>
            <a:chExt cx="1077311" cy="55245"/>
          </a:xfrm>
        </p:grpSpPr>
        <p:sp>
          <p:nvSpPr>
            <p:cNvPr id="7" name="Shape4325">
              <a:extLst>
                <a:ext uri="{FF2B5EF4-FFF2-40B4-BE49-F238E27FC236}">
                  <a16:creationId xmlns:a16="http://schemas.microsoft.com/office/drawing/2014/main" id="{539F30CD-1903-4626-B1DC-14DDF990E82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022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06EA1-BE45-4303-B5C3-3595C3325291}"/>
              </a:ext>
            </a:extLst>
          </p:cNvPr>
          <p:cNvSpPr txBox="1"/>
          <p:nvPr/>
        </p:nvSpPr>
        <p:spPr>
          <a:xfrm>
            <a:off x="7606441" y="4442375"/>
            <a:ext cx="47228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 були б одноманітними, якщо вони працювали без умов. 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Java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умовного</a:t>
            </a:r>
            <a:r>
              <a:rPr lang="ru-RU" sz="2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оператора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спеціального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ключового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слова, яке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дає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змогу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різні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блоки команд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правдивості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умови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4326">
            <a:extLst>
              <a:ext uri="{FF2B5EF4-FFF2-40B4-BE49-F238E27FC236}">
                <a16:creationId xmlns:a16="http://schemas.microsoft.com/office/drawing/2014/main" id="{416030E0-208E-4501-807A-C1209D4341D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606441" y="4442375"/>
            <a:ext cx="45719" cy="227572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A10B5-8055-443E-B53D-BDA2547EA65B}"/>
              </a:ext>
            </a:extLst>
          </p:cNvPr>
          <p:cNvSpPr txBox="1"/>
          <p:nvPr/>
        </p:nvSpPr>
        <p:spPr>
          <a:xfrm>
            <a:off x="5008600" y="1326831"/>
            <a:ext cx="3938121" cy="26108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Якщо</a:t>
            </a: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0000"/>
                </a:highlight>
              </a:rPr>
              <a:t>умова</a:t>
            </a: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істина, то     </a:t>
            </a:r>
          </a:p>
          <a:p>
            <a:pPr>
              <a:lnSpc>
                <a:spcPct val="150000"/>
              </a:lnSpc>
            </a:pP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  виконати </a:t>
            </a: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команда1</a:t>
            </a:r>
            <a:r>
              <a:rPr lang="en-US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;</a:t>
            </a:r>
            <a:endParaRPr lang="uk-UA" sz="28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інакше</a:t>
            </a:r>
          </a:p>
          <a:p>
            <a:pPr>
              <a:lnSpc>
                <a:spcPct val="150000"/>
              </a:lnSpc>
            </a:pP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  виконати </a:t>
            </a:r>
            <a:r>
              <a:rPr lang="uk-UA" sz="28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00FF"/>
                </a:highlight>
              </a:rPr>
              <a:t>команда2;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125FE-ED06-4FBF-8115-55961F4B7F65}"/>
              </a:ext>
            </a:extLst>
          </p:cNvPr>
          <p:cNvSpPr txBox="1"/>
          <p:nvPr/>
        </p:nvSpPr>
        <p:spPr>
          <a:xfrm>
            <a:off x="1578992" y="3076788"/>
            <a:ext cx="2183720" cy="22510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if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0000"/>
                </a:highlight>
              </a:rPr>
              <a:t>умова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команда1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else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00FF"/>
                </a:highlight>
              </a:rPr>
              <a:t>команда2;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EE9B07-7848-44AF-B4B1-2E4C421C6CEB}"/>
              </a:ext>
            </a:extLst>
          </p:cNvPr>
          <p:cNvSpPr txBox="1"/>
          <p:nvPr/>
        </p:nvSpPr>
        <p:spPr>
          <a:xfrm>
            <a:off x="5008600" y="4032804"/>
            <a:ext cx="393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latin typeface="Bahnschrift Light SemiCondensed" panose="020B0502040204020203" pitchFamily="34" charset="0"/>
              </a:rPr>
              <a:t>Якщо б ми писали код людською мовою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0DD9F-3F1D-468F-9128-474722EB076C}"/>
              </a:ext>
            </a:extLst>
          </p:cNvPr>
          <p:cNvSpPr txBox="1"/>
          <p:nvPr/>
        </p:nvSpPr>
        <p:spPr>
          <a:xfrm>
            <a:off x="1151379" y="5366169"/>
            <a:ext cx="267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 Light SemiCondensed" panose="020B0502040204020203" pitchFamily="34" charset="0"/>
              </a:rPr>
              <a:t>if else </a:t>
            </a:r>
            <a:r>
              <a:rPr lang="uk-UA" dirty="0">
                <a:latin typeface="Bahnschrift Light SemiCondensed" panose="020B0502040204020203" pitchFamily="34" charset="0"/>
              </a:rPr>
              <a:t>на </a:t>
            </a:r>
            <a:r>
              <a:rPr lang="en-US" dirty="0">
                <a:latin typeface="Bahnschrift Light SemiCondensed" panose="020B0502040204020203" pitchFamily="34" charset="0"/>
              </a:rPr>
              <a:t>C#</a:t>
            </a:r>
            <a:endParaRPr lang="uk-UA" dirty="0">
              <a:latin typeface="Bahnschrift Light SemiCondensed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DCBDB7-2001-45C1-B189-5C8DCD6E87DF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Умовні оператори</a:t>
            </a:r>
          </a:p>
        </p:txBody>
      </p:sp>
    </p:spTree>
    <p:extLst>
      <p:ext uri="{BB962C8B-B14F-4D97-AF65-F5344CB8AC3E}">
        <p14:creationId xmlns:p14="http://schemas.microsoft.com/office/powerpoint/2010/main" val="391547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F91ABF-D7E0-4CB6-B82F-5AC2DE9C55A0}"/>
              </a:ext>
            </a:extLst>
          </p:cNvPr>
          <p:cNvSpPr txBox="1"/>
          <p:nvPr/>
        </p:nvSpPr>
        <p:spPr>
          <a:xfrm>
            <a:off x="1137241" y="1950192"/>
            <a:ext cx="2183720" cy="22510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if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0000"/>
                </a:highlight>
              </a:rPr>
              <a:t>умова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команда1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інакше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00FF"/>
                </a:highlight>
              </a:rPr>
              <a:t>команда2;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C3E1-F9F8-4AC0-A415-83B7B247ADF1}"/>
              </a:ext>
            </a:extLst>
          </p:cNvPr>
          <p:cNvSpPr txBox="1"/>
          <p:nvPr/>
        </p:nvSpPr>
        <p:spPr>
          <a:xfrm>
            <a:off x="709628" y="4239573"/>
            <a:ext cx="267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 Light SemiCondensed" panose="020B0502040204020203" pitchFamily="34" charset="0"/>
              </a:rPr>
              <a:t>if else </a:t>
            </a:r>
            <a:r>
              <a:rPr lang="uk-UA" dirty="0">
                <a:latin typeface="Bahnschrift Light SemiCondensed" panose="020B0502040204020203" pitchFamily="34" charset="0"/>
              </a:rPr>
              <a:t>на </a:t>
            </a:r>
            <a:r>
              <a:rPr lang="en-US" dirty="0">
                <a:latin typeface="Bahnschrift Light SemiCondensed" panose="020B0502040204020203" pitchFamily="34" charset="0"/>
              </a:rPr>
              <a:t>C#</a:t>
            </a:r>
            <a:endParaRPr lang="uk-UA" dirty="0">
              <a:latin typeface="Bahnschrift Light SemiCondensed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47B163-0610-4F4F-85A3-7031C62EBF62}"/>
              </a:ext>
            </a:extLst>
          </p:cNvPr>
          <p:cNvSpPr txBox="1"/>
          <p:nvPr/>
        </p:nvSpPr>
        <p:spPr>
          <a:xfrm>
            <a:off x="4309419" y="1773326"/>
            <a:ext cx="659944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Умовний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оператор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складається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з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трьох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частин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: </a:t>
            </a:r>
            <a:r>
              <a:rPr lang="ru-RU" sz="2800" b="0" i="1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умови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, </a:t>
            </a:r>
            <a:r>
              <a:rPr lang="ru-RU" sz="2800" b="0" i="1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команди</a:t>
            </a:r>
            <a:r>
              <a:rPr lang="ru-RU" sz="2800" b="0" i="1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1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і </a:t>
            </a:r>
            <a:r>
              <a:rPr lang="ru-RU" sz="2800" b="0" i="1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команди</a:t>
            </a:r>
            <a:r>
              <a:rPr lang="ru-RU" sz="2800" b="0" i="1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2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.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Якщо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</a:t>
            </a:r>
            <a:r>
              <a:rPr lang="ru-RU" sz="2800" b="0" i="1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умова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правдива (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істинна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),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виконується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</a:t>
            </a:r>
            <a:r>
              <a:rPr lang="ru-RU" sz="2800" b="0" i="1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команда 1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інакше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 — </a:t>
            </a:r>
            <a:r>
              <a:rPr lang="ru-RU" sz="2800" b="0" i="1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команда 2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.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Команди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ніколи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не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виконуються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одночасно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.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Загальний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вигляд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цього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 оператора </a:t>
            </a:r>
            <a:r>
              <a:rPr lang="ru-RU" sz="2800" b="0" i="0" dirty="0" err="1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такий</a:t>
            </a:r>
            <a:r>
              <a:rPr lang="ru-RU" sz="2800" b="0" i="0" dirty="0">
                <a:effectLst/>
                <a:latin typeface="Bahnschrift Light" panose="020B0502040204020203" pitchFamily="34" charset="0"/>
                <a:cs typeface="Times New Roman" panose="02020603050405020304" pitchFamily="18" charset="0"/>
              </a:rPr>
              <a:t>:</a:t>
            </a:r>
            <a:endParaRPr lang="uk-UA" sz="28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001470F5-65E0-44F4-B7C8-C1D3AD4D7840}"/>
              </a:ext>
            </a:extLst>
          </p:cNvPr>
          <p:cNvSpPr/>
          <p:nvPr/>
        </p:nvSpPr>
        <p:spPr>
          <a:xfrm>
            <a:off x="4246157" y="1892771"/>
            <a:ext cx="63262" cy="33485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77C8D8-4F45-4CA3-A1F4-9A4D5DF1D441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Умовні оператори</a:t>
            </a:r>
          </a:p>
        </p:txBody>
      </p:sp>
    </p:spTree>
    <p:extLst>
      <p:ext uri="{BB962C8B-B14F-4D97-AF65-F5344CB8AC3E}">
        <p14:creationId xmlns:p14="http://schemas.microsoft.com/office/powerpoint/2010/main" val="224378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32E36F-97EC-4637-82C9-6598E2C4D79D}"/>
              </a:ext>
            </a:extLst>
          </p:cNvPr>
          <p:cNvSpPr txBox="1"/>
          <p:nvPr/>
        </p:nvSpPr>
        <p:spPr>
          <a:xfrm>
            <a:off x="1170326" y="2079976"/>
            <a:ext cx="2183720" cy="22510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if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0000"/>
                </a:highlight>
              </a:rPr>
              <a:t>умова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команда1</a:t>
            </a:r>
            <a:r>
              <a:rPr lang="en-US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FF00"/>
                </a:highlight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інакше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uk-UA" sz="2400" dirty="0">
                <a:ln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highlight>
                  <a:srgbClr val="0000FF"/>
                </a:highlight>
              </a:rPr>
              <a:t>команда2;</a:t>
            </a:r>
            <a:endParaRPr lang="uk-UA" sz="2400" dirty="0">
              <a:ln>
                <a:solidFill>
                  <a:schemeClr val="bg1">
                    <a:lumMod val="5000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9A719-E7FE-42DD-B76A-7E259A659245}"/>
              </a:ext>
            </a:extLst>
          </p:cNvPr>
          <p:cNvSpPr txBox="1"/>
          <p:nvPr/>
        </p:nvSpPr>
        <p:spPr>
          <a:xfrm>
            <a:off x="742713" y="4369357"/>
            <a:ext cx="267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 Light SemiCondensed" panose="020B0502040204020203" pitchFamily="34" charset="0"/>
              </a:rPr>
              <a:t>if else </a:t>
            </a:r>
            <a:r>
              <a:rPr lang="uk-UA" dirty="0">
                <a:latin typeface="Bahnschrift Light SemiCondensed" panose="020B0502040204020203" pitchFamily="34" charset="0"/>
              </a:rPr>
              <a:t>на С</a:t>
            </a:r>
            <a:r>
              <a:rPr lang="en-US" dirty="0">
                <a:latin typeface="Bahnschrift Light SemiCondensed" panose="020B0502040204020203" pitchFamily="34" charset="0"/>
              </a:rPr>
              <a:t>#</a:t>
            </a:r>
            <a:endParaRPr lang="uk-UA" dirty="0">
              <a:latin typeface="Bahnschrift Light SemiCondensed" panose="020B0502040204020203" pitchFamily="34" charset="0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4F45830-22B6-42B1-90AA-7E094B6464F1}"/>
              </a:ext>
            </a:extLst>
          </p:cNvPr>
          <p:cNvGrpSpPr/>
          <p:nvPr/>
        </p:nvGrpSpPr>
        <p:grpSpPr>
          <a:xfrm>
            <a:off x="4546555" y="1104406"/>
            <a:ext cx="7115571" cy="4649187"/>
            <a:chOff x="1790006" y="498575"/>
            <a:chExt cx="8611890" cy="5863729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EAF9B04E-800F-4434-A438-C249D74AFC24}"/>
                </a:ext>
              </a:extLst>
            </p:cNvPr>
            <p:cNvSpPr/>
            <p:nvPr/>
          </p:nvSpPr>
          <p:spPr>
            <a:xfrm>
              <a:off x="1790006" y="498575"/>
              <a:ext cx="8611890" cy="5863729"/>
            </a:xfrm>
            <a:prstGeom prst="roundRect">
              <a:avLst>
                <a:gd name="adj" fmla="val 1391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DD909232-047E-4FD3-A707-7B29C6E2E4CB}"/>
                </a:ext>
              </a:extLst>
            </p:cNvPr>
            <p:cNvSpPr/>
            <p:nvPr/>
          </p:nvSpPr>
          <p:spPr>
            <a:xfrm>
              <a:off x="1796356" y="504925"/>
              <a:ext cx="8599190" cy="520204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6BAAF488-812A-4DF9-87AC-A42C4D2673E1}"/>
                </a:ext>
              </a:extLst>
            </p:cNvPr>
            <p:cNvSpPr/>
            <p:nvPr/>
          </p:nvSpPr>
          <p:spPr>
            <a:xfrm>
              <a:off x="1977728" y="620018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sz="1200" b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Код</a:t>
              </a:r>
              <a:endParaRPr lang="en-US" sz="1200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323FC71E-C5D7-44FE-94BE-EE3855A094D7}"/>
                </a:ext>
              </a:extLst>
            </p:cNvPr>
            <p:cNvSpPr/>
            <p:nvPr/>
          </p:nvSpPr>
          <p:spPr>
            <a:xfrm>
              <a:off x="6280448" y="620018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sz="1200" b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Пояснення</a:t>
              </a:r>
              <a:endParaRPr lang="en-US" sz="1200" dirty="0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A3E779A3-A3D3-4BEA-AD08-7025F1E605B8}"/>
                </a:ext>
              </a:extLst>
            </p:cNvPr>
            <p:cNvSpPr/>
            <p:nvPr/>
          </p:nvSpPr>
          <p:spPr>
            <a:xfrm>
              <a:off x="1796356" y="1025129"/>
              <a:ext cx="8599190" cy="1970286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42" name="Text 6">
              <a:extLst>
                <a:ext uri="{FF2B5EF4-FFF2-40B4-BE49-F238E27FC236}">
                  <a16:creationId xmlns:a16="http://schemas.microsoft.com/office/drawing/2014/main" id="{28F97B67-5D56-46D0-B8EE-4A3986BC0CB4}"/>
                </a:ext>
              </a:extLst>
            </p:cNvPr>
            <p:cNvSpPr/>
            <p:nvPr/>
          </p:nvSpPr>
          <p:spPr>
            <a:xfrm>
              <a:off x="1977728" y="1140222"/>
              <a:ext cx="3933825" cy="161517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400" dirty="0">
                  <a:solidFill>
                    <a:srgbClr val="CC7832"/>
                  </a:solidFill>
                  <a:effectLst/>
                </a:rPr>
                <a:t>int </a:t>
              </a:r>
              <a:r>
                <a:rPr lang="en-US" sz="1400" dirty="0">
                  <a:solidFill>
                    <a:srgbClr val="A9B7C6"/>
                  </a:solidFill>
                  <a:effectLst/>
                </a:rPr>
                <a:t>age = </a:t>
              </a:r>
              <a:r>
                <a:rPr lang="en-US" sz="1400" dirty="0">
                  <a:solidFill>
                    <a:srgbClr val="6897BB"/>
                  </a:solidFill>
                  <a:effectLst/>
                </a:rPr>
                <a:t>17</a:t>
              </a:r>
              <a:r>
                <a:rPr lang="en-US" sz="14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en-US" sz="1400" dirty="0">
                  <a:solidFill>
                    <a:srgbClr val="CC7832"/>
                  </a:solidFill>
                  <a:effectLst/>
                </a:rPr>
              </a:br>
              <a:r>
                <a:rPr lang="en-US" sz="1400" dirty="0">
                  <a:solidFill>
                    <a:srgbClr val="CC7832"/>
                  </a:solidFill>
                  <a:effectLst/>
                </a:rPr>
                <a:t>if</a:t>
              </a:r>
              <a:r>
                <a:rPr lang="en-US" sz="1400" dirty="0">
                  <a:solidFill>
                    <a:srgbClr val="A9B7C6"/>
                  </a:solidFill>
                  <a:effectLst/>
                </a:rPr>
                <a:t>(age &lt; </a:t>
              </a:r>
              <a:r>
                <a:rPr lang="en-US" sz="1400" dirty="0">
                  <a:solidFill>
                    <a:srgbClr val="6897BB"/>
                  </a:solidFill>
                  <a:effectLst/>
                </a:rPr>
                <a:t>18</a:t>
              </a:r>
              <a:r>
                <a:rPr lang="en-US" sz="1400" dirty="0">
                  <a:solidFill>
                    <a:srgbClr val="A9B7C6"/>
                  </a:solidFill>
                  <a:effectLst/>
                </a:rPr>
                <a:t>)</a:t>
              </a:r>
              <a:br>
                <a:rPr lang="en-US" sz="1400" dirty="0">
                  <a:solidFill>
                    <a:srgbClr val="A9B7C6"/>
                  </a:solidFill>
                  <a:effectLst/>
                </a:rPr>
              </a:br>
              <a:r>
                <a:rPr lang="en-US" sz="1400" dirty="0">
                  <a:solidFill>
                    <a:srgbClr val="A9B7C6"/>
                  </a:solidFill>
                  <a:effectLst/>
                </a:rPr>
                <a:t>    </a:t>
              </a:r>
              <a:r>
                <a:rPr lang="en-US" sz="14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4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4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4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4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400" dirty="0">
                  <a:solidFill>
                    <a:srgbClr val="6A8759"/>
                  </a:solidFill>
                  <a:effectLst/>
                </a:rPr>
                <a:t>Ви ще дитина!"</a:t>
              </a:r>
              <a:r>
                <a:rPr lang="uk-UA" sz="14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4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uk-UA" sz="1400" dirty="0">
                  <a:solidFill>
                    <a:srgbClr val="CC7832"/>
                  </a:solidFill>
                  <a:effectLst/>
                </a:rPr>
              </a:br>
              <a:r>
                <a:rPr lang="en-US" sz="1400" dirty="0">
                  <a:solidFill>
                    <a:srgbClr val="CC7832"/>
                  </a:solidFill>
                  <a:effectLst/>
                </a:rPr>
                <a:t>else</a:t>
              </a:r>
              <a:br>
                <a:rPr lang="en-US" sz="1400" dirty="0">
                  <a:solidFill>
                    <a:srgbClr val="CC7832"/>
                  </a:solidFill>
                  <a:effectLst/>
                </a:rPr>
              </a:br>
              <a:r>
                <a:rPr lang="en-US" sz="1400" dirty="0">
                  <a:solidFill>
                    <a:srgbClr val="CC7832"/>
                  </a:solidFill>
                  <a:effectLst/>
                </a:rPr>
                <a:t>    </a:t>
              </a:r>
              <a:r>
                <a:rPr lang="en-US" sz="14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4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4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4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4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400" dirty="0">
                  <a:solidFill>
                    <a:srgbClr val="6A8759"/>
                  </a:solidFill>
                  <a:effectLst/>
                </a:rPr>
                <a:t>Ви вже дорослий!"</a:t>
              </a:r>
              <a:r>
                <a:rPr lang="uk-UA" sz="14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400" dirty="0">
                  <a:solidFill>
                    <a:srgbClr val="CC7832"/>
                  </a:solidFill>
                  <a:effectLst/>
                </a:rPr>
                <a:t>;</a:t>
              </a:r>
              <a:endParaRPr lang="en-US" sz="14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89D17A8B-5C9A-4879-B499-26B40E251C25}"/>
                </a:ext>
              </a:extLst>
            </p:cNvPr>
            <p:cNvSpPr/>
            <p:nvPr/>
          </p:nvSpPr>
          <p:spPr>
            <a:xfrm>
              <a:off x="6280448" y="1140222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i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На екран буде виведено напис:</a:t>
              </a:r>
              <a:endParaRPr lang="en-US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265643BB-6352-4BD0-88D7-3156A0AD755D}"/>
                </a:ext>
              </a:extLst>
            </p:cNvPr>
            <p:cNvSpPr/>
            <p:nvPr/>
          </p:nvSpPr>
          <p:spPr>
            <a:xfrm>
              <a:off x="6280448" y="1538982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Ви ще дитина!</a:t>
              </a:r>
              <a:endParaRPr lang="en-US" sz="1600" dirty="0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B49B3449-F44B-4A92-8349-68D64B6B1F20}"/>
                </a:ext>
              </a:extLst>
            </p:cNvPr>
            <p:cNvSpPr/>
            <p:nvPr/>
          </p:nvSpPr>
          <p:spPr>
            <a:xfrm>
              <a:off x="1796356" y="2995415"/>
              <a:ext cx="8599190" cy="168026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E8D008AB-5FDA-498A-8BCE-00222693672F}"/>
                </a:ext>
              </a:extLst>
            </p:cNvPr>
            <p:cNvSpPr/>
            <p:nvPr/>
          </p:nvSpPr>
          <p:spPr>
            <a:xfrm>
              <a:off x="1977728" y="3110507"/>
              <a:ext cx="3933825" cy="145008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200" dirty="0">
                  <a:solidFill>
                    <a:srgbClr val="CC7832"/>
                  </a:solidFill>
                  <a:effectLst/>
                </a:rPr>
                <a:t>int 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temperature = </a:t>
              </a:r>
              <a:r>
                <a:rPr lang="en-US" sz="1200" dirty="0">
                  <a:solidFill>
                    <a:srgbClr val="6897BB"/>
                  </a:solidFill>
                  <a:effectLst/>
                </a:rPr>
                <a:t>5</a:t>
              </a:r>
              <a:r>
                <a:rPr lang="en-US" sz="12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en-US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if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(temperature &lt; </a:t>
              </a:r>
              <a:r>
                <a:rPr lang="en-US" sz="1200" dirty="0">
                  <a:solidFill>
                    <a:srgbClr val="6897BB"/>
                  </a:solidFill>
                  <a:effectLst/>
                </a:rPr>
                <a:t>0 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)</a:t>
              </a:r>
              <a:br>
                <a:rPr lang="en-US" sz="1200" dirty="0">
                  <a:solidFill>
                    <a:srgbClr val="A9B7C6"/>
                  </a:solidFill>
                  <a:effectLst/>
                </a:rPr>
              </a:br>
              <a:r>
                <a:rPr lang="en-US" sz="1200" dirty="0">
                  <a:solidFill>
                    <a:srgbClr val="A9B7C6"/>
                  </a:solidFill>
                  <a:effectLst/>
                </a:rPr>
                <a:t>    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2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2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200" dirty="0">
                  <a:solidFill>
                    <a:srgbClr val="6A8759"/>
                  </a:solidFill>
                  <a:effectLst/>
                </a:rPr>
                <a:t>На вулиці мороз"</a:t>
              </a:r>
              <a:r>
                <a:rPr lang="uk-UA" sz="12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2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uk-UA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else</a:t>
              </a:r>
              <a:br>
                <a:rPr lang="en-US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    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2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2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200" dirty="0">
                  <a:solidFill>
                    <a:srgbClr val="6A8759"/>
                  </a:solidFill>
                  <a:effectLst/>
                </a:rPr>
                <a:t>Тепло"</a:t>
              </a:r>
              <a:r>
                <a:rPr lang="uk-UA" sz="12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200" dirty="0">
                  <a:solidFill>
                    <a:srgbClr val="CC7832"/>
                  </a:solidFill>
                  <a:effectLst/>
                </a:rPr>
                <a:t>;</a:t>
              </a:r>
              <a:endParaRPr lang="uk-UA" sz="1200" dirty="0">
                <a:solidFill>
                  <a:srgbClr val="A9B7C6"/>
                </a:solidFill>
                <a:effectLst/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E2A7A825-70AB-4EBD-9931-65A3637469B2}"/>
                </a:ext>
              </a:extLst>
            </p:cNvPr>
            <p:cNvSpPr/>
            <p:nvPr/>
          </p:nvSpPr>
          <p:spPr>
            <a:xfrm>
              <a:off x="6280448" y="3110507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i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На екран буде виведено напис:</a:t>
              </a:r>
              <a:endParaRPr lang="en-US" dirty="0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73656FDC-E847-44D7-A779-485929A1102D}"/>
                </a:ext>
              </a:extLst>
            </p:cNvPr>
            <p:cNvSpPr/>
            <p:nvPr/>
          </p:nvSpPr>
          <p:spPr>
            <a:xfrm>
              <a:off x="6280448" y="3509268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Тепло</a:t>
              </a:r>
              <a:endParaRPr lang="en-US" sz="1600" dirty="0"/>
            </a:p>
          </p:txBody>
        </p:sp>
        <p:sp>
          <p:nvSpPr>
            <p:cNvPr id="49" name="Shape 13">
              <a:extLst>
                <a:ext uri="{FF2B5EF4-FFF2-40B4-BE49-F238E27FC236}">
                  <a16:creationId xmlns:a16="http://schemas.microsoft.com/office/drawing/2014/main" id="{1670B02E-3DE4-418C-A547-D5E7D1B3D48C}"/>
                </a:ext>
              </a:extLst>
            </p:cNvPr>
            <p:cNvSpPr/>
            <p:nvPr/>
          </p:nvSpPr>
          <p:spPr>
            <a:xfrm>
              <a:off x="1796356" y="4675684"/>
              <a:ext cx="8599190" cy="168026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0F5ED47A-D7B7-48C9-914C-CEB222FD18C5}"/>
                </a:ext>
              </a:extLst>
            </p:cNvPr>
            <p:cNvSpPr/>
            <p:nvPr/>
          </p:nvSpPr>
          <p:spPr>
            <a:xfrm>
              <a:off x="1977728" y="4790777"/>
              <a:ext cx="3933825" cy="145008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200" dirty="0">
                  <a:solidFill>
                    <a:srgbClr val="CC7832"/>
                  </a:solidFill>
                  <a:effectLst/>
                </a:rPr>
                <a:t>int 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age = </a:t>
              </a:r>
              <a:r>
                <a:rPr lang="en-US" sz="1200" dirty="0">
                  <a:solidFill>
                    <a:srgbClr val="6897BB"/>
                  </a:solidFill>
                  <a:effectLst/>
                </a:rPr>
                <a:t>18</a:t>
              </a:r>
              <a:r>
                <a:rPr lang="en-US" sz="12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en-US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if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(age &lt; </a:t>
              </a:r>
              <a:r>
                <a:rPr lang="en-US" sz="1200" dirty="0">
                  <a:solidFill>
                    <a:srgbClr val="6897BB"/>
                  </a:solidFill>
                  <a:effectLst/>
                </a:rPr>
                <a:t>0 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)</a:t>
              </a:r>
              <a:br>
                <a:rPr lang="en-US" sz="1200" dirty="0">
                  <a:solidFill>
                    <a:srgbClr val="A9B7C6"/>
                  </a:solidFill>
                  <a:effectLst/>
                </a:rPr>
              </a:br>
              <a:r>
                <a:rPr lang="en-US" sz="1200" dirty="0">
                  <a:solidFill>
                    <a:srgbClr val="A9B7C6"/>
                  </a:solidFill>
                  <a:effectLst/>
                </a:rPr>
                <a:t>    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2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2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200" dirty="0">
                  <a:solidFill>
                    <a:srgbClr val="6A8759"/>
                  </a:solidFill>
                  <a:effectLst/>
                </a:rPr>
                <a:t>З'явіться до пенсійного фонду"</a:t>
              </a:r>
              <a:r>
                <a:rPr lang="uk-UA" sz="12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200" dirty="0">
                  <a:solidFill>
                    <a:srgbClr val="CC7832"/>
                  </a:solidFill>
                  <a:effectLst/>
                </a:rPr>
                <a:t>;</a:t>
              </a:r>
              <a:br>
                <a:rPr lang="uk-UA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else</a:t>
              </a:r>
              <a:br>
                <a:rPr lang="en-US" sz="1200" dirty="0">
                  <a:solidFill>
                    <a:srgbClr val="CC7832"/>
                  </a:solidFill>
                  <a:effectLst/>
                </a:rPr>
              </a:br>
              <a:r>
                <a:rPr lang="en-US" sz="1200" dirty="0">
                  <a:solidFill>
                    <a:srgbClr val="CC7832"/>
                  </a:solidFill>
                  <a:effectLst/>
                </a:rPr>
                <a:t>    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System.</a:t>
              </a:r>
              <a:r>
                <a:rPr lang="en-US" sz="1200" i="1" dirty="0" err="1">
                  <a:solidFill>
                    <a:srgbClr val="9876AA"/>
                  </a:solidFill>
                  <a:effectLst/>
                </a:rPr>
                <a:t>out</a:t>
              </a:r>
              <a:r>
                <a:rPr lang="en-US" sz="1200" dirty="0" err="1">
                  <a:solidFill>
                    <a:srgbClr val="A9B7C6"/>
                  </a:solidFill>
                  <a:effectLst/>
                </a:rPr>
                <a:t>.println</a:t>
              </a:r>
              <a:r>
                <a:rPr lang="en-US" sz="1200" dirty="0">
                  <a:solidFill>
                    <a:srgbClr val="A9B7C6"/>
                  </a:solidFill>
                  <a:effectLst/>
                </a:rPr>
                <a:t>(</a:t>
              </a:r>
              <a:r>
                <a:rPr lang="en-US" sz="1200" dirty="0">
                  <a:solidFill>
                    <a:srgbClr val="6A8759"/>
                  </a:solidFill>
                  <a:effectLst/>
                </a:rPr>
                <a:t>"</a:t>
              </a:r>
              <a:r>
                <a:rPr lang="uk-UA" sz="1200" dirty="0">
                  <a:solidFill>
                    <a:srgbClr val="6A8759"/>
                  </a:solidFill>
                  <a:effectLst/>
                </a:rPr>
                <a:t>Все одно чекаємо:)"</a:t>
              </a:r>
              <a:r>
                <a:rPr lang="uk-UA" sz="1200" dirty="0">
                  <a:solidFill>
                    <a:srgbClr val="A9B7C6"/>
                  </a:solidFill>
                  <a:effectLst/>
                </a:rPr>
                <a:t>)</a:t>
              </a:r>
              <a:r>
                <a:rPr lang="uk-UA" sz="1200" dirty="0">
                  <a:solidFill>
                    <a:srgbClr val="CC7832"/>
                  </a:solidFill>
                  <a:effectLst/>
                </a:rPr>
                <a:t>;</a:t>
              </a:r>
              <a:endParaRPr lang="uk-UA" sz="1200" dirty="0">
                <a:solidFill>
                  <a:srgbClr val="A9B7C6"/>
                </a:solidFill>
                <a:effectLst/>
              </a:endParaRPr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E33D2F31-7103-46E5-B1B5-05BEA17A34D2}"/>
                </a:ext>
              </a:extLst>
            </p:cNvPr>
            <p:cNvSpPr/>
            <p:nvPr/>
          </p:nvSpPr>
          <p:spPr>
            <a:xfrm>
              <a:off x="6280448" y="4790777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i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На екран буде виведено напис:</a:t>
              </a:r>
              <a:endParaRPr lang="en-US" dirty="0"/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E421877D-8759-4179-A59A-6C3D5E621976}"/>
                </a:ext>
              </a:extLst>
            </p:cNvPr>
            <p:cNvSpPr/>
            <p:nvPr/>
          </p:nvSpPr>
          <p:spPr>
            <a:xfrm>
              <a:off x="6280448" y="5189537"/>
              <a:ext cx="3933825" cy="29001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28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З’явіться </a:t>
              </a:r>
              <a:r>
                <a:rPr lang="en-US" sz="1600" dirty="0" err="1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до</a:t>
              </a:r>
              <a:r>
                <a:rPr lang="en-US" sz="16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</a:t>
              </a:r>
              <a:r>
                <a:rPr lang="uk-UA" sz="16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пенсійного фонду</a:t>
              </a:r>
              <a:endParaRPr lang="en-US" sz="1600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457D2D1-B6E1-42ED-9426-3CBF02FDA6FA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Умовні оператори</a:t>
            </a:r>
          </a:p>
        </p:txBody>
      </p:sp>
    </p:spTree>
    <p:extLst>
      <p:ext uri="{BB962C8B-B14F-4D97-AF65-F5344CB8AC3E}">
        <p14:creationId xmlns:p14="http://schemas.microsoft.com/office/powerpoint/2010/main" val="178498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EA32E-6E2D-4024-BC27-D96D37645F49}"/>
              </a:ext>
            </a:extLst>
          </p:cNvPr>
          <p:cNvSpPr txBox="1"/>
          <p:nvPr/>
        </p:nvSpPr>
        <p:spPr>
          <a:xfrm>
            <a:off x="5906048" y="4977478"/>
            <a:ext cx="61994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хочете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разі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невиконання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умови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ваша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виконала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кілька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команд,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об'єднати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 </a:t>
            </a:r>
            <a:r>
              <a:rPr lang="ru-RU" sz="2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команд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AF18A-D89E-4788-AA5F-132C93B9ABDB}"/>
              </a:ext>
            </a:extLst>
          </p:cNvPr>
          <p:cNvSpPr txBox="1"/>
          <p:nvPr/>
        </p:nvSpPr>
        <p:spPr>
          <a:xfrm>
            <a:off x="183822" y="1517579"/>
            <a:ext cx="4670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об'єднати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блок,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потрібно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загорнути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 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фігурні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дужки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Отак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виглядає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загальному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випадку</a:t>
            </a:r>
            <a:r>
              <a:rPr lang="ru-RU" sz="2400" b="0" i="0" dirty="0">
                <a:solidFill>
                  <a:srgbClr val="172B5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42F3807-66C2-4835-BD73-7DA81ECD2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4" y="3066435"/>
            <a:ext cx="2324100" cy="271462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58EA0B-8E70-41CA-B269-FF18F2FFEDE2}"/>
              </a:ext>
            </a:extLst>
          </p:cNvPr>
          <p:cNvSpPr/>
          <p:nvPr/>
        </p:nvSpPr>
        <p:spPr>
          <a:xfrm>
            <a:off x="5820589" y="5141647"/>
            <a:ext cx="45719" cy="15931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E45E65B-16B7-4D4A-9E79-FE6876E5911D}"/>
              </a:ext>
            </a:extLst>
          </p:cNvPr>
          <p:cNvSpPr/>
          <p:nvPr/>
        </p:nvSpPr>
        <p:spPr>
          <a:xfrm>
            <a:off x="4765338" y="1622421"/>
            <a:ext cx="45719" cy="14648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BA52B3E8-5476-4285-9328-4F8D5C29F3B6}"/>
              </a:ext>
            </a:extLst>
          </p:cNvPr>
          <p:cNvGrpSpPr/>
          <p:nvPr/>
        </p:nvGrpSpPr>
        <p:grpSpPr>
          <a:xfrm>
            <a:off x="5118780" y="1074480"/>
            <a:ext cx="6768474" cy="3789688"/>
            <a:chOff x="1698328" y="1830736"/>
            <a:chExt cx="8877913" cy="3172072"/>
          </a:xfrm>
        </p:grpSpPr>
        <p:sp>
          <p:nvSpPr>
            <p:cNvPr id="33" name="Shape 1">
              <a:extLst>
                <a:ext uri="{FF2B5EF4-FFF2-40B4-BE49-F238E27FC236}">
                  <a16:creationId xmlns:a16="http://schemas.microsoft.com/office/drawing/2014/main" id="{2929345A-7EBF-420B-83E2-EAEA95F4A18C}"/>
                </a:ext>
              </a:extLst>
            </p:cNvPr>
            <p:cNvSpPr/>
            <p:nvPr/>
          </p:nvSpPr>
          <p:spPr>
            <a:xfrm>
              <a:off x="1698328" y="1855093"/>
              <a:ext cx="8795345" cy="3147715"/>
            </a:xfrm>
            <a:prstGeom prst="roundRect">
              <a:avLst>
                <a:gd name="adj" fmla="val 2647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41A4DE3F-9A7B-4987-AE4E-A2E614E597F3}"/>
                </a:ext>
              </a:extLst>
            </p:cNvPr>
            <p:cNvSpPr/>
            <p:nvPr/>
          </p:nvSpPr>
          <p:spPr>
            <a:xfrm>
              <a:off x="1723057" y="1830736"/>
              <a:ext cx="8782646" cy="53091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35" name="Text 3">
              <a:extLst>
                <a:ext uri="{FF2B5EF4-FFF2-40B4-BE49-F238E27FC236}">
                  <a16:creationId xmlns:a16="http://schemas.microsoft.com/office/drawing/2014/main" id="{DEA27C6A-EBA2-48EC-ACD1-87D3296FF8A8}"/>
                </a:ext>
              </a:extLst>
            </p:cNvPr>
            <p:cNvSpPr/>
            <p:nvPr/>
          </p:nvSpPr>
          <p:spPr>
            <a:xfrm>
              <a:off x="1889819" y="1978819"/>
              <a:ext cx="4017863" cy="29616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2332"/>
                </a:lnSpc>
              </a:pPr>
              <a:r>
                <a:rPr lang="en-US" sz="1458" b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Код</a:t>
              </a:r>
              <a:endParaRPr lang="en-US" sz="1458" dirty="0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50B5FA41-3684-45BE-8C84-A060FD65BC17}"/>
                </a:ext>
              </a:extLst>
            </p:cNvPr>
            <p:cNvSpPr/>
            <p:nvPr/>
          </p:nvSpPr>
          <p:spPr>
            <a:xfrm>
              <a:off x="6284318" y="1978819"/>
              <a:ext cx="4017863" cy="29616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2332"/>
                </a:lnSpc>
              </a:pPr>
              <a:r>
                <a:rPr lang="en-US" sz="1458" b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Пояснення</a:t>
              </a:r>
              <a:endParaRPr lang="en-US" sz="1458" dirty="0"/>
            </a:p>
          </p:txBody>
        </p:sp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44AC5AE4-F523-4CA0-B893-95128FFA1B14}"/>
                </a:ext>
              </a:extLst>
            </p:cNvPr>
            <p:cNvSpPr/>
            <p:nvPr/>
          </p:nvSpPr>
          <p:spPr>
            <a:xfrm>
              <a:off x="1793596" y="2361655"/>
              <a:ext cx="8782645" cy="2604095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uk-UA" dirty="0"/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6FB805CB-8578-4540-8A8E-41697798AEDC}"/>
                </a:ext>
              </a:extLst>
            </p:cNvPr>
            <p:cNvSpPr/>
            <p:nvPr/>
          </p:nvSpPr>
          <p:spPr>
            <a:xfrm>
              <a:off x="1889819" y="2509739"/>
              <a:ext cx="4017863" cy="23693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int 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age = </a:t>
              </a:r>
              <a:r>
                <a:rPr lang="en-US" sz="1600" dirty="0">
                  <a:solidFill>
                    <a:srgbClr val="6897BB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17</a:t>
              </a:r>
              <a: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;</a:t>
              </a:r>
              <a:b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if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(age &lt; </a:t>
              </a:r>
              <a:r>
                <a:rPr lang="en-US" sz="1600" dirty="0">
                  <a:solidFill>
                    <a:srgbClr val="6897BB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18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){</a:t>
              </a:r>
              <a:b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  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System.</a:t>
              </a:r>
              <a:r>
                <a:rPr lang="en-US" sz="1600" i="1" dirty="0" err="1">
                  <a:solidFill>
                    <a:srgbClr val="9876AA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out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.println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</a:t>
              </a:r>
              <a:r>
                <a:rPr lang="en-US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"</a:t>
              </a:r>
              <a:r>
                <a:rPr lang="uk-UA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Ти ще дитина!"</a:t>
              </a:r>
              <a:r>
                <a:rPr lang="uk-UA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</a:t>
              </a:r>
              <a: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;</a:t>
              </a:r>
              <a:b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  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System.</a:t>
              </a:r>
              <a:r>
                <a:rPr lang="en-US" sz="1600" i="1" dirty="0" err="1">
                  <a:solidFill>
                    <a:srgbClr val="9876AA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out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.println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</a:t>
              </a:r>
              <a:r>
                <a:rPr lang="en-US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"</a:t>
              </a:r>
              <a:r>
                <a:rPr lang="uk-UA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Не сперечайся з дорослими!"</a:t>
              </a:r>
              <a:r>
                <a:rPr lang="uk-UA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</a:t>
              </a:r>
              <a: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;</a:t>
              </a:r>
              <a:b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uk-UA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}</a:t>
              </a:r>
              <a:br>
                <a:rPr lang="uk-UA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else</a:t>
              </a:r>
              <a:b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  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System.</a:t>
              </a:r>
              <a:r>
                <a:rPr lang="en-US" sz="1600" i="1" dirty="0" err="1">
                  <a:solidFill>
                    <a:srgbClr val="9876AA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out</a:t>
              </a:r>
              <a:r>
                <a:rPr lang="en-US" sz="1600" dirty="0" err="1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.println</a:t>
              </a:r>
              <a:r>
                <a:rPr lang="en-US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</a:t>
              </a:r>
              <a:r>
                <a:rPr lang="en-US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"</a:t>
              </a:r>
              <a:r>
                <a:rPr lang="uk-UA" sz="1600" dirty="0">
                  <a:solidFill>
                    <a:srgbClr val="6A8759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Ти вже дорослий!"</a:t>
              </a:r>
              <a:r>
                <a:rPr lang="uk-UA" sz="1600" dirty="0">
                  <a:solidFill>
                    <a:srgbClr val="A9B7C6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</a:t>
              </a:r>
              <a:r>
                <a:rPr lang="uk-UA" sz="1600" dirty="0">
                  <a:solidFill>
                    <a:srgbClr val="CC7832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;</a:t>
              </a:r>
              <a:endParaRPr lang="uk-UA" sz="1600" dirty="0">
                <a:solidFill>
                  <a:srgbClr val="A9B7C6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B102AC64-6169-49AE-A49A-A09C2E5A0EB4}"/>
                </a:ext>
              </a:extLst>
            </p:cNvPr>
            <p:cNvSpPr/>
            <p:nvPr/>
          </p:nvSpPr>
          <p:spPr>
            <a:xfrm>
              <a:off x="6284318" y="2509739"/>
              <a:ext cx="4017863" cy="29616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2332"/>
                </a:lnSpc>
              </a:pPr>
              <a:r>
                <a:rPr lang="en-US" sz="1458" i="1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На екран буде виведено напис:</a:t>
              </a:r>
              <a:endParaRPr lang="en-US" sz="1458" dirty="0"/>
            </a:p>
          </p:txBody>
        </p:sp>
        <p:sp>
          <p:nvSpPr>
            <p:cNvPr id="40" name="Text 8">
              <a:extLst>
                <a:ext uri="{FF2B5EF4-FFF2-40B4-BE49-F238E27FC236}">
                  <a16:creationId xmlns:a16="http://schemas.microsoft.com/office/drawing/2014/main" id="{24467C9E-1DF0-44F1-A2AA-D2D33D77D192}"/>
                </a:ext>
              </a:extLst>
            </p:cNvPr>
            <p:cNvSpPr/>
            <p:nvPr/>
          </p:nvSpPr>
          <p:spPr>
            <a:xfrm>
              <a:off x="6284318" y="2916932"/>
              <a:ext cx="4017863" cy="29616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2332"/>
                </a:lnSpc>
              </a:pPr>
              <a:r>
                <a:rPr lang="en-US" sz="1458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Ти ще дитина!</a:t>
              </a:r>
              <a:endParaRPr lang="en-US" sz="1458" dirty="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FAA3B13D-F3F3-4377-AF52-9321EB5B8EB5}"/>
                </a:ext>
              </a:extLst>
            </p:cNvPr>
            <p:cNvSpPr/>
            <p:nvPr/>
          </p:nvSpPr>
          <p:spPr>
            <a:xfrm>
              <a:off x="6284318" y="3324126"/>
              <a:ext cx="4017863" cy="29616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2332"/>
                </a:lnSpc>
              </a:pPr>
              <a:r>
                <a:rPr lang="en-US" sz="1458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Не сперечайся з дорослими</a:t>
              </a:r>
              <a:endParaRPr lang="en-US" sz="1458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1D2F3FF-A204-4722-93C1-77BC01B4D978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Умовні оператори</a:t>
            </a:r>
          </a:p>
        </p:txBody>
      </p:sp>
    </p:spTree>
    <p:extLst>
      <p:ext uri="{BB962C8B-B14F-4D97-AF65-F5344CB8AC3E}">
        <p14:creationId xmlns:p14="http://schemas.microsoft.com/office/powerpoint/2010/main" val="307651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1FD7B22-E36B-4C66-A3E6-B4716B849801}"/>
              </a:ext>
            </a:extLst>
          </p:cNvPr>
          <p:cNvSpPr txBox="1"/>
          <p:nvPr/>
        </p:nvSpPr>
        <p:spPr>
          <a:xfrm>
            <a:off x="6312578" y="1597402"/>
            <a:ext cx="547709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звертаються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потрібно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вибрати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певний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 коду з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багатьох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оператор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застосовувати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розгалуженні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коду в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напрямках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однієї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змінної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98EDE17-7327-468C-B7A7-856A8BBC0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30" y="2239876"/>
            <a:ext cx="4920792" cy="31700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(вираження) {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x: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фрагмент коду 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y: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фрагмент коду 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фрагмент коду 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uk-UA" altLang="uk-UA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26B0B1-AAF1-4199-B942-256026DFD8B9}"/>
              </a:ext>
            </a:extLst>
          </p:cNvPr>
          <p:cNvSpPr/>
          <p:nvPr/>
        </p:nvSpPr>
        <p:spPr>
          <a:xfrm flipH="1">
            <a:off x="6175419" y="1703011"/>
            <a:ext cx="58720" cy="38304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417950-3A6A-4290-9FBB-D8B1A85791BB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Switch-case</a:t>
            </a:r>
            <a:endParaRPr lang="uk-UA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00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E036ABD4-422D-443B-A0BE-FB5837854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86" y="1292292"/>
            <a:ext cx="5343428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uk-UA" dirty="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“”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"Маленький"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"Середній"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"Великий"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"Не відомо"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solidFill>
                  <a:schemeClr val="accent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1A9C53-3CC4-4E2A-9C66-37A92CFF9421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Switch-case</a:t>
            </a:r>
            <a:endParaRPr lang="uk-UA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1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993AF7-8730-44B6-9A3F-45500C2989E3}"/>
              </a:ext>
            </a:extLst>
          </p:cNvPr>
          <p:cNvSpPr txBox="1"/>
          <p:nvPr/>
        </p:nvSpPr>
        <p:spPr>
          <a:xfrm>
            <a:off x="435990" y="1884198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 = (умова) ?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значення_якщо_умова_правдива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значення_якщо_умова_хибна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uk-UA" dirty="0"/>
          </a:p>
          <a:p>
            <a:r>
              <a:rPr lang="uk-UA" dirty="0"/>
              <a:t>Ось приклад використання </a:t>
            </a:r>
            <a:r>
              <a:rPr lang="uk-UA" dirty="0" err="1"/>
              <a:t>тернарної</a:t>
            </a:r>
            <a:r>
              <a:rPr lang="uk-UA" dirty="0"/>
              <a:t> операції:</a:t>
            </a:r>
          </a:p>
          <a:p>
            <a:endParaRPr lang="uk-UA" dirty="0"/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число1 = 10;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число2 = 20;</a:t>
            </a: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більше_число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(число1 &gt; число2) ? число1 : число2;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result = true ? 1 : 0;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("Більше число: " +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більше_число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8E990-3399-43FE-86B5-CA39583DA34A}"/>
              </a:ext>
            </a:extLst>
          </p:cNvPr>
          <p:cNvSpPr txBox="1"/>
          <p:nvPr/>
        </p:nvSpPr>
        <p:spPr>
          <a:xfrm>
            <a:off x="7248795" y="3429000"/>
            <a:ext cx="47699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цьому прикладі `</a:t>
            </a:r>
            <a:r>
              <a:rPr lang="uk-UA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більше_число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отримує значення `число1`, якщо `число1` більше `число2`, інакше воно отримує значення `число2`. Таким чином, відображається більше з двох чисел.</a:t>
            </a:r>
          </a:p>
          <a:p>
            <a:endParaRPr lang="uk-UA" dirty="0"/>
          </a:p>
        </p:txBody>
      </p:sp>
      <p:sp>
        <p:nvSpPr>
          <p:cNvPr id="6" name="Shape4326">
            <a:extLst>
              <a:ext uri="{FF2B5EF4-FFF2-40B4-BE49-F238E27FC236}">
                <a16:creationId xmlns:a16="http://schemas.microsoft.com/office/drawing/2014/main" id="{5A92C31C-0A4F-4A69-A72F-6F279E3E06E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203076" y="3431842"/>
            <a:ext cx="45719" cy="23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7130A-1FEF-4991-BC3B-E1B6DBEEFFA6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Тернарна</a:t>
            </a:r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операція</a:t>
            </a:r>
          </a:p>
        </p:txBody>
      </p:sp>
    </p:spTree>
    <p:extLst>
      <p:ext uri="{BB962C8B-B14F-4D97-AF65-F5344CB8AC3E}">
        <p14:creationId xmlns:p14="http://schemas.microsoft.com/office/powerpoint/2010/main" val="312950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A87130A-1FEF-4991-BC3B-E1B6DBEEFFA6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Приклад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67CBA-22CB-47A2-BB12-52585148ACED}"/>
              </a:ext>
            </a:extLst>
          </p:cNvPr>
          <p:cNvSpPr txBox="1"/>
          <p:nvPr/>
        </p:nvSpPr>
        <p:spPr>
          <a:xfrm>
            <a:off x="447675" y="123640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Напишіть</a:t>
            </a:r>
            <a:r>
              <a:rPr lang="ru-RU" dirty="0"/>
              <a:t> </a:t>
            </a:r>
            <a:r>
              <a:rPr lang="ru-RU" dirty="0" err="1"/>
              <a:t>програму</a:t>
            </a:r>
            <a:r>
              <a:rPr lang="ru-RU" dirty="0"/>
              <a:t>, яка </a:t>
            </a:r>
            <a:r>
              <a:rPr lang="ru-RU" dirty="0" err="1"/>
              <a:t>запитує</a:t>
            </a:r>
            <a:r>
              <a:rPr lang="ru-RU" dirty="0"/>
              <a:t> </a:t>
            </a:r>
            <a:r>
              <a:rPr lang="ru-RU" dirty="0" err="1"/>
              <a:t>вік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 та </a:t>
            </a:r>
            <a:r>
              <a:rPr lang="ru-RU" dirty="0" err="1"/>
              <a:t>виводить</a:t>
            </a:r>
            <a:r>
              <a:rPr lang="ru-RU" dirty="0"/>
              <a:t> </a:t>
            </a:r>
            <a:r>
              <a:rPr lang="ru-RU" dirty="0" err="1"/>
              <a:t>повідомлення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вік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 21 — "Ви можете </a:t>
            </a:r>
            <a:r>
              <a:rPr lang="ru-RU" dirty="0" err="1"/>
              <a:t>пити</a:t>
            </a:r>
            <a:r>
              <a:rPr lang="ru-RU" dirty="0"/>
              <a:t> </a:t>
            </a:r>
            <a:r>
              <a:rPr lang="ru-RU" dirty="0" err="1"/>
              <a:t>енергетик</a:t>
            </a:r>
            <a:r>
              <a:rPr lang="ru-RU" dirty="0"/>
              <a:t>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Інакше</a:t>
            </a:r>
            <a:r>
              <a:rPr lang="ru-RU" dirty="0"/>
              <a:t> — "Ви </a:t>
            </a:r>
            <a:r>
              <a:rPr lang="ru-RU" dirty="0" err="1"/>
              <a:t>маєте</a:t>
            </a:r>
            <a:r>
              <a:rPr lang="ru-RU" dirty="0"/>
              <a:t> право </a:t>
            </a:r>
            <a:r>
              <a:rPr lang="ru-RU" dirty="0" err="1"/>
              <a:t>голосувати</a:t>
            </a:r>
            <a:r>
              <a:rPr lang="ru-RU" dirty="0"/>
              <a:t>".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578DE-38A7-4A9E-9541-872BDED469F9}"/>
              </a:ext>
            </a:extLst>
          </p:cNvPr>
          <p:cNvSpPr txBox="1"/>
          <p:nvPr/>
        </p:nvSpPr>
        <p:spPr>
          <a:xfrm>
            <a:off x="447675" y="304425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/>
              <a:t>Console.Write</a:t>
            </a:r>
            <a:r>
              <a:rPr lang="uk-UA" dirty="0"/>
              <a:t>("Введіть свій вік: ");</a:t>
            </a:r>
          </a:p>
          <a:p>
            <a:r>
              <a:rPr lang="uk-UA" dirty="0" err="1"/>
              <a:t>int</a:t>
            </a:r>
            <a:r>
              <a:rPr lang="uk-UA" dirty="0"/>
              <a:t> </a:t>
            </a:r>
            <a:r>
              <a:rPr lang="uk-UA" dirty="0" err="1"/>
              <a:t>age</a:t>
            </a:r>
            <a:r>
              <a:rPr lang="uk-UA" dirty="0"/>
              <a:t> = </a:t>
            </a:r>
            <a:r>
              <a:rPr lang="uk-UA" dirty="0" err="1"/>
              <a:t>int.Parse</a:t>
            </a:r>
            <a:r>
              <a:rPr lang="uk-UA" dirty="0"/>
              <a:t>(</a:t>
            </a:r>
            <a:r>
              <a:rPr lang="uk-UA" dirty="0" err="1"/>
              <a:t>Console.ReadLine</a:t>
            </a:r>
            <a:r>
              <a:rPr lang="uk-UA" dirty="0"/>
              <a:t>());</a:t>
            </a:r>
          </a:p>
          <a:p>
            <a:endParaRPr lang="uk-UA" dirty="0"/>
          </a:p>
          <a:p>
            <a:r>
              <a:rPr lang="uk-UA" dirty="0" err="1"/>
              <a:t>if</a:t>
            </a:r>
            <a:r>
              <a:rPr lang="uk-UA" dirty="0"/>
              <a:t> (</a:t>
            </a:r>
            <a:r>
              <a:rPr lang="uk-UA" dirty="0" err="1"/>
              <a:t>age</a:t>
            </a:r>
            <a:r>
              <a:rPr lang="uk-UA" dirty="0"/>
              <a:t> &lt; 21)</a:t>
            </a:r>
          </a:p>
          <a:p>
            <a:r>
              <a:rPr lang="uk-UA" dirty="0"/>
              <a:t>{</a:t>
            </a:r>
          </a:p>
          <a:p>
            <a:r>
              <a:rPr lang="uk-UA" dirty="0"/>
              <a:t>    </a:t>
            </a:r>
            <a:r>
              <a:rPr lang="uk-UA" dirty="0" err="1"/>
              <a:t>Console.WriteLine</a:t>
            </a:r>
            <a:r>
              <a:rPr lang="uk-UA" dirty="0"/>
              <a:t>("</a:t>
            </a:r>
            <a:r>
              <a:rPr lang="ru-RU" dirty="0"/>
              <a:t> Ви можете </a:t>
            </a:r>
            <a:r>
              <a:rPr lang="ru-RU" dirty="0" err="1"/>
              <a:t>пити</a:t>
            </a:r>
            <a:r>
              <a:rPr lang="ru-RU" dirty="0"/>
              <a:t> </a:t>
            </a:r>
            <a:r>
              <a:rPr lang="ru-RU" dirty="0" err="1"/>
              <a:t>енергетик</a:t>
            </a:r>
            <a:r>
              <a:rPr lang="ru-RU" dirty="0"/>
              <a:t> </a:t>
            </a:r>
            <a:r>
              <a:rPr lang="uk-UA" dirty="0"/>
              <a:t>");</a:t>
            </a:r>
          </a:p>
          <a:p>
            <a:r>
              <a:rPr lang="uk-UA" dirty="0"/>
              <a:t>}</a:t>
            </a:r>
          </a:p>
          <a:p>
            <a:r>
              <a:rPr lang="uk-UA" dirty="0" err="1"/>
              <a:t>else</a:t>
            </a:r>
            <a:endParaRPr lang="uk-UA" dirty="0"/>
          </a:p>
          <a:p>
            <a:r>
              <a:rPr lang="uk-UA" dirty="0"/>
              <a:t>{</a:t>
            </a:r>
          </a:p>
          <a:p>
            <a:r>
              <a:rPr lang="uk-UA" dirty="0"/>
              <a:t>    </a:t>
            </a:r>
            <a:r>
              <a:rPr lang="uk-UA" dirty="0" err="1"/>
              <a:t>Console.WriteLine</a:t>
            </a:r>
            <a:r>
              <a:rPr lang="uk-UA" dirty="0"/>
              <a:t>("Ви маєте право голосувати");</a:t>
            </a:r>
          </a:p>
          <a:p>
            <a:r>
              <a:rPr lang="uk-U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7532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A87130A-1FEF-4991-BC3B-E1B6DBEEFFA6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Приклад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13406-B855-442D-8000-689F73E02A47}"/>
              </a:ext>
            </a:extLst>
          </p:cNvPr>
          <p:cNvSpPr txBox="1"/>
          <p:nvPr/>
        </p:nvSpPr>
        <p:spPr>
          <a:xfrm>
            <a:off x="5259798" y="305039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Console.Write</a:t>
            </a:r>
            <a:r>
              <a:rPr lang="en-US" dirty="0"/>
              <a:t>("</a:t>
            </a:r>
            <a:r>
              <a:rPr lang="uk-UA" dirty="0"/>
              <a:t>Введіть номер служби доставки (1–4): ");</a:t>
            </a:r>
          </a:p>
          <a:p>
            <a:r>
              <a:rPr lang="en-US" dirty="0"/>
              <a:t>int delivery = </a:t>
            </a:r>
            <a:r>
              <a:rPr lang="en-US" dirty="0" err="1"/>
              <a:t>int.Parse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dirty="0"/>
              <a:t>switch (delivery)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case 1: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uk-UA" dirty="0"/>
              <a:t>Нова Пошта");</a:t>
            </a:r>
          </a:p>
          <a:p>
            <a:r>
              <a:rPr lang="uk-UA" dirty="0"/>
              <a:t>        </a:t>
            </a:r>
            <a:r>
              <a:rPr lang="en-US" dirty="0"/>
              <a:t>break;</a:t>
            </a:r>
          </a:p>
          <a:p>
            <a:r>
              <a:rPr lang="en-US" dirty="0"/>
              <a:t>    case 2: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uk-UA" dirty="0"/>
              <a:t>Укрпошта");</a:t>
            </a:r>
          </a:p>
          <a:p>
            <a:r>
              <a:rPr lang="uk-UA" dirty="0"/>
              <a:t>        </a:t>
            </a:r>
            <a:r>
              <a:rPr lang="en-US" dirty="0"/>
              <a:t>break;</a:t>
            </a:r>
          </a:p>
          <a:p>
            <a:r>
              <a:rPr lang="en-US" dirty="0"/>
              <a:t>    case 3: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en-US" dirty="0" err="1"/>
              <a:t>Meest</a:t>
            </a:r>
            <a:r>
              <a:rPr lang="en-US" dirty="0"/>
              <a:t>");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case 4: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("Justin");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default: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uk-UA" dirty="0"/>
              <a:t>Невідома компанія доставки");</a:t>
            </a:r>
          </a:p>
          <a:p>
            <a:r>
              <a:rPr lang="uk-UA" dirty="0"/>
              <a:t>        </a:t>
            </a:r>
            <a:r>
              <a:rPr lang="en-US" dirty="0"/>
              <a:t>break;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4DB9FB-36AE-4340-8593-32E95E03A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6" y="1074480"/>
            <a:ext cx="40902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 вводить номер служби доставки (від 1 до 4). Програма повинна вивести назву відповідної компанії: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— "Нова Пошта"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— "Укрпошта"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— "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Meest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— "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Justin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будь-якого іншого значення — "Невідома компанія доставки"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038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A87130A-1FEF-4991-BC3B-E1B6DBEEFFA6}"/>
              </a:ext>
            </a:extLst>
          </p:cNvPr>
          <p:cNvSpPr txBox="1"/>
          <p:nvPr/>
        </p:nvSpPr>
        <p:spPr>
          <a:xfrm>
            <a:off x="0" y="30503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Приклад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8AC6E-D634-4C9B-96DC-D376A9FBA1B7}"/>
              </a:ext>
            </a:extLst>
          </p:cNvPr>
          <p:cNvSpPr txBox="1"/>
          <p:nvPr/>
        </p:nvSpPr>
        <p:spPr>
          <a:xfrm>
            <a:off x="294968" y="12089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Запитай у </a:t>
            </a:r>
            <a:r>
              <a:rPr lang="ru-RU" dirty="0" err="1"/>
              <a:t>користувача</a:t>
            </a:r>
            <a:r>
              <a:rPr lang="ru-RU" dirty="0"/>
              <a:t> температуру.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дорівнює</a:t>
            </a:r>
            <a:r>
              <a:rPr lang="ru-RU" dirty="0"/>
              <a:t> 25 </a:t>
            </a:r>
            <a:r>
              <a:rPr lang="ru-RU" dirty="0" err="1"/>
              <a:t>градусів</a:t>
            </a:r>
            <a:r>
              <a:rPr lang="ru-RU" dirty="0"/>
              <a:t> — </a:t>
            </a:r>
            <a:r>
              <a:rPr lang="ru-RU" dirty="0" err="1"/>
              <a:t>виведи</a:t>
            </a:r>
            <a:r>
              <a:rPr lang="ru-RU" dirty="0"/>
              <a:t> "Тепло", </a:t>
            </a:r>
            <a:r>
              <a:rPr lang="ru-RU" dirty="0" err="1"/>
              <a:t>інакше</a:t>
            </a:r>
            <a:r>
              <a:rPr lang="ru-RU" dirty="0"/>
              <a:t> — "</a:t>
            </a:r>
            <a:r>
              <a:rPr lang="ru-RU" dirty="0" err="1"/>
              <a:t>Прохолодно</a:t>
            </a:r>
            <a:r>
              <a:rPr lang="ru-RU" dirty="0"/>
              <a:t>".</a:t>
            </a:r>
            <a:br>
              <a:rPr lang="ru-RU" dirty="0"/>
            </a:br>
            <a:r>
              <a:rPr lang="ru-RU" dirty="0" err="1"/>
              <a:t>Використай</a:t>
            </a:r>
            <a:r>
              <a:rPr lang="ru-RU" dirty="0"/>
              <a:t> </a:t>
            </a:r>
            <a:r>
              <a:rPr lang="ru-RU" dirty="0" err="1"/>
              <a:t>тернарну</a:t>
            </a:r>
            <a:r>
              <a:rPr lang="ru-RU" dirty="0"/>
              <a:t> </a:t>
            </a:r>
            <a:r>
              <a:rPr lang="ru-RU" dirty="0" err="1"/>
              <a:t>операцію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3F77A-8154-4162-B218-6DADB3C078F7}"/>
              </a:ext>
            </a:extLst>
          </p:cNvPr>
          <p:cNvSpPr txBox="1"/>
          <p:nvPr/>
        </p:nvSpPr>
        <p:spPr>
          <a:xfrm>
            <a:off x="294968" y="36313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/>
              <a:t>Console.Write</a:t>
            </a:r>
            <a:r>
              <a:rPr lang="uk-UA" dirty="0"/>
              <a:t>("Введіть температуру: ");</a:t>
            </a:r>
          </a:p>
          <a:p>
            <a:r>
              <a:rPr lang="uk-UA" dirty="0" err="1"/>
              <a:t>int</a:t>
            </a:r>
            <a:r>
              <a:rPr lang="uk-UA" dirty="0"/>
              <a:t> </a:t>
            </a:r>
            <a:r>
              <a:rPr lang="uk-UA" dirty="0" err="1"/>
              <a:t>temp</a:t>
            </a:r>
            <a:r>
              <a:rPr lang="uk-UA" dirty="0"/>
              <a:t> = </a:t>
            </a:r>
            <a:r>
              <a:rPr lang="uk-UA" dirty="0" err="1"/>
              <a:t>int.Parse</a:t>
            </a:r>
            <a:r>
              <a:rPr lang="uk-UA" dirty="0"/>
              <a:t>(</a:t>
            </a:r>
            <a:r>
              <a:rPr lang="uk-UA" dirty="0" err="1"/>
              <a:t>Console.ReadLine</a:t>
            </a:r>
            <a:r>
              <a:rPr lang="uk-UA" dirty="0"/>
              <a:t>());</a:t>
            </a:r>
          </a:p>
          <a:p>
            <a:endParaRPr lang="uk-UA" dirty="0"/>
          </a:p>
          <a:p>
            <a:r>
              <a:rPr lang="uk-UA" dirty="0" err="1"/>
              <a:t>string</a:t>
            </a:r>
            <a:r>
              <a:rPr lang="uk-UA" dirty="0"/>
              <a:t> </a:t>
            </a:r>
            <a:r>
              <a:rPr lang="uk-UA" dirty="0" err="1"/>
              <a:t>result</a:t>
            </a:r>
            <a:r>
              <a:rPr lang="uk-UA" dirty="0"/>
              <a:t> = (</a:t>
            </a:r>
            <a:r>
              <a:rPr lang="uk-UA" dirty="0" err="1"/>
              <a:t>temp</a:t>
            </a:r>
            <a:r>
              <a:rPr lang="uk-UA" dirty="0"/>
              <a:t> &gt;= 25) ? "Тепло" : "Прохолодно";</a:t>
            </a:r>
          </a:p>
          <a:p>
            <a:r>
              <a:rPr lang="uk-UA" dirty="0" err="1"/>
              <a:t>Console.WriteLine</a:t>
            </a:r>
            <a:r>
              <a:rPr lang="uk-UA" dirty="0"/>
              <a:t>(</a:t>
            </a:r>
            <a:r>
              <a:rPr lang="uk-UA" dirty="0" err="1"/>
              <a:t>result</a:t>
            </a:r>
            <a:r>
              <a:rPr lang="uk-UA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29141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1022</Words>
  <Application>Microsoft Office PowerPoint</Application>
  <PresentationFormat>Широкий екран</PresentationFormat>
  <Paragraphs>116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21" baseType="lpstr">
      <vt:lpstr>Arial</vt:lpstr>
      <vt:lpstr>Bahnschrift Light</vt:lpstr>
      <vt:lpstr>Bahnschrift Light SemiCondensed</vt:lpstr>
      <vt:lpstr>Calibri</vt:lpstr>
      <vt:lpstr>Calibri Light</vt:lpstr>
      <vt:lpstr>Comfortaa</vt:lpstr>
      <vt:lpstr>Courier New</vt:lpstr>
      <vt:lpstr>Lato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73</cp:revision>
  <dcterms:created xsi:type="dcterms:W3CDTF">2023-10-21T18:35:06Z</dcterms:created>
  <dcterms:modified xsi:type="dcterms:W3CDTF">2025-09-04T17:47:30Z</dcterms:modified>
</cp:coreProperties>
</file>