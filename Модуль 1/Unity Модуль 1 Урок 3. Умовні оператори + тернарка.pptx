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261" r:id="rId3"/>
    <p:sldId id="705" r:id="rId4"/>
    <p:sldId id="262" r:id="rId5"/>
    <p:sldId id="263" r:id="rId6"/>
    <p:sldId id="265" r:id="rId7"/>
    <p:sldId id="267" r:id="rId8"/>
    <p:sldId id="914" r:id="rId9"/>
    <p:sldId id="915" r:id="rId10"/>
    <p:sldId id="916" r:id="rId11"/>
    <p:sldId id="917" r:id="rId1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Шейко Ростислав Олександрович" initials="ШРО" lastIdx="1" clrIdx="0">
    <p:extLst>
      <p:ext uri="{19B8F6BF-5375-455C-9EA6-DF929625EA0E}">
        <p15:presenceInfo xmlns:p15="http://schemas.microsoft.com/office/powerpoint/2012/main" userId="Шейко Ростислав Олександрович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422" autoAdjust="0"/>
    <p:restoredTop sz="94660"/>
  </p:normalViewPr>
  <p:slideViewPr>
    <p:cSldViewPr snapToGrid="0">
      <p:cViewPr varScale="1">
        <p:scale>
          <a:sx n="80" d="100"/>
          <a:sy n="80" d="100"/>
        </p:scale>
        <p:origin x="16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418C3B-5615-4532-8AB6-D80322BC11B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C2AB2-E042-4ECB-9FA3-4A42197EC053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05898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130D56-32A8-405F-A7CD-81769EABB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FA76A6-34FF-4383-A626-D608041B5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D394F4-C9AF-4F4E-B60A-820EC564E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CA19BC-F400-47A9-982B-8F6422F83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43A9B-26A3-47DF-8E1A-D7AF2D498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30568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69C89-E7E3-4566-A4F6-11A4A670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3CA540-4E52-4741-942F-636E07F46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E26BB8-4CA1-4426-8030-958D3D13B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DE4A9B-934E-49EA-9574-3F3E5934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F8F06-0286-4ED1-9A80-743818DE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78105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6E5450-C780-4B6C-B3A1-7C18AC6C2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D74565-3B36-4ACD-BC33-81F82FB5E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4585B7-7B66-4B80-9E70-79733497F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9B7463E-3807-47EE-AFE9-EA82DB4A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D4412F-DD94-48F1-B4F8-77EAAC4F0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45417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D79418-08FB-4D23-B95F-CD489542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6D3F3A-AE35-49D6-93A6-B6C5D22C8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A3B214-FA0D-4173-A401-CABEA4AA9C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2C32439-2C26-4CA7-95A9-6EFC60AC4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11B2A11-D883-4B74-96E8-31E1CE316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3F548C-BCFE-48AA-969E-2A6B8424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61672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ED7AAE-3CC2-48DA-B3C0-151D18BE4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01D466-D044-46B8-81A5-F4D9BCCF0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8688694-B3C4-4003-ADBA-4CEC6470CD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03BCA08-6C65-458F-A8A1-4AEAE2E1B9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607A9D-0149-4DB6-B925-62DE4BFAF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97BBBB6-4A16-4D86-9991-0455C8525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5A0EB2F-22C2-4162-9977-73ACE1A25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705B426-CBE2-41A9-A8C4-B897E6782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16002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93497E-2365-4FF8-A6AE-A3F8BBDD0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BC06206-3F7A-4165-920D-C1BB46D79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62BAC23-7E6A-4740-B350-17E9E8886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BAD6D93-A21A-498A-804A-173653DCA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39738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83AAE57-84CA-4DD0-9EDB-AF0C26315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F8AE4A0-6A46-4FD6-9B0C-98D6F8B76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F99CE0-23EA-4D81-84E1-86F656A5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13233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C58B3E-981F-48E5-9A62-8F36D7F81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932EBB-2D10-49C9-9BD9-7CC4142D5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CACDC5-01B7-4694-BAFD-0ADC902EB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447B97B-288C-4722-8E35-FD514D9AD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980E19E-E7B7-46E0-9B75-5035A8922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A45BC1F-7E6B-4F8F-B3F7-422DC7453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88892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A44E22-99C5-44E5-896C-99A69D8A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63E3F8B-2BF5-43A8-AABF-ACB5852818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18A75-ED12-4F3F-9341-6E8F0A0E6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7F3898-F354-42FA-A883-CAE471B72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779C34-6A14-4DC7-A0D5-4C996C6D0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53D945-DE6C-4596-8CB4-48FC84234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0926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3540B5-0964-46A8-9FC2-3A36A73E5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0D0D701-A2E9-4E4E-8079-B679226776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7124DE-FFB5-44CB-B3A6-C41AE128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8D6FC-EF8A-4A56-AD4C-5F2B6975C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BF6C59-ED16-4D27-8EA5-3893BC0A0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0330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50EBAA2-6B6D-4CD7-BB1B-C1789F047E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76BC23-FD2D-430F-B7DA-57E8C7E8D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A26002-7D11-4843-87DF-362F41C6B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00060E-6C88-43AA-B306-FF5BFDF3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74BE6E-390A-4829-8274-2C49C393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357262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9243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9A72B2-A4BC-420F-B784-34F24E17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AE69FD-5B8F-4246-907D-A544887FF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F04919-568A-40D4-91C7-4E08D69F6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1E9BA-8501-4193-BA88-839E340A9D5A}" type="datetimeFigureOut">
              <a:rPr lang="uk-UA" smtClean="0"/>
              <a:t>27.07.2025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4942F1-AA25-40B2-A33C-A99D13D35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C16C9A-558E-4420-90BC-EB362D969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370FB-27A2-46E2-A309-7F3F3F72CF40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36919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image" Target="../media/image2.sv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tags" Target="../tags/tag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696BCE-DE62-4164-80FA-57C5796D8B28}"/>
              </a:ext>
            </a:extLst>
          </p:cNvPr>
          <p:cNvSpPr txBox="1"/>
          <p:nvPr/>
        </p:nvSpPr>
        <p:spPr>
          <a:xfrm>
            <a:off x="1223423" y="3096446"/>
            <a:ext cx="9745154" cy="3046988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 rtlCol="0">
            <a:spAutoFit/>
          </a:bodyPr>
          <a:lstStyle/>
          <a:p>
            <a:pPr algn="ctr"/>
            <a:r>
              <a:rPr lang="ru-RU" sz="9600" dirty="0">
                <a:latin typeface="Bahnschrift Light SemiCondensed" panose="020B0502040204020203" pitchFamily="34" charset="0"/>
                <a:cs typeface="Times New Roman" panose="02020603050405020304" pitchFamily="18" charset="0"/>
              </a:rPr>
              <a:t>Тема уроку: </a:t>
            </a:r>
            <a:r>
              <a:rPr lang="en-US" sz="9600" dirty="0">
                <a:latin typeface="Bahnschrift Light SemiCondensed" panose="020B0502040204020203" pitchFamily="34" charset="0"/>
                <a:cs typeface="Times New Roman" panose="02020603050405020304" pitchFamily="18" charset="0"/>
              </a:rPr>
              <a:t>if else switch case</a:t>
            </a:r>
            <a:endParaRPr lang="uk-UA" sz="9600" dirty="0">
              <a:latin typeface="Bahnschrift Light SemiCondensed" panose="020B0502040204020203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4" name="Shape4327">
            <a:extLst>
              <a:ext uri="{FF2B5EF4-FFF2-40B4-BE49-F238E27FC236}">
                <a16:creationId xmlns:a16="http://schemas.microsoft.com/office/drawing/2014/main" id="{CCA2C7CF-66F1-4A59-B9F1-4C402394939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5197366" y="504725"/>
            <a:ext cx="1797269" cy="1797269"/>
            <a:chOff x="4562366" y="349555"/>
            <a:chExt cx="1797269" cy="1797269"/>
          </a:xfrm>
        </p:grpSpPr>
        <p:pic>
          <p:nvPicPr>
            <p:cNvPr id="5" name="Shape4328">
              <a:extLst>
                <a:ext uri="{FF2B5EF4-FFF2-40B4-BE49-F238E27FC236}">
                  <a16:creationId xmlns:a16="http://schemas.microsoft.com/office/drawing/2014/main" id="{773DF6DB-04C1-4490-912C-D988452E968F}"/>
                </a:ext>
              </a:extLst>
            </p:cNvPr>
            <p:cNvPicPr/>
            <p:nvPr>
              <p:custDataLst>
                <p:tags r:id="rId4"/>
              </p:custDataLst>
            </p:nvPr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6" name="Shape4329">
            <a:extLst>
              <a:ext uri="{FF2B5EF4-FFF2-40B4-BE49-F238E27FC236}">
                <a16:creationId xmlns:a16="http://schemas.microsoft.com/office/drawing/2014/main" id="{3EDEEDEB-1CFA-4320-AF35-792BC3C74B62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5557346" y="2758414"/>
            <a:ext cx="1077311" cy="55245"/>
            <a:chOff x="4925483" y="2578947"/>
            <a:chExt cx="1077311" cy="55245"/>
          </a:xfrm>
        </p:grpSpPr>
        <p:sp>
          <p:nvSpPr>
            <p:cNvPr id="7" name="Shape4325">
              <a:extLst>
                <a:ext uri="{FF2B5EF4-FFF2-40B4-BE49-F238E27FC236}">
                  <a16:creationId xmlns:a16="http://schemas.microsoft.com/office/drawing/2014/main" id="{539F30CD-1903-4626-B1DC-14DDF990E82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7022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F06EA1-BE45-4303-B5C3-3595C3325291}"/>
              </a:ext>
            </a:extLst>
          </p:cNvPr>
          <p:cNvSpPr txBox="1"/>
          <p:nvPr/>
        </p:nvSpPr>
        <p:spPr>
          <a:xfrm>
            <a:off x="7606441" y="4442375"/>
            <a:ext cx="472282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Програми були б одноманітними, якщо вони працювали без умов. 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 Java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0" i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умовного</a:t>
            </a:r>
            <a:r>
              <a:rPr lang="ru-RU" sz="2000" b="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оператора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—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спеціального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ключового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слова, яке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дає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змогу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виконувати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різні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блоки команд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залежно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правдивості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умови</a:t>
            </a:r>
            <a:r>
              <a:rPr lang="ru-RU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4326">
            <a:extLst>
              <a:ext uri="{FF2B5EF4-FFF2-40B4-BE49-F238E27FC236}">
                <a16:creationId xmlns:a16="http://schemas.microsoft.com/office/drawing/2014/main" id="{416030E0-208E-4501-807A-C1209D4341D8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 flipH="1">
            <a:off x="7606441" y="4442375"/>
            <a:ext cx="45719" cy="227572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9pPr>
          </a:lstStyle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BA10B5-8055-443E-B53D-BDA2547EA65B}"/>
              </a:ext>
            </a:extLst>
          </p:cNvPr>
          <p:cNvSpPr txBox="1"/>
          <p:nvPr/>
        </p:nvSpPr>
        <p:spPr>
          <a:xfrm>
            <a:off x="5008600" y="1326831"/>
            <a:ext cx="3938121" cy="26108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Якщо</a:t>
            </a: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0000"/>
                </a:highlight>
              </a:rPr>
              <a:t>умова</a:t>
            </a: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істина, то     </a:t>
            </a:r>
          </a:p>
          <a:p>
            <a:pPr>
              <a:lnSpc>
                <a:spcPct val="150000"/>
              </a:lnSpc>
            </a:pP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  виконати </a:t>
            </a: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команда1</a:t>
            </a:r>
            <a:r>
              <a:rPr lang="en-US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;</a:t>
            </a:r>
            <a:endParaRPr lang="uk-UA" sz="28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інакше</a:t>
            </a:r>
          </a:p>
          <a:p>
            <a:pPr>
              <a:lnSpc>
                <a:spcPct val="150000"/>
              </a:lnSpc>
            </a:pP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  виконати </a:t>
            </a:r>
            <a:r>
              <a:rPr lang="uk-UA" sz="28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00FF"/>
                </a:highlight>
              </a:rPr>
              <a:t>команда2;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4125FE-ED06-4FBF-8115-55961F4B7F65}"/>
              </a:ext>
            </a:extLst>
          </p:cNvPr>
          <p:cNvSpPr txBox="1"/>
          <p:nvPr/>
        </p:nvSpPr>
        <p:spPr>
          <a:xfrm>
            <a:off x="1578992" y="3076788"/>
            <a:ext cx="2183720" cy="22510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if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(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0000"/>
                </a:highlight>
              </a:rPr>
              <a:t>умова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команда1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else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00FF"/>
                </a:highlight>
              </a:rPr>
              <a:t>команда2;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EE9B07-7848-44AF-B4B1-2E4C421C6CEB}"/>
              </a:ext>
            </a:extLst>
          </p:cNvPr>
          <p:cNvSpPr txBox="1"/>
          <p:nvPr/>
        </p:nvSpPr>
        <p:spPr>
          <a:xfrm>
            <a:off x="5008600" y="4032804"/>
            <a:ext cx="393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dirty="0">
                <a:latin typeface="Bahnschrift Light SemiCondensed" panose="020B0502040204020203" pitchFamily="34" charset="0"/>
              </a:rPr>
              <a:t>Якщо б ми писали код людською мовою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10DD9F-3F1D-468F-9128-474722EB076C}"/>
              </a:ext>
            </a:extLst>
          </p:cNvPr>
          <p:cNvSpPr txBox="1"/>
          <p:nvPr/>
        </p:nvSpPr>
        <p:spPr>
          <a:xfrm>
            <a:off x="1151379" y="5366169"/>
            <a:ext cx="267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ahnschrift Light SemiCondensed" panose="020B0502040204020203" pitchFamily="34" charset="0"/>
              </a:rPr>
              <a:t>if else </a:t>
            </a:r>
            <a:r>
              <a:rPr lang="uk-UA" dirty="0">
                <a:latin typeface="Bahnschrift Light SemiCondensed" panose="020B0502040204020203" pitchFamily="34" charset="0"/>
              </a:rPr>
              <a:t>на </a:t>
            </a:r>
            <a:r>
              <a:rPr lang="en-US" dirty="0">
                <a:latin typeface="Bahnschrift Light SemiCondensed" panose="020B0502040204020203" pitchFamily="34" charset="0"/>
              </a:rPr>
              <a:t>C#</a:t>
            </a:r>
            <a:endParaRPr lang="uk-UA" dirty="0">
              <a:latin typeface="Bahnschrift Light SemiCondensed" panose="020B0502040204020203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DCBDB7-2001-45C1-B189-5C8DCD6E87DF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Умовні оператори</a:t>
            </a:r>
          </a:p>
        </p:txBody>
      </p:sp>
    </p:spTree>
    <p:extLst>
      <p:ext uri="{BB962C8B-B14F-4D97-AF65-F5344CB8AC3E}">
        <p14:creationId xmlns:p14="http://schemas.microsoft.com/office/powerpoint/2010/main" val="3915470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F91ABF-D7E0-4CB6-B82F-5AC2DE9C55A0}"/>
              </a:ext>
            </a:extLst>
          </p:cNvPr>
          <p:cNvSpPr txBox="1"/>
          <p:nvPr/>
        </p:nvSpPr>
        <p:spPr>
          <a:xfrm>
            <a:off x="1137241" y="1950192"/>
            <a:ext cx="2183720" cy="22510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if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(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0000"/>
                </a:highlight>
              </a:rPr>
              <a:t>умова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команда1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інакше</a:t>
            </a: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00FF"/>
                </a:highlight>
              </a:rPr>
              <a:t>команда2;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BC3E1-F9F8-4AC0-A415-83B7B247ADF1}"/>
              </a:ext>
            </a:extLst>
          </p:cNvPr>
          <p:cNvSpPr txBox="1"/>
          <p:nvPr/>
        </p:nvSpPr>
        <p:spPr>
          <a:xfrm>
            <a:off x="709628" y="4239573"/>
            <a:ext cx="267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ahnschrift Light SemiCondensed" panose="020B0502040204020203" pitchFamily="34" charset="0"/>
              </a:rPr>
              <a:t>if else </a:t>
            </a:r>
            <a:r>
              <a:rPr lang="uk-UA" dirty="0">
                <a:latin typeface="Bahnschrift Light SemiCondensed" panose="020B0502040204020203" pitchFamily="34" charset="0"/>
              </a:rPr>
              <a:t>на </a:t>
            </a:r>
            <a:r>
              <a:rPr lang="en-US" dirty="0">
                <a:latin typeface="Bahnschrift Light SemiCondensed" panose="020B0502040204020203" pitchFamily="34" charset="0"/>
              </a:rPr>
              <a:t>C#</a:t>
            </a:r>
            <a:endParaRPr lang="uk-UA" dirty="0">
              <a:latin typeface="Bahnschrift Light SemiCondensed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47B163-0610-4F4F-85A3-7031C62EBF62}"/>
              </a:ext>
            </a:extLst>
          </p:cNvPr>
          <p:cNvSpPr txBox="1"/>
          <p:nvPr/>
        </p:nvSpPr>
        <p:spPr>
          <a:xfrm>
            <a:off x="4309419" y="1773326"/>
            <a:ext cx="659944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Умовний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оператор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складається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з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трьох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частин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: </a:t>
            </a:r>
            <a:r>
              <a:rPr lang="ru-RU" sz="2800" b="0" i="1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умови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, </a:t>
            </a:r>
            <a:r>
              <a:rPr lang="ru-RU" sz="2800" b="0" i="1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команди</a:t>
            </a:r>
            <a:r>
              <a:rPr lang="ru-RU" sz="2800" b="0" i="1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1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і </a:t>
            </a:r>
            <a:r>
              <a:rPr lang="ru-RU" sz="2800" b="0" i="1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команди</a:t>
            </a:r>
            <a:r>
              <a:rPr lang="ru-RU" sz="2800" b="0" i="1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2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.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Якщо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</a:t>
            </a:r>
            <a:r>
              <a:rPr lang="ru-RU" sz="2800" b="0" i="1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умова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правдива (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істинна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),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виконується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</a:t>
            </a:r>
            <a:r>
              <a:rPr lang="ru-RU" sz="2800" b="0" i="1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команда 1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,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інакше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 — </a:t>
            </a:r>
            <a:r>
              <a:rPr lang="ru-RU" sz="2800" b="0" i="1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команда 2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.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Команди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ніколи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не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виконуються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одночасно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.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Загальний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вигляд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цього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 оператора </a:t>
            </a:r>
            <a:r>
              <a:rPr lang="ru-RU" sz="2800" b="0" i="0" dirty="0" err="1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такий</a:t>
            </a:r>
            <a:r>
              <a:rPr lang="ru-RU" sz="2800" b="0" i="0" dirty="0">
                <a:effectLst/>
                <a:latin typeface="Bahnschrift Light" panose="020B0502040204020203" pitchFamily="34" charset="0"/>
                <a:cs typeface="Times New Roman" panose="02020603050405020304" pitchFamily="18" charset="0"/>
              </a:rPr>
              <a:t>:</a:t>
            </a:r>
            <a:endParaRPr lang="uk-UA" sz="2800" dirty="0">
              <a:latin typeface="Bahnschrift Light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001470F5-65E0-44F4-B7C8-C1D3AD4D7840}"/>
              </a:ext>
            </a:extLst>
          </p:cNvPr>
          <p:cNvSpPr/>
          <p:nvPr/>
        </p:nvSpPr>
        <p:spPr>
          <a:xfrm>
            <a:off x="4246157" y="1892771"/>
            <a:ext cx="63262" cy="334853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877C8D8-4F45-4CA3-A1F4-9A4D5DF1D441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Умовні оператори</a:t>
            </a:r>
          </a:p>
        </p:txBody>
      </p:sp>
    </p:spTree>
    <p:extLst>
      <p:ext uri="{BB962C8B-B14F-4D97-AF65-F5344CB8AC3E}">
        <p14:creationId xmlns:p14="http://schemas.microsoft.com/office/powerpoint/2010/main" val="2243787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032E36F-97EC-4637-82C9-6598E2C4D79D}"/>
              </a:ext>
            </a:extLst>
          </p:cNvPr>
          <p:cNvSpPr txBox="1"/>
          <p:nvPr/>
        </p:nvSpPr>
        <p:spPr>
          <a:xfrm>
            <a:off x="1170326" y="2079976"/>
            <a:ext cx="2183720" cy="22510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if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(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0000"/>
                </a:highlight>
              </a:rPr>
              <a:t>умова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команда1</a:t>
            </a:r>
            <a:r>
              <a:rPr lang="en-US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FF00"/>
                </a:highlight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інакше</a:t>
            </a:r>
          </a:p>
          <a:p>
            <a:pPr>
              <a:lnSpc>
                <a:spcPct val="150000"/>
              </a:lnSpc>
            </a:pP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uk-UA" sz="2400" dirty="0">
                <a:ln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highlight>
                  <a:srgbClr val="0000FF"/>
                </a:highlight>
              </a:rPr>
              <a:t>команда2;</a:t>
            </a:r>
            <a:endParaRPr lang="uk-UA" sz="2400" dirty="0">
              <a:ln>
                <a:solidFill>
                  <a:schemeClr val="bg1">
                    <a:lumMod val="50000"/>
                  </a:schemeClr>
                </a:solidFill>
              </a:ln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29A719-E7FE-42DD-B76A-7E259A659245}"/>
              </a:ext>
            </a:extLst>
          </p:cNvPr>
          <p:cNvSpPr txBox="1"/>
          <p:nvPr/>
        </p:nvSpPr>
        <p:spPr>
          <a:xfrm>
            <a:off x="742713" y="4369357"/>
            <a:ext cx="267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ahnschrift Light SemiCondensed" panose="020B0502040204020203" pitchFamily="34" charset="0"/>
              </a:rPr>
              <a:t>if else </a:t>
            </a:r>
            <a:r>
              <a:rPr lang="uk-UA" dirty="0">
                <a:latin typeface="Bahnschrift Light SemiCondensed" panose="020B0502040204020203" pitchFamily="34" charset="0"/>
              </a:rPr>
              <a:t>на С</a:t>
            </a:r>
            <a:r>
              <a:rPr lang="en-US" dirty="0">
                <a:latin typeface="Bahnschrift Light SemiCondensed" panose="020B0502040204020203" pitchFamily="34" charset="0"/>
              </a:rPr>
              <a:t>#</a:t>
            </a:r>
            <a:endParaRPr lang="uk-UA" dirty="0">
              <a:latin typeface="Bahnschrift Light SemiCondensed" panose="020B0502040204020203" pitchFamily="34" charset="0"/>
            </a:endParaRPr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E4F45830-22B6-42B1-90AA-7E094B6464F1}"/>
              </a:ext>
            </a:extLst>
          </p:cNvPr>
          <p:cNvGrpSpPr/>
          <p:nvPr/>
        </p:nvGrpSpPr>
        <p:grpSpPr>
          <a:xfrm>
            <a:off x="4546555" y="1104406"/>
            <a:ext cx="7115571" cy="4649187"/>
            <a:chOff x="1790006" y="498575"/>
            <a:chExt cx="8611890" cy="5863729"/>
          </a:xfrm>
        </p:grpSpPr>
        <p:sp>
          <p:nvSpPr>
            <p:cNvPr id="37" name="Shape 1">
              <a:extLst>
                <a:ext uri="{FF2B5EF4-FFF2-40B4-BE49-F238E27FC236}">
                  <a16:creationId xmlns:a16="http://schemas.microsoft.com/office/drawing/2014/main" id="{EAF9B04E-800F-4434-A438-C249D74AFC24}"/>
                </a:ext>
              </a:extLst>
            </p:cNvPr>
            <p:cNvSpPr/>
            <p:nvPr/>
          </p:nvSpPr>
          <p:spPr>
            <a:xfrm>
              <a:off x="1790006" y="498575"/>
              <a:ext cx="8611890" cy="5863729"/>
            </a:xfrm>
            <a:prstGeom prst="roundRect">
              <a:avLst>
                <a:gd name="adj" fmla="val 1391"/>
              </a:avLst>
            </a:prstGeom>
            <a:noFill/>
            <a:ln w="7620">
              <a:solidFill>
                <a:srgbClr val="000000">
                  <a:alpha val="8000"/>
                </a:srgbClr>
              </a:solidFill>
              <a:prstDash val="solid"/>
            </a:ln>
          </p:spPr>
        </p:sp>
        <p:sp>
          <p:nvSpPr>
            <p:cNvPr id="38" name="Shape 2">
              <a:extLst>
                <a:ext uri="{FF2B5EF4-FFF2-40B4-BE49-F238E27FC236}">
                  <a16:creationId xmlns:a16="http://schemas.microsoft.com/office/drawing/2014/main" id="{DD909232-047E-4FD3-A707-7B29C6E2E4CB}"/>
                </a:ext>
              </a:extLst>
            </p:cNvPr>
            <p:cNvSpPr/>
            <p:nvPr/>
          </p:nvSpPr>
          <p:spPr>
            <a:xfrm>
              <a:off x="1796356" y="504925"/>
              <a:ext cx="8599190" cy="520204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6BAAF488-812A-4DF9-87AC-A42C4D2673E1}"/>
                </a:ext>
              </a:extLst>
            </p:cNvPr>
            <p:cNvSpPr/>
            <p:nvPr/>
          </p:nvSpPr>
          <p:spPr>
            <a:xfrm>
              <a:off x="1977728" y="620018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sz="1200" b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Код</a:t>
              </a:r>
              <a:endParaRPr lang="en-US" sz="1200" dirty="0"/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323FC71E-C5D7-44FE-94BE-EE3855A094D7}"/>
                </a:ext>
              </a:extLst>
            </p:cNvPr>
            <p:cNvSpPr/>
            <p:nvPr/>
          </p:nvSpPr>
          <p:spPr>
            <a:xfrm>
              <a:off x="6280448" y="620018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sz="1200" b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Пояснення</a:t>
              </a:r>
              <a:endParaRPr lang="en-US" sz="1200" dirty="0"/>
            </a:p>
          </p:txBody>
        </p:sp>
        <p:sp>
          <p:nvSpPr>
            <p:cNvPr id="41" name="Shape 5">
              <a:extLst>
                <a:ext uri="{FF2B5EF4-FFF2-40B4-BE49-F238E27FC236}">
                  <a16:creationId xmlns:a16="http://schemas.microsoft.com/office/drawing/2014/main" id="{A3E779A3-A3D3-4BEA-AD08-7025F1E605B8}"/>
                </a:ext>
              </a:extLst>
            </p:cNvPr>
            <p:cNvSpPr/>
            <p:nvPr/>
          </p:nvSpPr>
          <p:spPr>
            <a:xfrm>
              <a:off x="1796356" y="1025129"/>
              <a:ext cx="8599190" cy="1970286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</p:sp>
        <p:sp>
          <p:nvSpPr>
            <p:cNvPr id="42" name="Text 6">
              <a:extLst>
                <a:ext uri="{FF2B5EF4-FFF2-40B4-BE49-F238E27FC236}">
                  <a16:creationId xmlns:a16="http://schemas.microsoft.com/office/drawing/2014/main" id="{28F97B67-5D56-46D0-B8EE-4A3986BC0CB4}"/>
                </a:ext>
              </a:extLst>
            </p:cNvPr>
            <p:cNvSpPr/>
            <p:nvPr/>
          </p:nvSpPr>
          <p:spPr>
            <a:xfrm>
              <a:off x="1977728" y="1140222"/>
              <a:ext cx="3933825" cy="1615177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400" dirty="0">
                  <a:solidFill>
                    <a:srgbClr val="CC7832"/>
                  </a:solidFill>
                  <a:effectLst/>
                </a:rPr>
                <a:t>int </a:t>
              </a:r>
              <a:r>
                <a:rPr lang="en-US" sz="1400" dirty="0">
                  <a:solidFill>
                    <a:srgbClr val="A9B7C6"/>
                  </a:solidFill>
                  <a:effectLst/>
                </a:rPr>
                <a:t>age = </a:t>
              </a:r>
              <a:r>
                <a:rPr lang="en-US" sz="1400" dirty="0">
                  <a:solidFill>
                    <a:srgbClr val="6897BB"/>
                  </a:solidFill>
                  <a:effectLst/>
                </a:rPr>
                <a:t>17</a:t>
              </a:r>
              <a:r>
                <a:rPr lang="en-US" sz="14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en-US" sz="1400" dirty="0">
                  <a:solidFill>
                    <a:srgbClr val="CC7832"/>
                  </a:solidFill>
                  <a:effectLst/>
                </a:rPr>
              </a:br>
              <a:r>
                <a:rPr lang="en-US" sz="1400" dirty="0">
                  <a:solidFill>
                    <a:srgbClr val="CC7832"/>
                  </a:solidFill>
                  <a:effectLst/>
                </a:rPr>
                <a:t>if</a:t>
              </a:r>
              <a:r>
                <a:rPr lang="en-US" sz="1400" dirty="0">
                  <a:solidFill>
                    <a:srgbClr val="A9B7C6"/>
                  </a:solidFill>
                  <a:effectLst/>
                </a:rPr>
                <a:t>(age &lt; </a:t>
              </a:r>
              <a:r>
                <a:rPr lang="en-US" sz="1400" dirty="0">
                  <a:solidFill>
                    <a:srgbClr val="6897BB"/>
                  </a:solidFill>
                  <a:effectLst/>
                </a:rPr>
                <a:t>18</a:t>
              </a:r>
              <a:r>
                <a:rPr lang="en-US" sz="1400" dirty="0">
                  <a:solidFill>
                    <a:srgbClr val="A9B7C6"/>
                  </a:solidFill>
                  <a:effectLst/>
                </a:rPr>
                <a:t>)</a:t>
              </a:r>
              <a:br>
                <a:rPr lang="en-US" sz="1400" dirty="0">
                  <a:solidFill>
                    <a:srgbClr val="A9B7C6"/>
                  </a:solidFill>
                  <a:effectLst/>
                </a:rPr>
              </a:br>
              <a:r>
                <a:rPr lang="en-US" sz="1400" dirty="0">
                  <a:solidFill>
                    <a:srgbClr val="A9B7C6"/>
                  </a:solidFill>
                  <a:effectLst/>
                </a:rPr>
                <a:t>    </a:t>
              </a:r>
              <a:r>
                <a:rPr lang="en-US" sz="14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4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4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4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4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400" dirty="0">
                  <a:solidFill>
                    <a:srgbClr val="6A8759"/>
                  </a:solidFill>
                  <a:effectLst/>
                </a:rPr>
                <a:t>Ви ще дитина!"</a:t>
              </a:r>
              <a:r>
                <a:rPr lang="uk-UA" sz="14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4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uk-UA" sz="1400" dirty="0">
                  <a:solidFill>
                    <a:srgbClr val="CC7832"/>
                  </a:solidFill>
                  <a:effectLst/>
                </a:rPr>
              </a:br>
              <a:r>
                <a:rPr lang="en-US" sz="1400" dirty="0">
                  <a:solidFill>
                    <a:srgbClr val="CC7832"/>
                  </a:solidFill>
                  <a:effectLst/>
                </a:rPr>
                <a:t>else</a:t>
              </a:r>
              <a:br>
                <a:rPr lang="en-US" sz="1400" dirty="0">
                  <a:solidFill>
                    <a:srgbClr val="CC7832"/>
                  </a:solidFill>
                  <a:effectLst/>
                </a:rPr>
              </a:br>
              <a:r>
                <a:rPr lang="en-US" sz="1400" dirty="0">
                  <a:solidFill>
                    <a:srgbClr val="CC7832"/>
                  </a:solidFill>
                  <a:effectLst/>
                </a:rPr>
                <a:t>    </a:t>
              </a:r>
              <a:r>
                <a:rPr lang="en-US" sz="14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4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4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4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4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400" dirty="0">
                  <a:solidFill>
                    <a:srgbClr val="6A8759"/>
                  </a:solidFill>
                  <a:effectLst/>
                </a:rPr>
                <a:t>Ви вже дорослий!"</a:t>
              </a:r>
              <a:r>
                <a:rPr lang="uk-UA" sz="14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400" dirty="0">
                  <a:solidFill>
                    <a:srgbClr val="CC7832"/>
                  </a:solidFill>
                  <a:effectLst/>
                </a:rPr>
                <a:t>;</a:t>
              </a:r>
              <a:endParaRPr lang="en-US" sz="1400" dirty="0"/>
            </a:p>
          </p:txBody>
        </p:sp>
        <p:sp>
          <p:nvSpPr>
            <p:cNvPr id="43" name="Text 7">
              <a:extLst>
                <a:ext uri="{FF2B5EF4-FFF2-40B4-BE49-F238E27FC236}">
                  <a16:creationId xmlns:a16="http://schemas.microsoft.com/office/drawing/2014/main" id="{89D17A8B-5C9A-4879-B499-26B40E251C25}"/>
                </a:ext>
              </a:extLst>
            </p:cNvPr>
            <p:cNvSpPr/>
            <p:nvPr/>
          </p:nvSpPr>
          <p:spPr>
            <a:xfrm>
              <a:off x="6280448" y="1140222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i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На екран буде виведено напис:</a:t>
              </a:r>
              <a:endParaRPr lang="en-US" dirty="0"/>
            </a:p>
          </p:txBody>
        </p:sp>
        <p:sp>
          <p:nvSpPr>
            <p:cNvPr id="44" name="Text 8">
              <a:extLst>
                <a:ext uri="{FF2B5EF4-FFF2-40B4-BE49-F238E27FC236}">
                  <a16:creationId xmlns:a16="http://schemas.microsoft.com/office/drawing/2014/main" id="{265643BB-6352-4BD0-88D7-3156A0AD755D}"/>
                </a:ext>
              </a:extLst>
            </p:cNvPr>
            <p:cNvSpPr/>
            <p:nvPr/>
          </p:nvSpPr>
          <p:spPr>
            <a:xfrm>
              <a:off x="6280448" y="1538982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sz="160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Ви ще дитина!</a:t>
              </a:r>
              <a:endParaRPr lang="en-US" sz="1600" dirty="0"/>
            </a:p>
          </p:txBody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B49B3449-F44B-4A92-8349-68D64B6B1F20}"/>
                </a:ext>
              </a:extLst>
            </p:cNvPr>
            <p:cNvSpPr/>
            <p:nvPr/>
          </p:nvSpPr>
          <p:spPr>
            <a:xfrm>
              <a:off x="1796356" y="2995415"/>
              <a:ext cx="8599190" cy="1680269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E8D008AB-5FDA-498A-8BCE-00222693672F}"/>
                </a:ext>
              </a:extLst>
            </p:cNvPr>
            <p:cNvSpPr/>
            <p:nvPr/>
          </p:nvSpPr>
          <p:spPr>
            <a:xfrm>
              <a:off x="1977728" y="3110507"/>
              <a:ext cx="3933825" cy="145008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200" dirty="0">
                  <a:solidFill>
                    <a:srgbClr val="CC7832"/>
                  </a:solidFill>
                  <a:effectLst/>
                </a:rPr>
                <a:t>int 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temperature = </a:t>
              </a:r>
              <a:r>
                <a:rPr lang="en-US" sz="1200" dirty="0">
                  <a:solidFill>
                    <a:srgbClr val="6897BB"/>
                  </a:solidFill>
                  <a:effectLst/>
                </a:rPr>
                <a:t>5</a:t>
              </a:r>
              <a:r>
                <a:rPr lang="en-US" sz="12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en-US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if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(temperature &lt; </a:t>
              </a:r>
              <a:r>
                <a:rPr lang="en-US" sz="1200" dirty="0">
                  <a:solidFill>
                    <a:srgbClr val="6897BB"/>
                  </a:solidFill>
                  <a:effectLst/>
                </a:rPr>
                <a:t>0 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)</a:t>
              </a:r>
              <a:br>
                <a:rPr lang="en-US" sz="1200" dirty="0">
                  <a:solidFill>
                    <a:srgbClr val="A9B7C6"/>
                  </a:solidFill>
                  <a:effectLst/>
                </a:rPr>
              </a:br>
              <a:r>
                <a:rPr lang="en-US" sz="1200" dirty="0">
                  <a:solidFill>
                    <a:srgbClr val="A9B7C6"/>
                  </a:solidFill>
                  <a:effectLst/>
                </a:rPr>
                <a:t>    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2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2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200" dirty="0">
                  <a:solidFill>
                    <a:srgbClr val="6A8759"/>
                  </a:solidFill>
                  <a:effectLst/>
                </a:rPr>
                <a:t>На вулиці мороз"</a:t>
              </a:r>
              <a:r>
                <a:rPr lang="uk-UA" sz="12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2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uk-UA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else</a:t>
              </a:r>
              <a:br>
                <a:rPr lang="en-US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    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2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2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200" dirty="0">
                  <a:solidFill>
                    <a:srgbClr val="6A8759"/>
                  </a:solidFill>
                  <a:effectLst/>
                </a:rPr>
                <a:t>Тепло"</a:t>
              </a:r>
              <a:r>
                <a:rPr lang="uk-UA" sz="12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200" dirty="0">
                  <a:solidFill>
                    <a:srgbClr val="CC7832"/>
                  </a:solidFill>
                  <a:effectLst/>
                </a:rPr>
                <a:t>;</a:t>
              </a:r>
              <a:endParaRPr lang="uk-UA" sz="1200" dirty="0">
                <a:solidFill>
                  <a:srgbClr val="A9B7C6"/>
                </a:solidFill>
                <a:effectLst/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E2A7A825-70AB-4EBD-9931-65A3637469B2}"/>
                </a:ext>
              </a:extLst>
            </p:cNvPr>
            <p:cNvSpPr/>
            <p:nvPr/>
          </p:nvSpPr>
          <p:spPr>
            <a:xfrm>
              <a:off x="6280448" y="3110507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i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На екран буде виведено напис:</a:t>
              </a:r>
              <a:endParaRPr lang="en-US" dirty="0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73656FDC-E847-44D7-A779-485929A1102D}"/>
                </a:ext>
              </a:extLst>
            </p:cNvPr>
            <p:cNvSpPr/>
            <p:nvPr/>
          </p:nvSpPr>
          <p:spPr>
            <a:xfrm>
              <a:off x="6280448" y="3509268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sz="160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Тепло</a:t>
              </a:r>
              <a:endParaRPr lang="en-US" sz="1600" dirty="0"/>
            </a:p>
          </p:txBody>
        </p:sp>
        <p:sp>
          <p:nvSpPr>
            <p:cNvPr id="49" name="Shape 13">
              <a:extLst>
                <a:ext uri="{FF2B5EF4-FFF2-40B4-BE49-F238E27FC236}">
                  <a16:creationId xmlns:a16="http://schemas.microsoft.com/office/drawing/2014/main" id="{1670B02E-3DE4-418C-A547-D5E7D1B3D48C}"/>
                </a:ext>
              </a:extLst>
            </p:cNvPr>
            <p:cNvSpPr/>
            <p:nvPr/>
          </p:nvSpPr>
          <p:spPr>
            <a:xfrm>
              <a:off x="1796356" y="4675684"/>
              <a:ext cx="8599190" cy="1680269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</p:sp>
        <p:sp>
          <p:nvSpPr>
            <p:cNvPr id="50" name="Text 14">
              <a:extLst>
                <a:ext uri="{FF2B5EF4-FFF2-40B4-BE49-F238E27FC236}">
                  <a16:creationId xmlns:a16="http://schemas.microsoft.com/office/drawing/2014/main" id="{0F5ED47A-D7B7-48C9-914C-CEB222FD18C5}"/>
                </a:ext>
              </a:extLst>
            </p:cNvPr>
            <p:cNvSpPr/>
            <p:nvPr/>
          </p:nvSpPr>
          <p:spPr>
            <a:xfrm>
              <a:off x="1977728" y="4790777"/>
              <a:ext cx="3933825" cy="145008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200" dirty="0">
                  <a:solidFill>
                    <a:srgbClr val="CC7832"/>
                  </a:solidFill>
                  <a:effectLst/>
                </a:rPr>
                <a:t>int 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age = </a:t>
              </a:r>
              <a:r>
                <a:rPr lang="en-US" sz="1200" dirty="0">
                  <a:solidFill>
                    <a:srgbClr val="6897BB"/>
                  </a:solidFill>
                  <a:effectLst/>
                </a:rPr>
                <a:t>18</a:t>
              </a:r>
              <a:r>
                <a:rPr lang="en-US" sz="12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en-US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if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(age &lt; </a:t>
              </a:r>
              <a:r>
                <a:rPr lang="en-US" sz="1200" dirty="0">
                  <a:solidFill>
                    <a:srgbClr val="6897BB"/>
                  </a:solidFill>
                  <a:effectLst/>
                </a:rPr>
                <a:t>0 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)</a:t>
              </a:r>
              <a:br>
                <a:rPr lang="en-US" sz="1200" dirty="0">
                  <a:solidFill>
                    <a:srgbClr val="A9B7C6"/>
                  </a:solidFill>
                  <a:effectLst/>
                </a:rPr>
              </a:br>
              <a:r>
                <a:rPr lang="en-US" sz="1200" dirty="0">
                  <a:solidFill>
                    <a:srgbClr val="A9B7C6"/>
                  </a:solidFill>
                  <a:effectLst/>
                </a:rPr>
                <a:t>    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2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2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200" dirty="0">
                  <a:solidFill>
                    <a:srgbClr val="6A8759"/>
                  </a:solidFill>
                  <a:effectLst/>
                </a:rPr>
                <a:t>З'явіться до пенсійного фонду"</a:t>
              </a:r>
              <a:r>
                <a:rPr lang="uk-UA" sz="12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200" dirty="0">
                  <a:solidFill>
                    <a:srgbClr val="CC7832"/>
                  </a:solidFill>
                  <a:effectLst/>
                </a:rPr>
                <a:t>;</a:t>
              </a:r>
              <a:br>
                <a:rPr lang="uk-UA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else</a:t>
              </a:r>
              <a:br>
                <a:rPr lang="en-US" sz="1200" dirty="0">
                  <a:solidFill>
                    <a:srgbClr val="CC7832"/>
                  </a:solidFill>
                  <a:effectLst/>
                </a:rPr>
              </a:br>
              <a:r>
                <a:rPr lang="en-US" sz="1200" dirty="0">
                  <a:solidFill>
                    <a:srgbClr val="CC7832"/>
                  </a:solidFill>
                  <a:effectLst/>
                </a:rPr>
                <a:t>    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System.</a:t>
              </a:r>
              <a:r>
                <a:rPr lang="en-US" sz="1200" i="1" dirty="0" err="1">
                  <a:solidFill>
                    <a:srgbClr val="9876AA"/>
                  </a:solidFill>
                  <a:effectLst/>
                </a:rPr>
                <a:t>out</a:t>
              </a:r>
              <a:r>
                <a:rPr lang="en-US" sz="1200" dirty="0" err="1">
                  <a:solidFill>
                    <a:srgbClr val="A9B7C6"/>
                  </a:solidFill>
                  <a:effectLst/>
                </a:rPr>
                <a:t>.println</a:t>
              </a:r>
              <a:r>
                <a:rPr lang="en-US" sz="1200" dirty="0">
                  <a:solidFill>
                    <a:srgbClr val="A9B7C6"/>
                  </a:solidFill>
                  <a:effectLst/>
                </a:rPr>
                <a:t>(</a:t>
              </a:r>
              <a:r>
                <a:rPr lang="en-US" sz="1200" dirty="0">
                  <a:solidFill>
                    <a:srgbClr val="6A8759"/>
                  </a:solidFill>
                  <a:effectLst/>
                </a:rPr>
                <a:t>"</a:t>
              </a:r>
              <a:r>
                <a:rPr lang="uk-UA" sz="1200" dirty="0">
                  <a:solidFill>
                    <a:srgbClr val="6A8759"/>
                  </a:solidFill>
                  <a:effectLst/>
                </a:rPr>
                <a:t>Все одно чекаємо:)"</a:t>
              </a:r>
              <a:r>
                <a:rPr lang="uk-UA" sz="1200" dirty="0">
                  <a:solidFill>
                    <a:srgbClr val="A9B7C6"/>
                  </a:solidFill>
                  <a:effectLst/>
                </a:rPr>
                <a:t>)</a:t>
              </a:r>
              <a:r>
                <a:rPr lang="uk-UA" sz="1200" dirty="0">
                  <a:solidFill>
                    <a:srgbClr val="CC7832"/>
                  </a:solidFill>
                  <a:effectLst/>
                </a:rPr>
                <a:t>;</a:t>
              </a:r>
              <a:endParaRPr lang="uk-UA" sz="1200" dirty="0">
                <a:solidFill>
                  <a:srgbClr val="A9B7C6"/>
                </a:solidFill>
                <a:effectLst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E33D2F31-7103-46E5-B1B5-05BEA17A34D2}"/>
                </a:ext>
              </a:extLst>
            </p:cNvPr>
            <p:cNvSpPr/>
            <p:nvPr/>
          </p:nvSpPr>
          <p:spPr>
            <a:xfrm>
              <a:off x="6280448" y="4790777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i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На екран буде виведено напис:</a:t>
              </a:r>
              <a:endParaRPr lang="en-US" dirty="0"/>
            </a:p>
          </p:txBody>
        </p:sp>
        <p:sp>
          <p:nvSpPr>
            <p:cNvPr id="52" name="Text 16">
              <a:extLst>
                <a:ext uri="{FF2B5EF4-FFF2-40B4-BE49-F238E27FC236}">
                  <a16:creationId xmlns:a16="http://schemas.microsoft.com/office/drawing/2014/main" id="{E421877D-8759-4179-A59A-6C3D5E621976}"/>
                </a:ext>
              </a:extLst>
            </p:cNvPr>
            <p:cNvSpPr/>
            <p:nvPr/>
          </p:nvSpPr>
          <p:spPr>
            <a:xfrm>
              <a:off x="6280448" y="5189537"/>
              <a:ext cx="3933825" cy="29001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>
                <a:lnSpc>
                  <a:spcPts val="2284"/>
                </a:lnSpc>
              </a:pPr>
              <a:r>
                <a:rPr lang="en-US" sz="160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З’явіться </a:t>
              </a:r>
              <a:r>
                <a:rPr lang="en-US" sz="1600" dirty="0" err="1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до</a:t>
              </a:r>
              <a:r>
                <a:rPr lang="en-US" sz="160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 </a:t>
              </a:r>
              <a:r>
                <a:rPr lang="uk-UA" sz="1600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пенсійного фонду</a:t>
              </a:r>
              <a:endParaRPr lang="en-US" sz="1600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6457D2D1-B6E1-42ED-9426-3CBF02FDA6FA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Умовні оператори</a:t>
            </a:r>
          </a:p>
        </p:txBody>
      </p:sp>
    </p:spTree>
    <p:extLst>
      <p:ext uri="{BB962C8B-B14F-4D97-AF65-F5344CB8AC3E}">
        <p14:creationId xmlns:p14="http://schemas.microsoft.com/office/powerpoint/2010/main" val="1784981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2EA32E-6E2D-4024-BC27-D96D37645F49}"/>
              </a:ext>
            </a:extLst>
          </p:cNvPr>
          <p:cNvSpPr txBox="1"/>
          <p:nvPr/>
        </p:nvSpPr>
        <p:spPr>
          <a:xfrm>
            <a:off x="5906048" y="4977478"/>
            <a:ext cx="619945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Якщо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хочете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щоб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разі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виконання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невиконання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умови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ваша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програма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виконала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кілька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команд,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їх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можна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об'єднати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 </a:t>
            </a:r>
            <a:r>
              <a:rPr lang="ru-RU" sz="2800" b="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блок команд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AF18A-D89E-4788-AA5F-132C93B9ABDB}"/>
              </a:ext>
            </a:extLst>
          </p:cNvPr>
          <p:cNvSpPr txBox="1"/>
          <p:nvPr/>
        </p:nvSpPr>
        <p:spPr>
          <a:xfrm>
            <a:off x="183822" y="1517579"/>
            <a:ext cx="4670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Щоб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об'єднати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команди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блок,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потрібно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загорнути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»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їх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у </a:t>
            </a:r>
            <a:r>
              <a:rPr lang="ru-RU" sz="2400" b="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фігурні</a:t>
            </a:r>
            <a:r>
              <a:rPr lang="ru-RU" sz="2400" b="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дужки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Отак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виглядає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загальному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 err="1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випадку</a:t>
            </a:r>
            <a:r>
              <a:rPr lang="ru-RU" sz="2400" b="0" i="0" dirty="0">
                <a:solidFill>
                  <a:srgbClr val="172B5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uk-UA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42F3807-66C2-4835-BD73-7DA81ECD2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64" y="3066435"/>
            <a:ext cx="2324100" cy="2714625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B58EA0B-8E70-41CA-B269-FF18F2FFEDE2}"/>
              </a:ext>
            </a:extLst>
          </p:cNvPr>
          <p:cNvSpPr/>
          <p:nvPr/>
        </p:nvSpPr>
        <p:spPr>
          <a:xfrm>
            <a:off x="5820589" y="5141647"/>
            <a:ext cx="45719" cy="159312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E45E65B-16B7-4D4A-9E79-FE6876E5911D}"/>
              </a:ext>
            </a:extLst>
          </p:cNvPr>
          <p:cNvSpPr/>
          <p:nvPr/>
        </p:nvSpPr>
        <p:spPr>
          <a:xfrm>
            <a:off x="4765338" y="1622421"/>
            <a:ext cx="45719" cy="146481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BA52B3E8-5476-4285-9328-4F8D5C29F3B6}"/>
              </a:ext>
            </a:extLst>
          </p:cNvPr>
          <p:cNvGrpSpPr/>
          <p:nvPr/>
        </p:nvGrpSpPr>
        <p:grpSpPr>
          <a:xfrm>
            <a:off x="5118780" y="1074480"/>
            <a:ext cx="6768474" cy="3789688"/>
            <a:chOff x="1698328" y="1830736"/>
            <a:chExt cx="8877913" cy="3172072"/>
          </a:xfrm>
        </p:grpSpPr>
        <p:sp>
          <p:nvSpPr>
            <p:cNvPr id="33" name="Shape 1">
              <a:extLst>
                <a:ext uri="{FF2B5EF4-FFF2-40B4-BE49-F238E27FC236}">
                  <a16:creationId xmlns:a16="http://schemas.microsoft.com/office/drawing/2014/main" id="{2929345A-7EBF-420B-83E2-EAEA95F4A18C}"/>
                </a:ext>
              </a:extLst>
            </p:cNvPr>
            <p:cNvSpPr/>
            <p:nvPr/>
          </p:nvSpPr>
          <p:spPr>
            <a:xfrm>
              <a:off x="1698328" y="1855093"/>
              <a:ext cx="8795345" cy="3147715"/>
            </a:xfrm>
            <a:prstGeom prst="roundRect">
              <a:avLst>
                <a:gd name="adj" fmla="val 2647"/>
              </a:avLst>
            </a:prstGeom>
            <a:noFill/>
            <a:ln w="7620">
              <a:solidFill>
                <a:srgbClr val="000000">
                  <a:alpha val="8000"/>
                </a:srgbClr>
              </a:solidFill>
              <a:prstDash val="solid"/>
            </a:ln>
          </p:spPr>
        </p:sp>
        <p:sp>
          <p:nvSpPr>
            <p:cNvPr id="34" name="Shape 2">
              <a:extLst>
                <a:ext uri="{FF2B5EF4-FFF2-40B4-BE49-F238E27FC236}">
                  <a16:creationId xmlns:a16="http://schemas.microsoft.com/office/drawing/2014/main" id="{41A4DE3F-9A7B-4987-AE4E-A2E614E597F3}"/>
                </a:ext>
              </a:extLst>
            </p:cNvPr>
            <p:cNvSpPr/>
            <p:nvPr/>
          </p:nvSpPr>
          <p:spPr>
            <a:xfrm>
              <a:off x="1723057" y="1830736"/>
              <a:ext cx="8782646" cy="530919"/>
            </a:xfrm>
            <a:prstGeom prst="rect">
              <a:avLst/>
            </a:prstGeom>
            <a:solidFill>
              <a:srgbClr val="FFFFFF">
                <a:alpha val="4000"/>
              </a:srgbClr>
            </a:solidFill>
            <a:ln/>
          </p:spPr>
        </p:sp>
        <p:sp>
          <p:nvSpPr>
            <p:cNvPr id="35" name="Text 3">
              <a:extLst>
                <a:ext uri="{FF2B5EF4-FFF2-40B4-BE49-F238E27FC236}">
                  <a16:creationId xmlns:a16="http://schemas.microsoft.com/office/drawing/2014/main" id="{DEA27C6A-EBA2-48EC-ACD1-87D3296FF8A8}"/>
                </a:ext>
              </a:extLst>
            </p:cNvPr>
            <p:cNvSpPr/>
            <p:nvPr/>
          </p:nvSpPr>
          <p:spPr>
            <a:xfrm>
              <a:off x="1889819" y="1978819"/>
              <a:ext cx="4017863" cy="296168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algn="ctr">
                <a:lnSpc>
                  <a:spcPts val="2332"/>
                </a:lnSpc>
              </a:pPr>
              <a:r>
                <a:rPr lang="en-US" sz="1458" b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Код</a:t>
              </a:r>
              <a:endParaRPr lang="en-US" sz="1458" dirty="0"/>
            </a:p>
          </p:txBody>
        </p:sp>
        <p:sp>
          <p:nvSpPr>
            <p:cNvPr id="36" name="Text 4">
              <a:extLst>
                <a:ext uri="{FF2B5EF4-FFF2-40B4-BE49-F238E27FC236}">
                  <a16:creationId xmlns:a16="http://schemas.microsoft.com/office/drawing/2014/main" id="{50B5FA41-3684-45BE-8C84-A060FD65BC17}"/>
                </a:ext>
              </a:extLst>
            </p:cNvPr>
            <p:cNvSpPr/>
            <p:nvPr/>
          </p:nvSpPr>
          <p:spPr>
            <a:xfrm>
              <a:off x="6284318" y="1978819"/>
              <a:ext cx="4017863" cy="296168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algn="ctr">
                <a:lnSpc>
                  <a:spcPts val="2332"/>
                </a:lnSpc>
              </a:pPr>
              <a:r>
                <a:rPr lang="en-US" sz="1458" b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Пояснення</a:t>
              </a:r>
              <a:endParaRPr lang="en-US" sz="1458" dirty="0"/>
            </a:p>
          </p:txBody>
        </p:sp>
        <p:sp>
          <p:nvSpPr>
            <p:cNvPr id="37" name="Shape 5">
              <a:extLst>
                <a:ext uri="{FF2B5EF4-FFF2-40B4-BE49-F238E27FC236}">
                  <a16:creationId xmlns:a16="http://schemas.microsoft.com/office/drawing/2014/main" id="{44AC5AE4-F523-4CA0-B893-95128FFA1B14}"/>
                </a:ext>
              </a:extLst>
            </p:cNvPr>
            <p:cNvSpPr/>
            <p:nvPr/>
          </p:nvSpPr>
          <p:spPr>
            <a:xfrm>
              <a:off x="1793596" y="2361655"/>
              <a:ext cx="8782645" cy="2604095"/>
            </a:xfrm>
            <a:prstGeom prst="rect">
              <a:avLst/>
            </a:prstGeom>
            <a:solidFill>
              <a:srgbClr val="000000">
                <a:alpha val="4000"/>
              </a:srgbClr>
            </a:solidFill>
            <a:ln/>
          </p:spPr>
          <p:txBody>
            <a:bodyPr/>
            <a:lstStyle/>
            <a:p>
              <a:endParaRPr lang="uk-UA" dirty="0"/>
            </a:p>
          </p:txBody>
        </p:sp>
        <p:sp>
          <p:nvSpPr>
            <p:cNvPr id="38" name="Text 6">
              <a:extLst>
                <a:ext uri="{FF2B5EF4-FFF2-40B4-BE49-F238E27FC236}">
                  <a16:creationId xmlns:a16="http://schemas.microsoft.com/office/drawing/2014/main" id="{6FB805CB-8578-4540-8A8E-41697798AEDC}"/>
                </a:ext>
              </a:extLst>
            </p:cNvPr>
            <p:cNvSpPr/>
            <p:nvPr/>
          </p:nvSpPr>
          <p:spPr>
            <a:xfrm>
              <a:off x="1889819" y="2509739"/>
              <a:ext cx="4017863" cy="236934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int 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age = </a:t>
              </a:r>
              <a:r>
                <a:rPr lang="en-US" sz="1600" dirty="0">
                  <a:solidFill>
                    <a:srgbClr val="6897BB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17</a:t>
              </a:r>
              <a: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;</a:t>
              </a:r>
              <a:b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if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(age &lt; </a:t>
              </a:r>
              <a:r>
                <a:rPr lang="en-US" sz="1600" dirty="0">
                  <a:solidFill>
                    <a:srgbClr val="6897BB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18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){</a:t>
              </a:r>
              <a:b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  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System.</a:t>
              </a:r>
              <a:r>
                <a:rPr lang="en-US" sz="1600" i="1" dirty="0" err="1">
                  <a:solidFill>
                    <a:srgbClr val="9876AA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out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.println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(</a:t>
              </a:r>
              <a:r>
                <a:rPr lang="en-US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"</a:t>
              </a:r>
              <a:r>
                <a:rPr lang="uk-UA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Ти ще дитина!"</a:t>
              </a:r>
              <a:r>
                <a:rPr lang="uk-UA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)</a:t>
              </a:r>
              <a: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;</a:t>
              </a:r>
              <a:b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  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System.</a:t>
              </a:r>
              <a:r>
                <a:rPr lang="en-US" sz="1600" i="1" dirty="0" err="1">
                  <a:solidFill>
                    <a:srgbClr val="9876AA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out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.println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(</a:t>
              </a:r>
              <a:r>
                <a:rPr lang="en-US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"</a:t>
              </a:r>
              <a:r>
                <a:rPr lang="uk-UA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Не сперечайся з дорослими!"</a:t>
              </a:r>
              <a:r>
                <a:rPr lang="uk-UA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)</a:t>
              </a:r>
              <a: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;</a:t>
              </a:r>
              <a:b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uk-UA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}</a:t>
              </a:r>
              <a:br>
                <a:rPr lang="uk-UA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else</a:t>
              </a:r>
              <a:b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</a:br>
              <a:r>
                <a:rPr lang="en-US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    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System.</a:t>
              </a:r>
              <a:r>
                <a:rPr lang="en-US" sz="1600" i="1" dirty="0" err="1">
                  <a:solidFill>
                    <a:srgbClr val="9876AA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out</a:t>
              </a:r>
              <a:r>
                <a:rPr lang="en-US" sz="1600" dirty="0" err="1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.println</a:t>
              </a:r>
              <a:r>
                <a:rPr lang="en-US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(</a:t>
              </a:r>
              <a:r>
                <a:rPr lang="en-US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"</a:t>
              </a:r>
              <a:r>
                <a:rPr lang="uk-UA" sz="1600" dirty="0">
                  <a:solidFill>
                    <a:srgbClr val="6A8759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Ти вже дорослий!"</a:t>
              </a:r>
              <a:r>
                <a:rPr lang="uk-UA" sz="1600" dirty="0">
                  <a:solidFill>
                    <a:srgbClr val="A9B7C6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)</a:t>
              </a:r>
              <a:r>
                <a:rPr lang="uk-UA" sz="1600" dirty="0">
                  <a:solidFill>
                    <a:srgbClr val="CC7832"/>
                  </a:solidFill>
                  <a:effectLst/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;</a:t>
              </a:r>
              <a:endParaRPr lang="uk-UA" sz="1600" dirty="0">
                <a:solidFill>
                  <a:srgbClr val="A9B7C6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endParaRPr>
            </a:p>
          </p:txBody>
        </p:sp>
        <p:sp>
          <p:nvSpPr>
            <p:cNvPr id="39" name="Text 7">
              <a:extLst>
                <a:ext uri="{FF2B5EF4-FFF2-40B4-BE49-F238E27FC236}">
                  <a16:creationId xmlns:a16="http://schemas.microsoft.com/office/drawing/2014/main" id="{B102AC64-6169-49AE-A49A-A09C2E5A0EB4}"/>
                </a:ext>
              </a:extLst>
            </p:cNvPr>
            <p:cNvSpPr/>
            <p:nvPr/>
          </p:nvSpPr>
          <p:spPr>
            <a:xfrm>
              <a:off x="6284318" y="2509739"/>
              <a:ext cx="4017863" cy="296168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algn="ctr">
                <a:lnSpc>
                  <a:spcPts val="2332"/>
                </a:lnSpc>
              </a:pPr>
              <a:r>
                <a:rPr lang="en-US" sz="1458" i="1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На екран буде виведено напис:</a:t>
              </a:r>
              <a:endParaRPr lang="en-US" sz="1458" dirty="0"/>
            </a:p>
          </p:txBody>
        </p:sp>
        <p:sp>
          <p:nvSpPr>
            <p:cNvPr id="40" name="Text 8">
              <a:extLst>
                <a:ext uri="{FF2B5EF4-FFF2-40B4-BE49-F238E27FC236}">
                  <a16:creationId xmlns:a16="http://schemas.microsoft.com/office/drawing/2014/main" id="{24467C9E-1DF0-44F1-A2AA-D2D33D77D192}"/>
                </a:ext>
              </a:extLst>
            </p:cNvPr>
            <p:cNvSpPr/>
            <p:nvPr/>
          </p:nvSpPr>
          <p:spPr>
            <a:xfrm>
              <a:off x="6284318" y="2916932"/>
              <a:ext cx="4017863" cy="296168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algn="ctr">
                <a:lnSpc>
                  <a:spcPts val="2332"/>
                </a:lnSpc>
              </a:pPr>
              <a:r>
                <a:rPr lang="en-US" sz="1458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Ти ще дитина!</a:t>
              </a:r>
              <a:endParaRPr lang="en-US" sz="1458" dirty="0"/>
            </a:p>
          </p:txBody>
        </p:sp>
        <p:sp>
          <p:nvSpPr>
            <p:cNvPr id="41" name="Text 9">
              <a:extLst>
                <a:ext uri="{FF2B5EF4-FFF2-40B4-BE49-F238E27FC236}">
                  <a16:creationId xmlns:a16="http://schemas.microsoft.com/office/drawing/2014/main" id="{FAA3B13D-F3F3-4377-AF52-9321EB5B8EB5}"/>
                </a:ext>
              </a:extLst>
            </p:cNvPr>
            <p:cNvSpPr/>
            <p:nvPr/>
          </p:nvSpPr>
          <p:spPr>
            <a:xfrm>
              <a:off x="6284318" y="3324126"/>
              <a:ext cx="4017863" cy="296168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algn="ctr">
                <a:lnSpc>
                  <a:spcPts val="2332"/>
                </a:lnSpc>
              </a:pPr>
              <a:r>
                <a:rPr lang="en-US" sz="1458" dirty="0">
                  <a:solidFill>
                    <a:srgbClr val="272525"/>
                  </a:solidFill>
                  <a:latin typeface="Lato" pitchFamily="34" charset="0"/>
                  <a:ea typeface="Lato" pitchFamily="34" charset="-122"/>
                  <a:cs typeface="Lato" pitchFamily="34" charset="-120"/>
                </a:rPr>
                <a:t>Не сперечайся з дорослими</a:t>
              </a:r>
              <a:endParaRPr lang="en-US" sz="1458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D2F3FF-A204-4722-93C1-77BC01B4D978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Умовні оператори</a:t>
            </a:r>
          </a:p>
        </p:txBody>
      </p:sp>
    </p:spTree>
    <p:extLst>
      <p:ext uri="{BB962C8B-B14F-4D97-AF65-F5344CB8AC3E}">
        <p14:creationId xmlns:p14="http://schemas.microsoft.com/office/powerpoint/2010/main" val="3076510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1FD7B22-E36B-4C66-A3E6-B4716B849801}"/>
              </a:ext>
            </a:extLst>
          </p:cNvPr>
          <p:cNvSpPr txBox="1"/>
          <p:nvPr/>
        </p:nvSpPr>
        <p:spPr>
          <a:xfrm>
            <a:off x="6312578" y="1597402"/>
            <a:ext cx="547709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структури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звертаються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коли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потрібно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вибрати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певний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блок коду з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багатьох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інших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Цей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оператор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ефективно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застосовувати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розгалуженні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коду в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кількох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напрямках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однієї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змінної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598EDE17-7327-468C-B7A7-856A8BBC0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330" y="2239876"/>
            <a:ext cx="4920792" cy="317009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(вираження) {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x: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фрагмент коду 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y: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фрагмент коду 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фрагмент коду 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uk-UA" altLang="uk-UA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226B0B1-AAF1-4199-B942-256026DFD8B9}"/>
              </a:ext>
            </a:extLst>
          </p:cNvPr>
          <p:cNvSpPr/>
          <p:nvPr/>
        </p:nvSpPr>
        <p:spPr>
          <a:xfrm flipH="1">
            <a:off x="6175419" y="1703011"/>
            <a:ext cx="58720" cy="383047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417950-3A6A-4290-9FBB-D8B1A85791BB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Switch-case</a:t>
            </a:r>
            <a:endParaRPr lang="uk-UA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003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E036ABD4-422D-443B-A0BE-FB5837854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86" y="1292292"/>
            <a:ext cx="5343428" cy="480131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“”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en-US" altLang="uk-UA" b="0" i="0" u="none" strike="noStrike" cap="none" normalizeH="0" baseline="0" dirty="0">
              <a:ln>
                <a:noFill/>
              </a:ln>
              <a:solidFill>
                <a:srgbClr val="CC7832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"Маленький"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"Середній"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"Великий"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"Не відомо"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System.</a:t>
            </a:r>
            <a:r>
              <a:rPr kumimoji="0" lang="uk-UA" altLang="uk-UA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.println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1A9C53-3CC4-4E2A-9C66-37A92CFF9421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Switch-case</a:t>
            </a:r>
            <a:endParaRPr lang="uk-UA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010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993AF7-8730-44B6-9A3F-45500C2989E3}"/>
              </a:ext>
            </a:extLst>
          </p:cNvPr>
          <p:cNvSpPr txBox="1"/>
          <p:nvPr/>
        </p:nvSpPr>
        <p:spPr>
          <a:xfrm>
            <a:off x="435990" y="1884198"/>
            <a:ext cx="609442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результат = (умова) ?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значення_якщо_умова_правдива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значення_якщо_умова_хибна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uk-UA" dirty="0"/>
          </a:p>
          <a:p>
            <a:r>
              <a:rPr lang="uk-UA" dirty="0"/>
              <a:t>Ось приклад використання </a:t>
            </a:r>
            <a:r>
              <a:rPr lang="uk-UA" dirty="0" err="1"/>
              <a:t>тернарної</a:t>
            </a:r>
            <a:r>
              <a:rPr lang="uk-UA" dirty="0"/>
              <a:t> операції:</a:t>
            </a:r>
          </a:p>
          <a:p>
            <a:endParaRPr lang="uk-UA" dirty="0"/>
          </a:p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число1 = 10;</a:t>
            </a:r>
          </a:p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число2 = 20;</a:t>
            </a:r>
          </a:p>
          <a:p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більше_число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= (число1 &gt; число2) ? число1 : число2;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 result = true ? 1 : 0;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System.out.println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("Більше число: " +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більше_число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8E990-3399-43FE-86B5-CA39583DA34A}"/>
              </a:ext>
            </a:extLst>
          </p:cNvPr>
          <p:cNvSpPr txBox="1"/>
          <p:nvPr/>
        </p:nvSpPr>
        <p:spPr>
          <a:xfrm>
            <a:off x="7248795" y="3429000"/>
            <a:ext cx="476996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 цьому прикладі `</a:t>
            </a:r>
            <a:r>
              <a:rPr lang="uk-UA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більше_число</a:t>
            </a:r>
            <a:r>
              <a:rPr lang="uk-U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отримує значення `число1`, якщо `число1` більше `число2`, інакше воно отримує значення `число2`. Таким чином, відображається більше з двох чисел.</a:t>
            </a:r>
          </a:p>
          <a:p>
            <a:endParaRPr lang="uk-UA" dirty="0"/>
          </a:p>
        </p:txBody>
      </p:sp>
      <p:sp>
        <p:nvSpPr>
          <p:cNvPr id="6" name="Shape4326">
            <a:extLst>
              <a:ext uri="{FF2B5EF4-FFF2-40B4-BE49-F238E27FC236}">
                <a16:creationId xmlns:a16="http://schemas.microsoft.com/office/drawing/2014/main" id="{5A92C31C-0A4F-4A69-A72F-6F279E3E06E2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 flipH="1">
            <a:off x="7203076" y="3431842"/>
            <a:ext cx="45719" cy="23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rgbClr val="FFFFFF"/>
                </a:solidFill>
                <a:latin typeface="Comfortaa"/>
                <a:ea typeface="+mn-ea"/>
                <a:cs typeface="+mn-cs"/>
              </a:defRPr>
            </a:lvl9pPr>
          </a:lstStyle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87130A-1FEF-4991-BC3B-E1B6DBEEFFA6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uk-UA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Тернарна</a:t>
            </a:r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операція</a:t>
            </a:r>
          </a:p>
        </p:txBody>
      </p:sp>
    </p:spTree>
    <p:extLst>
      <p:ext uri="{BB962C8B-B14F-4D97-AF65-F5344CB8AC3E}">
        <p14:creationId xmlns:p14="http://schemas.microsoft.com/office/powerpoint/2010/main" val="3129509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8A87130A-1FEF-4991-BC3B-E1B6DBEEFFA6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Приклад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D67CBA-22CB-47A2-BB12-52585148ACED}"/>
              </a:ext>
            </a:extLst>
          </p:cNvPr>
          <p:cNvSpPr txBox="1"/>
          <p:nvPr/>
        </p:nvSpPr>
        <p:spPr>
          <a:xfrm>
            <a:off x="447675" y="123640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Напишіть</a:t>
            </a:r>
            <a:r>
              <a:rPr lang="ru-RU" dirty="0"/>
              <a:t> </a:t>
            </a:r>
            <a:r>
              <a:rPr lang="ru-RU" dirty="0" err="1"/>
              <a:t>програму</a:t>
            </a:r>
            <a:r>
              <a:rPr lang="ru-RU" dirty="0"/>
              <a:t>, яка </a:t>
            </a:r>
            <a:r>
              <a:rPr lang="ru-RU" dirty="0" err="1"/>
              <a:t>запитує</a:t>
            </a:r>
            <a:r>
              <a:rPr lang="ru-RU" dirty="0"/>
              <a:t> </a:t>
            </a:r>
            <a:r>
              <a:rPr lang="ru-RU" dirty="0" err="1"/>
              <a:t>вік</a:t>
            </a:r>
            <a:r>
              <a:rPr lang="ru-RU" dirty="0"/>
              <a:t> </a:t>
            </a:r>
            <a:r>
              <a:rPr lang="ru-RU" dirty="0" err="1"/>
              <a:t>користувача</a:t>
            </a:r>
            <a:r>
              <a:rPr lang="ru-RU" dirty="0"/>
              <a:t> та </a:t>
            </a:r>
            <a:r>
              <a:rPr lang="ru-RU" dirty="0" err="1"/>
              <a:t>виводить</a:t>
            </a:r>
            <a:r>
              <a:rPr lang="ru-RU" dirty="0"/>
              <a:t> </a:t>
            </a:r>
            <a:r>
              <a:rPr lang="ru-RU" dirty="0" err="1"/>
              <a:t>повідомлення</a:t>
            </a:r>
            <a:r>
              <a:rPr lang="ru-RU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err="1"/>
              <a:t>Якщо</a:t>
            </a:r>
            <a:r>
              <a:rPr lang="ru-RU" dirty="0"/>
              <a:t> </a:t>
            </a:r>
            <a:r>
              <a:rPr lang="ru-RU" dirty="0" err="1"/>
              <a:t>вік</a:t>
            </a:r>
            <a:r>
              <a:rPr lang="ru-RU" dirty="0"/>
              <a:t> </a:t>
            </a:r>
            <a:r>
              <a:rPr lang="ru-RU" dirty="0" err="1"/>
              <a:t>менше</a:t>
            </a:r>
            <a:r>
              <a:rPr lang="ru-RU" dirty="0"/>
              <a:t> 21 — "Ви можете </a:t>
            </a:r>
            <a:r>
              <a:rPr lang="ru-RU" dirty="0" err="1"/>
              <a:t>пити</a:t>
            </a:r>
            <a:r>
              <a:rPr lang="ru-RU" dirty="0"/>
              <a:t> </a:t>
            </a:r>
            <a:r>
              <a:rPr lang="ru-RU" dirty="0" err="1"/>
              <a:t>енергетик</a:t>
            </a:r>
            <a:r>
              <a:rPr lang="ru-RU" dirty="0"/>
              <a:t>".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err="1"/>
              <a:t>Інакше</a:t>
            </a:r>
            <a:r>
              <a:rPr lang="ru-RU" dirty="0"/>
              <a:t> — "Ви </a:t>
            </a:r>
            <a:r>
              <a:rPr lang="ru-RU" dirty="0" err="1"/>
              <a:t>маєте</a:t>
            </a:r>
            <a:r>
              <a:rPr lang="ru-RU" dirty="0"/>
              <a:t> право </a:t>
            </a:r>
            <a:r>
              <a:rPr lang="ru-RU" dirty="0" err="1"/>
              <a:t>голосувати</a:t>
            </a:r>
            <a:r>
              <a:rPr lang="ru-RU" dirty="0"/>
              <a:t>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578DE-38A7-4A9E-9541-872BDED469F9}"/>
              </a:ext>
            </a:extLst>
          </p:cNvPr>
          <p:cNvSpPr txBox="1"/>
          <p:nvPr/>
        </p:nvSpPr>
        <p:spPr>
          <a:xfrm>
            <a:off x="447675" y="3044250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Console.Write</a:t>
            </a:r>
            <a:r>
              <a:rPr lang="uk-UA" dirty="0"/>
              <a:t>("Введіть свій вік: ");</a:t>
            </a:r>
          </a:p>
          <a:p>
            <a:r>
              <a:rPr lang="uk-UA" dirty="0" err="1"/>
              <a:t>int</a:t>
            </a:r>
            <a:r>
              <a:rPr lang="uk-UA" dirty="0"/>
              <a:t> </a:t>
            </a:r>
            <a:r>
              <a:rPr lang="uk-UA" dirty="0" err="1"/>
              <a:t>age</a:t>
            </a:r>
            <a:r>
              <a:rPr lang="uk-UA" dirty="0"/>
              <a:t> = </a:t>
            </a:r>
            <a:r>
              <a:rPr lang="uk-UA" dirty="0" err="1"/>
              <a:t>int.Parse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if</a:t>
            </a:r>
            <a:r>
              <a:rPr lang="uk-UA" dirty="0"/>
              <a:t> (</a:t>
            </a:r>
            <a:r>
              <a:rPr lang="uk-UA" dirty="0" err="1"/>
              <a:t>age</a:t>
            </a:r>
            <a:r>
              <a:rPr lang="uk-UA" dirty="0"/>
              <a:t> &lt; 21)</a:t>
            </a:r>
          </a:p>
          <a:p>
            <a:r>
              <a:rPr lang="uk-UA" dirty="0"/>
              <a:t>{</a:t>
            </a:r>
          </a:p>
          <a:p>
            <a:r>
              <a:rPr lang="uk-UA" dirty="0"/>
              <a:t>    </a:t>
            </a:r>
            <a:r>
              <a:rPr lang="uk-UA" dirty="0" err="1"/>
              <a:t>Console.WriteLine</a:t>
            </a:r>
            <a:r>
              <a:rPr lang="uk-UA" dirty="0"/>
              <a:t>("</a:t>
            </a:r>
            <a:r>
              <a:rPr lang="ru-RU" dirty="0"/>
              <a:t> Ви можете </a:t>
            </a:r>
            <a:r>
              <a:rPr lang="ru-RU" dirty="0" err="1"/>
              <a:t>пити</a:t>
            </a:r>
            <a:r>
              <a:rPr lang="ru-RU" dirty="0"/>
              <a:t> </a:t>
            </a:r>
            <a:r>
              <a:rPr lang="ru-RU" dirty="0" err="1"/>
              <a:t>енергетик</a:t>
            </a:r>
            <a:r>
              <a:rPr lang="ru-RU" dirty="0"/>
              <a:t> </a:t>
            </a:r>
            <a:r>
              <a:rPr lang="uk-UA" dirty="0"/>
              <a:t>");</a:t>
            </a:r>
          </a:p>
          <a:p>
            <a:r>
              <a:rPr lang="uk-UA" dirty="0"/>
              <a:t>}</a:t>
            </a:r>
          </a:p>
          <a:p>
            <a:r>
              <a:rPr lang="uk-UA" dirty="0" err="1"/>
              <a:t>else</a:t>
            </a:r>
            <a:endParaRPr lang="uk-UA" dirty="0"/>
          </a:p>
          <a:p>
            <a:r>
              <a:rPr lang="uk-UA" dirty="0"/>
              <a:t>{</a:t>
            </a:r>
          </a:p>
          <a:p>
            <a:r>
              <a:rPr lang="uk-UA" dirty="0"/>
              <a:t>    </a:t>
            </a:r>
            <a:r>
              <a:rPr lang="uk-UA" dirty="0" err="1"/>
              <a:t>Console.WriteLine</a:t>
            </a:r>
            <a:r>
              <a:rPr lang="uk-UA" dirty="0"/>
              <a:t>("Ви маєте право голосувати");</a:t>
            </a:r>
          </a:p>
          <a:p>
            <a:r>
              <a:rPr lang="uk-UA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275326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8A87130A-1FEF-4991-BC3B-E1B6DBEEFFA6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Приклад 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A13406-B855-442D-8000-689F73E02A47}"/>
              </a:ext>
            </a:extLst>
          </p:cNvPr>
          <p:cNvSpPr txBox="1"/>
          <p:nvPr/>
        </p:nvSpPr>
        <p:spPr>
          <a:xfrm>
            <a:off x="5259798" y="305039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Console.Write</a:t>
            </a:r>
            <a:r>
              <a:rPr lang="en-US" dirty="0"/>
              <a:t>("</a:t>
            </a:r>
            <a:r>
              <a:rPr lang="uk-UA" dirty="0"/>
              <a:t>Введіть номер служби доставки (1–4): ");</a:t>
            </a:r>
          </a:p>
          <a:p>
            <a:r>
              <a:rPr lang="en-US" dirty="0"/>
              <a:t>int delivery = </a:t>
            </a:r>
            <a:r>
              <a:rPr lang="en-US" dirty="0" err="1"/>
              <a:t>int.Parse</a:t>
            </a:r>
            <a:r>
              <a:rPr lang="en-US" dirty="0"/>
              <a:t>(</a:t>
            </a:r>
            <a:r>
              <a:rPr lang="en-US" dirty="0" err="1"/>
              <a:t>Console.ReadLine</a:t>
            </a:r>
            <a:r>
              <a:rPr lang="en-US" dirty="0"/>
              <a:t>());</a:t>
            </a:r>
          </a:p>
          <a:p>
            <a:endParaRPr lang="en-US" dirty="0"/>
          </a:p>
          <a:p>
            <a:r>
              <a:rPr lang="en-US" dirty="0"/>
              <a:t>switch (delivery)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  case 1:</a:t>
            </a:r>
          </a:p>
          <a:p>
            <a:r>
              <a:rPr lang="en-US" dirty="0"/>
              <a:t>        </a:t>
            </a:r>
            <a:r>
              <a:rPr lang="en-US" dirty="0" err="1"/>
              <a:t>Console.WriteLine</a:t>
            </a:r>
            <a:r>
              <a:rPr lang="en-US" dirty="0"/>
              <a:t>("</a:t>
            </a:r>
            <a:r>
              <a:rPr lang="uk-UA" dirty="0"/>
              <a:t>Нова Пошта");</a:t>
            </a:r>
          </a:p>
          <a:p>
            <a:r>
              <a:rPr lang="uk-UA" dirty="0"/>
              <a:t>        </a:t>
            </a:r>
            <a:r>
              <a:rPr lang="en-US" dirty="0"/>
              <a:t>break;</a:t>
            </a:r>
          </a:p>
          <a:p>
            <a:r>
              <a:rPr lang="en-US" dirty="0"/>
              <a:t>    case 2:</a:t>
            </a:r>
          </a:p>
          <a:p>
            <a:r>
              <a:rPr lang="en-US" dirty="0"/>
              <a:t>        </a:t>
            </a:r>
            <a:r>
              <a:rPr lang="en-US" dirty="0" err="1"/>
              <a:t>Console.WriteLine</a:t>
            </a:r>
            <a:r>
              <a:rPr lang="en-US" dirty="0"/>
              <a:t>("</a:t>
            </a:r>
            <a:r>
              <a:rPr lang="uk-UA" dirty="0"/>
              <a:t>Укрпошта");</a:t>
            </a:r>
          </a:p>
          <a:p>
            <a:r>
              <a:rPr lang="uk-UA" dirty="0"/>
              <a:t>        </a:t>
            </a:r>
            <a:r>
              <a:rPr lang="en-US" dirty="0"/>
              <a:t>break;</a:t>
            </a:r>
          </a:p>
          <a:p>
            <a:r>
              <a:rPr lang="en-US" dirty="0"/>
              <a:t>    case 3:</a:t>
            </a:r>
          </a:p>
          <a:p>
            <a:r>
              <a:rPr lang="en-US" dirty="0"/>
              <a:t>        </a:t>
            </a:r>
            <a:r>
              <a:rPr lang="en-US" dirty="0" err="1"/>
              <a:t>Console.WriteLine</a:t>
            </a:r>
            <a:r>
              <a:rPr lang="en-US" dirty="0"/>
              <a:t>("</a:t>
            </a:r>
            <a:r>
              <a:rPr lang="en-US" dirty="0" err="1"/>
              <a:t>Meest</a:t>
            </a:r>
            <a:r>
              <a:rPr lang="en-US" dirty="0"/>
              <a:t>");</a:t>
            </a:r>
          </a:p>
          <a:p>
            <a:r>
              <a:rPr lang="en-US" dirty="0"/>
              <a:t>        break;</a:t>
            </a:r>
          </a:p>
          <a:p>
            <a:r>
              <a:rPr lang="en-US" dirty="0"/>
              <a:t>    case 4:</a:t>
            </a:r>
          </a:p>
          <a:p>
            <a:r>
              <a:rPr lang="en-US" dirty="0"/>
              <a:t>        </a:t>
            </a:r>
            <a:r>
              <a:rPr lang="en-US" dirty="0" err="1"/>
              <a:t>Console.WriteLine</a:t>
            </a:r>
            <a:r>
              <a:rPr lang="en-US" dirty="0"/>
              <a:t>("Justin");</a:t>
            </a:r>
          </a:p>
          <a:p>
            <a:r>
              <a:rPr lang="en-US" dirty="0"/>
              <a:t>        break;</a:t>
            </a:r>
          </a:p>
          <a:p>
            <a:r>
              <a:rPr lang="en-US" dirty="0"/>
              <a:t>    default:</a:t>
            </a:r>
          </a:p>
          <a:p>
            <a:r>
              <a:rPr lang="en-US" dirty="0"/>
              <a:t>        </a:t>
            </a:r>
            <a:r>
              <a:rPr lang="en-US" dirty="0" err="1"/>
              <a:t>Console.WriteLine</a:t>
            </a:r>
            <a:r>
              <a:rPr lang="en-US" dirty="0"/>
              <a:t>("</a:t>
            </a:r>
            <a:r>
              <a:rPr lang="uk-UA" dirty="0"/>
              <a:t>Невідома компанія доставки");</a:t>
            </a:r>
          </a:p>
          <a:p>
            <a:r>
              <a:rPr lang="uk-UA" dirty="0"/>
              <a:t>        </a:t>
            </a:r>
            <a:r>
              <a:rPr lang="en-US" dirty="0"/>
              <a:t>break;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A4DB9FB-36AE-4340-8593-32E95E03A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376" y="1074480"/>
            <a:ext cx="4090220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 вводить номер служби доставки (від 1 до 4). Програма повинна вивести назву відповідної компанії: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 — "Нова Пошта"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 — "Укрпошта"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 —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Meest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 —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Justin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будь-якого іншого значення — "Невідома компанія доставки"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038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8A87130A-1FEF-4991-BC3B-E1B6DBEEFFA6}"/>
              </a:ext>
            </a:extLst>
          </p:cNvPr>
          <p:cNvSpPr txBox="1"/>
          <p:nvPr/>
        </p:nvSpPr>
        <p:spPr>
          <a:xfrm>
            <a:off x="0" y="305039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Приклад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8AC6E-D634-4C9B-96DC-D376A9FBA1B7}"/>
              </a:ext>
            </a:extLst>
          </p:cNvPr>
          <p:cNvSpPr txBox="1"/>
          <p:nvPr/>
        </p:nvSpPr>
        <p:spPr>
          <a:xfrm>
            <a:off x="294968" y="12089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Запитай у </a:t>
            </a:r>
            <a:r>
              <a:rPr lang="ru-RU" dirty="0" err="1"/>
              <a:t>користувача</a:t>
            </a:r>
            <a:r>
              <a:rPr lang="ru-RU" dirty="0"/>
              <a:t> температуру. </a:t>
            </a:r>
            <a:r>
              <a:rPr lang="ru-RU" dirty="0" err="1"/>
              <a:t>Якщо</a:t>
            </a:r>
            <a:r>
              <a:rPr lang="ru-RU" dirty="0"/>
              <a:t> </a:t>
            </a:r>
            <a:r>
              <a:rPr lang="ru-RU" dirty="0" err="1"/>
              <a:t>більше</a:t>
            </a:r>
            <a:r>
              <a:rPr lang="ru-RU" dirty="0"/>
              <a:t> </a:t>
            </a:r>
            <a:r>
              <a:rPr lang="ru-RU" dirty="0" err="1"/>
              <a:t>або</a:t>
            </a:r>
            <a:r>
              <a:rPr lang="ru-RU" dirty="0"/>
              <a:t> </a:t>
            </a:r>
            <a:r>
              <a:rPr lang="ru-RU" dirty="0" err="1"/>
              <a:t>дорівнює</a:t>
            </a:r>
            <a:r>
              <a:rPr lang="ru-RU" dirty="0"/>
              <a:t> 25 </a:t>
            </a:r>
            <a:r>
              <a:rPr lang="ru-RU" dirty="0" err="1"/>
              <a:t>градусів</a:t>
            </a:r>
            <a:r>
              <a:rPr lang="ru-RU" dirty="0"/>
              <a:t> — </a:t>
            </a:r>
            <a:r>
              <a:rPr lang="ru-RU" dirty="0" err="1"/>
              <a:t>виведи</a:t>
            </a:r>
            <a:r>
              <a:rPr lang="ru-RU" dirty="0"/>
              <a:t> "Тепло", </a:t>
            </a:r>
            <a:r>
              <a:rPr lang="ru-RU" dirty="0" err="1"/>
              <a:t>інакше</a:t>
            </a:r>
            <a:r>
              <a:rPr lang="ru-RU" dirty="0"/>
              <a:t> — "</a:t>
            </a:r>
            <a:r>
              <a:rPr lang="ru-RU" dirty="0" err="1"/>
              <a:t>Прохолодно</a:t>
            </a:r>
            <a:r>
              <a:rPr lang="ru-RU" dirty="0"/>
              <a:t>".</a:t>
            </a:r>
            <a:br>
              <a:rPr lang="ru-RU" dirty="0"/>
            </a:br>
            <a:r>
              <a:rPr lang="ru-RU" dirty="0" err="1"/>
              <a:t>Використай</a:t>
            </a:r>
            <a:r>
              <a:rPr lang="ru-RU" dirty="0"/>
              <a:t> </a:t>
            </a:r>
            <a:r>
              <a:rPr lang="ru-RU" dirty="0" err="1"/>
              <a:t>тернарну</a:t>
            </a:r>
            <a:r>
              <a:rPr lang="ru-RU" dirty="0"/>
              <a:t> </a:t>
            </a:r>
            <a:r>
              <a:rPr lang="ru-RU" dirty="0" err="1"/>
              <a:t>операцію</a:t>
            </a:r>
            <a:r>
              <a:rPr lang="ru-RU" dirty="0"/>
              <a:t>.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83F77A-8154-4162-B218-6DADB3C078F7}"/>
              </a:ext>
            </a:extLst>
          </p:cNvPr>
          <p:cNvSpPr txBox="1"/>
          <p:nvPr/>
        </p:nvSpPr>
        <p:spPr>
          <a:xfrm>
            <a:off x="294968" y="36313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/>
              <a:t>Console.Write</a:t>
            </a:r>
            <a:r>
              <a:rPr lang="uk-UA" dirty="0"/>
              <a:t>("Введіть температуру: ");</a:t>
            </a:r>
          </a:p>
          <a:p>
            <a:r>
              <a:rPr lang="uk-UA" dirty="0" err="1"/>
              <a:t>int</a:t>
            </a:r>
            <a:r>
              <a:rPr lang="uk-UA" dirty="0"/>
              <a:t> </a:t>
            </a:r>
            <a:r>
              <a:rPr lang="uk-UA" dirty="0" err="1"/>
              <a:t>temp</a:t>
            </a:r>
            <a:r>
              <a:rPr lang="uk-UA" dirty="0"/>
              <a:t> = </a:t>
            </a:r>
            <a:r>
              <a:rPr lang="uk-UA" dirty="0" err="1"/>
              <a:t>int.Parse</a:t>
            </a:r>
            <a:r>
              <a:rPr lang="uk-UA" dirty="0"/>
              <a:t>(</a:t>
            </a:r>
            <a:r>
              <a:rPr lang="uk-UA" dirty="0" err="1"/>
              <a:t>Console.ReadLine</a:t>
            </a:r>
            <a:r>
              <a:rPr lang="uk-UA" dirty="0"/>
              <a:t>());</a:t>
            </a:r>
          </a:p>
          <a:p>
            <a:endParaRPr lang="uk-UA" dirty="0"/>
          </a:p>
          <a:p>
            <a:r>
              <a:rPr lang="uk-UA" dirty="0" err="1"/>
              <a:t>string</a:t>
            </a:r>
            <a:r>
              <a:rPr lang="uk-UA" dirty="0"/>
              <a:t> </a:t>
            </a:r>
            <a:r>
              <a:rPr lang="uk-UA" dirty="0" err="1"/>
              <a:t>result</a:t>
            </a:r>
            <a:r>
              <a:rPr lang="uk-UA" dirty="0"/>
              <a:t> = (</a:t>
            </a:r>
            <a:r>
              <a:rPr lang="uk-UA" dirty="0" err="1"/>
              <a:t>temp</a:t>
            </a:r>
            <a:r>
              <a:rPr lang="uk-UA" dirty="0"/>
              <a:t> &gt;= 25) ? "Тепло" : "Прохолодно";</a:t>
            </a:r>
          </a:p>
          <a:p>
            <a:r>
              <a:rPr lang="uk-UA" dirty="0" err="1"/>
              <a:t>Console.WriteLine</a:t>
            </a:r>
            <a:r>
              <a:rPr lang="uk-UA" dirty="0"/>
              <a:t>(</a:t>
            </a:r>
            <a:r>
              <a:rPr lang="uk-UA" dirty="0" err="1"/>
              <a:t>result</a:t>
            </a:r>
            <a:r>
              <a:rPr lang="uk-UA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429141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1024</Words>
  <Application>Microsoft Office PowerPoint</Application>
  <PresentationFormat>Широкий екран</PresentationFormat>
  <Paragraphs>116</Paragraphs>
  <Slides>11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11</vt:i4>
      </vt:variant>
    </vt:vector>
  </HeadingPairs>
  <TitlesOfParts>
    <vt:vector size="21" baseType="lpstr">
      <vt:lpstr>Arial</vt:lpstr>
      <vt:lpstr>Bahnschrift Light</vt:lpstr>
      <vt:lpstr>Bahnschrift Light SemiCondensed</vt:lpstr>
      <vt:lpstr>Calibri</vt:lpstr>
      <vt:lpstr>Calibri Light</vt:lpstr>
      <vt:lpstr>Comfortaa</vt:lpstr>
      <vt:lpstr>Courier New</vt:lpstr>
      <vt:lpstr>Lato</vt:lpstr>
      <vt:lpstr>Times New Roman</vt:lpstr>
      <vt:lpstr>Тема Office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71</cp:revision>
  <dcterms:created xsi:type="dcterms:W3CDTF">2023-10-21T18:35:06Z</dcterms:created>
  <dcterms:modified xsi:type="dcterms:W3CDTF">2025-07-27T17:38:36Z</dcterms:modified>
</cp:coreProperties>
</file>