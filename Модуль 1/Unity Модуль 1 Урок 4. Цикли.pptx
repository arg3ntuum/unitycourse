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7" r:id="rId22"/>
    <p:sldId id="288" r:id="rId23"/>
    <p:sldId id="286" r:id="rId2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із теми 1 –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97b40b3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6397b40b3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397b40b3b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6397b40b3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397b40b3b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6397b40b3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6397b40b3b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397b40b3b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6397b40b3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6397b40b3b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397b40b3b_0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6397b40b3b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397b40b3b_0_2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6397b40b3b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397b40b3b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397b40b3b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97b40b3b_0_4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6397b40b3b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397b40b3b_0_4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6397b40b3b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397b40b3b_0_5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6397b40b3b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397b40b3b_0_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12</a:t>
            </a:fld>
            <a:endParaRPr/>
          </a:p>
        </p:txBody>
      </p:sp>
      <p:sp>
        <p:nvSpPr>
          <p:cNvPr id="139" name="Google Shape;139;g36397b40b3b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6397b40b3b_0_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397b40b3b_0_6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13</a:t>
            </a:fld>
            <a:endParaRPr/>
          </a:p>
        </p:txBody>
      </p:sp>
      <p:sp>
        <p:nvSpPr>
          <p:cNvPr id="149" name="Google Shape;149;g36397b40b3b_0_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6397b40b3b_0_6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397b40b3b_0_6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14</a:t>
            </a:fld>
            <a:endParaRPr/>
          </a:p>
        </p:txBody>
      </p:sp>
      <p:sp>
        <p:nvSpPr>
          <p:cNvPr id="163" name="Google Shape;163;g36397b40b3b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6397b40b3b_0_6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397b40b3b_0_9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15</a:t>
            </a:fld>
            <a:endParaRPr/>
          </a:p>
        </p:txBody>
      </p:sp>
      <p:sp>
        <p:nvSpPr>
          <p:cNvPr id="172" name="Google Shape;172;g36397b40b3b_0_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6397b40b3b_0_9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397b40b3b_0_9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16</a:t>
            </a:fld>
            <a:endParaRPr/>
          </a:p>
        </p:txBody>
      </p:sp>
      <p:sp>
        <p:nvSpPr>
          <p:cNvPr id="182" name="Google Shape;182;g36397b40b3b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6397b40b3b_0_9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397b40b3b_0_9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17</a:t>
            </a:fld>
            <a:endParaRPr/>
          </a:p>
        </p:txBody>
      </p:sp>
      <p:sp>
        <p:nvSpPr>
          <p:cNvPr id="193" name="Google Shape;193;g36397b40b3b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6397b40b3b_0_9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397b40b3b_0_7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18</a:t>
            </a:fld>
            <a:endParaRPr/>
          </a:p>
        </p:txBody>
      </p:sp>
      <p:sp>
        <p:nvSpPr>
          <p:cNvPr id="203" name="Google Shape;203;g36397b40b3b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6397b40b3b_0_7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397b40b3b_0_7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19</a:t>
            </a:fld>
            <a:endParaRPr/>
          </a:p>
        </p:txBody>
      </p:sp>
      <p:sp>
        <p:nvSpPr>
          <p:cNvPr id="212" name="Google Shape;212;g36397b40b3b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6397b40b3b_0_7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397b40b3b_0_8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397b40b3b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397b40b3b_0_8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397b40b3b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011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397b40b3b_0_8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397b40b3b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07736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397b40b3b_0_8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397b40b3b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10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71700" y="3568704"/>
            <a:ext cx="5448607" cy="192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Цикли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 descr="Оператор while - 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 descr="Оператор while - 2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248400" y="3581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153" y="1433860"/>
            <a:ext cx="6504000" cy="3458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14300" dist="9000" dir="899999" sy="98000" kx="109970" ky="199851" algn="tl" rotWithShape="0">
              <a:srgbClr val="000000">
                <a:alpha val="29800"/>
              </a:srgbClr>
            </a:outerShdw>
          </a:effectLst>
        </p:spPr>
      </p:pic>
      <p:sp>
        <p:nvSpPr>
          <p:cNvPr id="64" name="Google Shape;64;p14"/>
          <p:cNvSpPr txBox="1"/>
          <p:nvPr/>
        </p:nvSpPr>
        <p:spPr>
          <a:xfrm>
            <a:off x="7231656" y="1658801"/>
            <a:ext cx="45800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Допустимо у вас 10 яблук, 2 руки та один ніж. У житті ви послідовно чистите весь десяток, керуючись одним і тим самим алгоритмом. А як змусити програму робити повторювану дію з кожним яблуком?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185937" y="1658801"/>
            <a:ext cx="45600" cy="35396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68133" y="211967"/>
            <a:ext cx="4892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uk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Логічна задача</a:t>
            </a:r>
            <a:endParaRPr sz="146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255984" y="1188404"/>
            <a:ext cx="116800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(кількістьЯблукУКошику&gt;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 sz="1467"/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яблуко = кошик.ВзятиЯблуко(); покластиЯблукоУПиріг(яблоко.чистити().нарізати());</a:t>
            </a:r>
            <a:endParaRPr sz="1467"/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кількістьЯблукУКошику --;</a:t>
            </a:r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//-- це декремент, зменшує кількість яблук на 1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467"/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</a:t>
            </a:r>
            <a:r>
              <a:rPr lang="uk" sz="2000">
                <a:solidFill>
                  <a:srgbClr val="900606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20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‘Яблоки у пирігу.'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03200" y="203201"/>
            <a:ext cx="1168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Рішення задачі за допомогою while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570141" y="2509301"/>
            <a:ext cx="8080800" cy="305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3600" b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Особливості:</a:t>
            </a:r>
            <a:endParaRPr sz="1467"/>
          </a:p>
          <a:p>
            <a:pPr marL="626518" lvl="1" indent="-262460">
              <a:spcBef>
                <a:spcPts val="400"/>
              </a:spcBef>
              <a:buClr>
                <a:schemeClr val="dk1"/>
              </a:buClr>
              <a:buSzPts val="2100"/>
              <a:buFont typeface="Arial"/>
              <a:buChar char="•"/>
            </a:pPr>
            <a:r>
              <a:rPr lang="uk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Можно використовувати складні умови: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591" lvl="1">
              <a:spcBef>
                <a:spcPts val="400"/>
              </a:spcBef>
            </a:pP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 ( a &lt; b &amp;&amp; b &lt; c ) { ... }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1182" lvl="1" indent="-347125">
              <a:spcBef>
                <a:spcPts val="400"/>
              </a:spcBef>
              <a:buClr>
                <a:schemeClr val="dk1"/>
              </a:buClr>
              <a:buSzPts val="2100"/>
              <a:buFont typeface="Arial"/>
              <a:buChar char="•"/>
            </a:pPr>
            <a:r>
              <a:rPr lang="uk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якщо в тілі циклу тільки один оператор,</a:t>
            </a:r>
            <a:endParaRPr sz="1467"/>
          </a:p>
          <a:p>
            <a:pPr marL="355591" lvl="1"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 скобки </a:t>
            </a:r>
            <a:r>
              <a:rPr lang="uk" sz="2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uk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можно не писати: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591" lvl="1">
              <a:spcBef>
                <a:spcPts val="400"/>
              </a:spcBef>
            </a:pP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 a &lt; b ) a ++;</a:t>
            </a:r>
            <a:endParaRPr sz="2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27913" y="3232467"/>
            <a:ext cx="4542000" cy="169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 </a:t>
            </a:r>
            <a:r>
              <a:rPr lang="uk" sz="3200" i="1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умова</a:t>
            </a:r>
            <a:r>
              <a:rPr lang="uk" sz="32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467"/>
          </a:p>
          <a:p>
            <a:pPr marL="169329" indent="-169329">
              <a:spcBef>
                <a:spcPts val="533"/>
              </a:spcBef>
            </a:pPr>
            <a:r>
              <a:rPr lang="uk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uk" sz="32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uk" sz="3200" i="1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тіло циклу</a:t>
            </a:r>
            <a:r>
              <a:rPr lang="uk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1467"/>
          </a:p>
          <a:p>
            <a:pPr marL="169329" indent="-169329">
              <a:spcBef>
                <a:spcPts val="533"/>
              </a:spcBef>
            </a:pPr>
            <a:r>
              <a:rPr lang="uk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67"/>
          </a:p>
        </p:txBody>
      </p:sp>
      <p:sp>
        <p:nvSpPr>
          <p:cNvPr id="80" name="Google Shape;80;p16"/>
          <p:cNvSpPr/>
          <p:nvPr/>
        </p:nvSpPr>
        <p:spPr>
          <a:xfrm flipH="1">
            <a:off x="4570127" y="5673025"/>
            <a:ext cx="7408000" cy="728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3200" y="203201"/>
            <a:ext cx="6874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з умовою</a:t>
            </a:r>
            <a:endParaRPr sz="1467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224400" y="2059934"/>
            <a:ext cx="7743200" cy="37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626518" lvl="1" indent="-270927"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умова перераховується кожен раз при вході до циклу </a:t>
            </a:r>
            <a:endParaRPr sz="1467"/>
          </a:p>
          <a:p>
            <a:pPr marL="626518" lvl="1" indent="-270927">
              <a:spcBef>
                <a:spcPts val="400"/>
              </a:spcBef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умова на вході в цикл false, то цикл не виконується взагалі </a:t>
            </a:r>
            <a:endParaRPr sz="1467"/>
          </a:p>
          <a:p>
            <a:pPr marL="169329" indent="-169329">
              <a:spcBef>
                <a:spcPts val="400"/>
              </a:spcBef>
            </a:pP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a = 4; b = 6;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69329" indent="-169329">
              <a:spcBef>
                <a:spcPts val="400"/>
              </a:spcBef>
            </a:pP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while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a &gt; b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6518" lvl="1" indent="-270927">
              <a:spcBef>
                <a:spcPts val="400"/>
              </a:spcBef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умова ніколи не становиться false, то программа зациклюється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9329" indent="-169329">
              <a:spcBef>
                <a:spcPts val="400"/>
              </a:spcBef>
            </a:pP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a = 4; b = 6;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69329" indent="-169329">
              <a:spcBef>
                <a:spcPts val="400"/>
              </a:spcBef>
            </a:pP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while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a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d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uk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b;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p17"/>
          <p:cNvSpPr/>
          <p:nvPr/>
        </p:nvSpPr>
        <p:spPr>
          <a:xfrm rot="10800000" flipH="1">
            <a:off x="2211788" y="2047921"/>
            <a:ext cx="45600" cy="37488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03200" y="203201"/>
            <a:ext cx="85228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Властивості цикла while</a:t>
            </a:r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230540" y="2920339"/>
            <a:ext cx="584720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44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uk" sz="4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4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uk" sz="4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 sz="4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Тіло цикла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4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7173157" y="2920339"/>
            <a:ext cx="3719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32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Безкінцевий, тому що умова завжди буде true</a:t>
            </a:r>
            <a:endParaRPr sz="32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7" name="Google Shape;97;p18"/>
          <p:cNvSpPr/>
          <p:nvPr/>
        </p:nvSpPr>
        <p:spPr>
          <a:xfrm flipH="1">
            <a:off x="7164887" y="2643340"/>
            <a:ext cx="45600" cy="21236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03200" y="203201"/>
            <a:ext cx="85228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Безкінцевий цикл</a:t>
            </a:r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3234123" y="4924422"/>
            <a:ext cx="88932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негайно припиняє виконання поточного циклу та здійснює перехід до першої команди за його межами. Таким чином, виконання поточного циклу переривається. </a:t>
            </a:r>
            <a:endParaRPr sz="1467"/>
          </a:p>
        </p:txBody>
      </p:sp>
      <p:sp>
        <p:nvSpPr>
          <p:cNvPr id="104" name="Google Shape;104;p19"/>
          <p:cNvSpPr txBox="1"/>
          <p:nvPr/>
        </p:nvSpPr>
        <p:spPr>
          <a:xfrm>
            <a:off x="7533829" y="247205"/>
            <a:ext cx="38820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Існують дві команди, що впливають на хід виконання циклу: </a:t>
            </a:r>
            <a:r>
              <a:rPr lang="uk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</a:t>
            </a:r>
            <a:r>
              <a:rPr lang="uk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 </a:t>
            </a:r>
            <a:r>
              <a:rPr lang="uk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r>
              <a:rPr lang="uk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67"/>
          </a:p>
        </p:txBody>
      </p:sp>
      <p:sp>
        <p:nvSpPr>
          <p:cNvPr id="105" name="Google Shape;105;p19"/>
          <p:cNvSpPr/>
          <p:nvPr/>
        </p:nvSpPr>
        <p:spPr>
          <a:xfrm flipH="1">
            <a:off x="186481" y="2362699"/>
            <a:ext cx="45600" cy="22064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213873" y="2268535"/>
            <a:ext cx="64240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припиняє виконання тіла поточного циклу та здійснює перехід до логічного виразу оператора while. Якщо обчислений вираз буде істинним – виконання циклу буде продовжено.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188403" y="5089236"/>
            <a:ext cx="45600" cy="16512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03268" y="165943"/>
            <a:ext cx="45600" cy="30296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03200" y="203201"/>
            <a:ext cx="85228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Оператори break i continue</a:t>
            </a:r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71845" y="2307168"/>
            <a:ext cx="116140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(кількістьЯблукУКошику&gt;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яблуко = кошик.взятиЩеОднеЯблуко(); 	 </a:t>
            </a:r>
            <a:endParaRPr sz="1467"/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кількістьЯблукУКошику--;</a:t>
            </a:r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//-- це декремент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	if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(яблуко.погане()) { </a:t>
            </a:r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заходимо, якщо яблуко гниле		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	яблуко.викинутиУМусор();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		continue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продовжуємо цикл, перейдучи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    // до умови 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кількістьЯблукУКошику </a:t>
            </a:r>
            <a:r>
              <a:rPr lang="uk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&gt;0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положитиВПиріг(яблуко.чистити().нарізати());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03200" y="203201"/>
            <a:ext cx="85228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while</a:t>
            </a:r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-179547" y="31171"/>
            <a:ext cx="53308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Оператор break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479000" y="1727733"/>
            <a:ext cx="11234000" cy="4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800"/>
            </a:pP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uk" sz="2400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(String[] args) {</a:t>
            </a: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число = </a:t>
            </a:r>
            <a:r>
              <a:rPr lang="uk" sz="240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Піднесення числа до ступеня</a:t>
            </a:r>
            <a:b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результат = </a:t>
            </a:r>
            <a:r>
              <a:rPr lang="uk" sz="240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Результат піднесення до ступеня </a:t>
            </a:r>
            <a:b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показник = </a:t>
            </a:r>
            <a:r>
              <a:rPr lang="uk" sz="240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Початковий показник ступеня </a:t>
            </a:r>
            <a:b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результат = результат * число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2400" i="1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.println(число + </a:t>
            </a:r>
            <a:r>
              <a:rPr lang="uk" sz="240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у ступені "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показник + </a:t>
            </a:r>
            <a:r>
              <a:rPr lang="uk" sz="240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= "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результат)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показник++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if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(показник &gt; </a:t>
            </a:r>
            <a:r>
              <a:rPr lang="uk" sz="240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uk" sz="240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break; </a:t>
            </a: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вихід з циклу </a:t>
            </a:r>
            <a:b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uk" sz="240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-46693" y="1473383"/>
            <a:ext cx="12495200" cy="3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0" rIns="91433" bIns="0" anchor="ctr" anchorCtr="0">
            <a:noAutofit/>
          </a:bodyPr>
          <a:lstStyle/>
          <a:p>
            <a:pPr>
              <a:buClr>
                <a:srgbClr val="000080"/>
              </a:buClr>
              <a:buSzPts val="1500"/>
            </a:pP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000">
                <a:solidFill>
                  <a:srgbClr val="900606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(String[] args) {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number = 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// Число, що зводиться в ступінь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80"/>
              </a:buClr>
              <a:buSzPts val="1500"/>
            </a:pP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	int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result = 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//Результат зведення в ступінь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80"/>
              </a:buClr>
              <a:buSzPts val="1500"/>
            </a:pP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	int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power = 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// Початковий показник ступеня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80"/>
              </a:buClr>
              <a:buSzPts val="1500"/>
            </a:pPr>
            <a:r>
              <a:rPr lang="uk" sz="2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	while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(power &lt;= </a:t>
            </a:r>
            <a:r>
              <a:rPr lang="uk" sz="20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{// Умова входу в цикл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result = result * number;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System.out.</a:t>
            </a:r>
            <a:r>
              <a:rPr lang="uk" sz="2000">
                <a:solidFill>
                  <a:srgbClr val="900606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(number + </a:t>
            </a:r>
            <a:r>
              <a:rPr lang="uk" sz="20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 в степені "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+ power + </a:t>
            </a:r>
            <a:r>
              <a:rPr lang="uk" sz="20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 = "</a:t>
            </a: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+ result);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power++;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uk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587684" y="3900042"/>
            <a:ext cx="3818000" cy="2801496"/>
          </a:xfrm>
          <a:prstGeom prst="rect">
            <a:avLst/>
          </a:prstGeom>
          <a:noFill/>
          <a:ln w="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81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243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729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2187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6561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19683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в степені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59049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67"/>
          </a:p>
          <a:p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Process finished </a:t>
            </a:r>
            <a:r>
              <a:rPr lang="uk" sz="1467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uk" sz="146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exit code </a:t>
            </a:r>
            <a:r>
              <a:rPr lang="uk" sz="1467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-1" y="93282"/>
            <a:ext cx="5250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while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79504" y="3527981"/>
            <a:ext cx="8455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4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r>
              <a:rPr lang="uk" sz="4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4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4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Тіло циклу</a:t>
            </a:r>
            <a:endParaRPr sz="4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4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40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uk" sz="4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(Логічний вираз);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39799" y="13448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do while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617328" y="165941"/>
            <a:ext cx="45600" cy="37284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6663047" y="108687"/>
            <a:ext cx="5517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just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Виконується наступним чином (по кроково):</a:t>
            </a:r>
            <a:endParaRPr sz="1467"/>
          </a:p>
          <a:p>
            <a:pPr algn="just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Виконується тіло циклу (відразу після ключового слова do).</a:t>
            </a:r>
            <a:endParaRPr sz="1467"/>
          </a:p>
          <a:p>
            <a:pPr algn="just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Обчислюємо Логічну умову, що йде у дужках за while.</a:t>
            </a:r>
            <a:endParaRPr sz="1467"/>
          </a:p>
          <a:p>
            <a:pPr algn="just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логічна умова є істинною, то переходимо на крок 1</a:t>
            </a:r>
            <a:endParaRPr sz="1467"/>
          </a:p>
          <a:p>
            <a:pPr algn="just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логічне умова хибна, переходимо до першого оператора поза циклу while.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39799" y="13448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5285957" y="213538"/>
            <a:ext cx="73736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</a:t>
            </a:r>
            <a:r>
              <a:rPr lang="uk" sz="2400" i="1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ініціалізація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2400" i="1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умова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2400" i="1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ітерація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69329" indent="-169329">
              <a:spcBef>
                <a:spcPts val="400"/>
              </a:spcBef>
            </a:pP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467"/>
          </a:p>
          <a:p>
            <a:pPr marL="169329" indent="-169329">
              <a:spcBef>
                <a:spcPts val="400"/>
              </a:spcBef>
            </a:pP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uk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// тіло циклу</a:t>
            </a:r>
            <a:endParaRPr sz="2400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69329" indent="-169329">
              <a:spcBef>
                <a:spcPts val="400"/>
              </a:spcBef>
            </a:pPr>
            <a:r>
              <a:rPr lang="uk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67"/>
          </a:p>
        </p:txBody>
      </p:sp>
      <p:sp>
        <p:nvSpPr>
          <p:cNvPr id="145" name="Google Shape;145;p24"/>
          <p:cNvSpPr txBox="1"/>
          <p:nvPr/>
        </p:nvSpPr>
        <p:spPr>
          <a:xfrm>
            <a:off x="1467289" y="2556596"/>
            <a:ext cx="9606800" cy="398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28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Ініціалізація </a:t>
            </a:r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Перший параметр містить змінну та її початкове значення. За допомогою цієї змінної буде обчислюватися кількість повторень циклу.</a:t>
            </a:r>
            <a:endParaRPr sz="1467"/>
          </a:p>
          <a:p>
            <a:pPr marL="169329" indent="-169329">
              <a:spcBef>
                <a:spcPts val="1467"/>
              </a:spcBef>
            </a:pPr>
            <a:r>
              <a:rPr lang="uk" sz="28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Умова</a:t>
            </a:r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— Другий параметр містить певний логічний вираз - умову, за якою цикл буде виконуватися.</a:t>
            </a:r>
            <a:endParaRPr sz="1467"/>
          </a:p>
          <a:p>
            <a:pPr marL="169329" indent="-169329">
              <a:spcBef>
                <a:spcPts val="1467"/>
              </a:spcBef>
            </a:pPr>
            <a:r>
              <a:rPr lang="uk" sz="28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Ітерація</a:t>
            </a:r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— Третій параметр містить вираз, який змінює змінну після кожного кроку циклу.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6518" lvl="1" indent="-270927">
              <a:spcBef>
                <a:spcPts val="533"/>
              </a:spcBef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1467289" y="2461905"/>
            <a:ext cx="45600" cy="37284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462961" y="3503346"/>
            <a:ext cx="4654800" cy="1138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355591" lvl="1"/>
            <a:r>
              <a:rPr lang="uk" sz="22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в тілі циклу є лише один оператор, фігурні дужки {} можна не використовувати.</a:t>
            </a:r>
            <a:endParaRPr sz="1467"/>
          </a:p>
        </p:txBody>
      </p:sp>
      <p:sp>
        <p:nvSpPr>
          <p:cNvPr id="154" name="Google Shape;154;p25"/>
          <p:cNvSpPr txBox="1"/>
          <p:nvPr/>
        </p:nvSpPr>
        <p:spPr>
          <a:xfrm>
            <a:off x="821395" y="4732271"/>
            <a:ext cx="4236400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(i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1; i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8; i++) a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uk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186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b;</a:t>
            </a:r>
            <a:endParaRPr sz="18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39799" y="13448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5870660" y="524186"/>
            <a:ext cx="6281600" cy="311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355591" lvl="1"/>
            <a:r>
              <a:rPr lang="uk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умова перевіряється на початку чергового кроку циклу, якщо вона хибно цикл не виконується;</a:t>
            </a:r>
            <a:endParaRPr sz="1467"/>
          </a:p>
          <a:p>
            <a:pPr marL="355591" lvl="1">
              <a:spcBef>
                <a:spcPts val="400"/>
              </a:spcBef>
            </a:pP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591" lvl="1">
              <a:spcBef>
                <a:spcPts val="400"/>
              </a:spcBef>
            </a:pPr>
            <a:r>
              <a:rPr lang="uk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зміни (третина в заголовку) виконуються наприкінці чергового кроку циклу;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591" lvl="1">
              <a:spcBef>
                <a:spcPts val="400"/>
              </a:spcBef>
            </a:pP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591" lvl="1">
              <a:spcBef>
                <a:spcPts val="400"/>
              </a:spcBef>
            </a:pPr>
            <a:r>
              <a:rPr lang="uk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якщо умова ніколи не стане хибною, цикл може продовжуватися нескінченно (зациклювання)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591" lvl="1">
              <a:spcBef>
                <a:spcPts val="400"/>
              </a:spcBef>
            </a:pP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156235" y="401699"/>
            <a:ext cx="45600" cy="30272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7165563" y="5971699"/>
            <a:ext cx="5008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000">
                <a:solidFill>
                  <a:srgbClr val="374151"/>
                </a:solidFill>
                <a:latin typeface="Arial Black"/>
                <a:ea typeface="Arial Black"/>
                <a:cs typeface="Arial Black"/>
                <a:sym typeface="Arial Black"/>
              </a:rPr>
              <a:t>Не рекомендується змінювати змінну циклу у тілі циклу!</a:t>
            </a:r>
            <a:endParaRPr sz="2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798535" y="3510133"/>
            <a:ext cx="45600" cy="16008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7165563" y="5944445"/>
            <a:ext cx="45600" cy="7788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4807165" y="51254"/>
            <a:ext cx="8084800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indent="237061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Представлена ​​програма обчислити суму елементів фрагмента послідовності 2, 4, 6, 8,… 98, 100: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37061"/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sum=0;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37061"/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j = 2; j &lt;= 100; j+=2) {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37061"/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sum += j;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37061"/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37061"/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System.out.println(sum);</a:t>
            </a:r>
            <a:endParaRPr sz="1467"/>
          </a:p>
        </p:txBody>
      </p:sp>
      <p:sp>
        <p:nvSpPr>
          <p:cNvPr id="169" name="Google Shape;169;p26"/>
          <p:cNvSpPr txBox="1"/>
          <p:nvPr/>
        </p:nvSpPr>
        <p:spPr>
          <a:xfrm>
            <a:off x="170716" y="3316443"/>
            <a:ext cx="95548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Представлена ​​програма буде зводити число в натуральний ступінь зі змінної n:</a:t>
            </a:r>
            <a:endParaRPr sz="1467" dirty="0"/>
          </a:p>
          <a:p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a = 2; int n = 10;</a:t>
            </a:r>
            <a:b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res = 1; </a:t>
            </a:r>
            <a:b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uk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i = 1; i &lt;= n; i++) {</a:t>
            </a:r>
            <a:b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  		res *= a;</a:t>
            </a:r>
            <a:b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System.out.println(res);</a:t>
            </a:r>
            <a:endParaRPr sz="14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foreach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12100" y="1062601"/>
            <a:ext cx="113744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foreach призначений для вибору набору або колекції елементів. Його загальне визначення: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412100" y="1915331"/>
            <a:ext cx="6700000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 dirty="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(тип_данних змінна </a:t>
            </a:r>
            <a:r>
              <a:rPr lang="uk" sz="1400" dirty="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uk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колекція)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1400" dirty="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// дії у циклі</a:t>
            </a:r>
            <a:endParaRPr sz="1400" dirty="0">
              <a:solidFill>
                <a:srgbClr val="0082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412167" y="3393901"/>
            <a:ext cx="113744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Після оператора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foreach </a:t>
            </a: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 дужках спочатку йде визначення змінної. Потім ключове слово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і далі колекція, елементи якої потрібно перебрати.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виконанні цикл послідовно перебирає елементи колекції і поміщає їх у змінну, і в блоці циклу ми можемо виконати з ними деякі дії.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foreach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36800" y="1157634"/>
            <a:ext cx="11664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>
                <a:latin typeface="Times New Roman"/>
                <a:ea typeface="Times New Roman"/>
                <a:cs typeface="Times New Roman"/>
                <a:sym typeface="Times New Roman"/>
              </a:rPr>
              <a:t>Наприклад, візьмемо рядок. Рядок по суті – це колекція символів. І .NET дозволяє перебрати всі елементи рядка - її символи за допомогою циклу foreach 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236800" y="2152020"/>
            <a:ext cx="40000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/>
            <a:r>
              <a:rPr lang="uk" sz="14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4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uk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 </a:t>
            </a:r>
            <a:r>
              <a:rPr lang="uk" sz="14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uk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DB003E"/>
                </a:solidFill>
                <a:latin typeface="Courier New"/>
                <a:ea typeface="Courier New"/>
                <a:cs typeface="Courier New"/>
                <a:sym typeface="Courier New"/>
              </a:rPr>
              <a:t>"Tom"</a:t>
            </a:r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Console.WriteLine(c);</a:t>
            </a:r>
            <a:endParaRPr sz="14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236800" y="3429000"/>
            <a:ext cx="115588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Тут цикл foreach пробігається по всіх символах рядка "Tom" і кожен символ поміщає символьну змінну </a:t>
            </a:r>
            <a:r>
              <a:rPr lang="uk" sz="24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У блоці циклу значення змінної </a:t>
            </a:r>
            <a:r>
              <a:rPr lang="uk" sz="24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виводиться на консоль. Оскільки в рядку "Tom" три символи, цикл виконається три рази. Консольний висновок програми: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236800" y="5152508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rgbClr val="EEEEEE"/>
                </a:solidFill>
                <a:highlight>
                  <a:srgbClr val="333333"/>
                </a:highlight>
              </a:rPr>
              <a:t>T</a:t>
            </a:r>
            <a:endParaRPr sz="1600">
              <a:solidFill>
                <a:srgbClr val="EEEEEE"/>
              </a:solidFill>
              <a:highlight>
                <a:srgbClr val="333333"/>
              </a:highlight>
            </a:endParaRPr>
          </a:p>
          <a:p>
            <a:r>
              <a:rPr lang="uk" sz="1600">
                <a:solidFill>
                  <a:srgbClr val="EEEEEE"/>
                </a:solidFill>
                <a:highlight>
                  <a:srgbClr val="333333"/>
                </a:highlight>
              </a:rPr>
              <a:t>o</a:t>
            </a:r>
            <a:endParaRPr sz="1600">
              <a:solidFill>
                <a:srgbClr val="EEEEEE"/>
              </a:solidFill>
              <a:highlight>
                <a:srgbClr val="333333"/>
              </a:highlight>
            </a:endParaRPr>
          </a:p>
          <a:p>
            <a:pPr marR="101597"/>
            <a:r>
              <a:rPr lang="uk" sz="1600">
                <a:solidFill>
                  <a:srgbClr val="EEEEEE"/>
                </a:solidFill>
                <a:highlight>
                  <a:srgbClr val="333333"/>
                </a:highlight>
              </a:rPr>
              <a:t>m</a:t>
            </a:r>
            <a:endParaRPr sz="1600">
              <a:solidFill>
                <a:srgbClr val="EEEEEE"/>
              </a:solidFill>
              <a:highlight>
                <a:srgbClr val="333333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foreach</a:t>
            </a:r>
            <a:endParaRPr sz="5467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264000" y="1624359"/>
            <a:ext cx="116640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 dirty="0">
                <a:latin typeface="Times New Roman"/>
                <a:ea typeface="Times New Roman"/>
                <a:cs typeface="Times New Roman"/>
                <a:sym typeface="Times New Roman"/>
              </a:rPr>
              <a:t>Варто зазначити, що змінна, яка визначається в оголошенні циклу, повинна за типом відповідати типу елементів колекції, що перебирається. Так, елементи рядка – значення типу char– символи. Тому змінна cмає тип char. Проте насправді який завжди буває очевидно, який тип представляють елементи колекції. У цьому випадку ми можемо визначити змінну за допомогою оператора var 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264000" y="3557621"/>
            <a:ext cx="40000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/>
            <a:r>
              <a:rPr lang="uk" sz="1400" dirty="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(var c </a:t>
            </a:r>
            <a:r>
              <a:rPr lang="uk" sz="1400" dirty="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uk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 dirty="0">
                <a:solidFill>
                  <a:srgbClr val="DB003E"/>
                </a:solidFill>
                <a:latin typeface="Courier New"/>
                <a:ea typeface="Courier New"/>
                <a:cs typeface="Courier New"/>
                <a:sym typeface="Courier New"/>
              </a:rPr>
              <a:t>"Tom"</a:t>
            </a:r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Console.WriteLine(c);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 dirty="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dirty="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264000" y="4505997"/>
            <a:ext cx="11523600" cy="119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600"/>
              </a:spcBef>
            </a:pPr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Надалі в інших уроках ми докладніше розглянемо, які є колекції в .NET і які саме колекції можна перебирати за допомогою циклу </a:t>
            </a:r>
            <a:r>
              <a:rPr lang="uk" sz="24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foreach</a:t>
            </a:r>
            <a:r>
              <a:rPr lang="uk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7753351" y="1006475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5306176" y="165942"/>
            <a:ext cx="6672000" cy="293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i = 0; i &lt; 10; i++){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j = 0; j &lt; 10; j++){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System.out.print(“*”);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990245" y="3558336"/>
            <a:ext cx="7582000" cy="293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i = 0; i &lt; 10; i++){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j = 0; j &lt;= i; j++){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System.out.print(“*”);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8512" y="12936"/>
            <a:ext cx="52472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Вкладені цикли</a:t>
            </a:r>
            <a:endParaRPr sz="1467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7753351" y="1006475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5569580" y="134136"/>
            <a:ext cx="7109600" cy="293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i = 10; i &gt; 0; i--){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j = 0; j &lt; i; j++){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System.out.print( “*”);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867659" y="3661679"/>
            <a:ext cx="8024400" cy="293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i = -10; i &lt; 10; i++){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 j = 0; j &lt;= i*i; j++){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System.out.print(“*”);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467"/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System.out.println();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400"/>
              </a:spcBef>
            </a:pPr>
            <a:r>
              <a:rPr lang="uk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8512" y="12936"/>
            <a:ext cx="52472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Вкладені цикли</a:t>
            </a:r>
            <a:endParaRPr sz="1467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</a:t>
            </a:r>
            <a:r>
              <a:rPr lang="en-US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5467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266307" y="1551743"/>
            <a:ext cx="11815200" cy="5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200"/>
            </a:pPr>
            <a:b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uk" sz="1600" dirty="0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(String[] args) {</a:t>
            </a:r>
            <a:b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Виводимо значення другого множника у рядку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1600" i="1" dirty="0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uk" sz="1600" dirty="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2 3 4 5 6 7 8 9"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int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</a:t>
            </a:r>
            <a:r>
              <a:rPr lang="uk" sz="1600" dirty="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перший множник, присвоюємо початкове значення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(i &lt; </a:t>
            </a:r>
            <a:r>
              <a:rPr lang="uk" sz="1600" dirty="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Перший цикл, виконуємо, доки перший множник менший за 10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1600" i="1" dirty="0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.print(i + </a:t>
            </a:r>
            <a:r>
              <a:rPr lang="uk" sz="1600" dirty="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| "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Виводимо перший множник в початок рядка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 = </a:t>
            </a:r>
            <a:r>
              <a:rPr lang="uk" sz="1600" dirty="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другий множник, початкове значення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(j &lt; </a:t>
            </a:r>
            <a:r>
              <a:rPr lang="uk" sz="1600" dirty="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Другий цикл, виконуємо, доки другий множник менший за 10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добуток = i * j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Обчислюємо добуток множників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(добуток &lt; </a:t>
            </a:r>
            <a:r>
              <a:rPr lang="uk" sz="1600" dirty="0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Якщо містить одну цифру - після нього виводимо два пробіли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1600" i="1" dirty="0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.print(добуток + </a:t>
            </a:r>
            <a:r>
              <a:rPr lang="uk" sz="1600" dirty="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 "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else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інакше виводимо добуток і після нього - один пробіл 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1600" i="1" dirty="0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.print(добуток + </a:t>
            </a:r>
            <a:r>
              <a:rPr lang="uk" sz="1600" dirty="0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j++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Збільшуємо другий множник на одиницю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Переходимо до початку другого циклу (while (j &lt; 10)....)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uk" sz="1600" i="1" dirty="0">
                <a:solidFill>
                  <a:srgbClr val="9876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.println()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Переходимо на наступний рядок виводу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i++</a:t>
            </a:r>
            <a:r>
              <a:rPr lang="uk" sz="1600" dirty="0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Збільшуємо перший множник на одиницю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Переходимо до початку першого циклу (while (i &lt; 10)....)</a:t>
            </a:r>
            <a:b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uk" sz="1600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uk" sz="1600" dirty="0">
                <a:solidFill>
                  <a:srgbClr val="A9B7C6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7717907" y="43457"/>
            <a:ext cx="4363600" cy="2554505"/>
          </a:xfrm>
          <a:prstGeom prst="rect">
            <a:avLst/>
          </a:prstGeom>
          <a:noFill/>
          <a:ln w="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54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49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63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54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63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81</a:t>
            </a:r>
            <a:br>
              <a:rPr lang="uk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Process finished </a:t>
            </a:r>
            <a:r>
              <a:rPr lang="uk" sz="1600" b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uk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exit code </a:t>
            </a:r>
            <a:r>
              <a:rPr lang="uk" sz="1600">
                <a:solidFill>
                  <a:srgbClr val="082C8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</a:t>
            </a:r>
            <a:r>
              <a:rPr lang="en-US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5467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FEBF8-C668-49CF-918B-72D5FBC4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38" y="700328"/>
            <a:ext cx="1186815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3200" dirty="0" err="1"/>
              <a:t>Користувач</a:t>
            </a:r>
            <a:r>
              <a:rPr lang="ru-RU" sz="3200" dirty="0"/>
              <a:t> вводить числа, </a:t>
            </a:r>
            <a:r>
              <a:rPr lang="ru-RU" sz="3200" dirty="0" err="1"/>
              <a:t>поки</a:t>
            </a:r>
            <a:r>
              <a:rPr lang="ru-RU" sz="3200" dirty="0"/>
              <a:t> не </a:t>
            </a:r>
            <a:r>
              <a:rPr lang="ru-RU" sz="3200" dirty="0" err="1"/>
              <a:t>введе</a:t>
            </a:r>
            <a:r>
              <a:rPr lang="ru-RU" sz="3200" dirty="0"/>
              <a:t> 0. </a:t>
            </a:r>
            <a:r>
              <a:rPr lang="ru-RU" sz="3200" dirty="0" err="1"/>
              <a:t>Порахуй</a:t>
            </a:r>
            <a:r>
              <a:rPr lang="ru-RU" sz="3200" dirty="0"/>
              <a:t> </a:t>
            </a:r>
            <a:r>
              <a:rPr lang="ru-RU" sz="3200" dirty="0" err="1"/>
              <a:t>кількість</a:t>
            </a:r>
            <a:r>
              <a:rPr lang="ru-RU" sz="3200" dirty="0"/>
              <a:t> </a:t>
            </a:r>
            <a:r>
              <a:rPr lang="ru-RU" sz="3200" dirty="0" err="1"/>
              <a:t>введених</a:t>
            </a:r>
            <a:r>
              <a:rPr lang="ru-RU" sz="3200" dirty="0"/>
              <a:t> чисел.</a:t>
            </a:r>
            <a:endParaRPr kumimoji="0" lang="uk-UA" altLang="uk-UA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1B8C1-0220-4789-A4F6-D1A169E2DA42}"/>
              </a:ext>
            </a:extLst>
          </p:cNvPr>
          <p:cNvSpPr txBox="1"/>
          <p:nvPr/>
        </p:nvSpPr>
        <p:spPr>
          <a:xfrm>
            <a:off x="315338" y="177754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count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input;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Введи число (0 — для завершення): 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(input != 0)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count++;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(input != 0);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($"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Введено чисел: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count}");</a:t>
            </a:r>
          </a:p>
        </p:txBody>
      </p:sp>
    </p:spTree>
    <p:extLst>
      <p:ext uri="{BB962C8B-B14F-4D97-AF65-F5344CB8AC3E}">
        <p14:creationId xmlns:p14="http://schemas.microsoft.com/office/powerpoint/2010/main" val="1033930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</a:t>
            </a:r>
            <a:r>
              <a:rPr lang="uk-UA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5467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FEBF8-C668-49CF-918B-72D5FBC4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38" y="946549"/>
            <a:ext cx="118681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3200" dirty="0" err="1"/>
              <a:t>Виведи</a:t>
            </a:r>
            <a:r>
              <a:rPr lang="ru-RU" sz="3200" dirty="0"/>
              <a:t> </a:t>
            </a:r>
            <a:r>
              <a:rPr lang="ru-RU" sz="3200" dirty="0" err="1"/>
              <a:t>кожну</a:t>
            </a:r>
            <a:r>
              <a:rPr lang="ru-RU" sz="3200" dirty="0"/>
              <a:t> </a:t>
            </a:r>
            <a:r>
              <a:rPr lang="ru-RU" sz="3200" dirty="0" err="1"/>
              <a:t>літеру</a:t>
            </a:r>
            <a:r>
              <a:rPr lang="ru-RU" sz="3200" dirty="0"/>
              <a:t> з </a:t>
            </a:r>
            <a:r>
              <a:rPr lang="ru-RU" sz="3200" dirty="0" err="1"/>
              <a:t>введеного</a:t>
            </a:r>
            <a:r>
              <a:rPr lang="ru-RU" sz="3200" dirty="0"/>
              <a:t> слова в </a:t>
            </a:r>
            <a:r>
              <a:rPr lang="ru-RU" sz="3200" dirty="0" err="1"/>
              <a:t>окремому</a:t>
            </a:r>
            <a:r>
              <a:rPr lang="ru-RU" sz="3200" dirty="0"/>
              <a:t> рядку.</a:t>
            </a:r>
            <a:endParaRPr kumimoji="0" lang="uk-UA" altLang="uk-UA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1B8C1-0220-4789-A4F6-D1A169E2DA42}"/>
              </a:ext>
            </a:extLst>
          </p:cNvPr>
          <p:cNvSpPr txBox="1"/>
          <p:nvPr/>
        </p:nvSpPr>
        <p:spPr>
          <a:xfrm>
            <a:off x="315338" y="177754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Введи слово: 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foreach (char letter in word)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(letter);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9452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8512" y="12936"/>
            <a:ext cx="5078000" cy="933613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Приклад </a:t>
            </a:r>
            <a:r>
              <a:rPr lang="uk-UA" sz="54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5467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FEBF8-C668-49CF-918B-72D5FBC4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38" y="946549"/>
            <a:ext cx="118681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Намалюйте прямокутник з * шириною 5 і висотою 3.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1B8C1-0220-4789-A4F6-D1A169E2DA42}"/>
              </a:ext>
            </a:extLst>
          </p:cNvPr>
          <p:cNvSpPr txBox="1"/>
          <p:nvPr/>
        </p:nvSpPr>
        <p:spPr>
          <a:xfrm>
            <a:off x="315338" y="168428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("*");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6123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12763</TotalTime>
  <Words>2052</Words>
  <Application>Microsoft Office PowerPoint</Application>
  <PresentationFormat>Широкий екран</PresentationFormat>
  <Paragraphs>203</Paragraphs>
  <Slides>23</Slides>
  <Notes>22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23</vt:i4>
      </vt:variant>
    </vt:vector>
  </HeadingPairs>
  <TitlesOfParts>
    <vt:vector size="35" baseType="lpstr">
      <vt:lpstr>Aptos</vt:lpstr>
      <vt:lpstr>Arial</vt:lpstr>
      <vt:lpstr>Arial Black</vt:lpstr>
      <vt:lpstr>Book Antiqua</vt:lpstr>
      <vt:lpstr>Calibri</vt:lpstr>
      <vt:lpstr>Calibri Light</vt:lpstr>
      <vt:lpstr>Cascadia Code</vt:lpstr>
      <vt:lpstr>Comfortaa</vt:lpstr>
      <vt:lpstr>Courier New</vt:lpstr>
      <vt:lpstr>JetBrains Mono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103</cp:revision>
  <dcterms:created xsi:type="dcterms:W3CDTF">2024-06-01T09:56:10Z</dcterms:created>
  <dcterms:modified xsi:type="dcterms:W3CDTF">2025-08-03T20:36:33Z</dcterms:modified>
</cp:coreProperties>
</file>