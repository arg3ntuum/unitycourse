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9" r:id="rId10"/>
    <p:sldId id="270" r:id="rId11"/>
    <p:sldId id="282" r:id="rId12"/>
    <p:sldId id="271" r:id="rId13"/>
    <p:sldId id="272" r:id="rId14"/>
    <p:sldId id="273" r:id="rId15"/>
    <p:sldId id="274" r:id="rId16"/>
    <p:sldId id="275" r:id="rId17"/>
    <p:sldId id="277" r:id="rId18"/>
    <p:sldId id="278" r:id="rId19"/>
    <p:sldId id="279" r:id="rId20"/>
    <p:sldId id="280" r:id="rId21"/>
    <p:sldId id="281" r:id="rId22"/>
    <p:sldId id="914" r:id="rId23"/>
    <p:sldId id="259" r:id="rId24"/>
    <p:sldId id="286" r:id="rId25"/>
    <p:sldId id="287" r:id="rId26"/>
    <p:sldId id="288" r:id="rId27"/>
    <p:sldId id="283" r:id="rId28"/>
    <p:sldId id="285" r:id="rId29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із теми 1 –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Стиль із теми 1 –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31" autoAdjust="0"/>
    <p:restoredTop sz="94660"/>
  </p:normalViewPr>
  <p:slideViewPr>
    <p:cSldViewPr snapToGrid="0">
      <p:cViewPr varScale="1">
        <p:scale>
          <a:sx n="78" d="100"/>
          <a:sy n="78" d="100"/>
        </p:scale>
        <p:origin x="682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1528B-9B6F-4248-9BF4-341C8496BA36}" type="datetimeFigureOut">
              <a:rPr lang="uk-UA" smtClean="0"/>
              <a:t>05.11.2025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0F577-1FC1-4001-B2C2-9EAF79F39B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8069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2191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28658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72482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08249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37832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28895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11896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22487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45571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06677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78391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4103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17523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29199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966231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35057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431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153045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042956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21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027177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27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31457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28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46696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1F6D5-EE77-F05F-8B36-EE698B21D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3D416F-B419-0893-CF2A-60046F97A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3563C5-2ABA-6BE0-F79B-E9DB4BDE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05.11.2025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A4729E-F6C7-6BDF-624A-6D985B5B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D99CCF-CF8A-37C1-30D7-3A4F12E7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53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A7231-C686-D8CF-FA17-0D8627AB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66263C-782F-0D49-1AA1-2BD5EF1B6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FAE1C-22C9-0EC4-2ED7-9EEA6D42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05.11.2025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4513AF-D9EC-2C9B-46F0-FBC11B99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56EC0D-BDCD-2993-E5B6-0E8FE244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414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93858-E4D8-D43B-ACB3-0C9AC6B4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040E3-EA86-307F-07E0-BC7B3D6F1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FAE8B8-12AD-19AA-1620-86D64CDA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05.11.2025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D6F026-C83D-F5A0-ED0E-2732983D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4D0E8-1B97-2B88-CD05-460E8D35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036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BF168-E018-8BDB-B8FF-CC85551D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7B9E1-A4ED-1B6A-D2BD-234805750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711F3B-E99A-650B-790B-EB9151C87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4DA05C-7C21-661B-A41E-A547C635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05.11.2025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32F842-7036-1B37-4C83-51CF5CEB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764A6A-7702-7ADF-5C4F-9C5F0708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3049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BEFC3-A00E-807A-05C0-DF79AA11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433749-A6A0-DF88-073F-1B884AAF6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B0E37A-0FCA-2171-00F0-57CBBAF9C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F75DC5-C2F0-8632-D5C2-78870B413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50BBA9-0F72-E537-3AA6-E7220DF4F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31BD10E-2051-5B25-60B5-3B3C1F25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05.11.2025</a:t>
            </a:fld>
            <a:endParaRPr lang="uk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1E8CCA-C8B9-B59E-93D2-886D22AC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68BBCF-B605-D7C3-4AAB-2C25A24E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705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9D7A6-AA5A-4E60-C4B7-DBCAEB9C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54A816-DE8A-F94F-C031-AF59E488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05.11.2025</a:t>
            </a:fld>
            <a:endParaRPr lang="uk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8AEBC4-A90F-6450-4083-5BE5A503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55FBB7-22A4-3058-7C37-CEE2D484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7856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350C2A-8EFE-9689-19C1-BF14E82E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05.11.2025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7E8B880-58A1-F037-1F63-5083FFA5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2F4755-3B72-F832-ABB2-A0AEFEFC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89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A3BB8-B52E-7EBB-C0BE-35834C4E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3E0E39-1E9D-35C3-4F60-A75C61D82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D482B5-6263-8E79-4B0C-E15B27B9A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289D75-50AD-DA3E-808C-305E4820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05.11.2025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EA4FEA-94A7-4925-FE8D-43CA865E7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861DBB-094D-CF71-2FF9-19A30C11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809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7B8C0-2FB7-6B3A-8E33-A5354D6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ABF2AA-3490-C8C9-E0EC-E11BE8F7C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17CE27-4946-90C2-B284-DCBA830BC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6B0D4C-582D-74B3-9532-199CDED2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05.11.2025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FBF8CF-6DE6-47BA-C3FB-BF90B375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9C40B4-5CEF-7836-05EF-3B723EB2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514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A3CA9-4FCE-04E1-42BD-5B8A476C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239AA0-5AD0-1B0E-FA81-48CE982A8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EA6C21-4BC9-7300-3FB7-F3398A82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05.11.2025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7A3A4-7067-8108-E4DF-8C6E4CD8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10FF2-CD08-629F-DDE1-7A138E0A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687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CB9DE7-6C28-F2AB-69D7-564D017BB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C1730D-0865-98A5-9C17-905D8F0BB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87782F-B42D-DC1E-E695-5BB95E7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05.11.2025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8BE4FF-3308-A3BB-13AB-CB0656A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42E754-E68F-D875-966D-BDE24CA1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7476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91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21754-49F4-99BC-3186-F93ABDD1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49F773-8CE3-A1B9-D56C-9ADA522E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E54FD-E9A9-BB88-3366-5240E179C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3972C-1D59-4812-9879-0ADA85AB86FA}" type="datetimeFigureOut">
              <a:rPr lang="uk-UA" smtClean="0"/>
              <a:t>05.11.2025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3AFDBA-1AD2-2DC3-7099-9ED422E2C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368F6C-F98C-ABE5-567C-0C5A0D209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2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sv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0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9" Type="http://schemas.openxmlformats.org/officeDocument/2006/relationships/image" Target="../media/image6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image" Target="../media/image9.png"/><Relationship Id="rId3" Type="http://schemas.openxmlformats.org/officeDocument/2006/relationships/tags" Target="../tags/tag16.xml"/><Relationship Id="rId21" Type="http://schemas.openxmlformats.org/officeDocument/2006/relationships/image" Target="../media/image12.svg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image" Target="../media/image8.svg"/><Relationship Id="rId2" Type="http://schemas.openxmlformats.org/officeDocument/2006/relationships/tags" Target="../tags/tag15.xml"/><Relationship Id="rId16" Type="http://schemas.openxmlformats.org/officeDocument/2006/relationships/image" Target="../media/image7.png"/><Relationship Id="rId20" Type="http://schemas.openxmlformats.org/officeDocument/2006/relationships/image" Target="../media/image11.png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23.xml"/><Relationship Id="rId19" Type="http://schemas.openxmlformats.org/officeDocument/2006/relationships/image" Target="../media/image10.svg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tags" Target="../tags/tag45.xml"/><Relationship Id="rId26" Type="http://schemas.openxmlformats.org/officeDocument/2006/relationships/image" Target="../media/image5.png"/><Relationship Id="rId3" Type="http://schemas.openxmlformats.org/officeDocument/2006/relationships/tags" Target="../tags/tag30.xml"/><Relationship Id="rId21" Type="http://schemas.openxmlformats.org/officeDocument/2006/relationships/image" Target="../media/image10.svg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tags" Target="../tags/tag44.xml"/><Relationship Id="rId25" Type="http://schemas.openxmlformats.org/officeDocument/2006/relationships/image" Target="../media/image12.svg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20" Type="http://schemas.openxmlformats.org/officeDocument/2006/relationships/image" Target="../media/image9.png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24" Type="http://schemas.openxmlformats.org/officeDocument/2006/relationships/image" Target="../media/image11.png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23" Type="http://schemas.openxmlformats.org/officeDocument/2006/relationships/image" Target="../media/image8.svg"/><Relationship Id="rId10" Type="http://schemas.openxmlformats.org/officeDocument/2006/relationships/tags" Target="../tags/tag37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Relationship Id="rId22" Type="http://schemas.openxmlformats.org/officeDocument/2006/relationships/image" Target="../media/image7.png"/><Relationship Id="rId27" Type="http://schemas.openxmlformats.org/officeDocument/2006/relationships/image" Target="../media/image6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image" Target="../media/image8.svg"/><Relationship Id="rId3" Type="http://schemas.openxmlformats.org/officeDocument/2006/relationships/tags" Target="../tags/tag48.xml"/><Relationship Id="rId21" Type="http://schemas.openxmlformats.org/officeDocument/2006/relationships/image" Target="../media/image5.png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image" Target="../media/image7.png"/><Relationship Id="rId2" Type="http://schemas.openxmlformats.org/officeDocument/2006/relationships/tags" Target="../tags/tag47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12.svg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10" Type="http://schemas.openxmlformats.org/officeDocument/2006/relationships/tags" Target="../tags/tag55.xml"/><Relationship Id="rId19" Type="http://schemas.openxmlformats.org/officeDocument/2006/relationships/image" Target="../media/image11.png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Relationship Id="rId22" Type="http://schemas.openxmlformats.org/officeDocument/2006/relationships/image" Target="../media/image6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18" Type="http://schemas.openxmlformats.org/officeDocument/2006/relationships/image" Target="../media/image8.svg"/><Relationship Id="rId3" Type="http://schemas.openxmlformats.org/officeDocument/2006/relationships/tags" Target="../tags/tag63.xml"/><Relationship Id="rId21" Type="http://schemas.openxmlformats.org/officeDocument/2006/relationships/image" Target="../media/image5.png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image" Target="../media/image7.png"/><Relationship Id="rId2" Type="http://schemas.openxmlformats.org/officeDocument/2006/relationships/tags" Target="../tags/tag62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12.svg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10" Type="http://schemas.openxmlformats.org/officeDocument/2006/relationships/tags" Target="../tags/tag70.xml"/><Relationship Id="rId19" Type="http://schemas.openxmlformats.org/officeDocument/2006/relationships/image" Target="../media/image11.png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Relationship Id="rId22" Type="http://schemas.openxmlformats.org/officeDocument/2006/relationships/image" Target="../media/image6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hape4326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858000"/>
            <a:chOff x="-635000" y="-635000"/>
            <a:chExt cx="12192000" cy="6858000"/>
          </a:xfrm>
          <a:noFill/>
        </p:grpSpPr>
        <p:sp>
          <p:nvSpPr>
            <p:cNvPr id="10" name="Shape4323">
              <a:extLst>
                <a:ext uri="{FF2B5EF4-FFF2-40B4-BE49-F238E27FC236}">
                  <a16:creationId xmlns:a16="http://schemas.microsoft.com/office/drawing/2014/main" id="{141CCFB4-2F64-06B8-AF1D-C9E48150CDA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>
              <a:noAutofit/>
            </a:bodyPr>
            <a:lstStyle/>
            <a:p>
              <a:pPr algn="ctr"/>
              <a:endParaRPr lang="ru-RU" sz="1100">
                <a:solidFill>
                  <a:srgbClr val="000000"/>
                </a:solidFill>
                <a:latin typeface="Comfortaa"/>
                <a:cs typeface="Comfortaa"/>
              </a:endParaRPr>
            </a:p>
          </p:txBody>
        </p:sp>
      </p:grpSp>
      <p:grpSp>
        <p:nvGrpSpPr>
          <p:cNvPr id="3" name="Shape4327"/>
          <p:cNvGrpSpPr/>
          <p:nvPr>
            <p:custDataLst>
              <p:tags r:id="rId2"/>
            </p:custDataLst>
          </p:nvPr>
        </p:nvGrpSpPr>
        <p:grpSpPr>
          <a:xfrm>
            <a:off x="5197365" y="984555"/>
            <a:ext cx="1797269" cy="1797269"/>
            <a:chOff x="4562366" y="349555"/>
            <a:chExt cx="1797269" cy="1797269"/>
          </a:xfrm>
        </p:grpSpPr>
        <p:pic>
          <p:nvPicPr>
            <p:cNvPr id="5" name="Shape4328"/>
            <p:cNvPicPr/>
            <p:nvPr>
              <p:custDataLst>
                <p:tags r:id="rId6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62366" y="349555"/>
              <a:ext cx="1797269" cy="1797269"/>
            </a:xfrm>
            <a:prstGeom prst="rect">
              <a:avLst/>
            </a:prstGeom>
          </p:spPr>
        </p:pic>
      </p:grpSp>
      <p:grpSp>
        <p:nvGrpSpPr>
          <p:cNvPr id="7" name="Shape4329"/>
          <p:cNvGrpSpPr/>
          <p:nvPr>
            <p:custDataLst>
              <p:tags r:id="rId3"/>
            </p:custDataLst>
          </p:nvPr>
        </p:nvGrpSpPr>
        <p:grpSpPr>
          <a:xfrm>
            <a:off x="5557345" y="3238244"/>
            <a:ext cx="1077311" cy="55245"/>
            <a:chOff x="4925483" y="2578947"/>
            <a:chExt cx="1077311" cy="55245"/>
          </a:xfrm>
        </p:grpSpPr>
        <p:sp>
          <p:nvSpPr>
            <p:cNvPr id="8" name="Shape4325">
              <a:extLst>
                <a:ext uri="{FF2B5EF4-FFF2-40B4-BE49-F238E27FC236}">
                  <a16:creationId xmlns:a16="http://schemas.microsoft.com/office/drawing/2014/main" id="{21F15AB7-005A-EB90-56E9-C5761A58FD3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flipV="1">
              <a:off x="4925483" y="2578947"/>
              <a:ext cx="1077311" cy="55245"/>
            </a:xfrm>
            <a:prstGeom prst="rect">
              <a:avLst/>
            </a:prstGeom>
            <a:solidFill>
              <a:schemeClr val="bg2"/>
            </a:solidFill>
            <a:ln w="28575">
              <a:noFill/>
              <a:prstDash val="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12717"/>
              <a:endParaRPr lang="en-US" sz="800">
                <a:solidFill>
                  <a:schemeClr val="tx1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  <p:sp>
        <p:nvSpPr>
          <p:cNvPr id="6" name="Shape4324">
            <a:extLst>
              <a:ext uri="{FF2B5EF4-FFF2-40B4-BE49-F238E27FC236}">
                <a16:creationId xmlns:a16="http://schemas.microsoft.com/office/drawing/2014/main" id="{9CB60D78-BFA7-FBF3-D935-4D20CC03291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381044" y="3568704"/>
            <a:ext cx="7429919" cy="1929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Тема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уроку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:
</a:t>
            </a:r>
            <a:r>
              <a:rPr lang="uk-UA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Базові операції</a:t>
            </a:r>
            <a:endParaRPr lang="en-US" sz="6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Базові операції</a:t>
            </a:r>
            <a:endParaRPr lang="uk-UA" dirty="0"/>
          </a:p>
        </p:txBody>
      </p:sp>
      <p:pic>
        <p:nvPicPr>
          <p:cNvPr id="1026" name="Picture 2" descr="Об'єктно-орієнтоване програмування - online presentation">
            <a:extLst>
              <a:ext uri="{FF2B5EF4-FFF2-40B4-BE49-F238E27FC236}">
                <a16:creationId xmlns:a16="http://schemas.microsoft.com/office/drawing/2014/main" id="{D09BA11B-8C77-4D37-A530-6515114AD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175" y="1349375"/>
            <a:ext cx="6858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6CCC7D-790D-4884-873E-CE0D93DCE2DD}"/>
              </a:ext>
            </a:extLst>
          </p:cNvPr>
          <p:cNvSpPr txBox="1"/>
          <p:nvPr/>
        </p:nvSpPr>
        <p:spPr>
          <a:xfrm>
            <a:off x="266700" y="1349375"/>
            <a:ext cx="43719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C#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використовується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більшість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операцій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які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застосовуються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і в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інших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мовах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програмування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.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Операції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представляють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певні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дії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над операндами –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учасниками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операції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. Як операнда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може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виступати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змінною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або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будь-яке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значення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(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наприклад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, число).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Операції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бувають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унарними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(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виконуються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над одним операндом),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бінарними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– над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двома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операндами та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тернарними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–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виконуються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над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-apple-system"/>
              </a:rPr>
              <a:t>трьома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-apple-system"/>
              </a:rPr>
              <a:t> операндами. </a:t>
            </a:r>
            <a:endParaRPr lang="uk-UA" sz="2000" dirty="0"/>
          </a:p>
        </p:txBody>
      </p:sp>
    </p:spTree>
    <p:extLst>
      <p:ext uri="{BB962C8B-B14F-4D97-AF65-F5344CB8AC3E}">
        <p14:creationId xmlns:p14="http://schemas.microsoft.com/office/powerpoint/2010/main" val="1267601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Арифметичні операції. Бінарні операції</a:t>
            </a:r>
            <a:endParaRPr lang="uk-UA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2C8D6FF-0D27-4B84-AA9A-F774E0A5B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832431"/>
            <a:ext cx="225542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= 10;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z = x + 12;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22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EA143A4E-E4DA-4A8C-B71C-7E0CC1326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1401544"/>
            <a:ext cx="20406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= 10;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z = x - 6;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4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2CE21FF0-3EB4-44CD-82E1-226C0B67C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3293387"/>
            <a:ext cx="21480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= 10;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z = x * 5;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50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30008E8D-C22B-40D1-A0D4-8E555EC82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4428" y="1401544"/>
            <a:ext cx="20406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= 10;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z = x / 5;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2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D7F754-D65E-45F5-BBF6-B0244F76DB18}"/>
              </a:ext>
            </a:extLst>
          </p:cNvPr>
          <p:cNvSpPr txBox="1"/>
          <p:nvPr/>
        </p:nvSpPr>
        <p:spPr>
          <a:xfrm>
            <a:off x="7057753" y="1832431"/>
            <a:ext cx="3962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При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розподілі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варто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враховувати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якщо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обидва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операнда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представляють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цілі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числа, то результат буде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округлятися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до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цілого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числа:</a:t>
            </a:r>
            <a:endParaRPr lang="uk-U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EB7E85-8725-4EAB-BBD0-D5341C2069DC}"/>
              </a:ext>
            </a:extLst>
          </p:cNvPr>
          <p:cNvSpPr txBox="1"/>
          <p:nvPr/>
        </p:nvSpPr>
        <p:spPr>
          <a:xfrm>
            <a:off x="838200" y="3995263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10;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3;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a / b;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3.33333333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9F380E86-3AB3-494B-9456-1A3BD8094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299" y="4149151"/>
            <a:ext cx="45108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= 10.0;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z = x % 4.0;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//результат дорівнює 2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42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Арифметичні операції. </a:t>
            </a:r>
            <a:r>
              <a:rPr lang="uk-UA" b="1" dirty="0" err="1">
                <a:solidFill>
                  <a:srgbClr val="000000"/>
                </a:solidFill>
                <a:latin typeface="-apple-system"/>
              </a:rPr>
              <a:t>Унарні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 операції</a:t>
            </a:r>
            <a:endParaRPr lang="uk-U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013ED1-BF81-47CD-A3DA-CB7CE1BE8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787" y="1444021"/>
            <a:ext cx="1178242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Операція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інкременту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Інкремент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буває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префіксним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++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xспочатку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значення змінної x збільшується на 1, а потім її значення повертається як результат операції.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 також існує постфіксний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інкремент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x++спочатку значення змінної x повертається як результат операції, а потім до нього додається 1.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BA2686-1A0D-4C37-83CE-2E7A7CB14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3013681"/>
            <a:ext cx="12058650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x1 = 5;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z1 = ++x1;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z1=6; x1=6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"{x1} - {z1}"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x2 = 5;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z2 = x2++;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z2=5; x2=6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"{x2} - {z2}"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501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Арифметичні операції. </a:t>
            </a:r>
            <a:r>
              <a:rPr lang="uk-UA" b="1" dirty="0" err="1">
                <a:solidFill>
                  <a:srgbClr val="000000"/>
                </a:solidFill>
                <a:latin typeface="-apple-system"/>
              </a:rPr>
              <a:t>Унарні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 операції</a:t>
            </a:r>
            <a:endParaRPr lang="uk-UA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33F0780-AA92-4484-B785-B3B2D7077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1511470"/>
            <a:ext cx="11620500" cy="1015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Операція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декременту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чи зменшення значення на одиницю.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Також існує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префіксна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форма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декременту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 --x) та постфіксна ( x--).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A28B05F-C3F5-4BCC-ACD2-E73D0C5E7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2674947"/>
            <a:ext cx="3651641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x1 = 5;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z1 = --x1; 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z1=4; x1=4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Console.WriteLine($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"{x1} - {z1}"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x2 = 5;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z2 = x2--; 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z2=5; x2=4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Console.WriteLine($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"{x2} - {z2}"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2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34675" cy="1325563"/>
          </a:xfrm>
        </p:spPr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Арифметичні операції. Пріоритет операцій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FAEEC-94B4-432F-8ABD-A08D92044F2E}"/>
              </a:ext>
            </a:extLst>
          </p:cNvPr>
          <p:cNvSpPr txBox="1"/>
          <p:nvPr/>
        </p:nvSpPr>
        <p:spPr>
          <a:xfrm>
            <a:off x="619126" y="1338560"/>
            <a:ext cx="11039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кількох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арифметичних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слід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враховувати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порядок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Пріоритет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найвищого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нижчого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675274-A2CD-463D-8CD1-B054C26565C3}"/>
              </a:ext>
            </a:extLst>
          </p:cNvPr>
          <p:cNvSpPr txBox="1"/>
          <p:nvPr/>
        </p:nvSpPr>
        <p:spPr>
          <a:xfrm>
            <a:off x="1295400" y="198489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Інкремент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декремент</a:t>
            </a:r>
          </a:p>
          <a:p>
            <a:pPr algn="l">
              <a:buFont typeface="+mj-lt"/>
              <a:buAutoNum type="arabicPeriod"/>
            </a:pP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Множення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розподіл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залишку</a:t>
            </a:r>
            <a:endParaRPr lang="ru-RU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Додавання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віднімання</a:t>
            </a:r>
            <a:endParaRPr lang="ru-RU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08D48-09D4-45DC-8F98-C67D4D3A9F8C}"/>
              </a:ext>
            </a:extLst>
          </p:cNvPr>
          <p:cNvSpPr txBox="1"/>
          <p:nvPr/>
        </p:nvSpPr>
        <p:spPr>
          <a:xfrm>
            <a:off x="619126" y="2958326"/>
            <a:ext cx="7610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зміни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порядку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проходження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застосовуються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дужки.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33A6BE-9D92-44A2-A376-6F4F146FC789}"/>
              </a:ext>
            </a:extLst>
          </p:cNvPr>
          <p:cNvSpPr txBox="1"/>
          <p:nvPr/>
        </p:nvSpPr>
        <p:spPr>
          <a:xfrm>
            <a:off x="619124" y="32356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Розглянемо набір операцій: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B13D184-596A-43C3-86A0-AB256CD0E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3569584"/>
            <a:ext cx="526265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3;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5;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40;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 = c---b*a;   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a=3  b=5  c=39  d=25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"a={a}  b={b}  c={c}  d={d}"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6D6FCD-937A-4AE2-9125-96C6BF2FC2B4}"/>
              </a:ext>
            </a:extLst>
          </p:cNvPr>
          <p:cNvSpPr txBox="1"/>
          <p:nvPr/>
        </p:nvSpPr>
        <p:spPr>
          <a:xfrm>
            <a:off x="619124" y="4646802"/>
            <a:ext cx="110394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Тут ми маємо справу з трьома операціями: </a:t>
            </a:r>
            <a:r>
              <a:rPr lang="uk-UA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декремент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віднімання та множення. Спочатку виконується </a:t>
            </a:r>
            <a:r>
              <a:rPr lang="uk-UA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декремент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змінної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потім множення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 * a, 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 в кінці віднімання. Тобто фактично набір операцій виглядав так: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31BFDD5A-65ED-45E4-9871-240F9B00D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5281268"/>
            <a:ext cx="2255426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 = (c--)-(b*a);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52C3E-B6A7-4AF8-91C9-D9071B2CFDCA}"/>
              </a:ext>
            </a:extLst>
          </p:cNvPr>
          <p:cNvSpPr txBox="1"/>
          <p:nvPr/>
        </p:nvSpPr>
        <p:spPr>
          <a:xfrm>
            <a:off x="619124" y="5437711"/>
            <a:ext cx="1067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Але 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допомогою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дужок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ми могли б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змінити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порядок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наприклад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так: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8C25C68E-7CDB-4DFA-B8E4-1562F91FF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5748041"/>
            <a:ext cx="526265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3;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5;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40;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 = (c-(--b))*a;   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a=3  b=4  c=40  d=108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"a={a}  b={b}  c={c}  d={d}"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644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dirty="0">
                <a:solidFill>
                  <a:srgbClr val="000000"/>
                </a:solidFill>
                <a:latin typeface="-apple-system"/>
              </a:rPr>
              <a:t>Арифметичні операції. </a:t>
            </a:r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Асоціативність операторів</a:t>
            </a:r>
            <a:endParaRPr lang="uk-U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C4A9D8-8E80-4E03-9F6B-8D4F0AF93712}"/>
              </a:ext>
            </a:extLst>
          </p:cNvPr>
          <p:cNvSpPr txBox="1"/>
          <p:nvPr/>
        </p:nvSpPr>
        <p:spPr>
          <a:xfrm>
            <a:off x="457200" y="1690688"/>
            <a:ext cx="1127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Як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вище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операції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множення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поділу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мають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один і той же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пріоритет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але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тоді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результат буде 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виразі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D3410A-36C6-4BFC-ADEF-D3C55C1AD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" y="2359253"/>
            <a:ext cx="2148024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= 10 / 5 * 2;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60F57B-172C-4419-91EF-9EE028970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574697"/>
            <a:ext cx="11277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 варто нам трактувати цей вислів як (10 / 5) * 2чи як 10 / (5 * 2)? Адже, залежно від трактування, ми отримаємо різні результати.</a:t>
            </a:r>
            <a:endParaRPr kumimoji="0" lang="uk-UA" altLang="uk-UA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Коли операції мають той самий пріоритет, порядок обчислення визначається асоціативністю операторів. Залежно від асоціативності є два типи операторів:</a:t>
            </a:r>
            <a:endParaRPr kumimoji="0" lang="uk-UA" altLang="uk-UA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Лівоасоціативні оператори, які виконуються зліва направо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Правоасоціативні оператори, які виконуються праворуч наліво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Усі арифметичні оператори є лівоасоціативними, тобто виконуються зліва направо. Тому вираз 10 / 5 * 2 необхідно трактувати як (10 / 5) * 2, тобто результатом буде 4.</a:t>
            </a:r>
            <a:endParaRPr kumimoji="0" lang="uk-UA" altLang="uk-UA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859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Операції присвоєння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448BC-92FC-41C9-A319-84C97F0A9BC5}"/>
              </a:ext>
            </a:extLst>
          </p:cNvPr>
          <p:cNvSpPr txBox="1"/>
          <p:nvPr/>
        </p:nvSpPr>
        <p:spPr>
          <a:xfrm>
            <a:off x="304800" y="1308438"/>
            <a:ext cx="1143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Операції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присвоєння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встановлюють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операціях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присвоєння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беруть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участь два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причому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лівий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операнд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представляти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тільки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модифікований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іменований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вираз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наприклад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змінну</a:t>
            </a:r>
            <a:endParaRPr lang="ru-RU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Як і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багатьох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інших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мовах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програмування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C# є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базова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присвоєння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, яка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надає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правого операнда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лівому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операнду: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2143654-7DC3-4694-ABFB-FDC43BA40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2418557"/>
            <a:ext cx="182582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number = 23;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E0B013-3599-4E3C-B0F4-B687B8504A37}"/>
              </a:ext>
            </a:extLst>
          </p:cNvPr>
          <p:cNvSpPr txBox="1"/>
          <p:nvPr/>
        </p:nvSpPr>
        <p:spPr>
          <a:xfrm>
            <a:off x="304799" y="2634001"/>
            <a:ext cx="11429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Тут змінній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присвоюється число 23. Змінна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представляє лівий операнд, якому присвоюється значення правого </a:t>
            </a:r>
            <a:r>
              <a:rPr lang="uk-UA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операнда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тобто 23.</a:t>
            </a:r>
          </a:p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Також можна виконувати множинне присвоєння відразу кількох змінним одночасно: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74FBCF8-68C6-4746-A658-CC9FE552F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3557331"/>
            <a:ext cx="161101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a, b, c;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b = c = 34;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81545F-4992-40BC-8138-0D468C5C9839}"/>
              </a:ext>
            </a:extLst>
          </p:cNvPr>
          <p:cNvSpPr txBox="1"/>
          <p:nvPr/>
        </p:nvSpPr>
        <p:spPr>
          <a:xfrm>
            <a:off x="304798" y="4017667"/>
            <a:ext cx="10553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Варто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відзначити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операції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присвоєння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мають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низький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пріоритет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14D3372D-80B6-426E-9007-2D2C8ED4E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4394679"/>
            <a:ext cx="311463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a, b, c;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b = c = 34 * 2 / 4; 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17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3078A521-F942-4CB5-A783-DBE74B637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798" y="4847335"/>
            <a:ext cx="1188720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Спочатку обчислюватиметься вираз 34 * 2 / 4, потім отримане значення буде надано змінним.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7607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Операції присвоєння</a:t>
            </a:r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F0E922-7F61-48E0-ABC6-CC2A1D60B4A5}"/>
              </a:ext>
            </a:extLst>
          </p:cNvPr>
          <p:cNvSpPr txBox="1"/>
          <p:nvPr/>
        </p:nvSpPr>
        <p:spPr>
          <a:xfrm>
            <a:off x="314325" y="1390650"/>
            <a:ext cx="1160145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Крім базової операції присвоєння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C# 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є ще ряд операцій: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+=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 : привласнення після складання. Надає лівому операнду суму лівого та правого операндів: вираз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+ = B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рівнозначний виразу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= A + B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-=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: 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привласнення після віднімання. Надає лівого </a:t>
            </a:r>
            <a:r>
              <a:rPr lang="uk-UA" b="0" i="0" dirty="0" err="1">
                <a:solidFill>
                  <a:srgbClr val="000000"/>
                </a:solidFill>
                <a:effectLst/>
                <a:latin typeface="-apple-system"/>
              </a:rPr>
              <a:t>операнда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 різниця лівого і правого </a:t>
            </a:r>
            <a:r>
              <a:rPr lang="uk-UA" b="0" i="0" dirty="0" err="1">
                <a:solidFill>
                  <a:srgbClr val="000000"/>
                </a:solidFill>
                <a:effectLst/>
                <a:latin typeface="-apple-system"/>
              </a:rPr>
              <a:t>операнда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: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-= B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еквівалентно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= A - B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*=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: 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надання після множення. Надає лівому операнду добуток лівого та правого операндів: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*= B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еквівалентно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= A * B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/ =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: 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привласнення після розподілу </a:t>
            </a:r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uk-UA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%=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 : надання після розподілу по модулю. Надає лівому операнду залишок від цілого розподілу лівого </a:t>
            </a:r>
            <a:r>
              <a:rPr lang="uk-UA" b="0" i="0" dirty="0" err="1">
                <a:solidFill>
                  <a:srgbClr val="000000"/>
                </a:solidFill>
                <a:effectLst/>
                <a:latin typeface="-apple-system"/>
              </a:rPr>
              <a:t>операнда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 на правий: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%= B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еквівалентно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= A % B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&amp;=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: 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надання після порозрядної кон'юнкції. Надає лівому операнду результат порозрядної кон'юнкції його бітового уявлення з бітовим уявленням правого </a:t>
            </a:r>
            <a:r>
              <a:rPr lang="uk-UA" b="0" i="0" dirty="0" err="1">
                <a:solidFill>
                  <a:srgbClr val="000000"/>
                </a:solidFill>
                <a:effectLst/>
                <a:latin typeface="-apple-system"/>
              </a:rPr>
              <a:t>операнда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: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&amp;= B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еквівалентно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= A &amp; B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|=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: 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присвоєння після порозрядної диз'юнкції. Надає лівому операнду результат порозрядної диз'юнкції його бітового уявлення з бітовим уявленням правого </a:t>
            </a:r>
            <a:r>
              <a:rPr lang="uk-UA" b="0" i="0" dirty="0" err="1">
                <a:solidFill>
                  <a:srgbClr val="000000"/>
                </a:solidFill>
                <a:effectLst/>
                <a:latin typeface="-apple-system"/>
              </a:rPr>
              <a:t>операнда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: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|= B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еквівалентно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= A | B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^=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: 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привласнення після операції виключає АБО. Надає лівому операнду результат операції виключає АБО його бітового уявлення з бітовим поданням правого </a:t>
            </a:r>
            <a:r>
              <a:rPr lang="uk-UA" b="0" i="0" dirty="0" err="1">
                <a:solidFill>
                  <a:srgbClr val="000000"/>
                </a:solidFill>
                <a:effectLst/>
                <a:latin typeface="-apple-system"/>
              </a:rPr>
              <a:t>операнда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: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^= B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еквівалентно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= A ^ B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&lt;&lt;=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: 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привласнення після зсуву розрядів </a:t>
            </a:r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вліво .</a:t>
            </a:r>
            <a:endParaRPr lang="uk-UA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&gt;&gt;=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 : привласнення після зсуву розрядів праворуч. Надає лівому операнду результат зсуву його бітового подання вправо на певну кількість розрядів, що дорівнює значенню правого </a:t>
            </a:r>
            <a:r>
              <a:rPr lang="uk-UA" b="0" i="0" dirty="0" err="1">
                <a:solidFill>
                  <a:srgbClr val="000000"/>
                </a:solidFill>
                <a:effectLst/>
                <a:latin typeface="-apple-system"/>
              </a:rPr>
              <a:t>операнда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: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&gt;&gt;= B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еквівалентно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A = A &gt;&gt; B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520818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Операції присвоєння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Приклад</a:t>
            </a:r>
            <a:endParaRPr lang="uk-UA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B328F66-E372-447E-86EA-52286AEF3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85897"/>
            <a:ext cx="11925300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10;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+= 10;       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20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-= 4;        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16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*= 2;        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32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/= 8;        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4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&lt;&lt;= 4;     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64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&gt;&gt;= 2;     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16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17B4C-EF37-430F-976C-31213BF083E5}"/>
              </a:ext>
            </a:extLst>
          </p:cNvPr>
          <p:cNvSpPr txBox="1"/>
          <p:nvPr/>
        </p:nvSpPr>
        <p:spPr>
          <a:xfrm>
            <a:off x="371474" y="2894002"/>
            <a:ext cx="10106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Операції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присвоєння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правоасоціативними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тобто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виконуються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праворуч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наліво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Наприклад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BBAA6F5-502E-4518-AA6E-666D53D62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71501"/>
            <a:ext cx="30072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8;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6;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a += b -= 5;    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9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CBA6E-A5D8-4BA8-BE2D-858F43D375AD}"/>
              </a:ext>
            </a:extLst>
          </p:cNvPr>
          <p:cNvSpPr txBox="1"/>
          <p:nvPr/>
        </p:nvSpPr>
        <p:spPr>
          <a:xfrm>
            <a:off x="371474" y="4171274"/>
            <a:ext cx="6191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даному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випадку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виразу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йтиме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таким чином: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 -= 5 (6-5=1)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+= (b-=5) (8+1 = 9)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 = (a + = (b-=5)) (c = 9)</a:t>
            </a:r>
          </a:p>
        </p:txBody>
      </p:sp>
    </p:spTree>
    <p:extLst>
      <p:ext uri="{BB962C8B-B14F-4D97-AF65-F5344CB8AC3E}">
        <p14:creationId xmlns:p14="http://schemas.microsoft.com/office/powerpoint/2010/main" val="1224803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Звуження та розширення перетворення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CC67F-2906-4A2B-81C2-75D258661787}"/>
              </a:ext>
            </a:extLst>
          </p:cNvPr>
          <p:cNvSpPr txBox="1"/>
          <p:nvPr/>
        </p:nvSpPr>
        <p:spPr>
          <a:xfrm>
            <a:off x="457200" y="1395710"/>
            <a:ext cx="1158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Перетворення можуть бути звужувальні (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narrowing) </a:t>
            </a:r>
            <a:r>
              <a:rPr lang="uk-UA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uk-UA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розширюючі</a:t>
            </a:r>
            <a:r>
              <a:rPr lang="uk-UA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widening). </a:t>
            </a:r>
            <a:r>
              <a:rPr lang="uk-UA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Розширювальні перетворення розширюють розмір об'єкта пам'яті. Наприклад:</a:t>
            </a:r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618C72-E3E6-43C2-8241-74045AA83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2008823"/>
            <a:ext cx="365164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4;            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0000100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ushort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a;  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000000000000100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4C8E3-8697-4D01-8980-72DBA337ADC5}"/>
              </a:ext>
            </a:extLst>
          </p:cNvPr>
          <p:cNvSpPr txBox="1"/>
          <p:nvPr/>
        </p:nvSpPr>
        <p:spPr>
          <a:xfrm>
            <a:off x="457200" y="2546479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 разі змінної типу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ushort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присвоюється значення типу 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byte. </a:t>
            </a:r>
            <a:r>
              <a:rPr lang="uk-UA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Тип 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byte </a:t>
            </a:r>
            <a:r>
              <a:rPr lang="uk-UA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займає 1 байт (8 біт), і значення змінної 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uk-UA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 двійковому вигляді можна уявити як:</a:t>
            </a:r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C9133D-2533-4477-81E7-FCB953815F27}"/>
              </a:ext>
            </a:extLst>
          </p:cNvPr>
          <p:cNvSpPr txBox="1"/>
          <p:nvPr/>
        </p:nvSpPr>
        <p:spPr>
          <a:xfrm>
            <a:off x="457200" y="3152865"/>
            <a:ext cx="632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00000100</a:t>
            </a:r>
            <a:endParaRPr lang="uk-U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0509C4-40B3-46A0-9178-77754EDA0BD5}"/>
              </a:ext>
            </a:extLst>
          </p:cNvPr>
          <p:cNvSpPr txBox="1"/>
          <p:nvPr/>
        </p:nvSpPr>
        <p:spPr>
          <a:xfrm>
            <a:off x="457199" y="3482252"/>
            <a:ext cx="11277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 типу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ushort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займає 2 байти (16 біт). І за присвоєння змінної 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uk-UA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 змінної 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uk-UA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розширюється до 2 байт</a:t>
            </a:r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F9B624-2216-4662-93E9-BDB33AF35644}"/>
              </a:ext>
            </a:extLst>
          </p:cNvPr>
          <p:cNvSpPr txBox="1"/>
          <p:nvPr/>
        </p:nvSpPr>
        <p:spPr>
          <a:xfrm>
            <a:off x="457200" y="4057501"/>
            <a:ext cx="632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0000000000000100</a:t>
            </a:r>
            <a:endParaRPr lang="uk-U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31FAFF-1B2B-47BC-BAB7-2080567B53EC}"/>
              </a:ext>
            </a:extLst>
          </p:cNvPr>
          <p:cNvSpPr txBox="1"/>
          <p:nvPr/>
        </p:nvSpPr>
        <p:spPr>
          <a:xfrm>
            <a:off x="457200" y="4412101"/>
            <a:ext cx="632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Тобто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займає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біт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1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розширюється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до 16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біт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659B95-F20F-41E9-8A6F-4299BB3C53A2}"/>
              </a:ext>
            </a:extLst>
          </p:cNvPr>
          <p:cNvSpPr txBox="1"/>
          <p:nvPr/>
        </p:nvSpPr>
        <p:spPr>
          <a:xfrm>
            <a:off x="457198" y="4756398"/>
            <a:ext cx="11277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Звужуючі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перетворення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навпаки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звужують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типу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меншої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разядности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У другому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лістингу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статті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ми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мали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справу з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звужуючими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перетвореннями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40EC038A-9B7E-495A-B973-9AB875955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5311884"/>
            <a:ext cx="193322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ushort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4;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(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a;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C32DFE6B-B167-46FD-96B3-1B547DE40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5832069"/>
            <a:ext cx="11144247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Тут змінною b, яка займає 8 біт, присвоюється значення ushort, яке займає 16 біт. Тобто з 0000000000000100 отримуємо 00000100. Таким чином значення звужується з 16 біт (2 байт) до 8 біт (1 байт).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6593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Перетворення базових типів даних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063DDC-2627-4CD1-AF6F-25959E245DC4}"/>
              </a:ext>
            </a:extLst>
          </p:cNvPr>
          <p:cNvSpPr txBox="1"/>
          <p:nvPr/>
        </p:nvSpPr>
        <p:spPr>
          <a:xfrm>
            <a:off x="380999" y="1457236"/>
            <a:ext cx="11353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розгляді типів даних вказувалося, які значення може мати той чи інший тип і скільки байт пам'яті може займати. У минулій темі було розглянуто арифметичні операції. Тепер застосуємо операцію додавання до даних різних типів: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FB4722F-3064-4213-81D4-ABBA53992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2393722"/>
            <a:ext cx="161101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4;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a + 70;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245C13-3A56-437E-93D6-C4DCC871EB04}"/>
              </a:ext>
            </a:extLst>
          </p:cNvPr>
          <p:cNvSpPr txBox="1"/>
          <p:nvPr/>
        </p:nvSpPr>
        <p:spPr>
          <a:xfrm>
            <a:off x="380998" y="2872512"/>
            <a:ext cx="11353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Результатом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операції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цілком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справедливо є число 74, як і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очікується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тепер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спробуємо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додавання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двох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об'єктів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типу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34A69CC-FA4E-4C2A-BEF2-E7B2FF524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3516124"/>
            <a:ext cx="300723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4;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a + 70; 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помилка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638615-F893-40D8-96F5-B4A63491EA76}"/>
              </a:ext>
            </a:extLst>
          </p:cNvPr>
          <p:cNvSpPr txBox="1"/>
          <p:nvPr/>
        </p:nvSpPr>
        <p:spPr>
          <a:xfrm>
            <a:off x="380997" y="4162455"/>
            <a:ext cx="113537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Тут змінився лише тип змінної, яка отримує результат додавання - з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byte. 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Проте за спробі скомпілювати програму ми отримаємо помилку на етапі компіляції. І якщо ми працюємо в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Studio, 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середа підкреслить другий рядок червоною хвилястою лінією, вказуючи, що в ній є помилка.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68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Перетворення базових типів даних</a:t>
            </a:r>
            <a:endParaRPr lang="uk-U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8F63F2-74C9-44C2-A225-CDD2A148A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71" y="1427448"/>
            <a:ext cx="11661058" cy="2640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Під час операцій ми повинні враховувати діапазон значень, які може зберігати той чи інший тип. Але в даному випадку число 74, яке ми очікуємо отримати, цілком укладається в діапазон значень типу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проте ми отримуємо помилку.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Справа в тому, що операція додавання (та й віднімання) повертає значення типу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якщо в операції беруть участь цілі численні типи даних з розрядністю менше або дорівнює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(тобто типи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Тому результатом операції a + 70буде об'єкт, який має довжину в пам'яті 4 байти. Потім цей об'єкт ми намагаємось присвоїти змінній b, яка має тип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і в пам'яті займає 1 байт.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 щоб вийти із цієї ситуації, необхідно застосувати операцію перетворення типів. </a:t>
            </a: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Операція перетворення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типів передбачає вказівку у дужках того типу, якого треба перетворити значення: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25847F-DFA4-4EAB-8D87-18AFF287231E}"/>
              </a:ext>
            </a:extLst>
          </p:cNvPr>
          <p:cNvSpPr txBox="1"/>
          <p:nvPr/>
        </p:nvSpPr>
        <p:spPr>
          <a:xfrm>
            <a:off x="265470" y="4229785"/>
            <a:ext cx="88213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тип_данних_в_якому_потрібно_перетворити</a:t>
            </a:r>
            <a:r>
              <a:rPr lang="uk-U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uk-U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значення_для_перетворення</a:t>
            </a:r>
            <a:r>
              <a:rPr lang="uk-U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CEF776-25C8-410E-940C-E4F39F428715}"/>
              </a:ext>
            </a:extLst>
          </p:cNvPr>
          <p:cNvSpPr txBox="1"/>
          <p:nvPr/>
        </p:nvSpPr>
        <p:spPr>
          <a:xfrm>
            <a:off x="265470" y="4599117"/>
            <a:ext cx="1015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Так,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змінимо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попередній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приклад,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застосувавши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операцію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перетворення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типів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E078150-78CA-43DE-85F1-B84C6D998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4986508"/>
            <a:ext cx="257762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4;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(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)(a + 70);</a:t>
            </a:r>
            <a:endParaRPr kumimoji="0" lang="uk-UA" altLang="uk-U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421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Перетворення базових типів даних</a:t>
            </a:r>
            <a:endParaRPr lang="uk-UA" dirty="0"/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81B64B3F-C09D-4A10-927D-232E5473D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726001"/>
              </p:ext>
            </p:extLst>
          </p:nvPr>
        </p:nvGraphicFramePr>
        <p:xfrm>
          <a:off x="4762500" y="1690688"/>
          <a:ext cx="6591300" cy="31851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885825">
                  <a:extLst>
                    <a:ext uri="{9D8B030D-6E8A-4147-A177-3AD203B41FA5}">
                      <a16:colId xmlns:a16="http://schemas.microsoft.com/office/drawing/2014/main" val="2537032281"/>
                    </a:ext>
                  </a:extLst>
                </a:gridCol>
                <a:gridCol w="5705475">
                  <a:extLst>
                    <a:ext uri="{9D8B030D-6E8A-4147-A177-3AD203B41FA5}">
                      <a16:colId xmlns:a16="http://schemas.microsoft.com/office/drawing/2014/main" val="2110891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uk-UA">
                          <a:effectLst/>
                        </a:rPr>
                        <a:t>Тип</a:t>
                      </a:r>
                    </a:p>
                  </a:txBody>
                  <a:tcPr marL="38100" marR="22860" marT="7620" marB="762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>
                          <a:effectLst/>
                        </a:rPr>
                        <a:t>В які типи безпечно перетворюється</a:t>
                      </a:r>
                    </a:p>
                  </a:txBody>
                  <a:tcPr marL="38100" marR="22860" marT="7620" marB="7620"/>
                </a:tc>
                <a:extLst>
                  <a:ext uri="{0D108BD9-81ED-4DB2-BD59-A6C34878D82A}">
                    <a16:rowId xmlns:a16="http://schemas.microsoft.com/office/drawing/2014/main" val="1904669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byte</a:t>
                      </a:r>
                    </a:p>
                  </a:txBody>
                  <a:tcPr marL="38100" marR="22860" marT="7620" marB="762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short, ushort, int, uint, long, ulong, float, double, decimal</a:t>
                      </a:r>
                    </a:p>
                  </a:txBody>
                  <a:tcPr marL="38100" marR="22860" marT="7620" marB="7620"/>
                </a:tc>
                <a:extLst>
                  <a:ext uri="{0D108BD9-81ED-4DB2-BD59-A6C34878D82A}">
                    <a16:rowId xmlns:a16="http://schemas.microsoft.com/office/drawing/2014/main" val="3218353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sbyte</a:t>
                      </a:r>
                    </a:p>
                  </a:txBody>
                  <a:tcPr marL="38100" marR="22860" marT="7620" marB="762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short, int, long, float, double, decimal</a:t>
                      </a:r>
                    </a:p>
                  </a:txBody>
                  <a:tcPr marL="38100" marR="22860" marT="7620" marB="7620"/>
                </a:tc>
                <a:extLst>
                  <a:ext uri="{0D108BD9-81ED-4DB2-BD59-A6C34878D82A}">
                    <a16:rowId xmlns:a16="http://schemas.microsoft.com/office/drawing/2014/main" val="33455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short</a:t>
                      </a:r>
                    </a:p>
                  </a:txBody>
                  <a:tcPr marL="38100" marR="22860" marT="7620" marB="762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int, long, float, double, decimal</a:t>
                      </a:r>
                    </a:p>
                  </a:txBody>
                  <a:tcPr marL="38100" marR="22860" marT="7620" marB="7620"/>
                </a:tc>
                <a:extLst>
                  <a:ext uri="{0D108BD9-81ED-4DB2-BD59-A6C34878D82A}">
                    <a16:rowId xmlns:a16="http://schemas.microsoft.com/office/drawing/2014/main" val="2904627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ushort</a:t>
                      </a:r>
                    </a:p>
                  </a:txBody>
                  <a:tcPr marL="38100" marR="22860" marT="7620" marB="762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int, uint, long, ulong, float, double, decimal</a:t>
                      </a:r>
                    </a:p>
                  </a:txBody>
                  <a:tcPr marL="38100" marR="22860" marT="7620" marB="7620"/>
                </a:tc>
                <a:extLst>
                  <a:ext uri="{0D108BD9-81ED-4DB2-BD59-A6C34878D82A}">
                    <a16:rowId xmlns:a16="http://schemas.microsoft.com/office/drawing/2014/main" val="1520815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int</a:t>
                      </a:r>
                    </a:p>
                  </a:txBody>
                  <a:tcPr marL="38100" marR="22860" marT="7620" marB="762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long, float, double, decimal</a:t>
                      </a:r>
                    </a:p>
                  </a:txBody>
                  <a:tcPr marL="38100" marR="22860" marT="7620" marB="7620"/>
                </a:tc>
                <a:extLst>
                  <a:ext uri="{0D108BD9-81ED-4DB2-BD59-A6C34878D82A}">
                    <a16:rowId xmlns:a16="http://schemas.microsoft.com/office/drawing/2014/main" val="1688984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uint</a:t>
                      </a:r>
                    </a:p>
                  </a:txBody>
                  <a:tcPr marL="38100" marR="22860" marT="7620" marB="762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long, ulong, float, double, decimal</a:t>
                      </a:r>
                    </a:p>
                  </a:txBody>
                  <a:tcPr marL="38100" marR="22860" marT="7620" marB="7620"/>
                </a:tc>
                <a:extLst>
                  <a:ext uri="{0D108BD9-81ED-4DB2-BD59-A6C34878D82A}">
                    <a16:rowId xmlns:a16="http://schemas.microsoft.com/office/drawing/2014/main" val="3984982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long</a:t>
                      </a:r>
                    </a:p>
                  </a:txBody>
                  <a:tcPr marL="38100" marR="22860" marT="7620" marB="762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float, double, decimal</a:t>
                      </a:r>
                    </a:p>
                  </a:txBody>
                  <a:tcPr marL="38100" marR="22860" marT="7620" marB="7620"/>
                </a:tc>
                <a:extLst>
                  <a:ext uri="{0D108BD9-81ED-4DB2-BD59-A6C34878D82A}">
                    <a16:rowId xmlns:a16="http://schemas.microsoft.com/office/drawing/2014/main" val="838547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ulong</a:t>
                      </a:r>
                    </a:p>
                  </a:txBody>
                  <a:tcPr marL="38100" marR="22860" marT="7620" marB="762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float, double, decimal</a:t>
                      </a:r>
                    </a:p>
                  </a:txBody>
                  <a:tcPr marL="38100" marR="22860" marT="7620" marB="7620"/>
                </a:tc>
                <a:extLst>
                  <a:ext uri="{0D108BD9-81ED-4DB2-BD59-A6C34878D82A}">
                    <a16:rowId xmlns:a16="http://schemas.microsoft.com/office/drawing/2014/main" val="4185899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float</a:t>
                      </a:r>
                    </a:p>
                  </a:txBody>
                  <a:tcPr marL="38100" marR="22860" marT="7620" marB="762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double</a:t>
                      </a:r>
                    </a:p>
                  </a:txBody>
                  <a:tcPr marL="38100" marR="22860" marT="7620" marB="7620"/>
                </a:tc>
                <a:extLst>
                  <a:ext uri="{0D108BD9-81ED-4DB2-BD59-A6C34878D82A}">
                    <a16:rowId xmlns:a16="http://schemas.microsoft.com/office/drawing/2014/main" val="24710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char</a:t>
                      </a:r>
                    </a:p>
                  </a:txBody>
                  <a:tcPr marL="38100" marR="22860" marT="7620" marB="762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err="1">
                          <a:effectLst/>
                        </a:rPr>
                        <a:t>ushort</a:t>
                      </a:r>
                      <a:r>
                        <a:rPr lang="en-US" dirty="0">
                          <a:effectLst/>
                        </a:rPr>
                        <a:t>, int, </a:t>
                      </a:r>
                      <a:r>
                        <a:rPr lang="en-US" dirty="0" err="1">
                          <a:effectLst/>
                        </a:rPr>
                        <a:t>uint</a:t>
                      </a:r>
                      <a:r>
                        <a:rPr lang="en-US" dirty="0">
                          <a:effectLst/>
                        </a:rPr>
                        <a:t>, long, </a:t>
                      </a:r>
                      <a:r>
                        <a:rPr lang="en-US" dirty="0" err="1">
                          <a:effectLst/>
                        </a:rPr>
                        <a:t>ulong</a:t>
                      </a:r>
                      <a:r>
                        <a:rPr lang="en-US" dirty="0">
                          <a:effectLst/>
                        </a:rPr>
                        <a:t>, float, double, decimal</a:t>
                      </a:r>
                    </a:p>
                  </a:txBody>
                  <a:tcPr marL="38100" marR="22860" marT="7620" marB="7620"/>
                </a:tc>
                <a:extLst>
                  <a:ext uri="{0D108BD9-81ED-4DB2-BD59-A6C34878D82A}">
                    <a16:rowId xmlns:a16="http://schemas.microsoft.com/office/drawing/2014/main" val="2084421856"/>
                  </a:ext>
                </a:extLst>
              </a:tr>
            </a:tbl>
          </a:graphicData>
        </a:graphic>
      </p:graphicFrame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26B317B-0D86-4C78-B48A-08E273B88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6725"/>
            <a:ext cx="4154882" cy="430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35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Перетворення базових типів даних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C2752A-466F-42BF-BBEF-D559E7F72B13}"/>
              </a:ext>
            </a:extLst>
          </p:cNvPr>
          <p:cNvSpPr txBox="1"/>
          <p:nvPr/>
        </p:nvSpPr>
        <p:spPr>
          <a:xfrm>
            <a:off x="333374" y="1332637"/>
            <a:ext cx="114014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 інших випадках слід використовувати явні перетворення типів.</a:t>
            </a:r>
          </a:p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Також слід зазначити, що незважаючи на те, що і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double, 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decimal 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можуть зберігати дробові дані, а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decimal 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має більшу розрядність, ніж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double, 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але все одно значення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uk-UA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потрібно явно наводити до типу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decimal: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B676CF-1768-4A64-8217-773C55087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2364373"/>
            <a:ext cx="247022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4.0;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(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)a;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B616EB-0C12-4364-9B8D-A9F66EB4E7CC}"/>
              </a:ext>
            </a:extLst>
          </p:cNvPr>
          <p:cNvSpPr txBox="1"/>
          <p:nvPr/>
        </p:nvSpPr>
        <p:spPr>
          <a:xfrm>
            <a:off x="333374" y="3429000"/>
            <a:ext cx="1067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Розглянемо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іншу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ситуацію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буде,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наприклад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наступному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випадку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A327D6E-D5BC-4496-B0E0-D99482A5C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3798332"/>
            <a:ext cx="322203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33;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600;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(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)(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(c);  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121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2A209E-71AA-493D-B2B3-EC5C68ED4A33}"/>
              </a:ext>
            </a:extLst>
          </p:cNvPr>
          <p:cNvSpPr txBox="1"/>
          <p:nvPr/>
        </p:nvSpPr>
        <p:spPr>
          <a:xfrm>
            <a:off x="333373" y="4774406"/>
            <a:ext cx="114014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Результатом буде число 121, так число 633 не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потрапляє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допустимий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діапазон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типу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і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старші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біти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будуть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усікатися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вийде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число 121. Тому, при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перетвореннях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треба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враховувати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І ми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даному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випадку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можемо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взяти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такі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числа a і b,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сумі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дадуть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число не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більше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255,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можемо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вибрати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замість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інший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тип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наприклад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145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Умовні вирази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95084-C608-460A-B906-383BAD6BBEB8}"/>
              </a:ext>
            </a:extLst>
          </p:cNvPr>
          <p:cNvSpPr txBox="1"/>
          <p:nvPr/>
        </p:nvSpPr>
        <p:spPr>
          <a:xfrm>
            <a:off x="457200" y="1366361"/>
            <a:ext cx="11353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Окремий набір операцій представляє умовні висловлювання. Такі операції повертають логічне значення, тобто значення типу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bool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: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true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, 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якщо вираз істинно, і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false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, 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якщо вираз хибний. До подібних операцій належать операції порівняння та логічні операції.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27401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Умовні вирази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Операції порівняння</a:t>
            </a:r>
            <a:endParaRPr lang="uk-UA" dirty="0"/>
          </a:p>
        </p:txBody>
      </p:sp>
      <p:graphicFrame>
        <p:nvGraphicFramePr>
          <p:cNvPr id="7" name="Таблиця 12">
            <a:extLst>
              <a:ext uri="{FF2B5EF4-FFF2-40B4-BE49-F238E27FC236}">
                <a16:creationId xmlns:a16="http://schemas.microsoft.com/office/drawing/2014/main" id="{50EB7552-5611-4F1A-B472-F4F809746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354102"/>
              </p:ext>
            </p:extLst>
          </p:nvPr>
        </p:nvGraphicFramePr>
        <p:xfrm>
          <a:off x="307975" y="1323340"/>
          <a:ext cx="11522076" cy="5125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40692">
                  <a:extLst>
                    <a:ext uri="{9D8B030D-6E8A-4147-A177-3AD203B41FA5}">
                      <a16:colId xmlns:a16="http://schemas.microsoft.com/office/drawing/2014/main" val="1253398685"/>
                    </a:ext>
                  </a:extLst>
                </a:gridCol>
                <a:gridCol w="3840692">
                  <a:extLst>
                    <a:ext uri="{9D8B030D-6E8A-4147-A177-3AD203B41FA5}">
                      <a16:colId xmlns:a16="http://schemas.microsoft.com/office/drawing/2014/main" val="1169331494"/>
                    </a:ext>
                  </a:extLst>
                </a:gridCol>
                <a:gridCol w="3840692">
                  <a:extLst>
                    <a:ext uri="{9D8B030D-6E8A-4147-A177-3AD203B41FA5}">
                      <a16:colId xmlns:a16="http://schemas.microsoft.com/office/drawing/2014/main" val="757548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120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Порівнює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два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операнди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рівність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Якщо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вони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рівні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то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операція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повертає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якщо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не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рівні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то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повертається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a = 10;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b = 4;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c = a == b; // false</a:t>
                      </a:r>
                    </a:p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166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!=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Порівнює два операнди і повертає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true, 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якщо операнди не рівні, і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false, 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якщо вони рівні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a = 10;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b = 4;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c = a != b;    // true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d = a!=10;     //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66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Операція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"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менша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ніж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".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Повертає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якщо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перший операнд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менший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за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другий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і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якщо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перший операнд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більший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за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другий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a = 10;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b = 4;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c = a &lt; b; // false</a:t>
                      </a:r>
                    </a:p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82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uk-U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uk-UA" dirty="0"/>
                      </a:b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Операція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"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більше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ніж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".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Порівнює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два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операнди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і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повертає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якщо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перший операнд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більший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за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другий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інакше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повертає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a = 10;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b = 4;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c = a &gt; b;     // true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d = a &gt; 25;    //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31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668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Умовні вирази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Операції порівняння</a:t>
            </a:r>
            <a:endParaRPr lang="uk-UA" dirty="0"/>
          </a:p>
        </p:txBody>
      </p:sp>
      <p:graphicFrame>
        <p:nvGraphicFramePr>
          <p:cNvPr id="7" name="Таблиця 12">
            <a:extLst>
              <a:ext uri="{FF2B5EF4-FFF2-40B4-BE49-F238E27FC236}">
                <a16:creationId xmlns:a16="http://schemas.microsoft.com/office/drawing/2014/main" id="{50EB7552-5611-4F1A-B472-F4F809746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220177"/>
              </p:ext>
            </p:extLst>
          </p:nvPr>
        </p:nvGraphicFramePr>
        <p:xfrm>
          <a:off x="307975" y="1323340"/>
          <a:ext cx="11522076" cy="3296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40692">
                  <a:extLst>
                    <a:ext uri="{9D8B030D-6E8A-4147-A177-3AD203B41FA5}">
                      <a16:colId xmlns:a16="http://schemas.microsoft.com/office/drawing/2014/main" val="1253398685"/>
                    </a:ext>
                  </a:extLst>
                </a:gridCol>
                <a:gridCol w="3840692">
                  <a:extLst>
                    <a:ext uri="{9D8B030D-6E8A-4147-A177-3AD203B41FA5}">
                      <a16:colId xmlns:a16="http://schemas.microsoft.com/office/drawing/2014/main" val="1169331494"/>
                    </a:ext>
                  </a:extLst>
                </a:gridCol>
                <a:gridCol w="3840692">
                  <a:extLst>
                    <a:ext uri="{9D8B030D-6E8A-4147-A177-3AD203B41FA5}">
                      <a16:colId xmlns:a16="http://schemas.microsoft.com/office/drawing/2014/main" val="757548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120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&lt;=</a:t>
                      </a:r>
                      <a:endParaRPr lang="uk-U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uk-UA" dirty="0"/>
                      </a:b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Операція "менше або одно". Порівнює два операнди і повертає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true, 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якщо перший операнд менше або дорівнює другому. Інакше повертає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false.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a = 10;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b = 4;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c = a &lt;= b;     // false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d = a &lt;= 25;    // true</a:t>
                      </a:r>
                    </a:p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166204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&gt;=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Операція "більше чи одно". Порівнює два операнди і повертає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true, 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якщо перший операнд більше або дорівнює другому, інакше повертається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false: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a = 10;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b = 4;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c = a &gt;= b;     // true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d = a &gt;= 25;    // false</a:t>
                      </a:r>
                    </a:p>
                    <a:p>
                      <a:pPr fontAlgn="base"/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6619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88A1BFC-B9F5-4C38-8062-680B6C0C0436}"/>
              </a:ext>
            </a:extLst>
          </p:cNvPr>
          <p:cNvSpPr txBox="1"/>
          <p:nvPr/>
        </p:nvSpPr>
        <p:spPr>
          <a:xfrm>
            <a:off x="307975" y="508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Операції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&lt;, &gt; &lt;=, &gt;=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мають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більший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пріоритет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ніж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== і !=.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10735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Умовні вирази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Логічні операції</a:t>
            </a:r>
            <a:endParaRPr lang="uk-UA" dirty="0"/>
          </a:p>
        </p:txBody>
      </p:sp>
      <p:graphicFrame>
        <p:nvGraphicFramePr>
          <p:cNvPr id="7" name="Таблиця 12">
            <a:extLst>
              <a:ext uri="{FF2B5EF4-FFF2-40B4-BE49-F238E27FC236}">
                <a16:creationId xmlns:a16="http://schemas.microsoft.com/office/drawing/2014/main" id="{50EB7552-5611-4F1A-B472-F4F809746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448723"/>
              </p:ext>
            </p:extLst>
          </p:nvPr>
        </p:nvGraphicFramePr>
        <p:xfrm>
          <a:off x="212723" y="1970217"/>
          <a:ext cx="11522076" cy="4759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39802">
                  <a:extLst>
                    <a:ext uri="{9D8B030D-6E8A-4147-A177-3AD203B41FA5}">
                      <a16:colId xmlns:a16="http://schemas.microsoft.com/office/drawing/2014/main" val="1253398685"/>
                    </a:ext>
                  </a:extLst>
                </a:gridCol>
                <a:gridCol w="3552825">
                  <a:extLst>
                    <a:ext uri="{9D8B030D-6E8A-4147-A177-3AD203B41FA5}">
                      <a16:colId xmlns:a16="http://schemas.microsoft.com/office/drawing/2014/main" val="1169331494"/>
                    </a:ext>
                  </a:extLst>
                </a:gridCol>
                <a:gridCol w="7029449">
                  <a:extLst>
                    <a:ext uri="{9D8B030D-6E8A-4147-A177-3AD203B41FA5}">
                      <a16:colId xmlns:a16="http://schemas.microsoft.com/office/drawing/2014/main" val="757548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120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uk-U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br>
                        <a:rPr lang="uk-UA" dirty="0"/>
                      </a:b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Операція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логічного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додавання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або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логічне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АБО.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x1 = (5 &gt; 6) | (4 &lt; 6); // 5 &gt; 6 - false, 4 &lt; 6 - true,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поэтому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возвращается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x2 = (5 &gt; 6) | (4 &gt; 6); // 5 &gt; 6 - false, 4 &gt; 6 - false,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поэтому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возвращается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166204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Операція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логічного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множення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логічне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І.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Повертає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якщо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обидва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операнда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одночасно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дорівнюють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x1 = (5 &gt; 6) &amp; (4 &lt; 6); // 5 &gt; 6 - false, 4 &lt; 6 - true,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поэтому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возвращается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x2 = (5 &lt; 6) &amp; (4 &lt; 6); // 5 &lt; 6 - true, 4 &lt; 6 - true,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поэтому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возвращается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</a:p>
                    <a:p>
                      <a:pPr fontAlgn="base"/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661949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^</a:t>
                      </a:r>
                      <a:endParaRPr lang="uk-U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uk-UA" dirty="0"/>
                      </a:b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Операція виключає АБО.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x5 = (5 &gt; 6) ^ (4 &lt; 6); // 5 &gt; 6 - false, 4 &lt; 6 - true,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поэтому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возвращается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x6 = (50 &gt; 6) ^ (4 / 2 &lt; 3); // 50 &gt; 6 - true, 4/2 &lt; 3 - true,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поэтому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возвращается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  <a:p>
                      <a:pPr fontAlgn="base"/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6832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272E49B-A1A4-4E40-87D5-C6EB0E5D70A3}"/>
              </a:ext>
            </a:extLst>
          </p:cNvPr>
          <p:cNvSpPr txBox="1"/>
          <p:nvPr/>
        </p:nvSpPr>
        <p:spPr>
          <a:xfrm>
            <a:off x="212723" y="1323886"/>
            <a:ext cx="11264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Також у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C# 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визначено логічні оператори, які повертають значення типу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bool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. 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Як операнди вони приймають значення типу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bool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. </a:t>
            </a:r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Як правило, застосовуються до відносин і поєднують кілька операцій порівняння.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18890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Умовні вирази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Логічні операції</a:t>
            </a:r>
            <a:endParaRPr lang="uk-UA" dirty="0"/>
          </a:p>
        </p:txBody>
      </p:sp>
      <p:graphicFrame>
        <p:nvGraphicFramePr>
          <p:cNvPr id="7" name="Таблиця 12">
            <a:extLst>
              <a:ext uri="{FF2B5EF4-FFF2-40B4-BE49-F238E27FC236}">
                <a16:creationId xmlns:a16="http://schemas.microsoft.com/office/drawing/2014/main" id="{50EB7552-5611-4F1A-B472-F4F809746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368114"/>
              </p:ext>
            </p:extLst>
          </p:nvPr>
        </p:nvGraphicFramePr>
        <p:xfrm>
          <a:off x="307975" y="1323340"/>
          <a:ext cx="11522076" cy="5679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3125">
                  <a:extLst>
                    <a:ext uri="{9D8B030D-6E8A-4147-A177-3AD203B41FA5}">
                      <a16:colId xmlns:a16="http://schemas.microsoft.com/office/drawing/2014/main" val="1253398685"/>
                    </a:ext>
                  </a:extLst>
                </a:gridCol>
                <a:gridCol w="6808259">
                  <a:extLst>
                    <a:ext uri="{9D8B030D-6E8A-4147-A177-3AD203B41FA5}">
                      <a16:colId xmlns:a16="http://schemas.microsoft.com/office/drawing/2014/main" val="1169331494"/>
                    </a:ext>
                  </a:extLst>
                </a:gridCol>
                <a:gridCol w="3840692">
                  <a:extLst>
                    <a:ext uri="{9D8B030D-6E8A-4147-A177-3AD203B41FA5}">
                      <a16:colId xmlns:a16="http://schemas.microsoft.com/office/drawing/2014/main" val="757548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120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||</a:t>
                      </a:r>
                      <a:endParaRPr lang="uk-U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uk-UA" dirty="0"/>
                      </a:b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Операція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логічного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складання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Повертає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якщо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хоча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б один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із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операндів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повертає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x1 = (5 &gt; 6) || (4 &lt; 6); // 5 &gt; 6 - false, 4 &lt; 6 - true,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поэтому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возвращается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x2 = (5 &gt; 6) || (4 &gt; 6); // 5 &gt; 6 - false, 4 &gt; 6 - false,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поэтому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возвращается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166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&amp;&amp;</a:t>
                      </a:r>
                      <a:endParaRPr lang="uk-U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uk-UA" dirty="0"/>
                      </a:b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Операція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логічного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множення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Повертає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якщо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обидва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операнди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одночасно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рівні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br>
                        <a:rPr lang="ru-RU" dirty="0"/>
                      </a:b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x1 = (5 &gt; 6) &amp;&amp; (4 &lt; 6); // 5 &gt; 6 - false, 4 &lt; 6 - true,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поэтому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возвращается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x2 = (5 &lt; 6) &amp;&amp; (4 &lt; 6); // 5 &lt; 6 - true, 4 &lt; 6 - true,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поэтому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возвращается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</a:p>
                    <a:p>
                      <a:pPr fontAlgn="base"/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66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  <a:endParaRPr lang="uk-U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uk-UA" dirty="0"/>
                      </a:b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Операція логічного заперечення. Виробляється над одним операндом і повертає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true, 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якщо операнд дорівнює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false. 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Якщо операнд дорівнює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true, 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операція повертає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false: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a = true;</a:t>
                      </a:r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b = !a;    // false</a:t>
                      </a:r>
                    </a:p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82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31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028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Умовні вирази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Логічні операції</a:t>
            </a:r>
            <a:endParaRPr lang="uk-U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EA9A1A-1C3B-4389-BBE7-C2D96612A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819" y="1279544"/>
            <a:ext cx="1193636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Тут у нас дві пари операцій |і ||(а також &amp;і &amp;&amp;) виконують схожі дії, однак вони не рівнозначні.</a:t>
            </a:r>
            <a:endParaRPr kumimoji="0" lang="uk-UA" altLang="uk-UA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 виразі z=x|y;обчислюватимуться обидва значення - x і y.</a:t>
            </a:r>
            <a:endParaRPr kumimoji="0" lang="uk-UA" altLang="uk-UA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 виразі z=x||y;спочатку буде обчислюватися значення x, і якщо воно дорівнює true, то обчислення значення y вже сенсу не має, так як у нас у будь-якому випадку вже z буде дорівнює true. Значення y буде обчислюватися тільки в тому випадку, якщо x одноfalse</a:t>
            </a:r>
            <a:endParaRPr kumimoji="0" lang="uk-UA" altLang="uk-UA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 саме стосується пари операцій &amp;/&amp;&amp;. У виразі z=x&amp;y;обчислюватимуться обидва значення - x і y.</a:t>
            </a:r>
            <a:endParaRPr kumimoji="0" lang="uk-UA" altLang="uk-UA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 виразі z=x&amp;&amp;y;спочатку буде обчислюватися значення x, і якщо воно дорівнює false, то обчислення значення y вже сенсу не має, так як у нас у будь-якому випадку вже z буде дорівнює false. Значення y буде обчислюватися тільки в тому випадку, якщо x одноtrue</a:t>
            </a:r>
            <a:endParaRPr kumimoji="0" lang="uk-UA" altLang="uk-UA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Тому операції ||і &amp;&amp;зручніші у обчисленнях, оскільки дозволяють скоротити час на обчислення значення виразу, і тим самим підвищують продуктивність. А операції |і &amp;більше підходять до виконання порозрядних операцій над числами.</a:t>
            </a:r>
            <a:endParaRPr kumimoji="0" lang="uk-UA" altLang="uk-UA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629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8545B91-B4B5-486C-BA76-ABD6621F707F}"/>
              </a:ext>
            </a:extLst>
          </p:cNvPr>
          <p:cNvSpPr/>
          <p:nvPr/>
        </p:nvSpPr>
        <p:spPr>
          <a:xfrm>
            <a:off x="23634" y="-88867"/>
            <a:ext cx="9315688" cy="1381125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437"/>
              </a:lnSpc>
              <a:buNone/>
            </a:pPr>
            <a:r>
              <a:rPr lang="en-US" sz="4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Тернарна операція в мові </a:t>
            </a:r>
            <a:r>
              <a:rPr lang="en-US" sz="4350" dirty="0" err="1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програмування</a:t>
            </a:r>
            <a:r>
              <a:rPr lang="en-US" sz="4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C#</a:t>
            </a:r>
            <a:endParaRPr lang="en-US" sz="43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93AF7-8730-44B6-9A3F-45500C2989E3}"/>
              </a:ext>
            </a:extLst>
          </p:cNvPr>
          <p:cNvSpPr txBox="1"/>
          <p:nvPr/>
        </p:nvSpPr>
        <p:spPr>
          <a:xfrm>
            <a:off x="435990" y="1884198"/>
            <a:ext cx="60944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результат = (умова) ?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значення_якщо_умова_правдива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значення_якщо_умова_хибна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uk-UA" dirty="0"/>
          </a:p>
          <a:p>
            <a:r>
              <a:rPr lang="uk-UA" dirty="0"/>
              <a:t>Ось приклад використання </a:t>
            </a:r>
            <a:r>
              <a:rPr lang="uk-UA" dirty="0" err="1"/>
              <a:t>тернарної</a:t>
            </a:r>
            <a:r>
              <a:rPr lang="uk-UA" dirty="0"/>
              <a:t> операції в </a:t>
            </a:r>
            <a:r>
              <a:rPr lang="uk-UA" dirty="0" err="1"/>
              <a:t>Java</a:t>
            </a:r>
            <a:r>
              <a:rPr lang="uk-UA" dirty="0"/>
              <a:t>:</a:t>
            </a:r>
          </a:p>
          <a:p>
            <a:endParaRPr lang="uk-UA" dirty="0"/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число1 = 10;</a:t>
            </a:r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число2 = 20;</a:t>
            </a:r>
          </a:p>
          <a:p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більше_число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= (число1 &gt; число2) ? число1 : число2;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result = true ? 1 : 0;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("Більше число: " +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більше_число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8E990-3399-43FE-86B5-CA39583DA34A}"/>
              </a:ext>
            </a:extLst>
          </p:cNvPr>
          <p:cNvSpPr txBox="1"/>
          <p:nvPr/>
        </p:nvSpPr>
        <p:spPr>
          <a:xfrm>
            <a:off x="7553595" y="4487658"/>
            <a:ext cx="47699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цьому прикладі `</a:t>
            </a:r>
            <a:r>
              <a:rPr lang="uk-UA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більше_число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отримує значення `число1`, якщо `число1` більше `число2`, інакше воно отримує значення `число2`. Таким чином, відображається більше з двох чисел.</a:t>
            </a:r>
          </a:p>
          <a:p>
            <a:endParaRPr lang="uk-UA" dirty="0"/>
          </a:p>
        </p:txBody>
      </p:sp>
      <p:sp>
        <p:nvSpPr>
          <p:cNvPr id="6" name="Shape4326">
            <a:extLst>
              <a:ext uri="{FF2B5EF4-FFF2-40B4-BE49-F238E27FC236}">
                <a16:creationId xmlns:a16="http://schemas.microsoft.com/office/drawing/2014/main" id="{5A92C31C-0A4F-4A69-A72F-6F279E3E06E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7507876" y="4490500"/>
            <a:ext cx="45719" cy="23675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8" name="Shape784">
            <a:extLst>
              <a:ext uri="{FF2B5EF4-FFF2-40B4-BE49-F238E27FC236}">
                <a16:creationId xmlns:a16="http://schemas.microsoft.com/office/drawing/2014/main" id="{63E12B3C-F3CA-47FF-8C0F-5C7F5BAA4FF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1494482" y="-498217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9" name="Shape784">
            <a:extLst>
              <a:ext uri="{FF2B5EF4-FFF2-40B4-BE49-F238E27FC236}">
                <a16:creationId xmlns:a16="http://schemas.microsoft.com/office/drawing/2014/main" id="{8951E7CA-9D3C-4574-B18B-E82B642ADC8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-454075" y="6120298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grpSp>
        <p:nvGrpSpPr>
          <p:cNvPr id="16" name="Shape819">
            <a:extLst>
              <a:ext uri="{FF2B5EF4-FFF2-40B4-BE49-F238E27FC236}">
                <a16:creationId xmlns:a16="http://schemas.microsoft.com/office/drawing/2014/main" id="{FAE2A225-67A7-44D8-AECA-74DD74F41D3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7420483" y="3729079"/>
            <a:ext cx="417198" cy="417276"/>
            <a:chOff x="4207653" y="2394364"/>
            <a:chExt cx="417198" cy="417276"/>
          </a:xfrm>
        </p:grpSpPr>
        <p:sp>
          <p:nvSpPr>
            <p:cNvPr id="17" name="Shape789">
              <a:extLst>
                <a:ext uri="{FF2B5EF4-FFF2-40B4-BE49-F238E27FC236}">
                  <a16:creationId xmlns:a16="http://schemas.microsoft.com/office/drawing/2014/main" id="{BFB2D1C6-D5EF-4B69-9444-A1D748ED49B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211962" y="2398594"/>
              <a:ext cx="412889" cy="413046"/>
            </a:xfrm>
            <a:prstGeom prst="ellipse">
              <a:avLst/>
            </a:prstGeom>
            <a:solidFill>
              <a:srgbClr val="E7E6E6">
                <a:alpha val="50196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18" name="Shape805">
              <a:extLst>
                <a:ext uri="{FF2B5EF4-FFF2-40B4-BE49-F238E27FC236}">
                  <a16:creationId xmlns:a16="http://schemas.microsoft.com/office/drawing/2014/main" id="{6CE6956E-EEB4-4749-9D1B-8A05EFBF4E6A}"/>
                </a:ext>
              </a:extLst>
            </p:cNvPr>
            <p:cNvPicPr/>
            <p:nvPr>
              <p:custDataLst>
                <p:tags r:id="rId6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07653" y="2394364"/>
              <a:ext cx="316731" cy="3167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9509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784">
            <a:extLst>
              <a:ext uri="{FF2B5EF4-FFF2-40B4-BE49-F238E27FC236}">
                <a16:creationId xmlns:a16="http://schemas.microsoft.com/office/drawing/2014/main" id="{F5DD36C9-35D3-49FA-ACB9-718805F8CD3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2892333" y="-2195760"/>
            <a:ext cx="4648298" cy="7546312"/>
          </a:xfrm>
          <a:prstGeom prst="ellipse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7225C7E-0F26-4188-BA85-3B5F923EC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139" y="46165"/>
            <a:ext cx="5557737" cy="6924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цілочисельні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 та дійсні типи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5;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f1 = 3.2f;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 = a * f1;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d = 16.0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 = a + f1;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d = 8.199999809265137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 = a - f1;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d = 1.7999999523162842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 = a / f1;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d = 1.5625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тип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char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char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333399"/>
                </a:solidFill>
                <a:effectLst/>
                <a:latin typeface="inherit"/>
                <a:cs typeface="Courier New" panose="02070309020205020404" pitchFamily="49" charset="0"/>
              </a:rPr>
              <a:t>'A’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 = (</a:t>
            </a:r>
            <a:r>
              <a:rPr kumimoji="0" lang="uk-UA" altLang="uk-UA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char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)(c + 1);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c = 'B’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int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kumimoji="0" lang="uk-UA" altLang="uk-UA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int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)(c + 1);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code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 = 67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% - остача від ділення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цілочисельні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 типи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byte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 = 8 % 5;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b = 3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 = 8 % 4;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b = 0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C8E429-D3BB-49C3-833E-30FBFEAE261F}"/>
              </a:ext>
            </a:extLst>
          </p:cNvPr>
          <p:cNvSpPr txBox="1"/>
          <p:nvPr/>
        </p:nvSpPr>
        <p:spPr>
          <a:xfrm>
            <a:off x="1844791" y="-79653"/>
            <a:ext cx="5678507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арифметичні операції '+', '-', '*', '/’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цілочисельні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 типи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int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kumimoji="0" lang="uk-UA" altLang="uk-UA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long</a:t>
            </a: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l;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8;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 = -5;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 = a + b;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l = 3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 = a - b;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l = 13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l = a * b;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l = -40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l = a / b;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l = -1 - ділення націло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дійсні типи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float</a:t>
            </a: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f1, f2;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double</a:t>
            </a: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f1 = 3.5f;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f2 = 10.0f;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 = f1 + f2;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d = 13.5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 = f1 - f2;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d = -6.5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 = f1 * f2;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d = 35.0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 = f1 / f2; 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d = 0.3499999940395355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D3B1CB-6281-4E2C-A52B-D9DF39F86C8F}"/>
              </a:ext>
            </a:extLst>
          </p:cNvPr>
          <p:cNvSpPr txBox="1"/>
          <p:nvPr/>
        </p:nvSpPr>
        <p:spPr>
          <a:xfrm>
            <a:off x="8920644" y="197345"/>
            <a:ext cx="612058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int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15;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 = (</a:t>
            </a: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byte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)(8 % a);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b = 8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дійсні типи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float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f1, f2;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double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f1 = 3.5f;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f2 = 10.0f;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 = f1 % f2;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d = 3.5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f2 = 0.5f;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 = f1 % f2;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d = 0.0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f2 = 1.2f;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 = f1 % f2;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d = 1.1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цілочисельні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 та дійсні типи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int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 = 5;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float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ff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3.5f;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double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x %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ff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dd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 = 1.5</a:t>
            </a:r>
            <a:r>
              <a:rPr kumimoji="0" lang="uk-UA" altLang="uk-UA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CE94F4-7060-40A5-B44D-D99EB91F71A9}"/>
              </a:ext>
            </a:extLst>
          </p:cNvPr>
          <p:cNvSpPr txBox="1"/>
          <p:nvPr/>
        </p:nvSpPr>
        <p:spPr>
          <a:xfrm>
            <a:off x="0" y="0"/>
            <a:ext cx="1292662" cy="68580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r"/>
            <a:r>
              <a:rPr lang="uk-UA" sz="7200" dirty="0">
                <a:latin typeface="Comic Sans MS" panose="030F0702030302020204" pitchFamily="66" charset="0"/>
              </a:rPr>
              <a:t>Лістинг 1</a:t>
            </a:r>
          </a:p>
        </p:txBody>
      </p:sp>
      <p:sp>
        <p:nvSpPr>
          <p:cNvPr id="9" name="Shape784">
            <a:extLst>
              <a:ext uri="{FF2B5EF4-FFF2-40B4-BE49-F238E27FC236}">
                <a16:creationId xmlns:a16="http://schemas.microsoft.com/office/drawing/2014/main" id="{071C4EEF-23AF-4B9E-A250-6E6CBBADA7E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684855" y="6040680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10" name="Shape784">
            <a:extLst>
              <a:ext uri="{FF2B5EF4-FFF2-40B4-BE49-F238E27FC236}">
                <a16:creationId xmlns:a16="http://schemas.microsoft.com/office/drawing/2014/main" id="{BFB70E66-7543-4FEB-BFD4-B2BE12569CF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-430952" y="5618055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11" name="Shape784">
            <a:extLst>
              <a:ext uri="{FF2B5EF4-FFF2-40B4-BE49-F238E27FC236}">
                <a16:creationId xmlns:a16="http://schemas.microsoft.com/office/drawing/2014/main" id="{F449A91D-2651-47C7-963D-30755BBD2FE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43338" y="6040679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12" name="Shape784">
            <a:extLst>
              <a:ext uri="{FF2B5EF4-FFF2-40B4-BE49-F238E27FC236}">
                <a16:creationId xmlns:a16="http://schemas.microsoft.com/office/drawing/2014/main" id="{63557EFC-5301-4DA6-B16D-52ADB8F8019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1494482" y="-498217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grpSp>
        <p:nvGrpSpPr>
          <p:cNvPr id="14" name="Shape798">
            <a:extLst>
              <a:ext uri="{FF2B5EF4-FFF2-40B4-BE49-F238E27FC236}">
                <a16:creationId xmlns:a16="http://schemas.microsoft.com/office/drawing/2014/main" id="{EF009002-F6EA-4DB1-9E06-067FC246F95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4756867" y="3773460"/>
            <a:ext cx="417198" cy="417275"/>
            <a:chOff x="-17932" y="2761945"/>
            <a:chExt cx="417198" cy="417275"/>
          </a:xfrm>
        </p:grpSpPr>
        <p:sp>
          <p:nvSpPr>
            <p:cNvPr id="15" name="Shape789">
              <a:extLst>
                <a:ext uri="{FF2B5EF4-FFF2-40B4-BE49-F238E27FC236}">
                  <a16:creationId xmlns:a16="http://schemas.microsoft.com/office/drawing/2014/main" id="{FB340D26-F5BE-4FBC-B89E-92EEE691EDF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-13623" y="2766174"/>
              <a:ext cx="412889" cy="413046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16" name="Shape794">
              <a:extLst>
                <a:ext uri="{FF2B5EF4-FFF2-40B4-BE49-F238E27FC236}">
                  <a16:creationId xmlns:a16="http://schemas.microsoft.com/office/drawing/2014/main" id="{ADA55F10-7B3B-4705-BF2C-08FE94A12000}"/>
                </a:ext>
              </a:extLst>
            </p:cNvPr>
            <p:cNvPicPr/>
            <p:nvPr>
              <p:custDataLst>
                <p:tags r:id="rId14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17932" y="2761945"/>
              <a:ext cx="316731" cy="316731"/>
            </a:xfrm>
            <a:prstGeom prst="rect">
              <a:avLst/>
            </a:prstGeom>
          </p:spPr>
        </p:pic>
      </p:grpSp>
      <p:grpSp>
        <p:nvGrpSpPr>
          <p:cNvPr id="17" name="Shape821">
            <a:extLst>
              <a:ext uri="{FF2B5EF4-FFF2-40B4-BE49-F238E27FC236}">
                <a16:creationId xmlns:a16="http://schemas.microsoft.com/office/drawing/2014/main" id="{9E1BC57F-38D4-4CF6-9302-2077E0DD7590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7696642" y="927700"/>
            <a:ext cx="417197" cy="417276"/>
            <a:chOff x="7712852" y="31442"/>
            <a:chExt cx="417197" cy="417276"/>
          </a:xfrm>
        </p:grpSpPr>
        <p:sp>
          <p:nvSpPr>
            <p:cNvPr id="18" name="Shape789">
              <a:extLst>
                <a:ext uri="{FF2B5EF4-FFF2-40B4-BE49-F238E27FC236}">
                  <a16:creationId xmlns:a16="http://schemas.microsoft.com/office/drawing/2014/main" id="{55B1977E-C836-47C7-9329-AF42D94DC17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717161" y="35672"/>
              <a:ext cx="412889" cy="413046"/>
            </a:xfrm>
            <a:prstGeom prst="ellipse">
              <a:avLst/>
            </a:prstGeom>
            <a:solidFill>
              <a:srgbClr val="E7E6E6">
                <a:alpha val="50196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19" name="Shape809">
              <a:extLst>
                <a:ext uri="{FF2B5EF4-FFF2-40B4-BE49-F238E27FC236}">
                  <a16:creationId xmlns:a16="http://schemas.microsoft.com/office/drawing/2014/main" id="{A4C9FDC9-6E62-4E64-8E60-977FE4ABFC81}"/>
                </a:ext>
              </a:extLst>
            </p:cNvPr>
            <p:cNvPicPr/>
            <p:nvPr>
              <p:custDataLst>
                <p:tags r:id="rId12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712852" y="31442"/>
              <a:ext cx="316731" cy="316731"/>
            </a:xfrm>
            <a:prstGeom prst="rect">
              <a:avLst/>
            </a:prstGeom>
          </p:spPr>
        </p:pic>
      </p:grpSp>
      <p:grpSp>
        <p:nvGrpSpPr>
          <p:cNvPr id="23" name="Shape825">
            <a:extLst>
              <a:ext uri="{FF2B5EF4-FFF2-40B4-BE49-F238E27FC236}">
                <a16:creationId xmlns:a16="http://schemas.microsoft.com/office/drawing/2014/main" id="{AD9EB0A1-3425-4918-BED6-97694CAA89D7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11631465" y="6243375"/>
            <a:ext cx="417197" cy="417276"/>
            <a:chOff x="7712852" y="1193852"/>
            <a:chExt cx="417197" cy="417276"/>
          </a:xfrm>
        </p:grpSpPr>
        <p:sp>
          <p:nvSpPr>
            <p:cNvPr id="24" name="Shape789">
              <a:extLst>
                <a:ext uri="{FF2B5EF4-FFF2-40B4-BE49-F238E27FC236}">
                  <a16:creationId xmlns:a16="http://schemas.microsoft.com/office/drawing/2014/main" id="{0FDC0063-22F7-4869-8AE6-8EDF073A24B4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717161" y="1198082"/>
              <a:ext cx="412889" cy="413046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25" name="Shape813">
              <a:extLst>
                <a:ext uri="{FF2B5EF4-FFF2-40B4-BE49-F238E27FC236}">
                  <a16:creationId xmlns:a16="http://schemas.microsoft.com/office/drawing/2014/main" id="{ADF7A514-623C-473C-AB3E-25029832213A}"/>
                </a:ext>
              </a:extLst>
            </p:cNvPr>
            <p:cNvPicPr/>
            <p:nvPr>
              <p:custDataLst>
                <p:tags r:id="rId10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712852" y="1193852"/>
              <a:ext cx="316731" cy="3167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1612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784">
            <a:extLst>
              <a:ext uri="{FF2B5EF4-FFF2-40B4-BE49-F238E27FC236}">
                <a16:creationId xmlns:a16="http://schemas.microsoft.com/office/drawing/2014/main" id="{2C0D1B17-EAAE-48EE-9D00-665556A2B6E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1494482" y="-498217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grpSp>
        <p:nvGrpSpPr>
          <p:cNvPr id="19" name="Shape821">
            <a:extLst>
              <a:ext uri="{FF2B5EF4-FFF2-40B4-BE49-F238E27FC236}">
                <a16:creationId xmlns:a16="http://schemas.microsoft.com/office/drawing/2014/main" id="{A26019CB-099B-4AC0-BA45-927A46514C5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648298" y="1017991"/>
            <a:ext cx="417197" cy="417276"/>
            <a:chOff x="7712852" y="31442"/>
            <a:chExt cx="417197" cy="417276"/>
          </a:xfrm>
        </p:grpSpPr>
        <p:sp>
          <p:nvSpPr>
            <p:cNvPr id="20" name="Shape789">
              <a:extLst>
                <a:ext uri="{FF2B5EF4-FFF2-40B4-BE49-F238E27FC236}">
                  <a16:creationId xmlns:a16="http://schemas.microsoft.com/office/drawing/2014/main" id="{A58E72AF-9918-40ED-B997-32BACBA2235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717161" y="35672"/>
              <a:ext cx="412889" cy="413046"/>
            </a:xfrm>
            <a:prstGeom prst="ellipse">
              <a:avLst/>
            </a:prstGeom>
            <a:solidFill>
              <a:srgbClr val="E7E6E6">
                <a:alpha val="50196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21" name="Shape809">
              <a:extLst>
                <a:ext uri="{FF2B5EF4-FFF2-40B4-BE49-F238E27FC236}">
                  <a16:creationId xmlns:a16="http://schemas.microsoft.com/office/drawing/2014/main" id="{A533BBA8-35BE-4F68-A64F-78E7DC69B00C}"/>
                </a:ext>
              </a:extLst>
            </p:cNvPr>
            <p:cNvPicPr/>
            <p:nvPr>
              <p:custDataLst>
                <p:tags r:id="rId18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712852" y="31442"/>
              <a:ext cx="316731" cy="316731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4660E40-297F-439B-AF6D-BC6E130E69D0}"/>
              </a:ext>
            </a:extLst>
          </p:cNvPr>
          <p:cNvSpPr txBox="1"/>
          <p:nvPr/>
        </p:nvSpPr>
        <p:spPr>
          <a:xfrm>
            <a:off x="4390299" y="0"/>
            <a:ext cx="78116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32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Приклади</a:t>
            </a:r>
            <a:r>
              <a:rPr lang="ru-RU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2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застосування</a:t>
            </a:r>
            <a:r>
              <a:rPr lang="ru-RU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2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складених</a:t>
            </a:r>
            <a:r>
              <a:rPr lang="ru-RU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2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арифметичних</a:t>
            </a:r>
            <a:r>
              <a:rPr lang="ru-RU" sz="3200" b="1" dirty="0">
                <a:solidFill>
                  <a:srgbClr val="2B2B2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2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операцій</a:t>
            </a:r>
            <a:r>
              <a:rPr lang="ru-RU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з </a:t>
            </a:r>
            <a:r>
              <a:rPr lang="ru-RU" sz="32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присвоюванням</a:t>
            </a:r>
            <a:r>
              <a:rPr lang="ru-RU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sz="32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ru-RU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ru-RU" sz="32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ru-RU" sz="32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*=</a:t>
            </a:r>
            <a:r>
              <a:rPr lang="ru-RU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ru-RU" sz="32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/=</a:t>
            </a:r>
            <a:r>
              <a:rPr lang="ru-RU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ru-RU" sz="32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%=</a:t>
            </a:r>
            <a:endParaRPr lang="ru-RU" sz="3200" b="1" i="0" dirty="0">
              <a:solidFill>
                <a:srgbClr val="2B2B2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AFA3626-A80C-4530-AF15-9F5153967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7994" y="2101114"/>
            <a:ext cx="5345510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mic Sans MS" panose="030F0702030302020204" pitchFamily="66" charset="0"/>
              </a:rPr>
              <a:t>Складені арифметичні операції з присвоюванням мають 2 переваги:</a:t>
            </a:r>
            <a:endParaRPr kumimoji="0" lang="uk-UA" altLang="uk-UA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mic Sans MS" panose="030F0702030302020204" pitchFamily="66" charset="0"/>
              </a:rPr>
              <a:t>зменшують об’єм введеного коду, 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mic Sans MS" panose="030F0702030302020204" pitchFamily="66" charset="0"/>
              </a:rPr>
              <a:t>коли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mic Sans MS" panose="030F0702030302020204" pitchFamily="66" charset="0"/>
              </a:rPr>
              <a:t> зустрічаються довгі імена змінних;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mic Sans MS" panose="030F0702030302020204" pitchFamily="66" charset="0"/>
              </a:rPr>
              <a:t>реалізація складених арифметичних операцій у виконавчому середовищі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rgbClr val="2B2B2B"/>
                </a:solidFill>
                <a:effectLst/>
                <a:latin typeface="Comic Sans MS" panose="030F0702030302020204" pitchFamily="66" charset="0"/>
              </a:rPr>
              <a:t>Java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mic Sans MS" panose="030F0702030302020204" pitchFamily="66" charset="0"/>
              </a:rPr>
              <a:t> є більш ефективною ніж реалізація відповідних довгих операцій присвоювання.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mic Sans MS" panose="030F0702030302020204" pitchFamily="66" charset="0"/>
              </a:rPr>
              <a:t>Загальний вигляд складеної операції з присвоюванням:</a:t>
            </a:r>
            <a:endParaRPr kumimoji="0" lang="uk-UA" altLang="uk-UA" b="1" i="0" u="none" strike="noStrike" cap="none" normalizeH="0" baseline="0" dirty="0">
              <a:ln>
                <a:noFill/>
              </a:ln>
              <a:solidFill>
                <a:srgbClr val="2B2B2B"/>
              </a:solidFill>
              <a:effectLst/>
              <a:latin typeface="Comic Sans MS" panose="030F0702030302020204" pitchFamily="66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mic Sans MS" panose="030F0702030302020204" pitchFamily="66" charset="0"/>
                <a:cs typeface="Courier New" panose="02070309020205020404" pitchFamily="49" charset="0"/>
              </a:rPr>
              <a:t>змінна операція = вираз;</a:t>
            </a:r>
            <a:endParaRPr kumimoji="0" lang="uk-UA" altLang="uk-UA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mic Sans MS" panose="030F0702030302020204" pitchFamily="66" charset="0"/>
              </a:rPr>
              <a:t>Така операція замінює стандартну форму присвоювання:</a:t>
            </a:r>
            <a:endParaRPr kumimoji="0" lang="uk-UA" altLang="uk-UA" b="1" i="0" u="none" strike="noStrike" cap="none" normalizeH="0" baseline="0" dirty="0">
              <a:ln>
                <a:noFill/>
              </a:ln>
              <a:solidFill>
                <a:srgbClr val="2B2B2B"/>
              </a:solidFill>
              <a:effectLst/>
              <a:latin typeface="Comic Sans MS" panose="030F0702030302020204" pitchFamily="66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mic Sans MS" panose="030F0702030302020204" pitchFamily="66" charset="0"/>
                <a:cs typeface="Courier New" panose="02070309020205020404" pitchFamily="49" charset="0"/>
              </a:rPr>
              <a:t>змінна = змінна операція вираз;</a:t>
            </a:r>
            <a:r>
              <a:rPr kumimoji="0" lang="uk-UA" altLang="uk-UA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</a:t>
            </a:r>
            <a:endParaRPr kumimoji="0" lang="uk-UA" altLang="uk-UA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C70DA54-6293-4296-A018-E8D2B41A1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526" y="-36195"/>
            <a:ext cx="3351035" cy="689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цілочисельні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 типи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int</a:t>
            </a: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7;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+= 8;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a = a + 8 = 15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-3;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-=5;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a = a - 5 = -3 - 5 = -8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10;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*= 3;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a = 30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20;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/= 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a = 4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30;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%= 7; // a = 30 % 7 = 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дійсні типи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float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 = 3.5f;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 += 2*f;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f = f + 2*3.5 = 10.5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 = -8.0f;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 -= 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f = f - f = 0.0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 = 6.5f;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 %= 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f = 0.5</a:t>
            </a:r>
            <a:r>
              <a:rPr kumimoji="0" lang="uk-UA" altLang="uk-UA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Shape784">
            <a:extLst>
              <a:ext uri="{FF2B5EF4-FFF2-40B4-BE49-F238E27FC236}">
                <a16:creationId xmlns:a16="http://schemas.microsoft.com/office/drawing/2014/main" id="{CF8C2086-FCC7-4B84-B8AC-C4EBB87C723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-2892333" y="-2195760"/>
            <a:ext cx="4648298" cy="7546312"/>
          </a:xfrm>
          <a:prstGeom prst="ellipse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7BAC6F-0D1F-4A19-BB53-6C65F9CD36F3}"/>
              </a:ext>
            </a:extLst>
          </p:cNvPr>
          <p:cNvSpPr txBox="1"/>
          <p:nvPr/>
        </p:nvSpPr>
        <p:spPr>
          <a:xfrm>
            <a:off x="0" y="0"/>
            <a:ext cx="1292662" cy="68580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r"/>
            <a:r>
              <a:rPr lang="uk-UA" sz="7200" dirty="0">
                <a:latin typeface="Comic Sans MS" panose="030F0702030302020204" pitchFamily="66" charset="0"/>
              </a:rPr>
              <a:t>Лістинг 2</a:t>
            </a:r>
          </a:p>
        </p:txBody>
      </p:sp>
      <p:sp>
        <p:nvSpPr>
          <p:cNvPr id="12" name="Shape784">
            <a:extLst>
              <a:ext uri="{FF2B5EF4-FFF2-40B4-BE49-F238E27FC236}">
                <a16:creationId xmlns:a16="http://schemas.microsoft.com/office/drawing/2014/main" id="{31E12634-E723-456C-A026-5A55D31DC0A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639173" y="6040680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13" name="Shape784">
            <a:extLst>
              <a:ext uri="{FF2B5EF4-FFF2-40B4-BE49-F238E27FC236}">
                <a16:creationId xmlns:a16="http://schemas.microsoft.com/office/drawing/2014/main" id="{BED3275C-BB8E-4945-89C6-9238A88E3AF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430952" y="5618055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14" name="Shape784">
            <a:extLst>
              <a:ext uri="{FF2B5EF4-FFF2-40B4-BE49-F238E27FC236}">
                <a16:creationId xmlns:a16="http://schemas.microsoft.com/office/drawing/2014/main" id="{392DC275-306B-44E8-B010-593AA842628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89020" y="6040679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grpSp>
        <p:nvGrpSpPr>
          <p:cNvPr id="16" name="Shape798">
            <a:extLst>
              <a:ext uri="{FF2B5EF4-FFF2-40B4-BE49-F238E27FC236}">
                <a16:creationId xmlns:a16="http://schemas.microsoft.com/office/drawing/2014/main" id="{1903014D-A66A-441D-AC5E-7D9388A6E36A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3504444" y="2517417"/>
            <a:ext cx="417198" cy="417275"/>
            <a:chOff x="-17932" y="2761945"/>
            <a:chExt cx="417198" cy="417275"/>
          </a:xfrm>
        </p:grpSpPr>
        <p:sp>
          <p:nvSpPr>
            <p:cNvPr id="17" name="Shape789">
              <a:extLst>
                <a:ext uri="{FF2B5EF4-FFF2-40B4-BE49-F238E27FC236}">
                  <a16:creationId xmlns:a16="http://schemas.microsoft.com/office/drawing/2014/main" id="{9AD04ABF-63D9-43CE-9FA2-BBA6D3B9A0C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3623" y="2766174"/>
              <a:ext cx="412889" cy="413046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18" name="Shape794">
              <a:extLst>
                <a:ext uri="{FF2B5EF4-FFF2-40B4-BE49-F238E27FC236}">
                  <a16:creationId xmlns:a16="http://schemas.microsoft.com/office/drawing/2014/main" id="{C9D45152-64A1-48B8-A48D-6D692BD3A869}"/>
                </a:ext>
              </a:extLst>
            </p:cNvPr>
            <p:cNvPicPr/>
            <p:nvPr>
              <p:custDataLst>
                <p:tags r:id="rId16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17932" y="2761945"/>
              <a:ext cx="316731" cy="316731"/>
            </a:xfrm>
            <a:prstGeom prst="rect">
              <a:avLst/>
            </a:prstGeom>
          </p:spPr>
        </p:pic>
      </p:grpSp>
      <p:grpSp>
        <p:nvGrpSpPr>
          <p:cNvPr id="22" name="Shape825">
            <a:extLst>
              <a:ext uri="{FF2B5EF4-FFF2-40B4-BE49-F238E27FC236}">
                <a16:creationId xmlns:a16="http://schemas.microsoft.com/office/drawing/2014/main" id="{8E4ABAEA-F225-4F5E-9794-17AC1C3CE3B7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952140" y="6294695"/>
            <a:ext cx="417197" cy="417276"/>
            <a:chOff x="7712852" y="1193852"/>
            <a:chExt cx="417197" cy="417276"/>
          </a:xfrm>
        </p:grpSpPr>
        <p:sp>
          <p:nvSpPr>
            <p:cNvPr id="23" name="Shape789">
              <a:extLst>
                <a:ext uri="{FF2B5EF4-FFF2-40B4-BE49-F238E27FC236}">
                  <a16:creationId xmlns:a16="http://schemas.microsoft.com/office/drawing/2014/main" id="{D5D48B52-09A5-4DE0-8917-5784EBDFA82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7717161" y="1198082"/>
              <a:ext cx="412889" cy="413046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24" name="Shape813">
              <a:extLst>
                <a:ext uri="{FF2B5EF4-FFF2-40B4-BE49-F238E27FC236}">
                  <a16:creationId xmlns:a16="http://schemas.microsoft.com/office/drawing/2014/main" id="{1D5CEC80-87AE-46AA-8CA2-2F4BFD1E9EFA}"/>
                </a:ext>
              </a:extLst>
            </p:cNvPr>
            <p:cNvPicPr/>
            <p:nvPr>
              <p:custDataLst>
                <p:tags r:id="rId14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7712852" y="1193852"/>
              <a:ext cx="316731" cy="316731"/>
            </a:xfrm>
            <a:prstGeom prst="rect">
              <a:avLst/>
            </a:prstGeom>
          </p:spPr>
        </p:pic>
      </p:grpSp>
      <p:sp>
        <p:nvSpPr>
          <p:cNvPr id="25" name="Shape4326">
            <a:extLst>
              <a:ext uri="{FF2B5EF4-FFF2-40B4-BE49-F238E27FC236}">
                <a16:creationId xmlns:a16="http://schemas.microsoft.com/office/drawing/2014/main" id="{FF41CA9E-D5E8-4442-AE68-EE2BEB87D0E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657434" y="2019719"/>
            <a:ext cx="45719" cy="4729359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grpSp>
        <p:nvGrpSpPr>
          <p:cNvPr id="26" name="Shape819">
            <a:extLst>
              <a:ext uri="{FF2B5EF4-FFF2-40B4-BE49-F238E27FC236}">
                <a16:creationId xmlns:a16="http://schemas.microsoft.com/office/drawing/2014/main" id="{3450DD64-3EE4-4699-BBE7-127A88A01559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11285883" y="2310893"/>
            <a:ext cx="417198" cy="417276"/>
            <a:chOff x="4207653" y="2394364"/>
            <a:chExt cx="417198" cy="417276"/>
          </a:xfrm>
        </p:grpSpPr>
        <p:sp>
          <p:nvSpPr>
            <p:cNvPr id="27" name="Shape789">
              <a:extLst>
                <a:ext uri="{FF2B5EF4-FFF2-40B4-BE49-F238E27FC236}">
                  <a16:creationId xmlns:a16="http://schemas.microsoft.com/office/drawing/2014/main" id="{1A017353-14AB-48FC-A533-87403CADAD6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4211962" y="2398594"/>
              <a:ext cx="412889" cy="413046"/>
            </a:xfrm>
            <a:prstGeom prst="ellipse">
              <a:avLst/>
            </a:prstGeom>
            <a:solidFill>
              <a:srgbClr val="E7E6E6">
                <a:alpha val="50196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28" name="Shape805">
              <a:extLst>
                <a:ext uri="{FF2B5EF4-FFF2-40B4-BE49-F238E27FC236}">
                  <a16:creationId xmlns:a16="http://schemas.microsoft.com/office/drawing/2014/main" id="{FBBD3DA9-8BFA-4EBC-8DF7-DFED1A3EE4E0}"/>
                </a:ext>
              </a:extLst>
            </p:cNvPr>
            <p:cNvPicPr/>
            <p:nvPr>
              <p:custDataLst>
                <p:tags r:id="rId12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4207653" y="2394364"/>
              <a:ext cx="316731" cy="3167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5551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784">
            <a:extLst>
              <a:ext uri="{FF2B5EF4-FFF2-40B4-BE49-F238E27FC236}">
                <a16:creationId xmlns:a16="http://schemas.microsoft.com/office/drawing/2014/main" id="{59510E89-1F90-4B80-9F8F-E64701FE674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1494482" y="-498217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5AD6A-D9B9-45CA-80D6-CD09CF9F75E0}"/>
              </a:ext>
            </a:extLst>
          </p:cNvPr>
          <p:cNvSpPr txBox="1"/>
          <p:nvPr/>
        </p:nvSpPr>
        <p:spPr>
          <a:xfrm>
            <a:off x="4441371" y="0"/>
            <a:ext cx="77506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Приклад </a:t>
            </a:r>
            <a:r>
              <a:rPr lang="ru-RU" sz="32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застосування</a:t>
            </a:r>
            <a:r>
              <a:rPr lang="ru-RU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2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операцій</a:t>
            </a:r>
            <a:r>
              <a:rPr lang="ru-RU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2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інкременту</a:t>
            </a:r>
            <a:r>
              <a:rPr lang="ru-RU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sz="32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ru-RU" sz="32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та декременту </a:t>
            </a:r>
            <a:r>
              <a:rPr lang="ru-RU" sz="32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––</a:t>
            </a:r>
            <a:endParaRPr lang="ru-RU" sz="3200" b="1" i="0" dirty="0">
              <a:solidFill>
                <a:srgbClr val="2B2B2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873625-8AE5-4FFF-98B3-634C9A878C72}"/>
              </a:ext>
            </a:extLst>
          </p:cNvPr>
          <p:cNvSpPr txBox="1"/>
          <p:nvPr/>
        </p:nvSpPr>
        <p:spPr>
          <a:xfrm>
            <a:off x="6639999" y="1064161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1600" b="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Операція</a:t>
            </a:r>
            <a:r>
              <a:rPr lang="ru-RU" sz="16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інкременту</a:t>
            </a:r>
            <a:r>
              <a:rPr lang="ru-RU" sz="16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‘</a:t>
            </a:r>
            <a:r>
              <a:rPr lang="ru-RU" sz="16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++</a:t>
            </a:r>
            <a:r>
              <a:rPr lang="ru-RU" sz="16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‘ </a:t>
            </a:r>
            <a:r>
              <a:rPr lang="ru-RU" sz="1600" b="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збільшує</a:t>
            </a:r>
            <a:r>
              <a:rPr lang="ru-RU" sz="16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RU" sz="16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операнду на 1.</a:t>
            </a:r>
          </a:p>
          <a:p>
            <a:pPr algn="l" fontAlgn="base"/>
            <a:r>
              <a:rPr lang="ru-RU" sz="1600" b="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Операція</a:t>
            </a:r>
            <a:r>
              <a:rPr lang="ru-RU" sz="16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декременту ‘</a:t>
            </a:r>
            <a:r>
              <a:rPr lang="ru-RU" sz="1600" b="1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sz="16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‘ </a:t>
            </a:r>
            <a:r>
              <a:rPr lang="ru-RU" sz="1600" b="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зменшує</a:t>
            </a:r>
            <a:r>
              <a:rPr lang="ru-RU" sz="16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RU" sz="16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операнду на 1.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F241DBA-5C74-4C82-9F5F-C63AC72BB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3397" y="1077218"/>
            <a:ext cx="4603196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інкремент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 '++',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декремент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 '--’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цілочисельні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 типи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long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= 9;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x++;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x = 10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 = -15;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x--;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x = -16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дійсні типи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float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 = 2.3f;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f++;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f = 3.3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 = -3.85f;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f--;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f = -4.85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5A809F7-330B-4707-9E84-149B214C5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8005" y="3560307"/>
            <a:ext cx="3014975" cy="3200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Операцію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інкременту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rgbClr val="2B2B2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a++;</a:t>
            </a:r>
            <a:endParaRPr kumimoji="0" lang="uk-UA" altLang="uk-U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можна замінити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rgbClr val="2B2B2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= a + 1;</a:t>
            </a:r>
            <a:endParaRPr kumimoji="0" lang="uk-UA" altLang="uk-U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Так само операцію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декременту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rgbClr val="2B2B2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a--;</a:t>
            </a:r>
            <a:endParaRPr kumimoji="0" lang="uk-UA" altLang="uk-U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можна замінити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rgbClr val="2B2B2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= a - 1;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uk-UA" altLang="uk-UA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784">
            <a:extLst>
              <a:ext uri="{FF2B5EF4-FFF2-40B4-BE49-F238E27FC236}">
                <a16:creationId xmlns:a16="http://schemas.microsoft.com/office/drawing/2014/main" id="{008A2CE0-0630-437E-B93F-B9FF1B237C4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2892333" y="-2195760"/>
            <a:ext cx="4648298" cy="7546312"/>
          </a:xfrm>
          <a:prstGeom prst="ellipse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900A4D-3A4C-4E85-ADB7-739036289471}"/>
              </a:ext>
            </a:extLst>
          </p:cNvPr>
          <p:cNvSpPr txBox="1"/>
          <p:nvPr/>
        </p:nvSpPr>
        <p:spPr>
          <a:xfrm>
            <a:off x="0" y="0"/>
            <a:ext cx="1292662" cy="68580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r"/>
            <a:r>
              <a:rPr lang="uk-UA" sz="7200" dirty="0">
                <a:latin typeface="Comic Sans MS" panose="030F0702030302020204" pitchFamily="66" charset="0"/>
              </a:rPr>
              <a:t>Лістинг 3</a:t>
            </a:r>
          </a:p>
        </p:txBody>
      </p:sp>
      <p:sp>
        <p:nvSpPr>
          <p:cNvPr id="11" name="Shape784">
            <a:extLst>
              <a:ext uri="{FF2B5EF4-FFF2-40B4-BE49-F238E27FC236}">
                <a16:creationId xmlns:a16="http://schemas.microsoft.com/office/drawing/2014/main" id="{2C9A51FC-2A70-4E76-BFE5-53605FD40BF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-639173" y="6040680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12" name="Shape784">
            <a:extLst>
              <a:ext uri="{FF2B5EF4-FFF2-40B4-BE49-F238E27FC236}">
                <a16:creationId xmlns:a16="http://schemas.microsoft.com/office/drawing/2014/main" id="{5C86AA51-FE72-4B9B-83CA-C28376B7D24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430952" y="5618055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13" name="Shape784">
            <a:extLst>
              <a:ext uri="{FF2B5EF4-FFF2-40B4-BE49-F238E27FC236}">
                <a16:creationId xmlns:a16="http://schemas.microsoft.com/office/drawing/2014/main" id="{3F833401-FF4D-45A8-8CFE-C0D04296F6D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89020" y="6040679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grpSp>
        <p:nvGrpSpPr>
          <p:cNvPr id="14" name="Shape798">
            <a:extLst>
              <a:ext uri="{FF2B5EF4-FFF2-40B4-BE49-F238E27FC236}">
                <a16:creationId xmlns:a16="http://schemas.microsoft.com/office/drawing/2014/main" id="{308DB119-C8AC-4369-8A93-3D217F6DB8E7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4528942" y="6022202"/>
            <a:ext cx="417198" cy="417275"/>
            <a:chOff x="-17932" y="2761945"/>
            <a:chExt cx="417198" cy="417275"/>
          </a:xfrm>
        </p:grpSpPr>
        <p:sp>
          <p:nvSpPr>
            <p:cNvPr id="15" name="Shape789">
              <a:extLst>
                <a:ext uri="{FF2B5EF4-FFF2-40B4-BE49-F238E27FC236}">
                  <a16:creationId xmlns:a16="http://schemas.microsoft.com/office/drawing/2014/main" id="{C7AE81ED-8607-4E35-B6AC-E7D1BB0AE78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3623" y="2766174"/>
              <a:ext cx="412889" cy="413046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16" name="Shape794">
              <a:extLst>
                <a:ext uri="{FF2B5EF4-FFF2-40B4-BE49-F238E27FC236}">
                  <a16:creationId xmlns:a16="http://schemas.microsoft.com/office/drawing/2014/main" id="{FF00F157-D3EC-4295-B078-1CED94C2350D}"/>
                </a:ext>
              </a:extLst>
            </p:cNvPr>
            <p:cNvPicPr/>
            <p:nvPr>
              <p:custDataLst>
                <p:tags r:id="rId15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17932" y="2761945"/>
              <a:ext cx="316731" cy="316731"/>
            </a:xfrm>
            <a:prstGeom prst="rect">
              <a:avLst/>
            </a:prstGeom>
          </p:spPr>
        </p:pic>
      </p:grpSp>
      <p:grpSp>
        <p:nvGrpSpPr>
          <p:cNvPr id="17" name="Shape825">
            <a:extLst>
              <a:ext uri="{FF2B5EF4-FFF2-40B4-BE49-F238E27FC236}">
                <a16:creationId xmlns:a16="http://schemas.microsoft.com/office/drawing/2014/main" id="{037609D8-2089-4B71-A964-72DDD5611551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2387692" y="538609"/>
            <a:ext cx="417197" cy="417276"/>
            <a:chOff x="7712852" y="1193852"/>
            <a:chExt cx="417197" cy="417276"/>
          </a:xfrm>
        </p:grpSpPr>
        <p:sp>
          <p:nvSpPr>
            <p:cNvPr id="18" name="Shape789">
              <a:extLst>
                <a:ext uri="{FF2B5EF4-FFF2-40B4-BE49-F238E27FC236}">
                  <a16:creationId xmlns:a16="http://schemas.microsoft.com/office/drawing/2014/main" id="{980D2041-E449-4B2A-BC32-739FDB08269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717161" y="1198082"/>
              <a:ext cx="412889" cy="413046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19" name="Shape813">
              <a:extLst>
                <a:ext uri="{FF2B5EF4-FFF2-40B4-BE49-F238E27FC236}">
                  <a16:creationId xmlns:a16="http://schemas.microsoft.com/office/drawing/2014/main" id="{50B8D2DF-2B1E-47B5-A56D-2F65F72E715C}"/>
                </a:ext>
              </a:extLst>
            </p:cNvPr>
            <p:cNvPicPr/>
            <p:nvPr>
              <p:custDataLst>
                <p:tags r:id="rId13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712852" y="1193852"/>
              <a:ext cx="316731" cy="316731"/>
            </a:xfrm>
            <a:prstGeom prst="rect">
              <a:avLst/>
            </a:prstGeom>
          </p:spPr>
        </p:pic>
      </p:grpSp>
      <p:sp>
        <p:nvSpPr>
          <p:cNvPr id="20" name="Shape4326">
            <a:extLst>
              <a:ext uri="{FF2B5EF4-FFF2-40B4-BE49-F238E27FC236}">
                <a16:creationId xmlns:a16="http://schemas.microsoft.com/office/drawing/2014/main" id="{08EA271E-E904-4CD4-993A-0ECDBEBE279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851702" y="3584837"/>
            <a:ext cx="60647" cy="3151768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grpSp>
        <p:nvGrpSpPr>
          <p:cNvPr id="21" name="Shape819">
            <a:extLst>
              <a:ext uri="{FF2B5EF4-FFF2-40B4-BE49-F238E27FC236}">
                <a16:creationId xmlns:a16="http://schemas.microsoft.com/office/drawing/2014/main" id="{D6CD47DD-7858-4EF4-B7BB-0A86ED1BDF0E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5887401" y="2891635"/>
            <a:ext cx="417198" cy="417276"/>
            <a:chOff x="4207653" y="2394364"/>
            <a:chExt cx="417198" cy="417276"/>
          </a:xfrm>
        </p:grpSpPr>
        <p:sp>
          <p:nvSpPr>
            <p:cNvPr id="22" name="Shape789">
              <a:extLst>
                <a:ext uri="{FF2B5EF4-FFF2-40B4-BE49-F238E27FC236}">
                  <a16:creationId xmlns:a16="http://schemas.microsoft.com/office/drawing/2014/main" id="{CAF6E834-C64D-42C3-809D-2B60CC9D51F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211962" y="2398594"/>
              <a:ext cx="412889" cy="413046"/>
            </a:xfrm>
            <a:prstGeom prst="ellipse">
              <a:avLst/>
            </a:prstGeom>
            <a:solidFill>
              <a:srgbClr val="E7E6E6">
                <a:alpha val="50196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23" name="Shape805">
              <a:extLst>
                <a:ext uri="{FF2B5EF4-FFF2-40B4-BE49-F238E27FC236}">
                  <a16:creationId xmlns:a16="http://schemas.microsoft.com/office/drawing/2014/main" id="{DA0B1EB7-993E-4A93-80DA-4BFF6FDF7565}"/>
                </a:ext>
              </a:extLst>
            </p:cNvPr>
            <p:cNvPicPr/>
            <p:nvPr>
              <p:custDataLst>
                <p:tags r:id="rId11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207653" y="2394364"/>
              <a:ext cx="316731" cy="3167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8501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5985AC-10E8-444D-8BF3-3C21705A64EB}"/>
              </a:ext>
            </a:extLst>
          </p:cNvPr>
          <p:cNvSpPr txBox="1"/>
          <p:nvPr/>
        </p:nvSpPr>
        <p:spPr>
          <a:xfrm>
            <a:off x="1819511" y="0"/>
            <a:ext cx="104595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36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Яка </a:t>
            </a:r>
            <a:r>
              <a:rPr lang="ru-RU" sz="36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відмінність</a:t>
            </a:r>
            <a:r>
              <a:rPr lang="ru-RU" sz="36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6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між</a:t>
            </a:r>
            <a:r>
              <a:rPr lang="ru-RU" sz="36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6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префіксною</a:t>
            </a:r>
            <a:r>
              <a:rPr lang="ru-RU" sz="36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та </a:t>
            </a:r>
            <a:r>
              <a:rPr lang="ru-RU" sz="36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постфіксною</a:t>
            </a:r>
            <a:r>
              <a:rPr lang="ru-RU" sz="36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формою </a:t>
            </a:r>
            <a:r>
              <a:rPr lang="ru-RU" sz="36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застосування</a:t>
            </a:r>
            <a:r>
              <a:rPr lang="ru-RU" sz="36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6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операцій</a:t>
            </a:r>
            <a:r>
              <a:rPr lang="ru-RU" sz="36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600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інкременту</a:t>
            </a:r>
            <a:r>
              <a:rPr lang="ru-RU" sz="36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sz="36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ru-RU" sz="36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та декременту (</a:t>
            </a:r>
            <a:r>
              <a:rPr lang="ru-RU" sz="36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– –</a:t>
            </a:r>
            <a:r>
              <a:rPr lang="ru-RU" sz="3600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65873-2EFF-45FA-8571-7AD60840764D}"/>
              </a:ext>
            </a:extLst>
          </p:cNvPr>
          <p:cNvSpPr txBox="1"/>
          <p:nvPr/>
        </p:nvSpPr>
        <p:spPr>
          <a:xfrm>
            <a:off x="5784595" y="2707661"/>
            <a:ext cx="633265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Відмінність між </a:t>
            </a:r>
            <a:r>
              <a:rPr lang="uk-UA" sz="2000" b="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префіксною</a:t>
            </a: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постфіксною формами застосування проявляється, коли операції </a:t>
            </a:r>
            <a:r>
              <a:rPr lang="uk-UA" sz="2000" b="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інкременту</a:t>
            </a: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чи </a:t>
            </a:r>
            <a:r>
              <a:rPr lang="uk-UA" sz="2000" b="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декременту</a:t>
            </a: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є частиною більш складного виразу.</a:t>
            </a:r>
          </a:p>
          <a:p>
            <a:pPr algn="just" fontAlgn="base"/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uk-UA" sz="2000" b="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префіксній</a:t>
            </a: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формі (</a:t>
            </a:r>
            <a:r>
              <a:rPr lang="uk-UA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++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або </a:t>
            </a:r>
            <a:r>
              <a:rPr lang="uk-UA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послідовність виконання операцій наступна: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збільшується (зменшується) значення операнду 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1;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результуюче значення операнду </a:t>
            </a:r>
            <a:r>
              <a:rPr lang="en-US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використовується у виразі.</a:t>
            </a:r>
          </a:p>
          <a:p>
            <a:pPr algn="just" fontAlgn="base"/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 постфіксній формі (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a++</a:t>
            </a:r>
            <a:r>
              <a:rPr lang="en-US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або 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a–</a:t>
            </a:r>
            <a:r>
              <a:rPr lang="en-US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послідовність виконання операцій наступна: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попереднє значення операнду </a:t>
            </a:r>
            <a:r>
              <a:rPr lang="en-US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використовується у виразі;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збільшується (зменшується) значення операнду 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uk-UA" sz="2000" b="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1.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DEA3885-CA4A-451E-8058-D1878CB0B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514" y="2282991"/>
            <a:ext cx="291916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інкремент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 '++',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декремент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 '--’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цілочисельні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 типи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int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a, b;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-6;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 = a++;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b = -6; a = -5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-6;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 = ++a;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b = -5; a = -5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3;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 = a--;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b = 3; a = 2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3;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 = --a; </a:t>
            </a:r>
          </a:p>
        </p:txBody>
      </p:sp>
      <p:sp>
        <p:nvSpPr>
          <p:cNvPr id="6" name="Shape784">
            <a:extLst>
              <a:ext uri="{FF2B5EF4-FFF2-40B4-BE49-F238E27FC236}">
                <a16:creationId xmlns:a16="http://schemas.microsoft.com/office/drawing/2014/main" id="{E10E6BD1-0335-4D7C-8BDF-47BDDAC53A4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1494482" y="-498217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8" name="Shape784">
            <a:extLst>
              <a:ext uri="{FF2B5EF4-FFF2-40B4-BE49-F238E27FC236}">
                <a16:creationId xmlns:a16="http://schemas.microsoft.com/office/drawing/2014/main" id="{39678009-4F73-4135-9314-554F1AE8D2E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2892333" y="-2195760"/>
            <a:ext cx="4648298" cy="7546312"/>
          </a:xfrm>
          <a:prstGeom prst="ellipse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10" name="Shape784">
            <a:extLst>
              <a:ext uri="{FF2B5EF4-FFF2-40B4-BE49-F238E27FC236}">
                <a16:creationId xmlns:a16="http://schemas.microsoft.com/office/drawing/2014/main" id="{C16F5DE6-08D3-4170-8719-5DDDDACCB5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-639173" y="6040680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11" name="Shape784">
            <a:extLst>
              <a:ext uri="{FF2B5EF4-FFF2-40B4-BE49-F238E27FC236}">
                <a16:creationId xmlns:a16="http://schemas.microsoft.com/office/drawing/2014/main" id="{DE08B1E8-6B9F-4908-A801-92161B73306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430952" y="5618055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sp>
        <p:nvSpPr>
          <p:cNvPr id="12" name="Shape784">
            <a:extLst>
              <a:ext uri="{FF2B5EF4-FFF2-40B4-BE49-F238E27FC236}">
                <a16:creationId xmlns:a16="http://schemas.microsoft.com/office/drawing/2014/main" id="{CE8CAA61-FC7F-41FD-B5DF-BB866EFCB05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89020" y="6040679"/>
            <a:ext cx="1239945" cy="1239945"/>
          </a:xfrm>
          <a:prstGeom prst="ellipse">
            <a:avLst/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Arial"/>
                <a:cs typeface="Arial"/>
              </a:defRPr>
            </a:lvl9pPr>
          </a:lstStyle>
          <a:p>
            <a:pPr algn="ctr"/>
            <a:endParaRPr lang="ru-RU" sz="1100">
              <a:solidFill>
                <a:srgbClr val="000000"/>
              </a:solidFill>
              <a:latin typeface="Comfortaa"/>
            </a:endParaRPr>
          </a:p>
        </p:txBody>
      </p:sp>
      <p:grpSp>
        <p:nvGrpSpPr>
          <p:cNvPr id="13" name="Shape798">
            <a:extLst>
              <a:ext uri="{FF2B5EF4-FFF2-40B4-BE49-F238E27FC236}">
                <a16:creationId xmlns:a16="http://schemas.microsoft.com/office/drawing/2014/main" id="{9B5E55C1-9D02-46A5-B94F-D319A72CB591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726598" y="1762713"/>
            <a:ext cx="417198" cy="417275"/>
            <a:chOff x="-17932" y="2761945"/>
            <a:chExt cx="417198" cy="417275"/>
          </a:xfrm>
        </p:grpSpPr>
        <p:sp>
          <p:nvSpPr>
            <p:cNvPr id="14" name="Shape789">
              <a:extLst>
                <a:ext uri="{FF2B5EF4-FFF2-40B4-BE49-F238E27FC236}">
                  <a16:creationId xmlns:a16="http://schemas.microsoft.com/office/drawing/2014/main" id="{059B272B-DFF1-444D-AAD4-D5C3C0F1FF7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3623" y="2766174"/>
              <a:ext cx="412889" cy="413046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15" name="Shape794">
              <a:extLst>
                <a:ext uri="{FF2B5EF4-FFF2-40B4-BE49-F238E27FC236}">
                  <a16:creationId xmlns:a16="http://schemas.microsoft.com/office/drawing/2014/main" id="{9F6E7B0C-55CF-44FF-B161-195317FE5B0D}"/>
                </a:ext>
              </a:extLst>
            </p:cNvPr>
            <p:cNvPicPr/>
            <p:nvPr>
              <p:custDataLst>
                <p:tags r:id="rId15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17932" y="2761945"/>
              <a:ext cx="316731" cy="316731"/>
            </a:xfrm>
            <a:prstGeom prst="rect">
              <a:avLst/>
            </a:prstGeom>
          </p:spPr>
        </p:pic>
      </p:grpSp>
      <p:grpSp>
        <p:nvGrpSpPr>
          <p:cNvPr id="16" name="Shape825">
            <a:extLst>
              <a:ext uri="{FF2B5EF4-FFF2-40B4-BE49-F238E27FC236}">
                <a16:creationId xmlns:a16="http://schemas.microsoft.com/office/drawing/2014/main" id="{7197C9C9-6BF7-42DF-BFF8-CDC2E7BAED87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46331" y="4858390"/>
            <a:ext cx="417197" cy="417276"/>
            <a:chOff x="7712852" y="1193852"/>
            <a:chExt cx="417197" cy="417276"/>
          </a:xfrm>
        </p:grpSpPr>
        <p:sp>
          <p:nvSpPr>
            <p:cNvPr id="17" name="Shape789">
              <a:extLst>
                <a:ext uri="{FF2B5EF4-FFF2-40B4-BE49-F238E27FC236}">
                  <a16:creationId xmlns:a16="http://schemas.microsoft.com/office/drawing/2014/main" id="{5CB6DA8A-7E3C-46A7-A453-576B97F3D03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717161" y="1198082"/>
              <a:ext cx="412889" cy="413046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18" name="Shape813">
              <a:extLst>
                <a:ext uri="{FF2B5EF4-FFF2-40B4-BE49-F238E27FC236}">
                  <a16:creationId xmlns:a16="http://schemas.microsoft.com/office/drawing/2014/main" id="{5FBE28A5-BEA1-45BB-934E-A8BB966935F5}"/>
                </a:ext>
              </a:extLst>
            </p:cNvPr>
            <p:cNvPicPr/>
            <p:nvPr>
              <p:custDataLst>
                <p:tags r:id="rId13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712852" y="1193852"/>
              <a:ext cx="316731" cy="316731"/>
            </a:xfrm>
            <a:prstGeom prst="rect">
              <a:avLst/>
            </a:prstGeom>
          </p:spPr>
        </p:pic>
      </p:grpSp>
      <p:grpSp>
        <p:nvGrpSpPr>
          <p:cNvPr id="19" name="Shape819">
            <a:extLst>
              <a:ext uri="{FF2B5EF4-FFF2-40B4-BE49-F238E27FC236}">
                <a16:creationId xmlns:a16="http://schemas.microsoft.com/office/drawing/2014/main" id="{7958DCE1-BEC3-497B-B560-D7CE16B015CB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4882630" y="6040679"/>
            <a:ext cx="417198" cy="417276"/>
            <a:chOff x="4207653" y="2394364"/>
            <a:chExt cx="417198" cy="417276"/>
          </a:xfrm>
        </p:grpSpPr>
        <p:sp>
          <p:nvSpPr>
            <p:cNvPr id="20" name="Shape789">
              <a:extLst>
                <a:ext uri="{FF2B5EF4-FFF2-40B4-BE49-F238E27FC236}">
                  <a16:creationId xmlns:a16="http://schemas.microsoft.com/office/drawing/2014/main" id="{A5E8AC5E-BA25-4E08-935E-58CA7029FED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211962" y="2398594"/>
              <a:ext cx="412889" cy="413046"/>
            </a:xfrm>
            <a:prstGeom prst="ellipse">
              <a:avLst/>
            </a:prstGeom>
            <a:solidFill>
              <a:srgbClr val="E7E6E6">
                <a:alpha val="50196"/>
              </a:srgbClr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21" name="Shape805">
              <a:extLst>
                <a:ext uri="{FF2B5EF4-FFF2-40B4-BE49-F238E27FC236}">
                  <a16:creationId xmlns:a16="http://schemas.microsoft.com/office/drawing/2014/main" id="{E997B06B-3436-4E41-A90E-FD69BD84BF7F}"/>
                </a:ext>
              </a:extLst>
            </p:cNvPr>
            <p:cNvPicPr/>
            <p:nvPr>
              <p:custDataLst>
                <p:tags r:id="rId11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207653" y="2394364"/>
              <a:ext cx="316731" cy="316731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F936831-DD24-406E-B7E6-AE3231E5DF92}"/>
              </a:ext>
            </a:extLst>
          </p:cNvPr>
          <p:cNvSpPr txBox="1"/>
          <p:nvPr/>
        </p:nvSpPr>
        <p:spPr>
          <a:xfrm>
            <a:off x="0" y="0"/>
            <a:ext cx="1292662" cy="68580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r"/>
            <a:r>
              <a:rPr lang="uk-UA" sz="7200" dirty="0">
                <a:latin typeface="Comic Sans MS" panose="030F0702030302020204" pitchFamily="66" charset="0"/>
              </a:rPr>
              <a:t>Лістинг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C6BEE1-4C2B-4398-8B45-89D03561F1ED}"/>
              </a:ext>
            </a:extLst>
          </p:cNvPr>
          <p:cNvSpPr txBox="1"/>
          <p:nvPr/>
        </p:nvSpPr>
        <p:spPr>
          <a:xfrm>
            <a:off x="3701326" y="3699038"/>
            <a:ext cx="19811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b = 2; a = 2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дійсні типи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float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double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993366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 = 5.7f;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 = ++f;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// d = 6.7; f = 6.7</a:t>
            </a:r>
            <a:r>
              <a:rPr kumimoji="0" lang="uk-UA" altLang="uk-UA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Shape4326">
            <a:extLst>
              <a:ext uri="{FF2B5EF4-FFF2-40B4-BE49-F238E27FC236}">
                <a16:creationId xmlns:a16="http://schemas.microsoft.com/office/drawing/2014/main" id="{119818BC-8DDA-49AF-B273-057AF7963D8E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 flipH="1">
            <a:off x="5784595" y="2806541"/>
            <a:ext cx="45719" cy="3994548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847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Приклад 1</a:t>
            </a:r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00007-A6E3-47C4-A6D2-BD809D23B873}"/>
              </a:ext>
            </a:extLst>
          </p:cNvPr>
          <p:cNvSpPr txBox="1"/>
          <p:nvPr/>
        </p:nvSpPr>
        <p:spPr>
          <a:xfrm>
            <a:off x="323850" y="13429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Створи </a:t>
            </a:r>
            <a:r>
              <a:rPr lang="ru-RU" dirty="0" err="1"/>
              <a:t>програму</a:t>
            </a:r>
            <a:r>
              <a:rPr lang="ru-RU" dirty="0"/>
              <a:t>, яка </a:t>
            </a:r>
            <a:r>
              <a:rPr lang="ru-RU" dirty="0" err="1"/>
              <a:t>зчитує</a:t>
            </a:r>
            <a:r>
              <a:rPr lang="ru-RU" dirty="0"/>
              <a:t> два числа з </a:t>
            </a:r>
            <a:r>
              <a:rPr lang="ru-RU" dirty="0" err="1"/>
              <a:t>плаваючою</a:t>
            </a:r>
            <a:r>
              <a:rPr lang="ru-RU" dirty="0"/>
              <a:t> </a:t>
            </a:r>
            <a:r>
              <a:rPr lang="ru-RU" dirty="0" err="1"/>
              <a:t>крапкою</a:t>
            </a:r>
            <a:br>
              <a:rPr lang="ru-RU" dirty="0"/>
            </a:br>
            <a:r>
              <a:rPr lang="ru-RU" dirty="0"/>
              <a:t>та </a:t>
            </a:r>
            <a:r>
              <a:rPr lang="ru-RU" dirty="0" err="1"/>
              <a:t>обчислює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середнє</a:t>
            </a:r>
            <a:r>
              <a:rPr lang="ru-RU" dirty="0"/>
              <a:t> </a:t>
            </a:r>
            <a:r>
              <a:rPr lang="ru-RU" dirty="0" err="1"/>
              <a:t>арифметичне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 err="1"/>
              <a:t>Виведи</a:t>
            </a:r>
            <a:r>
              <a:rPr lang="ru-RU" dirty="0"/>
              <a:t> результат з </a:t>
            </a:r>
            <a:r>
              <a:rPr lang="ru-RU" dirty="0" err="1"/>
              <a:t>двома</a:t>
            </a:r>
            <a:r>
              <a:rPr lang="ru-RU" dirty="0"/>
              <a:t> знаками </a:t>
            </a:r>
            <a:r>
              <a:rPr lang="ru-RU" dirty="0" err="1"/>
              <a:t>після</a:t>
            </a:r>
            <a:r>
              <a:rPr lang="ru-RU" dirty="0"/>
              <a:t> коми.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91A97B-17D9-4AF3-BDD3-5856AA1676BA}"/>
              </a:ext>
            </a:extLst>
          </p:cNvPr>
          <p:cNvSpPr txBox="1"/>
          <p:nvPr/>
        </p:nvSpPr>
        <p:spPr>
          <a:xfrm>
            <a:off x="7419975" y="14814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Введи перше число: 4.5  </a:t>
            </a:r>
          </a:p>
          <a:p>
            <a:r>
              <a:rPr lang="uk-UA" dirty="0"/>
              <a:t>Введи друге число: 7.5  </a:t>
            </a:r>
          </a:p>
          <a:p>
            <a:r>
              <a:rPr lang="uk-UA" dirty="0"/>
              <a:t>Середнє: 6.00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7AD8F6-6D02-4E1C-9213-A850E7A6212A}"/>
              </a:ext>
            </a:extLst>
          </p:cNvPr>
          <p:cNvSpPr txBox="1"/>
          <p:nvPr/>
        </p:nvSpPr>
        <p:spPr>
          <a:xfrm>
            <a:off x="323850" y="3429000"/>
            <a:ext cx="67579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 err="1"/>
              <a:t>Console.Write</a:t>
            </a:r>
            <a:r>
              <a:rPr lang="uk-UA" dirty="0"/>
              <a:t>("Введи перше число: ");</a:t>
            </a:r>
          </a:p>
          <a:p>
            <a:r>
              <a:rPr lang="uk-UA" dirty="0" err="1"/>
              <a:t>double</a:t>
            </a:r>
            <a:r>
              <a:rPr lang="uk-UA" dirty="0"/>
              <a:t> x = </a:t>
            </a:r>
            <a:r>
              <a:rPr lang="uk-UA" dirty="0" err="1"/>
              <a:t>double.Parse</a:t>
            </a:r>
            <a:r>
              <a:rPr lang="uk-UA" dirty="0"/>
              <a:t>(</a:t>
            </a:r>
            <a:r>
              <a:rPr lang="uk-UA" dirty="0" err="1"/>
              <a:t>Console.ReadLine</a:t>
            </a:r>
            <a:r>
              <a:rPr lang="uk-UA" dirty="0"/>
              <a:t>());</a:t>
            </a:r>
          </a:p>
          <a:p>
            <a:endParaRPr lang="uk-UA" dirty="0"/>
          </a:p>
          <a:p>
            <a:r>
              <a:rPr lang="uk-UA" dirty="0" err="1"/>
              <a:t>Console.Write</a:t>
            </a:r>
            <a:r>
              <a:rPr lang="uk-UA" dirty="0"/>
              <a:t>("Введи друге число: ");</a:t>
            </a:r>
          </a:p>
          <a:p>
            <a:r>
              <a:rPr lang="uk-UA" dirty="0" err="1"/>
              <a:t>double</a:t>
            </a:r>
            <a:r>
              <a:rPr lang="uk-UA" dirty="0"/>
              <a:t> y = </a:t>
            </a:r>
            <a:r>
              <a:rPr lang="uk-UA" dirty="0" err="1"/>
              <a:t>double.Parse</a:t>
            </a:r>
            <a:r>
              <a:rPr lang="uk-UA" dirty="0"/>
              <a:t>(</a:t>
            </a:r>
            <a:r>
              <a:rPr lang="uk-UA" dirty="0" err="1"/>
              <a:t>Console.ReadLine</a:t>
            </a:r>
            <a:r>
              <a:rPr lang="uk-UA" dirty="0"/>
              <a:t>());</a:t>
            </a:r>
          </a:p>
          <a:p>
            <a:endParaRPr lang="uk-UA" dirty="0"/>
          </a:p>
          <a:p>
            <a:r>
              <a:rPr lang="uk-UA" dirty="0" err="1"/>
              <a:t>double</a:t>
            </a:r>
            <a:r>
              <a:rPr lang="uk-UA" dirty="0"/>
              <a:t> </a:t>
            </a:r>
            <a:r>
              <a:rPr lang="uk-UA" dirty="0" err="1"/>
              <a:t>average</a:t>
            </a:r>
            <a:r>
              <a:rPr lang="uk-UA" dirty="0"/>
              <a:t> = (x + y) / 2;</a:t>
            </a:r>
          </a:p>
          <a:p>
            <a:endParaRPr lang="uk-UA" dirty="0"/>
          </a:p>
          <a:p>
            <a:r>
              <a:rPr lang="uk-UA" dirty="0" err="1"/>
              <a:t>Console.WriteLine</a:t>
            </a:r>
            <a:r>
              <a:rPr lang="uk-UA" dirty="0"/>
              <a:t>($"Середнє: {average:F2}");</a:t>
            </a:r>
          </a:p>
        </p:txBody>
      </p:sp>
    </p:spTree>
    <p:extLst>
      <p:ext uri="{BB962C8B-B14F-4D97-AF65-F5344CB8AC3E}">
        <p14:creationId xmlns:p14="http://schemas.microsoft.com/office/powerpoint/2010/main" val="1867776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Приклад 2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591EB-0469-4F6B-AF87-1C29C8693983}"/>
              </a:ext>
            </a:extLst>
          </p:cNvPr>
          <p:cNvSpPr txBox="1"/>
          <p:nvPr/>
        </p:nvSpPr>
        <p:spPr>
          <a:xfrm>
            <a:off x="457200" y="143381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Створи </a:t>
            </a:r>
            <a:r>
              <a:rPr lang="ru-RU" sz="2400" dirty="0" err="1"/>
              <a:t>програму</a:t>
            </a:r>
            <a:r>
              <a:rPr lang="ru-RU" sz="2400" dirty="0"/>
              <a:t>, яка </a:t>
            </a:r>
            <a:r>
              <a:rPr lang="ru-RU" sz="2400" dirty="0" err="1"/>
              <a:t>запитує</a:t>
            </a:r>
            <a:r>
              <a:rPr lang="ru-RU" sz="2400" dirty="0"/>
              <a:t> у </a:t>
            </a:r>
            <a:r>
              <a:rPr lang="ru-RU" sz="2400" dirty="0" err="1"/>
              <a:t>користувача</a:t>
            </a:r>
            <a:r>
              <a:rPr lang="ru-RU" sz="2400" dirty="0"/>
              <a:t> </a:t>
            </a:r>
            <a:r>
              <a:rPr lang="ru-RU" sz="2400" dirty="0" err="1"/>
              <a:t>довжину</a:t>
            </a:r>
            <a:r>
              <a:rPr lang="ru-RU" sz="2400" dirty="0"/>
              <a:t> </a:t>
            </a:r>
            <a:r>
              <a:rPr lang="ru-RU" sz="2400" dirty="0" err="1"/>
              <a:t>основи</a:t>
            </a:r>
            <a:r>
              <a:rPr lang="ru-RU" sz="2400" dirty="0"/>
              <a:t> та </a:t>
            </a:r>
            <a:r>
              <a:rPr lang="ru-RU" sz="2400" dirty="0" err="1"/>
              <a:t>висоту</a:t>
            </a:r>
            <a:r>
              <a:rPr lang="ru-RU" sz="2400" dirty="0"/>
              <a:t> </a:t>
            </a:r>
            <a:r>
              <a:rPr lang="ru-RU" sz="2400" dirty="0" err="1"/>
              <a:t>трикутника</a:t>
            </a:r>
            <a:r>
              <a:rPr lang="ru-RU" sz="2400" dirty="0"/>
              <a:t>.</a:t>
            </a:r>
            <a:br>
              <a:rPr lang="ru-RU" sz="2400" dirty="0"/>
            </a:br>
            <a:r>
              <a:rPr lang="ru-RU" sz="2400" dirty="0" err="1"/>
              <a:t>Обчисли</a:t>
            </a:r>
            <a:r>
              <a:rPr lang="ru-RU" sz="2400" dirty="0"/>
              <a:t> </a:t>
            </a:r>
            <a:r>
              <a:rPr lang="ru-RU" sz="2400" dirty="0" err="1"/>
              <a:t>площу</a:t>
            </a:r>
            <a:r>
              <a:rPr lang="ru-RU" sz="2400" dirty="0"/>
              <a:t> </a:t>
            </a:r>
            <a:r>
              <a:rPr lang="ru-RU" sz="2400" dirty="0" err="1"/>
              <a:t>трикутника</a:t>
            </a:r>
            <a:r>
              <a:rPr lang="ru-RU" sz="2400" dirty="0"/>
              <a:t> за формулою:</a:t>
            </a:r>
            <a:br>
              <a:rPr lang="ru-RU" sz="2400" dirty="0"/>
            </a:br>
            <a:r>
              <a:rPr lang="ru-RU" sz="2400" b="1" dirty="0"/>
              <a:t>S = (основа × </a:t>
            </a:r>
            <a:r>
              <a:rPr lang="ru-RU" sz="2400" b="1" dirty="0" err="1"/>
              <a:t>висота</a:t>
            </a:r>
            <a:r>
              <a:rPr lang="ru-RU" sz="2400" b="1" dirty="0"/>
              <a:t>) / 2</a:t>
            </a:r>
            <a:br>
              <a:rPr lang="ru-RU" sz="2400" dirty="0"/>
            </a:br>
            <a:r>
              <a:rPr lang="ru-RU" sz="2400" dirty="0"/>
              <a:t>і </a:t>
            </a:r>
            <a:r>
              <a:rPr lang="ru-RU" sz="2400" dirty="0" err="1"/>
              <a:t>виведи</a:t>
            </a:r>
            <a:r>
              <a:rPr lang="ru-RU" sz="2400" dirty="0"/>
              <a:t> результат.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6A0FB-40B7-4A23-82F4-4E56C7BFFB7C}"/>
              </a:ext>
            </a:extLst>
          </p:cNvPr>
          <p:cNvSpPr txBox="1"/>
          <p:nvPr/>
        </p:nvSpPr>
        <p:spPr>
          <a:xfrm>
            <a:off x="457200" y="390755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Console.Write</a:t>
            </a:r>
            <a:r>
              <a:rPr lang="en-US" dirty="0"/>
              <a:t>("</a:t>
            </a:r>
            <a:r>
              <a:rPr lang="uk-UA" dirty="0"/>
              <a:t>Введи основу трикутника: ");</a:t>
            </a:r>
          </a:p>
          <a:p>
            <a:r>
              <a:rPr lang="en-US" dirty="0"/>
              <a:t>double </a:t>
            </a:r>
            <a:r>
              <a:rPr lang="en-US" dirty="0" err="1"/>
              <a:t>baseLength</a:t>
            </a:r>
            <a:r>
              <a:rPr lang="en-US" dirty="0"/>
              <a:t> = </a:t>
            </a:r>
            <a:r>
              <a:rPr lang="en-US" dirty="0" err="1"/>
              <a:t>Convert.ToDouble</a:t>
            </a:r>
            <a:r>
              <a:rPr lang="en-US" dirty="0"/>
              <a:t>(</a:t>
            </a:r>
            <a:r>
              <a:rPr lang="en-US" dirty="0" err="1"/>
              <a:t>Console.ReadLine</a:t>
            </a:r>
            <a:r>
              <a:rPr lang="en-US" dirty="0"/>
              <a:t>());</a:t>
            </a:r>
          </a:p>
          <a:p>
            <a:endParaRPr lang="en-US" dirty="0"/>
          </a:p>
          <a:p>
            <a:r>
              <a:rPr lang="en-US" dirty="0" err="1"/>
              <a:t>Console.Write</a:t>
            </a:r>
            <a:r>
              <a:rPr lang="en-US" dirty="0"/>
              <a:t>("</a:t>
            </a:r>
            <a:r>
              <a:rPr lang="uk-UA" dirty="0"/>
              <a:t>Введи висоту трикутника: ");</a:t>
            </a:r>
          </a:p>
          <a:p>
            <a:r>
              <a:rPr lang="en-US" dirty="0"/>
              <a:t>double height = </a:t>
            </a:r>
            <a:r>
              <a:rPr lang="en-US" dirty="0" err="1"/>
              <a:t>Convert.ToDouble</a:t>
            </a:r>
            <a:r>
              <a:rPr lang="en-US" dirty="0"/>
              <a:t>(</a:t>
            </a:r>
            <a:r>
              <a:rPr lang="en-US" dirty="0" err="1"/>
              <a:t>Console.ReadLine</a:t>
            </a:r>
            <a:r>
              <a:rPr lang="en-US" dirty="0"/>
              <a:t>());</a:t>
            </a:r>
          </a:p>
          <a:p>
            <a:endParaRPr lang="en-US" dirty="0"/>
          </a:p>
          <a:p>
            <a:r>
              <a:rPr lang="en-US" dirty="0"/>
              <a:t>double area = (</a:t>
            </a:r>
            <a:r>
              <a:rPr lang="en-US" dirty="0" err="1"/>
              <a:t>baseLength</a:t>
            </a:r>
            <a:r>
              <a:rPr lang="en-US" dirty="0"/>
              <a:t> * height) / 2;</a:t>
            </a:r>
          </a:p>
          <a:p>
            <a:endParaRPr lang="en-US" dirty="0"/>
          </a:p>
          <a:p>
            <a:r>
              <a:rPr lang="en-US" dirty="0" err="1"/>
              <a:t>Console.WriteLine</a:t>
            </a:r>
            <a:r>
              <a:rPr lang="en-US" dirty="0"/>
              <a:t>($"</a:t>
            </a:r>
            <a:r>
              <a:rPr lang="uk-UA" dirty="0"/>
              <a:t>Площа трикутника: {</a:t>
            </a:r>
            <a:r>
              <a:rPr lang="en-US" dirty="0"/>
              <a:t>area}");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71FE22-1D0F-4AAB-8E56-01E19D8BF074}"/>
              </a:ext>
            </a:extLst>
          </p:cNvPr>
          <p:cNvSpPr txBox="1"/>
          <p:nvPr/>
        </p:nvSpPr>
        <p:spPr>
          <a:xfrm>
            <a:off x="6715125" y="169068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Введи основу трикутника: 10  </a:t>
            </a:r>
          </a:p>
          <a:p>
            <a:r>
              <a:rPr lang="uk-UA" dirty="0"/>
              <a:t>Введи висоту трикутника: 5  </a:t>
            </a:r>
          </a:p>
          <a:p>
            <a:r>
              <a:rPr lang="uk-UA" dirty="0"/>
              <a:t>Площа трикутника: 25</a:t>
            </a:r>
          </a:p>
        </p:txBody>
      </p:sp>
    </p:spTree>
    <p:extLst>
      <p:ext uri="{BB962C8B-B14F-4D97-AF65-F5344CB8AC3E}">
        <p14:creationId xmlns:p14="http://schemas.microsoft.com/office/powerpoint/2010/main" val="15238949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9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9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4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12500</TotalTime>
  <Words>4439</Words>
  <Application>Microsoft Office PowerPoint</Application>
  <PresentationFormat>Широкий екран</PresentationFormat>
  <Paragraphs>419</Paragraphs>
  <Slides>28</Slides>
  <Notes>22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28</vt:i4>
      </vt:variant>
    </vt:vector>
  </HeadingPairs>
  <TitlesOfParts>
    <vt:vector size="41" baseType="lpstr">
      <vt:lpstr>-apple-system</vt:lpstr>
      <vt:lpstr>Aptos</vt:lpstr>
      <vt:lpstr>Arial</vt:lpstr>
      <vt:lpstr>Calibri</vt:lpstr>
      <vt:lpstr>Calibri Light</vt:lpstr>
      <vt:lpstr>Cascadia Code</vt:lpstr>
      <vt:lpstr>Comfortaa</vt:lpstr>
      <vt:lpstr>Comic Sans MS</vt:lpstr>
      <vt:lpstr>Courier New</vt:lpstr>
      <vt:lpstr>Gelasio</vt:lpstr>
      <vt:lpstr>inherit</vt:lpstr>
      <vt:lpstr>Times New Roman</vt:lpstr>
      <vt:lpstr>Тема Office</vt:lpstr>
      <vt:lpstr>Презентація PowerPoint</vt:lpstr>
      <vt:lpstr>Базові операції</vt:lpstr>
      <vt:lpstr>Арифметичні операції. Бінарні операції</vt:lpstr>
      <vt:lpstr>Арифметичні операції. Унарні операції</vt:lpstr>
      <vt:lpstr>Арифметичні операції. Унарні операції</vt:lpstr>
      <vt:lpstr>Арифметичні операції. Пріоритет операцій</vt:lpstr>
      <vt:lpstr>Арифметичні операції. Асоціативність операторів</vt:lpstr>
      <vt:lpstr>Операції присвоєння</vt:lpstr>
      <vt:lpstr>Операції присвоєння</vt:lpstr>
      <vt:lpstr>Операції присвоєння. Приклад</vt:lpstr>
      <vt:lpstr>Звуження та розширення перетворення</vt:lpstr>
      <vt:lpstr>Перетворення базових типів даних</vt:lpstr>
      <vt:lpstr>Перетворення базових типів даних</vt:lpstr>
      <vt:lpstr>Перетворення базових типів даних</vt:lpstr>
      <vt:lpstr>Перетворення базових типів даних</vt:lpstr>
      <vt:lpstr>Умовні вирази</vt:lpstr>
      <vt:lpstr>Умовні вирази. Операції порівняння</vt:lpstr>
      <vt:lpstr>Умовні вирази. Операції порівняння</vt:lpstr>
      <vt:lpstr>Умовні вирази. Логічні операції</vt:lpstr>
      <vt:lpstr>Умовні вирази. Логічні операції</vt:lpstr>
      <vt:lpstr>Умовні вирази. Логічні операції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Приклад 1</vt:lpstr>
      <vt:lpstr>Приклад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Шейко Ростислав Олександрович</dc:creator>
  <cp:lastModifiedBy>Шейко Ростислав Олександрович</cp:lastModifiedBy>
  <cp:revision>97</cp:revision>
  <dcterms:created xsi:type="dcterms:W3CDTF">2024-06-01T09:56:10Z</dcterms:created>
  <dcterms:modified xsi:type="dcterms:W3CDTF">2025-11-05T18:19:57Z</dcterms:modified>
</cp:coreProperties>
</file>