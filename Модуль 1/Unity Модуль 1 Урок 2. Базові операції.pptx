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9" r:id="rId10"/>
    <p:sldId id="270" r:id="rId11"/>
    <p:sldId id="282" r:id="rId12"/>
    <p:sldId id="271" r:id="rId13"/>
    <p:sldId id="272" r:id="rId14"/>
    <p:sldId id="273" r:id="rId15"/>
    <p:sldId id="274" r:id="rId16"/>
    <p:sldId id="275" r:id="rId17"/>
    <p:sldId id="277" r:id="rId18"/>
    <p:sldId id="278" r:id="rId19"/>
    <p:sldId id="279" r:id="rId20"/>
    <p:sldId id="280" r:id="rId21"/>
    <p:sldId id="281" r:id="rId22"/>
    <p:sldId id="283" r:id="rId23"/>
    <p:sldId id="285" r:id="rId24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із теми 1 –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Стиль із теми 1 –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Помір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31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621915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28658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72482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08249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13783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28895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11896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224876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455713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06677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78391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641036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17523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62919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966231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23505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4317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153045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04295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02717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931457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46696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20.07.2025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381044" y="3568704"/>
            <a:ext cx="7429919" cy="19297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Базові операції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Базові операції</a:t>
            </a:r>
            <a:endParaRPr lang="uk-UA" dirty="0"/>
          </a:p>
        </p:txBody>
      </p:sp>
      <p:pic>
        <p:nvPicPr>
          <p:cNvPr id="1026" name="Picture 2" descr="Об'єктно-орієнтоване програмування - online presentation">
            <a:extLst>
              <a:ext uri="{FF2B5EF4-FFF2-40B4-BE49-F238E27FC236}">
                <a16:creationId xmlns:a16="http://schemas.microsoft.com/office/drawing/2014/main" id="{D09BA11B-8C77-4D37-A530-6515114AD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175" y="1349375"/>
            <a:ext cx="6858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6CCC7D-790D-4884-873E-CE0D93DCE2DD}"/>
              </a:ext>
            </a:extLst>
          </p:cNvPr>
          <p:cNvSpPr txBox="1"/>
          <p:nvPr/>
        </p:nvSpPr>
        <p:spPr>
          <a:xfrm>
            <a:off x="266700" y="1349375"/>
            <a:ext cx="43719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використовується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більшість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операцій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які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застосовуються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і в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інших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мовах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програмування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представляють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певні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дії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операндами –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учасниками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. Як операнда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може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виступати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змінною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або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будь-яке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(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наприклад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, число).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бувають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унарними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(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виконуються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одним операндом),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бінарними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– над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двома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операндами та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тернарними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–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виконуються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трьома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операндами. 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126760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Бінарні операції</a:t>
            </a:r>
            <a:endParaRPr lang="uk-UA" dirty="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2C8D6FF-0D27-4B84-AA9A-F774E0A5B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832431"/>
            <a:ext cx="2255426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+ 12;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EA143A4E-E4DA-4A8C-B71C-7E0CC1326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4275" y="1401544"/>
            <a:ext cx="204062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- 6;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2CE21FF0-3EB4-44CD-82E1-226C0B67C2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4275" y="3293387"/>
            <a:ext cx="2148024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* 5;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50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6">
            <a:extLst>
              <a:ext uri="{FF2B5EF4-FFF2-40B4-BE49-F238E27FC236}">
                <a16:creationId xmlns:a16="http://schemas.microsoft.com/office/drawing/2014/main" id="{30008E8D-C22B-40D1-A0D4-8E555EC82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4428" y="1401544"/>
            <a:ext cx="204062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/ 5;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D7F754-D65E-45F5-BBF6-B0244F76DB18}"/>
              </a:ext>
            </a:extLst>
          </p:cNvPr>
          <p:cNvSpPr txBox="1"/>
          <p:nvPr/>
        </p:nvSpPr>
        <p:spPr>
          <a:xfrm>
            <a:off x="7057753" y="1832431"/>
            <a:ext cx="39629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розподілі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варто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якщо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обидва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операнда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представляють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цілі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числа, то результат буде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округлятися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цілого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числа:</a:t>
            </a:r>
            <a:endParaRPr lang="uk-UA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EB7E85-8725-4EAB-BBD0-D5341C2069DC}"/>
              </a:ext>
            </a:extLst>
          </p:cNvPr>
          <p:cNvSpPr txBox="1"/>
          <p:nvPr/>
        </p:nvSpPr>
        <p:spPr>
          <a:xfrm>
            <a:off x="838200" y="3995263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a / b;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3.33333333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Rectangle 7">
            <a:extLst>
              <a:ext uri="{FF2B5EF4-FFF2-40B4-BE49-F238E27FC236}">
                <a16:creationId xmlns:a16="http://schemas.microsoft.com/office/drawing/2014/main" id="{9F380E86-3AB3-494B-9456-1A3BD8094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2299" y="4149151"/>
            <a:ext cx="4510850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10.0;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% 4.0;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//результат дорівнює 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427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dirty="0" err="1">
                <a:solidFill>
                  <a:srgbClr val="000000"/>
                </a:solidFill>
                <a:latin typeface="-apple-system"/>
              </a:rPr>
              <a:t>Унарні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операції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013ED1-BF81-47CD-A3DA-CB7CE1BE8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787" y="1444021"/>
            <a:ext cx="117824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інкременту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++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буває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префіксним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 ++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xспочатку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значення змінної x збільшується на 1, а потім її значення повертається як результат операції.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також існує постфіксний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 x++спочатку значення змінної x повертається як результат операції, а потім до нього додається 1.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BA2686-1A0D-4C37-83CE-2E7A7CB14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275" y="3013681"/>
            <a:ext cx="12058650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x1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z1 = ++x1;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z1=6; x1=6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"{x1} - {z1}"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x2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z2 = x2++;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z2=5; x2=6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"{x2} - {z2}"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501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dirty="0" err="1">
                <a:solidFill>
                  <a:srgbClr val="000000"/>
                </a:solidFill>
                <a:latin typeface="-apple-system"/>
              </a:rPr>
              <a:t>Унарні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операції</a:t>
            </a:r>
            <a:endParaRPr lang="uk-UA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33F0780-AA92-4484-B785-B3B2D7077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275" y="1511470"/>
            <a:ext cx="11620500" cy="10156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 зменшення значення на одиницю.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існує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префіксна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форма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 --x) та постфіксна ( x--).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A28B05F-C3F5-4BCC-ACD2-E73D0C5E7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50" y="2674947"/>
            <a:ext cx="3651641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x1 = 5;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z1 = --x1;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z1=4; x1=4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"{x1} - {z1}"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x2 = 5;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z2 = x2--;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z2=5; x2=4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"{x2} - {z2}"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62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34675" cy="1325563"/>
          </a:xfrm>
        </p:spPr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Пріоритет операцій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FAEEC-94B4-432F-8ABD-A08D92044F2E}"/>
              </a:ext>
            </a:extLst>
          </p:cNvPr>
          <p:cNvSpPr txBox="1"/>
          <p:nvPr/>
        </p:nvSpPr>
        <p:spPr>
          <a:xfrm>
            <a:off x="619126" y="1338560"/>
            <a:ext cx="110394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кількох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арифметичних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слід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порядок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найвищого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нижчого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675274-A2CD-463D-8CD1-B054C26565C3}"/>
              </a:ext>
            </a:extLst>
          </p:cNvPr>
          <p:cNvSpPr txBox="1"/>
          <p:nvPr/>
        </p:nvSpPr>
        <p:spPr>
          <a:xfrm>
            <a:off x="1295400" y="198489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декремент</a:t>
            </a:r>
          </a:p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Множення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розподіл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залишку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Додавання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віднімання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08D48-09D4-45DC-8F98-C67D4D3A9F8C}"/>
              </a:ext>
            </a:extLst>
          </p:cNvPr>
          <p:cNvSpPr txBox="1"/>
          <p:nvPr/>
        </p:nvSpPr>
        <p:spPr>
          <a:xfrm>
            <a:off x="619126" y="2958326"/>
            <a:ext cx="7610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порядку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проходження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застосовуються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дужки.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33A6BE-9D92-44A2-A376-6F4F146FC789}"/>
              </a:ext>
            </a:extLst>
          </p:cNvPr>
          <p:cNvSpPr txBox="1"/>
          <p:nvPr/>
        </p:nvSpPr>
        <p:spPr>
          <a:xfrm>
            <a:off x="619124" y="32356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Розглянемо набір операцій: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DB13D184-596A-43C3-86A0-AB256CD0E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3569584"/>
            <a:ext cx="526265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40;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c---b*a;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a=3  b=5  c=39  d=25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"a={a}  b={b}  c={c}  d={d}"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6D6FCD-937A-4AE2-9125-96C6BF2FC2B4}"/>
              </a:ext>
            </a:extLst>
          </p:cNvPr>
          <p:cNvSpPr txBox="1"/>
          <p:nvPr/>
        </p:nvSpPr>
        <p:spPr>
          <a:xfrm>
            <a:off x="619124" y="4646802"/>
            <a:ext cx="110394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ми маємо справу з трьома операціями: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віднімання та множення. Спочатку виконується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змінної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потім множення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* a,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в кінці віднімання. Тобто фактично набір операцій виглядав так: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1BFDD5A-65ED-45E4-9871-240F9B00D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5281268"/>
            <a:ext cx="2255426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(c--)-(b*a);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952C3E-B6A7-4AF8-91C9-D9071B2CFDCA}"/>
              </a:ext>
            </a:extLst>
          </p:cNvPr>
          <p:cNvSpPr txBox="1"/>
          <p:nvPr/>
        </p:nvSpPr>
        <p:spPr>
          <a:xfrm>
            <a:off x="619124" y="5437711"/>
            <a:ext cx="1067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за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допомогою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дужок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могли б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порядок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так: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8C25C68E-7CDB-4DFA-B8E4-1562F91FF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5748041"/>
            <a:ext cx="526265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40;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(c-(--b))*a;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a=3  b=4  c=40  d=108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"a={a}  b={b}  c={c}  d={d}"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8644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Асоціативність операторів</a:t>
            </a:r>
            <a:endParaRPr lang="uk-U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C4A9D8-8E80-4E03-9F6B-8D4F0AF93712}"/>
              </a:ext>
            </a:extLst>
          </p:cNvPr>
          <p:cNvSpPr txBox="1"/>
          <p:nvPr/>
        </p:nvSpPr>
        <p:spPr>
          <a:xfrm>
            <a:off x="457200" y="1690688"/>
            <a:ext cx="11277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вище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було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зазначено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множення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поділу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один і той же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але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тоді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результат буде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D3410A-36C6-4BFC-ADEF-D3C55C1AD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" y="2359253"/>
            <a:ext cx="2148024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 / 5 * 2;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260F57B-172C-4419-91EF-9EE028970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574697"/>
            <a:ext cx="1127760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Чи варто нам трактувати цей вислів як (10 / 5) * 2чи як 10 / (5 * 2)? Адже, залежно від трактування, ми отримаємо різні результати.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Коли операції мають той самий пріоритет, порядок обчислення визначається асоціативністю операторів. Залежно від асоціативності є два типи операторів: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Лівоасоціативні оператори, які виконуються зліва направо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Правоасоціативні оператори, які виконуються праворуч наліво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Усі арифметичні оператори є лівоасоціативними, тобто виконуються зліва направо. Тому вираз 10 / 5 * 2 необхідно трактувати як (10 / 5) * 2, тобто результатом буде 4.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859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0448BC-92FC-41C9-A319-84C97F0A9BC5}"/>
              </a:ext>
            </a:extLst>
          </p:cNvPr>
          <p:cNvSpPr txBox="1"/>
          <p:nvPr/>
        </p:nvSpPr>
        <p:spPr>
          <a:xfrm>
            <a:off x="304800" y="1308438"/>
            <a:ext cx="1143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встановлюють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беруть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участь два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операнди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причому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тільки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модифікований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іменований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змінну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 і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багатьох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мовах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програмування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C# є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базова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, яка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надає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правого операнда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операнду: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2143654-7DC3-4694-ABFB-FDC43BA40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5" y="2418557"/>
            <a:ext cx="1825821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number = 23;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E0B013-3599-4E3C-B0F4-B687B8504A37}"/>
              </a:ext>
            </a:extLst>
          </p:cNvPr>
          <p:cNvSpPr txBox="1"/>
          <p:nvPr/>
        </p:nvSpPr>
        <p:spPr>
          <a:xfrm>
            <a:off x="304799" y="2634001"/>
            <a:ext cx="114299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змінній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number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присвоюється число 23. Змінна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number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представляє лівий операнд, якому присвоюється значення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тобто 23.</a:t>
            </a:r>
          </a:p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можна виконувати множинне присвоєння відразу кількох змінним одночасно: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74FBCF8-68C6-4746-A658-CC9FE552F8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5" y="3557331"/>
            <a:ext cx="161101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a, b, c;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b = c = 34;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81545F-4992-40BC-8138-0D468C5C9839}"/>
              </a:ext>
            </a:extLst>
          </p:cNvPr>
          <p:cNvSpPr txBox="1"/>
          <p:nvPr/>
        </p:nvSpPr>
        <p:spPr>
          <a:xfrm>
            <a:off x="304798" y="4017667"/>
            <a:ext cx="105537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Варто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відзначити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низький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14D3372D-80B6-426E-9007-2D2C8ED4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4394679"/>
            <a:ext cx="3114635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a, b, c;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b = c = 34 * 2 / 4;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17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3078A521-F942-4CB5-A783-DBE74B637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798" y="4847335"/>
            <a:ext cx="11887202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Спочатку обчислюватиметься вираз 34 * 2 / 4, потім отримане значення буде надано змінним.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7607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F0E922-7F61-48E0-ABC6-CC2A1D60B4A5}"/>
              </a:ext>
            </a:extLst>
          </p:cNvPr>
          <p:cNvSpPr txBox="1"/>
          <p:nvPr/>
        </p:nvSpPr>
        <p:spPr>
          <a:xfrm>
            <a:off x="314325" y="1390650"/>
            <a:ext cx="1160145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Крім базової операції присвоєння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є ще ряд операцій: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+=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привласнення після складання. Надає лівому операнду суму лівого та правого операндів: вираз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+ 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рівнозначний виразу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+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-=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віднімання. Надає лівого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 різниця лівого і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-=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-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*=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надання після множення. Надає лівому операнду добуток лівого та правого операндів: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*=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*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/ 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розподілу 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endParaRPr lang="uk-UA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%=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надання після розподілу по модулю. Надає лівому операнду залишок від цілого розподілу лівого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 на правий: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%=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%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&amp;=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надання після порозрядної кон'юнкції. Надає лівому операнду результат порозрядної кон'юнкції його бітового уявлення з бітовим уявленням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&amp;=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&amp;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|=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присвоєння після порозрядної диз'юнкції. Надає лівому операнду результат порозрядної диз'юнкції його бітового уявлення з бітовим уявленням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|=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|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^=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операції виключає АБО. Надає лівому операнду результат операції виключає АБО його бітового уявлення з бітовим поданням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^=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^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&lt;&lt;=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зсуву розрядів 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вліво .</a:t>
            </a:r>
            <a:endParaRPr lang="uk-UA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&gt;&gt;=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привласнення після зсуву розрядів праворуч. Надає лівому операнду результат зсуву його бітового подання вправо на певну кількість розрядів, що дорівнює значенню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&gt;&gt;=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&gt;&gt;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520818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</a:t>
            </a:r>
            <a:endParaRPr lang="uk-UA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B328F66-E372-447E-86EA-52286AEF3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85897"/>
            <a:ext cx="11925300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+= 10;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-= 4;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*= 2;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32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/= 8;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&lt;&lt;= 4;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64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&gt;&gt;= 2;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E17B4C-EF37-430F-976C-31213BF083E5}"/>
              </a:ext>
            </a:extLst>
          </p:cNvPr>
          <p:cNvSpPr txBox="1"/>
          <p:nvPr/>
        </p:nvSpPr>
        <p:spPr>
          <a:xfrm>
            <a:off x="371474" y="2894002"/>
            <a:ext cx="10106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є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правоасоціативними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тобто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виконуються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праворуч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наліво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BBAA6F5-502E-4518-AA6E-666D53D62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271501"/>
            <a:ext cx="300723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8;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6;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a += b -= 5;   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9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8CBA6E-A5D8-4BA8-BE2D-858F43D375AD}"/>
              </a:ext>
            </a:extLst>
          </p:cNvPr>
          <p:cNvSpPr txBox="1"/>
          <p:nvPr/>
        </p:nvSpPr>
        <p:spPr>
          <a:xfrm>
            <a:off x="371474" y="4171274"/>
            <a:ext cx="61912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йтиме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таким чином: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-= 5 (6-5=1)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+= (b-=5) (8+1 = 9)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 = (a + = (b-=5)) (c = 9)</a:t>
            </a:r>
          </a:p>
        </p:txBody>
      </p:sp>
    </p:spTree>
    <p:extLst>
      <p:ext uri="{BB962C8B-B14F-4D97-AF65-F5344CB8AC3E}">
        <p14:creationId xmlns:p14="http://schemas.microsoft.com/office/powerpoint/2010/main" val="1224803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Звуження та розширення перетворення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C67F-2906-4A2B-81C2-75D258661787}"/>
              </a:ext>
            </a:extLst>
          </p:cNvPr>
          <p:cNvSpPr txBox="1"/>
          <p:nvPr/>
        </p:nvSpPr>
        <p:spPr>
          <a:xfrm>
            <a:off x="457200" y="1395710"/>
            <a:ext cx="11582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 можуть бути звужувальні (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narrowing)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 </a:t>
            </a:r>
            <a:r>
              <a:rPr lang="uk-UA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розширюючі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widening).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Розширювальні перетворення розширюють розмір об'єкта пам'яті. Наприклад: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B618C72-E3E6-43C2-8241-74045AA832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2008823"/>
            <a:ext cx="3651641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    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0000100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a;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000000000000100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F4C8E3-8697-4D01-8980-72DBA337ADC5}"/>
              </a:ext>
            </a:extLst>
          </p:cNvPr>
          <p:cNvSpPr txBox="1"/>
          <p:nvPr/>
        </p:nvSpPr>
        <p:spPr>
          <a:xfrm>
            <a:off x="457200" y="2546479"/>
            <a:ext cx="11277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разі змінної типу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ushort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присвоюється значення типу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byte.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Тип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 1 байт (8 біт), і значення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двійковому вигляді можна уявити як: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9133D-2533-4477-81E7-FCB953815F27}"/>
              </a:ext>
            </a:extLst>
          </p:cNvPr>
          <p:cNvSpPr txBox="1"/>
          <p:nvPr/>
        </p:nvSpPr>
        <p:spPr>
          <a:xfrm>
            <a:off x="457200" y="3152865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00000100</a:t>
            </a:r>
            <a:endParaRPr lang="uk-U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0509C4-40B3-46A0-9178-77754EDA0BD5}"/>
              </a:ext>
            </a:extLst>
          </p:cNvPr>
          <p:cNvSpPr txBox="1"/>
          <p:nvPr/>
        </p:nvSpPr>
        <p:spPr>
          <a:xfrm>
            <a:off x="457199" y="3482252"/>
            <a:ext cx="11277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 типу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ushort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 2 байти (16 біт). І за присвоєння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розширюється до 2 байт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F9B624-2216-4662-93E9-BDB33AF35644}"/>
              </a:ext>
            </a:extLst>
          </p:cNvPr>
          <p:cNvSpPr txBox="1"/>
          <p:nvPr/>
        </p:nvSpPr>
        <p:spPr>
          <a:xfrm>
            <a:off x="457200" y="4057501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0000000000000100</a:t>
            </a:r>
            <a:endParaRPr lang="uk-U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31FAFF-1B2B-47BC-BAB7-2080567B53EC}"/>
              </a:ext>
            </a:extLst>
          </p:cNvPr>
          <p:cNvSpPr txBox="1"/>
          <p:nvPr/>
        </p:nvSpPr>
        <p:spPr>
          <a:xfrm>
            <a:off x="457200" y="4412101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Тобто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8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sz="1400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розширюється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до 16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659B95-F20F-41E9-8A6F-4299BB3C53A2}"/>
              </a:ext>
            </a:extLst>
          </p:cNvPr>
          <p:cNvSpPr txBox="1"/>
          <p:nvPr/>
        </p:nvSpPr>
        <p:spPr>
          <a:xfrm>
            <a:off x="457198" y="4756398"/>
            <a:ext cx="112775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Звужуючі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навпаки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звужують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меншої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разядности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У другому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лістингу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статті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мали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справу з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звужуючими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перетвореннями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40EC038A-9B7E-495A-B973-9AB875955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5311884"/>
            <a:ext cx="1933222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Rectangle 4">
            <a:extLst>
              <a:ext uri="{FF2B5EF4-FFF2-40B4-BE49-F238E27FC236}">
                <a16:creationId xmlns:a16="http://schemas.microsoft.com/office/drawing/2014/main" id="{C32DFE6B-B167-46FD-96B3-1B547DE40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5832069"/>
            <a:ext cx="11144247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змінною b, яка займає 8 біт, присвоюється значення ushort, яке займає 16 біт. Тобто з 0000000000000100 отримуємо 00000100. Таким чином значення звужується з 16 біт (2 байт) до 8 біт (1 байт).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593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063DDC-2627-4CD1-AF6F-25959E245DC4}"/>
              </a:ext>
            </a:extLst>
          </p:cNvPr>
          <p:cNvSpPr txBox="1"/>
          <p:nvPr/>
        </p:nvSpPr>
        <p:spPr>
          <a:xfrm>
            <a:off x="380999" y="1457236"/>
            <a:ext cx="1135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 розгляді типів даних вказувалося, які значення може мати той чи інший тип і скільки байт пам'яті може займати. У минулій темі було розглянуто арифметичні операції. Тепер застосуємо операцію додавання до даних різних типів: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FB4722F-3064-4213-81D4-ABBA53992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2393722"/>
            <a:ext cx="161101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 + 70;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245C13-3A56-437E-93D6-C4DCC871EB04}"/>
              </a:ext>
            </a:extLst>
          </p:cNvPr>
          <p:cNvSpPr txBox="1"/>
          <p:nvPr/>
        </p:nvSpPr>
        <p:spPr>
          <a:xfrm>
            <a:off x="380998" y="2872512"/>
            <a:ext cx="1135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Результатом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цілком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справедливо є число 74, як і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очікується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тепер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спробуємо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додавання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двох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об'єктів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 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: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334A69CC-FA4E-4C2A-BEF2-E7B2FF524F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3516124"/>
            <a:ext cx="300723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 + 70;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помилка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638615-F893-40D8-96F5-B4A63491EA76}"/>
              </a:ext>
            </a:extLst>
          </p:cNvPr>
          <p:cNvSpPr txBox="1"/>
          <p:nvPr/>
        </p:nvSpPr>
        <p:spPr>
          <a:xfrm>
            <a:off x="380997" y="4162455"/>
            <a:ext cx="113537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змінився лише тип змінної, яка отримує результат додавання - з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byte.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Проте за спробі скомпілювати програму ми отримаємо помилку на етапі компіляції. І якщо ми працюємо в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середа підкреслить другий рядок червоною хвилястою лінією, вказуючи, що в ній є помилка.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068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F63F2-74C9-44C2-A225-CDD2A148A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471" y="1427448"/>
            <a:ext cx="11661058" cy="2640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Під час операцій ми повинні враховувати діапазон значень, які може зберігати той чи інший тип. Але в даному випадку число 74, яке ми очікуємо отримати, цілком укладається в діапазон значень типу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проте ми отримуємо помилку.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Справа в тому, що операція додавання (та й віднімання) повертає значення типу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якщо в операції беруть участь цілі численні типи даних з розрядністю менше або дорівнює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(тобто типи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 Тому результатом операції a + 70буде об'єкт, який має довжину в пам'яті 4 байти. Потім цей об'єкт ми намагаємось присвоїти змінній b, яка має тип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і в пам'яті займає 1 байт.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щоб вийти із цієї ситуації, необхідно застосувати операцію перетворення типів. </a:t>
            </a: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перетворення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типів передбачає вказівку у дужках того типу, якого треба перетворити значення: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25847F-DFA4-4EAB-8D87-18AFF287231E}"/>
              </a:ext>
            </a:extLst>
          </p:cNvPr>
          <p:cNvSpPr txBox="1"/>
          <p:nvPr/>
        </p:nvSpPr>
        <p:spPr>
          <a:xfrm>
            <a:off x="265470" y="4229785"/>
            <a:ext cx="88213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тип_данних_в_якому_потрібно_перетворити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uk-U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значення_для_перетворення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CEF776-25C8-410E-940C-E4F39F428715}"/>
              </a:ext>
            </a:extLst>
          </p:cNvPr>
          <p:cNvSpPr txBox="1"/>
          <p:nvPr/>
        </p:nvSpPr>
        <p:spPr>
          <a:xfrm>
            <a:off x="265470" y="4599117"/>
            <a:ext cx="1015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попередній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приклад,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застосувавши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типів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EE078150-78CA-43DE-85F1-B84C6D998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4986508"/>
            <a:ext cx="2577629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)(a + 70);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1421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graphicFrame>
        <p:nvGraphicFramePr>
          <p:cNvPr id="3" name="Таблиця 2">
            <a:extLst>
              <a:ext uri="{FF2B5EF4-FFF2-40B4-BE49-F238E27FC236}">
                <a16:creationId xmlns:a16="http://schemas.microsoft.com/office/drawing/2014/main" id="{81B64B3F-C09D-4A10-927D-232E5473D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26001"/>
              </p:ext>
            </p:extLst>
          </p:nvPr>
        </p:nvGraphicFramePr>
        <p:xfrm>
          <a:off x="4762500" y="1690688"/>
          <a:ext cx="6591300" cy="3185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885825">
                  <a:extLst>
                    <a:ext uri="{9D8B030D-6E8A-4147-A177-3AD203B41FA5}">
                      <a16:colId xmlns:a16="http://schemas.microsoft.com/office/drawing/2014/main" val="2537032281"/>
                    </a:ext>
                  </a:extLst>
                </a:gridCol>
                <a:gridCol w="5705475">
                  <a:extLst>
                    <a:ext uri="{9D8B030D-6E8A-4147-A177-3AD203B41FA5}">
                      <a16:colId xmlns:a16="http://schemas.microsoft.com/office/drawing/2014/main" val="2110891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uk-UA">
                          <a:effectLst/>
                        </a:rPr>
                        <a:t>Тип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>
                          <a:effectLst/>
                        </a:rPr>
                        <a:t>В які типи безпечно перетворюється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904669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byte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short, ushort, int, uint, 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218353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sbyte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short, int, 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3455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int, 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904627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ushort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int, uint, 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52081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6889844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uint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9849820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838547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ulong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4185899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double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471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char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 err="1">
                          <a:effectLst/>
                        </a:rPr>
                        <a:t>ushort</a:t>
                      </a:r>
                      <a:r>
                        <a:rPr lang="en-US" dirty="0">
                          <a:effectLst/>
                        </a:rPr>
                        <a:t>, int, </a:t>
                      </a:r>
                      <a:r>
                        <a:rPr lang="en-US" dirty="0" err="1">
                          <a:effectLst/>
                        </a:rPr>
                        <a:t>uint</a:t>
                      </a:r>
                      <a:r>
                        <a:rPr lang="en-US" dirty="0">
                          <a:effectLst/>
                        </a:rPr>
                        <a:t>, long, </a:t>
                      </a:r>
                      <a:r>
                        <a:rPr lang="en-US" dirty="0" err="1">
                          <a:effectLst/>
                        </a:rPr>
                        <a:t>ulong</a:t>
                      </a:r>
                      <a:r>
                        <a:rPr lang="en-US" dirty="0">
                          <a:effectLst/>
                        </a:rPr>
                        <a:t>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084421856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26B317B-0D86-4C78-B48A-08E273B88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6725"/>
            <a:ext cx="4154882" cy="430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353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C2752A-466F-42BF-BBEF-D559E7F72B13}"/>
              </a:ext>
            </a:extLst>
          </p:cNvPr>
          <p:cNvSpPr txBox="1"/>
          <p:nvPr/>
        </p:nvSpPr>
        <p:spPr>
          <a:xfrm>
            <a:off x="333374" y="1332637"/>
            <a:ext cx="114014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 інших випадках слід використовувати явні перетворення типів.</a:t>
            </a:r>
          </a:p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слід зазначити, що незважаючи на те, що і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можуть зберігати дробові дані, 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має більшу розрядність, ніж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все одно значення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потрібно явно наводити до типу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decimal: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B676CF-1768-4A64-8217-773C55087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1" y="2364373"/>
            <a:ext cx="247022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4.0;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B616EB-0C12-4364-9B8D-A9F66EB4E7CC}"/>
              </a:ext>
            </a:extLst>
          </p:cNvPr>
          <p:cNvSpPr txBox="1"/>
          <p:nvPr/>
        </p:nvSpPr>
        <p:spPr>
          <a:xfrm>
            <a:off x="333374" y="3429000"/>
            <a:ext cx="1067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Розглянемо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ситуацію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буде,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наступному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A327D6E-D5BC-4496-B0E0-D99482A5C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1" y="3798332"/>
            <a:ext cx="3222036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600;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(c);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121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2A209E-71AA-493D-B2B3-EC5C68ED4A33}"/>
              </a:ext>
            </a:extLst>
          </p:cNvPr>
          <p:cNvSpPr txBox="1"/>
          <p:nvPr/>
        </p:nvSpPr>
        <p:spPr>
          <a:xfrm>
            <a:off x="333373" y="4774406"/>
            <a:ext cx="11401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Результатом буде число 121, так число 633 не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потрапляє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діапазон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і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старші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будуть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усікатися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вийде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число 121. Тому, 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треба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І ми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взяти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числа a і b,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сумі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дадуть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число не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більше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255,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або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вибрати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замість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8145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695084-C608-460A-B906-383BAD6BBEB8}"/>
              </a:ext>
            </a:extLst>
          </p:cNvPr>
          <p:cNvSpPr txBox="1"/>
          <p:nvPr/>
        </p:nvSpPr>
        <p:spPr>
          <a:xfrm>
            <a:off x="457200" y="1366361"/>
            <a:ext cx="1135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Окремий набір операцій представляє умовні висловлювання. Такі операції повертають логічне значення, тобто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true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,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якщо вираз істинно, і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false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,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якщо вираз хибний. До подібних операцій належать операції порівняння та логічні операції.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6274015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Операції порівняння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354102"/>
              </p:ext>
            </p:extLst>
          </p:nvPr>
        </p:nvGraphicFramePr>
        <p:xfrm>
          <a:off x="307975" y="1323340"/>
          <a:ext cx="11522076" cy="51257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84069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два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на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рівність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вони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то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не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то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повертається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== b;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!=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операнди не рівні, і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вони рівні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!= b;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a!=10;     //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"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менша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ніж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менший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і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&lt; b;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82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"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ніж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два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і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інакше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&gt; b; 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&gt; 25;    //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31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6684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Операції порівняння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220177"/>
              </p:ext>
            </p:extLst>
          </p:nvPr>
        </p:nvGraphicFramePr>
        <p:xfrm>
          <a:off x="307975" y="1323340"/>
          <a:ext cx="11522076" cy="3296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84069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&lt;=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"менше або одно". 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перший операнд менше або дорівнює другому. Інакше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&lt;= b;     // 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&lt;= 25;    // true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"більше чи одно". 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перший операнд більше або дорівнює другому, інакше повертається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false: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&gt;= b; 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&gt;= 25;    // false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88A1BFC-B9F5-4C38-8062-680B6C0C0436}"/>
              </a:ext>
            </a:extLst>
          </p:cNvPr>
          <p:cNvSpPr txBox="1"/>
          <p:nvPr/>
        </p:nvSpPr>
        <p:spPr>
          <a:xfrm>
            <a:off x="307975" y="50826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&lt;, &gt; &lt;=, &gt;=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більший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ніж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== і !=.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610735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448723"/>
              </p:ext>
            </p:extLst>
          </p:nvPr>
        </p:nvGraphicFramePr>
        <p:xfrm>
          <a:off x="212723" y="1970217"/>
          <a:ext cx="11522076" cy="4759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3980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552825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7029449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додавання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або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АБО.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|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&gt; 6) | (4 &gt; 6); // 5 &gt; 6 - false, 4 &gt; 6 - false,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множення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І.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обидва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операнда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одночасно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дорівнюють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&amp;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&lt; 6) &amp; (4 &lt; 6); // 5 &lt; 6 - true,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^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виключає АБО.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x5 = (5 &gt; 6) ^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x6 = (50 &gt; 6) ^ (4 / 2 &lt; 3); // 50 &gt; 6 - true, 4/2 &lt; 3 -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66832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272E49B-A1A4-4E40-87D5-C6EB0E5D70A3}"/>
              </a:ext>
            </a:extLst>
          </p:cNvPr>
          <p:cNvSpPr txBox="1"/>
          <p:nvPr/>
        </p:nvSpPr>
        <p:spPr>
          <a:xfrm>
            <a:off x="212723" y="1323886"/>
            <a:ext cx="1126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Також у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визначено логічні оператори, які повертають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 операнди вони приймають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 правило, застосовуються до відносин і поєднують кілька операцій порівняння.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818890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6368114"/>
              </p:ext>
            </p:extLst>
          </p:nvPr>
        </p:nvGraphicFramePr>
        <p:xfrm>
          <a:off x="307975" y="1323340"/>
          <a:ext cx="11522076" cy="5679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3125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6808259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||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складання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хоча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 один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із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операндів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||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&gt; 6) || (4 &gt; 6); // 5 &gt; 6 - false, 4 &gt; 6 - false,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&amp;&amp;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множення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обидва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одночасно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br>
                        <a:rPr lang="ru-RU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&amp;&amp;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&lt; 6) &amp;&amp; (4 &lt; 6); // 5 &lt; 6 - true,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!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логічного заперечення. Виробляється над одним операндом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 дорівнює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false.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 дорівнює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false: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a = true;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b = !a;   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82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31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4028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EA9A1A-1C3B-4389-BBE7-C2D96612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819" y="1279544"/>
            <a:ext cx="11936361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у нас дві пари операцій |і ||(а також &amp;і &amp;&amp;) виконують схожі дії, однак вони не рівнозначні.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z=x|y;обчислюватимуться обидва значення - x і y.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z=x||y;спочатку буде обчислюватися значення x, і якщо воно дорівнює true, то обчислення значення y вже сенсу не має, так як у нас у будь-якому випадку вже z буде дорівнює true. Значення y буде обчислюватися тільки в тому випадку, якщо x одноfalse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 саме стосується пари операцій &amp;/&amp;&amp;. У виразі z=x&amp;y;обчислюватимуться обидва значення - x і y.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z=x&amp;&amp;y;спочатку буде обчислюватися значення x, і якщо воно дорівнює false, то обчислення значення y вже сенсу не має, так як у нас у будь-якому випадку вже z буде дорівнює false. Значення y буде обчислюватися тільки в тому випадку, якщо x одноtrue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Тому операції ||і &amp;&amp;зручніші у обчисленнях, оскільки дозволяють скоротити час на обчислення значення виразу, і тим самим підвищують продуктивність. А операції |і &amp;більше підходять до виконання порозрядних операцій над числами.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6291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00007-A6E3-47C4-A6D2-BD809D23B873}"/>
              </a:ext>
            </a:extLst>
          </p:cNvPr>
          <p:cNvSpPr txBox="1"/>
          <p:nvPr/>
        </p:nvSpPr>
        <p:spPr>
          <a:xfrm>
            <a:off x="323850" y="1342936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Створи </a:t>
            </a:r>
            <a:r>
              <a:rPr lang="ru-RU" dirty="0" err="1"/>
              <a:t>програму</a:t>
            </a:r>
            <a:r>
              <a:rPr lang="ru-RU" dirty="0"/>
              <a:t>, яка </a:t>
            </a:r>
            <a:r>
              <a:rPr lang="ru-RU" dirty="0" err="1"/>
              <a:t>зчитує</a:t>
            </a:r>
            <a:r>
              <a:rPr lang="ru-RU" dirty="0"/>
              <a:t> два числа з </a:t>
            </a:r>
            <a:r>
              <a:rPr lang="ru-RU" dirty="0" err="1"/>
              <a:t>плаваючою</a:t>
            </a:r>
            <a:r>
              <a:rPr lang="ru-RU" dirty="0"/>
              <a:t> </a:t>
            </a:r>
            <a:r>
              <a:rPr lang="ru-RU" dirty="0" err="1"/>
              <a:t>крапкою</a:t>
            </a:r>
            <a:br>
              <a:rPr lang="ru-RU" dirty="0"/>
            </a:br>
            <a:r>
              <a:rPr lang="ru-RU" dirty="0"/>
              <a:t>та </a:t>
            </a:r>
            <a:r>
              <a:rPr lang="ru-RU" dirty="0" err="1"/>
              <a:t>обчислює</a:t>
            </a:r>
            <a:r>
              <a:rPr lang="ru-RU" dirty="0"/>
              <a:t> </a:t>
            </a:r>
            <a:r>
              <a:rPr lang="ru-RU" dirty="0" err="1"/>
              <a:t>їх</a:t>
            </a:r>
            <a:r>
              <a:rPr lang="ru-RU" dirty="0"/>
              <a:t> </a:t>
            </a:r>
            <a:r>
              <a:rPr lang="ru-RU" dirty="0" err="1"/>
              <a:t>середнє</a:t>
            </a:r>
            <a:r>
              <a:rPr lang="ru-RU" dirty="0"/>
              <a:t> </a:t>
            </a:r>
            <a:r>
              <a:rPr lang="ru-RU" dirty="0" err="1"/>
              <a:t>арифметичне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 err="1"/>
              <a:t>Виведи</a:t>
            </a:r>
            <a:r>
              <a:rPr lang="ru-RU" dirty="0"/>
              <a:t> результат з </a:t>
            </a:r>
            <a:r>
              <a:rPr lang="ru-RU" dirty="0" err="1"/>
              <a:t>двома</a:t>
            </a:r>
            <a:r>
              <a:rPr lang="ru-RU" dirty="0"/>
              <a:t> знаками </a:t>
            </a:r>
            <a:r>
              <a:rPr lang="ru-RU" dirty="0" err="1"/>
              <a:t>після</a:t>
            </a:r>
            <a:r>
              <a:rPr lang="ru-RU" dirty="0"/>
              <a:t> коми.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91A97B-17D9-4AF3-BDD3-5856AA1676BA}"/>
              </a:ext>
            </a:extLst>
          </p:cNvPr>
          <p:cNvSpPr txBox="1"/>
          <p:nvPr/>
        </p:nvSpPr>
        <p:spPr>
          <a:xfrm>
            <a:off x="7419975" y="148143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перше число: 4.5  </a:t>
            </a:r>
          </a:p>
          <a:p>
            <a:r>
              <a:rPr lang="uk-UA" dirty="0"/>
              <a:t>Введи друге число: 7.5  </a:t>
            </a:r>
          </a:p>
          <a:p>
            <a:r>
              <a:rPr lang="uk-UA" dirty="0"/>
              <a:t>Середнє: 6.00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7AD8F6-6D02-4E1C-9213-A850E7A6212A}"/>
              </a:ext>
            </a:extLst>
          </p:cNvPr>
          <p:cNvSpPr txBox="1"/>
          <p:nvPr/>
        </p:nvSpPr>
        <p:spPr>
          <a:xfrm>
            <a:off x="323850" y="3429000"/>
            <a:ext cx="675798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/>
              <a:t>Console.Write</a:t>
            </a:r>
            <a:r>
              <a:rPr lang="uk-UA" dirty="0"/>
              <a:t>("Введи перше число: ");</a:t>
            </a:r>
          </a:p>
          <a:p>
            <a:r>
              <a:rPr lang="uk-UA" dirty="0" err="1"/>
              <a:t>double</a:t>
            </a:r>
            <a:r>
              <a:rPr lang="uk-UA" dirty="0"/>
              <a:t> x = </a:t>
            </a:r>
            <a:r>
              <a:rPr lang="uk-UA" dirty="0" err="1"/>
              <a:t>double.Parse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Console.Write</a:t>
            </a:r>
            <a:r>
              <a:rPr lang="uk-UA" dirty="0"/>
              <a:t>("Введи друге число: ");</a:t>
            </a:r>
          </a:p>
          <a:p>
            <a:r>
              <a:rPr lang="uk-UA" dirty="0" err="1"/>
              <a:t>double</a:t>
            </a:r>
            <a:r>
              <a:rPr lang="uk-UA" dirty="0"/>
              <a:t> y = </a:t>
            </a:r>
            <a:r>
              <a:rPr lang="uk-UA" dirty="0" err="1"/>
              <a:t>double.Parse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double</a:t>
            </a:r>
            <a:r>
              <a:rPr lang="uk-UA" dirty="0"/>
              <a:t> </a:t>
            </a:r>
            <a:r>
              <a:rPr lang="uk-UA" dirty="0" err="1"/>
              <a:t>average</a:t>
            </a:r>
            <a:r>
              <a:rPr lang="uk-UA" dirty="0"/>
              <a:t> = (x + y) / 2;</a:t>
            </a:r>
          </a:p>
          <a:p>
            <a:endParaRPr lang="uk-UA" dirty="0"/>
          </a:p>
          <a:p>
            <a:r>
              <a:rPr lang="uk-UA" dirty="0" err="1"/>
              <a:t>Console.WriteLine</a:t>
            </a:r>
            <a:r>
              <a:rPr lang="uk-UA" dirty="0"/>
              <a:t>($"Середнє: {average:F2}");</a:t>
            </a:r>
          </a:p>
        </p:txBody>
      </p:sp>
    </p:spTree>
    <p:extLst>
      <p:ext uri="{BB962C8B-B14F-4D97-AF65-F5344CB8AC3E}">
        <p14:creationId xmlns:p14="http://schemas.microsoft.com/office/powerpoint/2010/main" val="1867776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591EB-0469-4F6B-AF87-1C29C8693983}"/>
              </a:ext>
            </a:extLst>
          </p:cNvPr>
          <p:cNvSpPr txBox="1"/>
          <p:nvPr/>
        </p:nvSpPr>
        <p:spPr>
          <a:xfrm>
            <a:off x="457200" y="1433810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Створи </a:t>
            </a:r>
            <a:r>
              <a:rPr lang="ru-RU" sz="2400" dirty="0" err="1"/>
              <a:t>програму</a:t>
            </a:r>
            <a:r>
              <a:rPr lang="ru-RU" sz="2400" dirty="0"/>
              <a:t>, яка </a:t>
            </a:r>
            <a:r>
              <a:rPr lang="ru-RU" sz="2400" dirty="0" err="1"/>
              <a:t>запитує</a:t>
            </a:r>
            <a:r>
              <a:rPr lang="ru-RU" sz="2400" dirty="0"/>
              <a:t> у </a:t>
            </a:r>
            <a:r>
              <a:rPr lang="ru-RU" sz="2400" dirty="0" err="1"/>
              <a:t>користувача</a:t>
            </a:r>
            <a:r>
              <a:rPr lang="ru-RU" sz="2400" dirty="0"/>
              <a:t> </a:t>
            </a:r>
            <a:r>
              <a:rPr lang="ru-RU" sz="2400" dirty="0" err="1"/>
              <a:t>довжину</a:t>
            </a:r>
            <a:r>
              <a:rPr lang="ru-RU" sz="2400" dirty="0"/>
              <a:t> </a:t>
            </a:r>
            <a:r>
              <a:rPr lang="ru-RU" sz="2400" dirty="0" err="1"/>
              <a:t>основи</a:t>
            </a:r>
            <a:r>
              <a:rPr lang="ru-RU" sz="2400" dirty="0"/>
              <a:t> та </a:t>
            </a:r>
            <a:r>
              <a:rPr lang="ru-RU" sz="2400" dirty="0" err="1"/>
              <a:t>висоту</a:t>
            </a:r>
            <a:r>
              <a:rPr lang="ru-RU" sz="2400" dirty="0"/>
              <a:t> </a:t>
            </a:r>
            <a:r>
              <a:rPr lang="ru-RU" sz="2400" dirty="0" err="1"/>
              <a:t>трикутника</a:t>
            </a:r>
            <a:r>
              <a:rPr lang="ru-RU" sz="2400" dirty="0"/>
              <a:t>.</a:t>
            </a:r>
            <a:br>
              <a:rPr lang="ru-RU" sz="2400" dirty="0"/>
            </a:br>
            <a:r>
              <a:rPr lang="ru-RU" sz="2400" dirty="0" err="1"/>
              <a:t>Обчисли</a:t>
            </a:r>
            <a:r>
              <a:rPr lang="ru-RU" sz="2400" dirty="0"/>
              <a:t> </a:t>
            </a:r>
            <a:r>
              <a:rPr lang="ru-RU" sz="2400" dirty="0" err="1"/>
              <a:t>площу</a:t>
            </a:r>
            <a:r>
              <a:rPr lang="ru-RU" sz="2400" dirty="0"/>
              <a:t> </a:t>
            </a:r>
            <a:r>
              <a:rPr lang="ru-RU" sz="2400" dirty="0" err="1"/>
              <a:t>трикутника</a:t>
            </a:r>
            <a:r>
              <a:rPr lang="ru-RU" sz="2400" dirty="0"/>
              <a:t> за формулою:</a:t>
            </a:r>
            <a:br>
              <a:rPr lang="ru-RU" sz="2400" dirty="0"/>
            </a:br>
            <a:r>
              <a:rPr lang="ru-RU" sz="2400" b="1" dirty="0"/>
              <a:t>S = (основа × </a:t>
            </a:r>
            <a:r>
              <a:rPr lang="ru-RU" sz="2400" b="1" dirty="0" err="1"/>
              <a:t>висота</a:t>
            </a:r>
            <a:r>
              <a:rPr lang="ru-RU" sz="2400" b="1" dirty="0"/>
              <a:t>) / 2</a:t>
            </a:r>
            <a:br>
              <a:rPr lang="ru-RU" sz="2400" dirty="0"/>
            </a:br>
            <a:r>
              <a:rPr lang="ru-RU" sz="2400" dirty="0"/>
              <a:t>і </a:t>
            </a:r>
            <a:r>
              <a:rPr lang="ru-RU" sz="2400" dirty="0" err="1"/>
              <a:t>виведи</a:t>
            </a:r>
            <a:r>
              <a:rPr lang="ru-RU" sz="2400" dirty="0"/>
              <a:t> результат.</a:t>
            </a:r>
            <a:endParaRPr lang="uk-UA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E6A0FB-40B7-4A23-82F4-4E56C7BFFB7C}"/>
              </a:ext>
            </a:extLst>
          </p:cNvPr>
          <p:cNvSpPr txBox="1"/>
          <p:nvPr/>
        </p:nvSpPr>
        <p:spPr>
          <a:xfrm>
            <a:off x="457200" y="390755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Console.Write</a:t>
            </a:r>
            <a:r>
              <a:rPr lang="en-US" dirty="0"/>
              <a:t>("</a:t>
            </a:r>
            <a:r>
              <a:rPr lang="uk-UA" dirty="0"/>
              <a:t>Введи основу трикутника: ");</a:t>
            </a:r>
          </a:p>
          <a:p>
            <a:r>
              <a:rPr lang="en-US" dirty="0"/>
              <a:t>double </a:t>
            </a:r>
            <a:r>
              <a:rPr lang="en-US" dirty="0" err="1"/>
              <a:t>baseLength</a:t>
            </a:r>
            <a:r>
              <a:rPr lang="en-US" dirty="0"/>
              <a:t> = </a:t>
            </a:r>
            <a:r>
              <a:rPr lang="en-US" dirty="0" err="1"/>
              <a:t>Convert.ToDouble</a:t>
            </a:r>
            <a:r>
              <a:rPr lang="en-US" dirty="0"/>
              <a:t>(</a:t>
            </a:r>
            <a:r>
              <a:rPr lang="en-US" dirty="0" err="1"/>
              <a:t>Console.ReadLine</a:t>
            </a:r>
            <a:r>
              <a:rPr lang="en-US" dirty="0"/>
              <a:t>());</a:t>
            </a:r>
          </a:p>
          <a:p>
            <a:endParaRPr lang="en-US" dirty="0"/>
          </a:p>
          <a:p>
            <a:r>
              <a:rPr lang="en-US" dirty="0" err="1"/>
              <a:t>Console.Write</a:t>
            </a:r>
            <a:r>
              <a:rPr lang="en-US" dirty="0"/>
              <a:t>("</a:t>
            </a:r>
            <a:r>
              <a:rPr lang="uk-UA" dirty="0"/>
              <a:t>Введи висоту трикутника: ");</a:t>
            </a:r>
          </a:p>
          <a:p>
            <a:r>
              <a:rPr lang="en-US" dirty="0"/>
              <a:t>double height = </a:t>
            </a:r>
            <a:r>
              <a:rPr lang="en-US" dirty="0" err="1"/>
              <a:t>Convert.ToDouble</a:t>
            </a:r>
            <a:r>
              <a:rPr lang="en-US" dirty="0"/>
              <a:t>(</a:t>
            </a:r>
            <a:r>
              <a:rPr lang="en-US" dirty="0" err="1"/>
              <a:t>Console.ReadLine</a:t>
            </a:r>
            <a:r>
              <a:rPr lang="en-US" dirty="0"/>
              <a:t>());</a:t>
            </a:r>
          </a:p>
          <a:p>
            <a:endParaRPr lang="en-US" dirty="0"/>
          </a:p>
          <a:p>
            <a:r>
              <a:rPr lang="en-US" dirty="0"/>
              <a:t>double area = (</a:t>
            </a:r>
            <a:r>
              <a:rPr lang="en-US" dirty="0" err="1"/>
              <a:t>baseLength</a:t>
            </a:r>
            <a:r>
              <a:rPr lang="en-US" dirty="0"/>
              <a:t> * height) / 2;</a:t>
            </a:r>
          </a:p>
          <a:p>
            <a:endParaRPr lang="en-US" dirty="0"/>
          </a:p>
          <a:p>
            <a:r>
              <a:rPr lang="en-US" dirty="0" err="1"/>
              <a:t>Console.WriteLine</a:t>
            </a:r>
            <a:r>
              <a:rPr lang="en-US" dirty="0"/>
              <a:t>($"</a:t>
            </a:r>
            <a:r>
              <a:rPr lang="uk-UA" dirty="0"/>
              <a:t>Площа трикутника: {</a:t>
            </a:r>
            <a:r>
              <a:rPr lang="en-US" dirty="0"/>
              <a:t>area}");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71FE22-1D0F-4AAB-8E56-01E19D8BF074}"/>
              </a:ext>
            </a:extLst>
          </p:cNvPr>
          <p:cNvSpPr txBox="1"/>
          <p:nvPr/>
        </p:nvSpPr>
        <p:spPr>
          <a:xfrm>
            <a:off x="6715125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основу трикутника: 10  </a:t>
            </a:r>
          </a:p>
          <a:p>
            <a:r>
              <a:rPr lang="uk-UA" dirty="0"/>
              <a:t>Введи висоту трикутника: 5  </a:t>
            </a:r>
          </a:p>
          <a:p>
            <a:r>
              <a:rPr lang="uk-UA" dirty="0"/>
              <a:t>Площа трикутника: 25</a:t>
            </a:r>
          </a:p>
        </p:txBody>
      </p:sp>
    </p:spTree>
    <p:extLst>
      <p:ext uri="{BB962C8B-B14F-4D97-AF65-F5344CB8AC3E}">
        <p14:creationId xmlns:p14="http://schemas.microsoft.com/office/powerpoint/2010/main" val="15238949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11201</TotalTime>
  <Words>3345</Words>
  <Application>Microsoft Office PowerPoint</Application>
  <PresentationFormat>Широкий екран</PresentationFormat>
  <Paragraphs>303</Paragraphs>
  <Slides>23</Slides>
  <Notes>22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23</vt:i4>
      </vt:variant>
    </vt:vector>
  </HeadingPairs>
  <TitlesOfParts>
    <vt:vector size="33" baseType="lpstr">
      <vt:lpstr>-apple-system</vt:lpstr>
      <vt:lpstr>Aptos</vt:lpstr>
      <vt:lpstr>Arial</vt:lpstr>
      <vt:lpstr>Calibri</vt:lpstr>
      <vt:lpstr>Calibri Light</vt:lpstr>
      <vt:lpstr>Cascadia Code</vt:lpstr>
      <vt:lpstr>Comfortaa</vt:lpstr>
      <vt:lpstr>Courier New</vt:lpstr>
      <vt:lpstr>Times New Roman</vt:lpstr>
      <vt:lpstr>Тема Office</vt:lpstr>
      <vt:lpstr>Презентація PowerPoint</vt:lpstr>
      <vt:lpstr>Базові операції</vt:lpstr>
      <vt:lpstr>Арифметичні операції. Бінарні операції</vt:lpstr>
      <vt:lpstr>Арифметичні операції. Унарні операції</vt:lpstr>
      <vt:lpstr>Арифметичні операції. Унарні операції</vt:lpstr>
      <vt:lpstr>Арифметичні операції. Пріоритет операцій</vt:lpstr>
      <vt:lpstr>Арифметичні операції. Асоціативність операторів</vt:lpstr>
      <vt:lpstr>Операції присвоєння</vt:lpstr>
      <vt:lpstr>Операції присвоєння</vt:lpstr>
      <vt:lpstr>Операції присвоєння. Приклад</vt:lpstr>
      <vt:lpstr>Звуження та розширення перетворення</vt:lpstr>
      <vt:lpstr>Перетворення базових типів даних</vt:lpstr>
      <vt:lpstr>Перетворення базових типів даних</vt:lpstr>
      <vt:lpstr>Перетворення базових типів даних</vt:lpstr>
      <vt:lpstr>Перетворення базових типів даних</vt:lpstr>
      <vt:lpstr>Умовні вирази</vt:lpstr>
      <vt:lpstr>Умовні вирази. Операції порівняння</vt:lpstr>
      <vt:lpstr>Умовні вирази. Операції порівняння</vt:lpstr>
      <vt:lpstr>Умовні вирази. Логічні операції</vt:lpstr>
      <vt:lpstr>Умовні вирази. Логічні операції</vt:lpstr>
      <vt:lpstr>Умовні вирази. Логічні операції</vt:lpstr>
      <vt:lpstr>Приклад 1</vt:lpstr>
      <vt:lpstr>Приклад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92</cp:revision>
  <dcterms:created xsi:type="dcterms:W3CDTF">2024-06-01T09:56:10Z</dcterms:created>
  <dcterms:modified xsi:type="dcterms:W3CDTF">2025-07-20T11:28:12Z</dcterms:modified>
</cp:coreProperties>
</file>