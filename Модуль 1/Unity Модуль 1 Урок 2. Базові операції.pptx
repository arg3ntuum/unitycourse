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5"/>
  </p:notesMasterIdLst>
  <p:sldIdLst>
    <p:sldId id="256" r:id="rId2"/>
    <p:sldId id="261" r:id="rId3"/>
    <p:sldId id="262" r:id="rId4"/>
    <p:sldId id="263" r:id="rId5"/>
    <p:sldId id="264" r:id="rId6"/>
    <p:sldId id="265" r:id="rId7"/>
    <p:sldId id="266" r:id="rId8"/>
    <p:sldId id="267" r:id="rId9"/>
    <p:sldId id="269" r:id="rId10"/>
    <p:sldId id="270" r:id="rId11"/>
    <p:sldId id="282" r:id="rId12"/>
    <p:sldId id="271" r:id="rId13"/>
    <p:sldId id="272" r:id="rId14"/>
    <p:sldId id="273" r:id="rId15"/>
    <p:sldId id="274" r:id="rId16"/>
    <p:sldId id="275" r:id="rId17"/>
    <p:sldId id="277" r:id="rId18"/>
    <p:sldId id="278" r:id="rId19"/>
    <p:sldId id="279" r:id="rId20"/>
    <p:sldId id="280" r:id="rId21"/>
    <p:sldId id="281" r:id="rId22"/>
    <p:sldId id="283" r:id="rId23"/>
    <p:sldId id="285" r:id="rId24"/>
  </p:sldIdLst>
  <p:sldSz cx="12192000" cy="6858000"/>
  <p:notesSz cx="6858000" cy="9144000"/>
  <p:defaultTextStyle>
    <a:defPPr>
      <a:defRPr lang="uk-UA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Помірний стиль 2 –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Стиль із теми 1 – акцент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C7853C-536D-4A76-A0AE-DD22124D55A5}" styleName="Стиль із теми 1 – акцент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073A0DAA-6AF3-43AB-8588-CEC1D06C72B9}" styleName="Помірний стиль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331" autoAdjust="0"/>
    <p:restoredTop sz="94660"/>
  </p:normalViewPr>
  <p:slideViewPr>
    <p:cSldViewPr snapToGrid="0">
      <p:cViewPr varScale="1">
        <p:scale>
          <a:sx n="80" d="100"/>
          <a:sy n="80" d="100"/>
        </p:scale>
        <p:origin x="451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uk-UA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D81528B-9B6F-4248-9BF4-341C8496BA36}" type="datetimeFigureOut">
              <a:rPr lang="uk-UA" smtClean="0"/>
              <a:t>21.07.2025</a:t>
            </a:fld>
            <a:endParaRPr lang="uk-UA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uk-UA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uk-UA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uk-UA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B40F577-1FC1-4001-B2C2-9EAF79F39BE2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8580690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ображення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Місце для нотаток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uk-UA" dirty="0"/>
          </a:p>
        </p:txBody>
      </p:sp>
      <p:sp>
        <p:nvSpPr>
          <p:cNvPr id="4" name="Місце для номера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40F577-1FC1-4001-B2C2-9EAF79F39BE2}" type="slidenum">
              <a:rPr lang="uk-UA" smtClean="0"/>
              <a:t>2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46219157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ображення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Місце для нотаток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uk-UA" dirty="0"/>
          </a:p>
        </p:txBody>
      </p:sp>
      <p:sp>
        <p:nvSpPr>
          <p:cNvPr id="4" name="Місце для номера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40F577-1FC1-4001-B2C2-9EAF79F39BE2}" type="slidenum">
              <a:rPr lang="uk-UA" smtClean="0"/>
              <a:t>3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72865866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ображення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Місце для нотаток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uk-UA" dirty="0"/>
          </a:p>
        </p:txBody>
      </p:sp>
      <p:sp>
        <p:nvSpPr>
          <p:cNvPr id="4" name="Місце для номера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40F577-1FC1-4001-B2C2-9EAF79F39BE2}" type="slidenum">
              <a:rPr lang="uk-UA" smtClean="0"/>
              <a:t>4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77248208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ображення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Місце для нотаток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uk-UA" dirty="0"/>
          </a:p>
        </p:txBody>
      </p:sp>
      <p:sp>
        <p:nvSpPr>
          <p:cNvPr id="4" name="Місце для номера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40F577-1FC1-4001-B2C2-9EAF79F39BE2}" type="slidenum">
              <a:rPr lang="uk-UA" smtClean="0"/>
              <a:t>5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410824926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ображення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Місце для нотаток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uk-UA" dirty="0"/>
          </a:p>
        </p:txBody>
      </p:sp>
      <p:sp>
        <p:nvSpPr>
          <p:cNvPr id="4" name="Місце для номера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40F577-1FC1-4001-B2C2-9EAF79F39BE2}" type="slidenum">
              <a:rPr lang="uk-UA" smtClean="0"/>
              <a:t>6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113783214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ображення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Місце для нотаток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uk-UA" dirty="0"/>
          </a:p>
        </p:txBody>
      </p:sp>
      <p:sp>
        <p:nvSpPr>
          <p:cNvPr id="4" name="Місце для номера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40F577-1FC1-4001-B2C2-9EAF79F39BE2}" type="slidenum">
              <a:rPr lang="uk-UA" smtClean="0"/>
              <a:t>7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312889514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ображення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Місце для нотаток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uk-UA" dirty="0"/>
          </a:p>
        </p:txBody>
      </p:sp>
      <p:sp>
        <p:nvSpPr>
          <p:cNvPr id="4" name="Місце для номера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40F577-1FC1-4001-B2C2-9EAF79F39BE2}" type="slidenum">
              <a:rPr lang="uk-UA" smtClean="0"/>
              <a:t>8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261189649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ображення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Місце для нотаток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uk-UA" dirty="0"/>
          </a:p>
        </p:txBody>
      </p:sp>
      <p:sp>
        <p:nvSpPr>
          <p:cNvPr id="4" name="Місце для номера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40F577-1FC1-4001-B2C2-9EAF79F39BE2}" type="slidenum">
              <a:rPr lang="uk-UA" smtClean="0"/>
              <a:t>9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212248768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ображення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Місце для нотаток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uk-UA" dirty="0"/>
          </a:p>
        </p:txBody>
      </p:sp>
      <p:sp>
        <p:nvSpPr>
          <p:cNvPr id="4" name="Місце для номера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40F577-1FC1-4001-B2C2-9EAF79F39BE2}" type="slidenum">
              <a:rPr lang="uk-UA" smtClean="0"/>
              <a:t>10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33455713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ображення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Місце для нотаток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uk-UA" dirty="0"/>
          </a:p>
        </p:txBody>
      </p:sp>
      <p:sp>
        <p:nvSpPr>
          <p:cNvPr id="4" name="Місце для номера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40F577-1FC1-4001-B2C2-9EAF79F39BE2}" type="slidenum">
              <a:rPr lang="uk-UA" smtClean="0"/>
              <a:t>11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340667776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ображення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Місце для нотаток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uk-UA" dirty="0"/>
          </a:p>
        </p:txBody>
      </p:sp>
      <p:sp>
        <p:nvSpPr>
          <p:cNvPr id="4" name="Місце для номера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40F577-1FC1-4001-B2C2-9EAF79F39BE2}" type="slidenum">
              <a:rPr lang="uk-UA" smtClean="0"/>
              <a:t>12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87839169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ображення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Місце для нотаток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uk-UA" dirty="0"/>
          </a:p>
        </p:txBody>
      </p:sp>
      <p:sp>
        <p:nvSpPr>
          <p:cNvPr id="4" name="Місце для номера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40F577-1FC1-4001-B2C2-9EAF79F39BE2}" type="slidenum">
              <a:rPr lang="uk-UA" smtClean="0"/>
              <a:t>13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216410364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ображення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Місце для нотаток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uk-UA" dirty="0"/>
          </a:p>
        </p:txBody>
      </p:sp>
      <p:sp>
        <p:nvSpPr>
          <p:cNvPr id="4" name="Місце для номера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40F577-1FC1-4001-B2C2-9EAF79F39BE2}" type="slidenum">
              <a:rPr lang="uk-UA" smtClean="0"/>
              <a:t>14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271752356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ображення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Місце для нотаток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uk-UA" dirty="0"/>
          </a:p>
        </p:txBody>
      </p:sp>
      <p:sp>
        <p:nvSpPr>
          <p:cNvPr id="4" name="Місце для номера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40F577-1FC1-4001-B2C2-9EAF79F39BE2}" type="slidenum">
              <a:rPr lang="uk-UA" smtClean="0"/>
              <a:t>15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256291993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ображення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Місце для нотаток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uk-UA" dirty="0"/>
          </a:p>
        </p:txBody>
      </p:sp>
      <p:sp>
        <p:nvSpPr>
          <p:cNvPr id="4" name="Місце для номера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40F577-1FC1-4001-B2C2-9EAF79F39BE2}" type="slidenum">
              <a:rPr lang="uk-UA" smtClean="0"/>
              <a:t>16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379662312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ображення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Місце для нотаток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uk-UA" dirty="0"/>
          </a:p>
        </p:txBody>
      </p:sp>
      <p:sp>
        <p:nvSpPr>
          <p:cNvPr id="4" name="Місце для номера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40F577-1FC1-4001-B2C2-9EAF79F39BE2}" type="slidenum">
              <a:rPr lang="uk-UA" smtClean="0"/>
              <a:t>17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12350577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ображення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Місце для нотаток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uk-UA" dirty="0"/>
          </a:p>
        </p:txBody>
      </p:sp>
      <p:sp>
        <p:nvSpPr>
          <p:cNvPr id="4" name="Місце для номера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40F577-1FC1-4001-B2C2-9EAF79F39BE2}" type="slidenum">
              <a:rPr lang="uk-UA" smtClean="0"/>
              <a:t>18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643175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ображення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Місце для нотаток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uk-UA" dirty="0"/>
          </a:p>
        </p:txBody>
      </p:sp>
      <p:sp>
        <p:nvSpPr>
          <p:cNvPr id="4" name="Місце для номера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40F577-1FC1-4001-B2C2-9EAF79F39BE2}" type="slidenum">
              <a:rPr lang="uk-UA" smtClean="0"/>
              <a:t>19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151530457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ображення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Місце для нотаток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uk-UA" dirty="0"/>
          </a:p>
        </p:txBody>
      </p:sp>
      <p:sp>
        <p:nvSpPr>
          <p:cNvPr id="4" name="Місце для номера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40F577-1FC1-4001-B2C2-9EAF79F39BE2}" type="slidenum">
              <a:rPr lang="uk-UA" smtClean="0"/>
              <a:t>20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420429567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ображення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Місце для нотаток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uk-UA" dirty="0"/>
          </a:p>
        </p:txBody>
      </p:sp>
      <p:sp>
        <p:nvSpPr>
          <p:cNvPr id="4" name="Місце для номера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40F577-1FC1-4001-B2C2-9EAF79F39BE2}" type="slidenum">
              <a:rPr lang="uk-UA" smtClean="0"/>
              <a:t>21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410271773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ображення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Місце для нотаток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uk-UA" dirty="0"/>
          </a:p>
        </p:txBody>
      </p:sp>
      <p:sp>
        <p:nvSpPr>
          <p:cNvPr id="4" name="Місце для номера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40F577-1FC1-4001-B2C2-9EAF79F39BE2}" type="slidenum">
              <a:rPr lang="uk-UA" smtClean="0"/>
              <a:t>22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199314573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ображення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Місце для нотаток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uk-UA" dirty="0"/>
          </a:p>
        </p:txBody>
      </p:sp>
      <p:sp>
        <p:nvSpPr>
          <p:cNvPr id="4" name="Місце для номера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40F577-1FC1-4001-B2C2-9EAF79F39BE2}" type="slidenum">
              <a:rPr lang="uk-UA" smtClean="0"/>
              <a:t>23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274669603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231F6D5-EE77-F05F-8B36-EE698B21D82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uk-UA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AA3D416F-B419-0893-CF2A-60046F97AAB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uk-UA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C3563C5-2ABA-6BE0-F79B-E9DB4BDEE4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3972C-1D59-4812-9879-0ADA85AB86FA}" type="datetimeFigureOut">
              <a:rPr lang="uk-UA" smtClean="0"/>
              <a:t>21.07.2025</a:t>
            </a:fld>
            <a:endParaRPr lang="uk-UA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CA4729E-F6C7-6BDF-624A-6D985B5B28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7D99CCF-CF8A-37C1-30D7-3A4F12E728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40B5E-42AC-4C62-8644-F9D9979E3C1B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1815302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35A7231-C686-D8CF-FA17-0D8627ABD5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uk-UA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766263C-782F-0D49-1AA1-2BD5EF1B69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uk-UA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F3FAE1C-22C9-0EC4-2ED7-9EEA6D4204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3972C-1D59-4812-9879-0ADA85AB86FA}" type="datetimeFigureOut">
              <a:rPr lang="uk-UA" smtClean="0"/>
              <a:t>21.07.2025</a:t>
            </a:fld>
            <a:endParaRPr lang="uk-UA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54513AF-D9EC-2C9B-46F0-FBC11B9914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356EC0D-BDCD-2993-E5B6-0E8FE24494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40B5E-42AC-4C62-8644-F9D9979E3C1B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18841431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ED93858-E4D8-D43B-ACB3-0C9AC6B46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uk-UA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732040E3-EA86-307F-07E0-BC7B3D6F14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BFAE8B8-12AD-19AA-1620-86D64CDACA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3972C-1D59-4812-9879-0ADA85AB86FA}" type="datetimeFigureOut">
              <a:rPr lang="uk-UA" smtClean="0"/>
              <a:t>21.07.2025</a:t>
            </a:fld>
            <a:endParaRPr lang="uk-UA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8D6F026-C83D-F5A0-ED0E-2732983D42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D54D0E8-1B97-2B88-CD05-460E8D3516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40B5E-42AC-4C62-8644-F9D9979E3C1B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25703619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CCBF168-E018-8BDB-B8FF-CC85551D8E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uk-UA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347B9E1-A4ED-1B6A-D2BD-23480575035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uk-UA"/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01711F3B-E99A-650B-790B-EB9151C87CB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uk-UA"/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B64DA05C-7C21-661B-A41E-A547C6359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3972C-1D59-4812-9879-0ADA85AB86FA}" type="datetimeFigureOut">
              <a:rPr lang="uk-UA" smtClean="0"/>
              <a:t>21.07.2025</a:t>
            </a:fld>
            <a:endParaRPr lang="uk-UA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E832F842-7036-1B37-4C83-51CF5CEBD9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4B764A6A-7702-7ADF-5C4F-9C5F07082E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40B5E-42AC-4C62-8644-F9D9979E3C1B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4330494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35BEFC3-A00E-807A-05C0-DF79AA11DB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uk-UA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4F433749-A6A0-DF88-073F-1B884AAF6F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8CB0E37A-0FCA-2171-00F0-57CBBAF9CB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uk-UA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F1F75DC5-C2F0-8632-D5C2-78870B4131A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E550BBA9-0F72-E537-3AA6-E7220DF4F4A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uk-UA"/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231BD10E-2051-5B25-60B5-3B3C1F256F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3972C-1D59-4812-9879-0ADA85AB86FA}" type="datetimeFigureOut">
              <a:rPr lang="uk-UA" smtClean="0"/>
              <a:t>21.07.2025</a:t>
            </a:fld>
            <a:endParaRPr lang="uk-UA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2C1E8CCA-C8B9-B59E-93D2-886D22ACB0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3068BBCF-B605-D7C3-4AAB-2C25A24E7E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40B5E-42AC-4C62-8644-F9D9979E3C1B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37170598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D09D7A6-AA5A-4E60-C4B7-DBCAEB9CA8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uk-UA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0954A816-DE8A-F94F-C031-AF59E488A9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3972C-1D59-4812-9879-0ADA85AB86FA}" type="datetimeFigureOut">
              <a:rPr lang="uk-UA" smtClean="0"/>
              <a:t>21.07.2025</a:t>
            </a:fld>
            <a:endParaRPr lang="uk-UA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608AEBC4-A90F-6450-4083-5BE5A50358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955FBB7-22A4-3058-7C37-CEE2D48415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40B5E-42AC-4C62-8644-F9D9979E3C1B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18785627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BE350C2A-8EFE-9689-19C1-BF14E82E97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3972C-1D59-4812-9879-0ADA85AB86FA}" type="datetimeFigureOut">
              <a:rPr lang="uk-UA" smtClean="0"/>
              <a:t>21.07.2025</a:t>
            </a:fld>
            <a:endParaRPr lang="uk-UA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97E8B880-58A1-F037-1F63-5083FFA5C6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72F4755-3B72-F832-ABB2-A0AEFEFCEB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40B5E-42AC-4C62-8644-F9D9979E3C1B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2658963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9DA3BB8-B52E-7EBB-C0BE-35834C4E51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uk-UA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D3E0E39-1E9D-35C3-4F60-A75C61D826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uk-UA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EAD482B5-6263-8E79-4B0C-E15B27B9A3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18289D75-50AD-DA3E-808C-305E48204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3972C-1D59-4812-9879-0ADA85AB86FA}" type="datetimeFigureOut">
              <a:rPr lang="uk-UA" smtClean="0"/>
              <a:t>21.07.2025</a:t>
            </a:fld>
            <a:endParaRPr lang="uk-UA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61EA4FEA-94A7-4925-FE8D-43CA865E7F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AB861DBB-094D-CF71-2FF9-19A30C11C0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40B5E-42AC-4C62-8644-F9D9979E3C1B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29580920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327B8C0-2FB7-6B3A-8E33-A5354D6CD4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uk-UA"/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BBABF2AA-3490-C8C9-E0EC-E11BE8F7C18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uk-UA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B17CE27-4946-90C2-B284-DCBA830BCB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FA6B0D4C-582D-74B3-9532-199CDED2BD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3972C-1D59-4812-9879-0ADA85AB86FA}" type="datetimeFigureOut">
              <a:rPr lang="uk-UA" smtClean="0"/>
              <a:t>21.07.2025</a:t>
            </a:fld>
            <a:endParaRPr lang="uk-UA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DEFBF8CF-6DE6-47BA-C3FB-BF90B375B1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5D9C40B4-5CEF-7836-05EF-3B723EB2FC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40B5E-42AC-4C62-8644-F9D9979E3C1B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16851470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83A3CA9-4FCE-04E1-42BD-5B8A476C38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uk-UA"/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28239AA0-5AD0-1B0E-FA81-48CE982A822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uk-UA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EEA6C21-4BC9-7300-3FB7-F3398A823E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3972C-1D59-4812-9879-0ADA85AB86FA}" type="datetimeFigureOut">
              <a:rPr lang="uk-UA" smtClean="0"/>
              <a:t>21.07.2025</a:t>
            </a:fld>
            <a:endParaRPr lang="uk-UA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4E7A3A4-7067-8108-E4DF-8C6E4CD8E9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3C10FF2-CD08-629F-DDE1-7A138E0AEB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40B5E-42AC-4C62-8644-F9D9979E3C1B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26768755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95CB9DE7-6C28-F2AB-69D7-564D017BBFD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uk-UA"/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FCC1730D-0865-98A5-9C17-905D8F0BB8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uk-UA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887782F-B42D-DC1E-E695-5BB95E7792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3972C-1D59-4812-9879-0ADA85AB86FA}" type="datetimeFigureOut">
              <a:rPr lang="uk-UA" smtClean="0"/>
              <a:t>21.07.2025</a:t>
            </a:fld>
            <a:endParaRPr lang="uk-UA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58BE4FF-3308-A3BB-13AB-CB0656A1D5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442E754-E68F-D875-966D-BDE24CA160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40B5E-42AC-4C62-8644-F9D9979E3C1B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36474760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7F21754-49F4-99BC-3186-F93ABDD1EC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uk-UA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D649F773-8CE3-A1B9-D56C-9ADA522E7A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uk-UA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59E54FD-E9A9-BB88-3366-5240E179C1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E3972C-1D59-4812-9879-0ADA85AB86FA}" type="datetimeFigureOut">
              <a:rPr lang="uk-UA" smtClean="0"/>
              <a:t>21.07.2025</a:t>
            </a:fld>
            <a:endParaRPr lang="uk-UA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53AFDBA-1AD2-2DC3-7099-9ED422E2CCC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uk-UA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0368F6C-F98C-ABE5-567C-0C5A0D209DA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B740B5E-42AC-4C62-8644-F9D9979E3C1B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344286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uk-UA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7.xml"/><Relationship Id="rId3" Type="http://schemas.openxmlformats.org/officeDocument/2006/relationships/tags" Target="../tags/tag3.xml"/><Relationship Id="rId7" Type="http://schemas.openxmlformats.org/officeDocument/2006/relationships/tags" Target="../tags/tag7.xml"/><Relationship Id="rId2" Type="http://schemas.openxmlformats.org/officeDocument/2006/relationships/tags" Target="../tags/tag2.xml"/><Relationship Id="rId1" Type="http://schemas.openxmlformats.org/officeDocument/2006/relationships/tags" Target="../tags/tag1.xml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10" Type="http://schemas.openxmlformats.org/officeDocument/2006/relationships/image" Target="../media/image2.svg"/><Relationship Id="rId4" Type="http://schemas.openxmlformats.org/officeDocument/2006/relationships/tags" Target="../tags/tag4.xml"/><Relationship Id="rId9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Shape4326"/>
          <p:cNvGrpSpPr/>
          <p:nvPr>
            <p:custDataLst>
              <p:tags r:id="rId1"/>
            </p:custDataLst>
          </p:nvPr>
        </p:nvGrpSpPr>
        <p:grpSpPr>
          <a:xfrm>
            <a:off x="0" y="0"/>
            <a:ext cx="12192000" cy="6858000"/>
            <a:chOff x="-635000" y="-635000"/>
            <a:chExt cx="12192000" cy="6858000"/>
          </a:xfrm>
          <a:noFill/>
        </p:grpSpPr>
        <p:sp>
          <p:nvSpPr>
            <p:cNvPr id="10" name="Shape4323">
              <a:extLst>
                <a:ext uri="{FF2B5EF4-FFF2-40B4-BE49-F238E27FC236}">
                  <a16:creationId xmlns:a16="http://schemas.microsoft.com/office/drawing/2014/main" id="{141CCFB4-2F64-06B8-AF1D-C9E48150CDA3}"/>
                </a:ext>
              </a:extLst>
            </p:cNvPr>
            <p:cNvSpPr/>
            <p:nvPr>
              <p:custDataLst>
                <p:tags r:id="rId7"/>
              </p:custDataLst>
            </p:nvPr>
          </p:nvSpPr>
          <p:spPr>
            <a:xfrm>
              <a:off x="-635000" y="-635000"/>
              <a:ext cx="12192000" cy="6858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>
              <a:noAutofit/>
            </a:bodyPr>
            <a:lstStyle/>
            <a:p>
              <a:pPr algn="ctr"/>
              <a:endParaRPr lang="ru-RU" sz="1100">
                <a:solidFill>
                  <a:srgbClr val="000000"/>
                </a:solidFill>
                <a:latin typeface="Comfortaa"/>
                <a:cs typeface="Comfortaa"/>
              </a:endParaRPr>
            </a:p>
          </p:txBody>
        </p:sp>
      </p:grpSp>
      <p:grpSp>
        <p:nvGrpSpPr>
          <p:cNvPr id="3" name="Shape4327"/>
          <p:cNvGrpSpPr/>
          <p:nvPr>
            <p:custDataLst>
              <p:tags r:id="rId2"/>
            </p:custDataLst>
          </p:nvPr>
        </p:nvGrpSpPr>
        <p:grpSpPr>
          <a:xfrm>
            <a:off x="5197365" y="984555"/>
            <a:ext cx="1797269" cy="1797269"/>
            <a:chOff x="4562366" y="349555"/>
            <a:chExt cx="1797269" cy="1797269"/>
          </a:xfrm>
        </p:grpSpPr>
        <p:pic>
          <p:nvPicPr>
            <p:cNvPr id="5" name="Shape4328"/>
            <p:cNvPicPr/>
            <p:nvPr>
              <p:custDataLst>
                <p:tags r:id="rId6"/>
              </p:custDataLst>
            </p:nvPr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4562366" y="349555"/>
              <a:ext cx="1797269" cy="1797269"/>
            </a:xfrm>
            <a:prstGeom prst="rect">
              <a:avLst/>
            </a:prstGeom>
          </p:spPr>
        </p:pic>
      </p:grpSp>
      <p:grpSp>
        <p:nvGrpSpPr>
          <p:cNvPr id="7" name="Shape4329"/>
          <p:cNvGrpSpPr/>
          <p:nvPr>
            <p:custDataLst>
              <p:tags r:id="rId3"/>
            </p:custDataLst>
          </p:nvPr>
        </p:nvGrpSpPr>
        <p:grpSpPr>
          <a:xfrm>
            <a:off x="5557345" y="3238244"/>
            <a:ext cx="1077311" cy="55245"/>
            <a:chOff x="4925483" y="2578947"/>
            <a:chExt cx="1077311" cy="55245"/>
          </a:xfrm>
        </p:grpSpPr>
        <p:sp>
          <p:nvSpPr>
            <p:cNvPr id="8" name="Shape4325">
              <a:extLst>
                <a:ext uri="{FF2B5EF4-FFF2-40B4-BE49-F238E27FC236}">
                  <a16:creationId xmlns:a16="http://schemas.microsoft.com/office/drawing/2014/main" id="{21F15AB7-005A-EB90-56E9-C5761A58FD31}"/>
                </a:ext>
              </a:extLst>
            </p:cNvPr>
            <p:cNvSpPr/>
            <p:nvPr>
              <p:custDataLst>
                <p:tags r:id="rId5"/>
              </p:custDataLst>
            </p:nvPr>
          </p:nvSpPr>
          <p:spPr>
            <a:xfrm flipV="1">
              <a:off x="4925483" y="2578947"/>
              <a:ext cx="1077311" cy="55245"/>
            </a:xfrm>
            <a:prstGeom prst="rect">
              <a:avLst/>
            </a:prstGeom>
            <a:solidFill>
              <a:schemeClr val="bg2"/>
            </a:solidFill>
            <a:ln w="28575">
              <a:noFill/>
              <a:prstDash val="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/>
            <a:lstStyle>
              <a:defPPr>
                <a:defRPr lang="ru-RU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defTabSz="412717"/>
              <a:endParaRPr lang="en-US" sz="800">
                <a:solidFill>
                  <a:schemeClr val="tx1"/>
                </a:solidFill>
                <a:latin typeface="Comfortaa"/>
                <a:ea typeface="Comfortaa"/>
                <a:cs typeface="Comfortaa"/>
              </a:endParaRPr>
            </a:p>
          </p:txBody>
        </p:sp>
      </p:grpSp>
      <p:sp>
        <p:nvSpPr>
          <p:cNvPr id="6" name="Shape4324">
            <a:extLst>
              <a:ext uri="{FF2B5EF4-FFF2-40B4-BE49-F238E27FC236}">
                <a16:creationId xmlns:a16="http://schemas.microsoft.com/office/drawing/2014/main" id="{9CB60D78-BFA7-FBF3-D935-4D20CC03291F}"/>
              </a:ext>
            </a:extLst>
          </p:cNvPr>
          <p:cNvSpPr/>
          <p:nvPr>
            <p:custDataLst>
              <p:tags r:id="rId4"/>
            </p:custDataLst>
          </p:nvPr>
        </p:nvSpPr>
        <p:spPr>
          <a:xfrm>
            <a:off x="2381044" y="3568704"/>
            <a:ext cx="7429919" cy="192975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>
            <a:spAutoFit/>
          </a:bodyPr>
          <a:lstStyle/>
          <a:p>
            <a:pPr algn="ctr">
              <a:lnSpc>
                <a:spcPct val="95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6600" dirty="0" err="1"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cs typeface="Cascadia Code" panose="020B0609020000020004" pitchFamily="49" charset="0"/>
              </a:rPr>
              <a:t>Тема</a:t>
            </a:r>
            <a:r>
              <a:rPr lang="en-US" sz="6600" dirty="0"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6600" dirty="0" err="1"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cs typeface="Cascadia Code" panose="020B0609020000020004" pitchFamily="49" charset="0"/>
              </a:rPr>
              <a:t>уроку</a:t>
            </a:r>
            <a:r>
              <a:rPr lang="en-US" sz="6600" dirty="0"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cs typeface="Cascadia Code" panose="020B0609020000020004" pitchFamily="49" charset="0"/>
              </a:rPr>
              <a:t>:
</a:t>
            </a:r>
            <a:r>
              <a:rPr lang="uk-UA" sz="6600" dirty="0"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cs typeface="Cascadia Code" panose="020B0609020000020004" pitchFamily="49" charset="0"/>
              </a:rPr>
              <a:t>Базові операції</a:t>
            </a:r>
            <a:endParaRPr lang="en-US" sz="6600" dirty="0">
              <a:solidFill>
                <a:srgbClr val="0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8FDDC4D8-B307-439C-AC1F-AD35FFB09B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>
                <a:solidFill>
                  <a:srgbClr val="000000"/>
                </a:solidFill>
                <a:latin typeface="-apple-system"/>
              </a:rPr>
              <a:t>Базові операції</a:t>
            </a:r>
            <a:endParaRPr lang="uk-UA" dirty="0"/>
          </a:p>
        </p:txBody>
      </p:sp>
      <p:pic>
        <p:nvPicPr>
          <p:cNvPr id="1026" name="Picture 2" descr="Об'єктно-орієнтоване програмування - online presentation">
            <a:extLst>
              <a:ext uri="{FF2B5EF4-FFF2-40B4-BE49-F238E27FC236}">
                <a16:creationId xmlns:a16="http://schemas.microsoft.com/office/drawing/2014/main" id="{D09BA11B-8C77-4D37-A530-6515114AD5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29175" y="1349375"/>
            <a:ext cx="6858000" cy="5143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06CCC7D-790D-4884-873E-CE0D93DCE2DD}"/>
              </a:ext>
            </a:extLst>
          </p:cNvPr>
          <p:cNvSpPr txBox="1"/>
          <p:nvPr/>
        </p:nvSpPr>
        <p:spPr>
          <a:xfrm>
            <a:off x="266700" y="1349375"/>
            <a:ext cx="4371975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000" b="0" i="0" dirty="0">
                <a:solidFill>
                  <a:srgbClr val="000000"/>
                </a:solidFill>
                <a:effectLst/>
                <a:latin typeface="-apple-system"/>
              </a:rPr>
              <a:t>C#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-apple-system"/>
              </a:rPr>
              <a:t>використовується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-apple-system"/>
              </a:rPr>
              <a:t>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-apple-system"/>
              </a:rPr>
              <a:t>більшість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-apple-system"/>
              </a:rPr>
              <a:t>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-apple-system"/>
              </a:rPr>
              <a:t>операцій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-apple-system"/>
              </a:rPr>
              <a:t>,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-apple-system"/>
              </a:rPr>
              <a:t>які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-apple-system"/>
              </a:rPr>
              <a:t>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-apple-system"/>
              </a:rPr>
              <a:t>застосовуються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-apple-system"/>
              </a:rPr>
              <a:t> і в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-apple-system"/>
              </a:rPr>
              <a:t>інших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-apple-system"/>
              </a:rPr>
              <a:t>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-apple-system"/>
              </a:rPr>
              <a:t>мовах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-apple-system"/>
              </a:rPr>
              <a:t>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-apple-system"/>
              </a:rPr>
              <a:t>програмування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-apple-system"/>
              </a:rPr>
              <a:t>.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-apple-system"/>
              </a:rPr>
              <a:t>Операції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-apple-system"/>
              </a:rPr>
              <a:t>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-apple-system"/>
              </a:rPr>
              <a:t>представляють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-apple-system"/>
              </a:rPr>
              <a:t>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-apple-system"/>
              </a:rPr>
              <a:t>певні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-apple-system"/>
              </a:rPr>
              <a:t>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-apple-system"/>
              </a:rPr>
              <a:t>дії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-apple-system"/>
              </a:rPr>
              <a:t> над операндами –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-apple-system"/>
              </a:rPr>
              <a:t>учасниками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-apple-system"/>
              </a:rPr>
              <a:t>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-apple-system"/>
              </a:rPr>
              <a:t>операції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-apple-system"/>
              </a:rPr>
              <a:t>. Як операнда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-apple-system"/>
              </a:rPr>
              <a:t>може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-apple-system"/>
              </a:rPr>
              <a:t>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-apple-system"/>
              </a:rPr>
              <a:t>виступати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-apple-system"/>
              </a:rPr>
              <a:t>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-apple-system"/>
              </a:rPr>
              <a:t>змінною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-apple-system"/>
              </a:rPr>
              <a:t>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-apple-system"/>
              </a:rPr>
              <a:t>або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-apple-system"/>
              </a:rPr>
              <a:t> будь-яке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-apple-system"/>
              </a:rPr>
              <a:t>значення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-apple-system"/>
              </a:rPr>
              <a:t> (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-apple-system"/>
              </a:rPr>
              <a:t>наприклад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-apple-system"/>
              </a:rPr>
              <a:t>, число).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-apple-system"/>
              </a:rPr>
              <a:t>Операції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-apple-system"/>
              </a:rPr>
              <a:t>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-apple-system"/>
              </a:rPr>
              <a:t>бувають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-apple-system"/>
              </a:rPr>
              <a:t>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-apple-system"/>
              </a:rPr>
              <a:t>унарними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-apple-system"/>
              </a:rPr>
              <a:t> (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-apple-system"/>
              </a:rPr>
              <a:t>виконуються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-apple-system"/>
              </a:rPr>
              <a:t> над одним операндом),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-apple-system"/>
              </a:rPr>
              <a:t>бінарними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-apple-system"/>
              </a:rPr>
              <a:t> – над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-apple-system"/>
              </a:rPr>
              <a:t>двома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-apple-system"/>
              </a:rPr>
              <a:t> операндами та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-apple-system"/>
              </a:rPr>
              <a:t>тернарними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-apple-system"/>
              </a:rPr>
              <a:t> –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-apple-system"/>
              </a:rPr>
              <a:t>виконуються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-apple-system"/>
              </a:rPr>
              <a:t> над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-apple-system"/>
              </a:rPr>
              <a:t>трьома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-apple-system"/>
              </a:rPr>
              <a:t> операндами. </a:t>
            </a:r>
            <a:endParaRPr lang="uk-UA" sz="2000" dirty="0"/>
          </a:p>
        </p:txBody>
      </p:sp>
    </p:spTree>
    <p:extLst>
      <p:ext uri="{BB962C8B-B14F-4D97-AF65-F5344CB8AC3E}">
        <p14:creationId xmlns:p14="http://schemas.microsoft.com/office/powerpoint/2010/main" val="12676016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8FDDC4D8-B307-439C-AC1F-AD35FFB09B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>
                <a:solidFill>
                  <a:srgbClr val="000000"/>
                </a:solidFill>
                <a:latin typeface="-apple-system"/>
              </a:rPr>
              <a:t>Арифметичні операції. Бінарні операції</a:t>
            </a:r>
            <a:endParaRPr lang="uk-UA" dirty="0"/>
          </a:p>
        </p:txBody>
      </p:sp>
      <p:sp>
        <p:nvSpPr>
          <p:cNvPr id="14" name="Rectangle 3">
            <a:extLst>
              <a:ext uri="{FF2B5EF4-FFF2-40B4-BE49-F238E27FC236}">
                <a16:creationId xmlns:a16="http://schemas.microsoft.com/office/drawing/2014/main" id="{02C8D6FF-0D27-4B84-AA9A-F774E0A5B2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1832431"/>
            <a:ext cx="2255426" cy="4308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x = 10;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z = x + 12; 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82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// 22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6" name="Rectangle 4">
            <a:extLst>
              <a:ext uri="{FF2B5EF4-FFF2-40B4-BE49-F238E27FC236}">
                <a16:creationId xmlns:a16="http://schemas.microsoft.com/office/drawing/2014/main" id="{EA143A4E-E4DA-4A8C-B71C-7E0CC132692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24275" y="1401544"/>
            <a:ext cx="2040623" cy="4308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x = 10;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z = x - 6; 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82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// 4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7" name="Rectangle 5">
            <a:extLst>
              <a:ext uri="{FF2B5EF4-FFF2-40B4-BE49-F238E27FC236}">
                <a16:creationId xmlns:a16="http://schemas.microsoft.com/office/drawing/2014/main" id="{2CE21FF0-3EB4-44CD-82E1-226C0B67C2A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24275" y="3293387"/>
            <a:ext cx="2148024" cy="4308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x = 10;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z = x * 5; 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82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// 50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8" name="Rectangle 6">
            <a:extLst>
              <a:ext uri="{FF2B5EF4-FFF2-40B4-BE49-F238E27FC236}">
                <a16:creationId xmlns:a16="http://schemas.microsoft.com/office/drawing/2014/main" id="{30008E8D-C22B-40D1-A0D4-8E555EC828C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24428" y="1401544"/>
            <a:ext cx="2040623" cy="4308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x = 10;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z = x / 5; 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82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// 2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BD7F754-D65E-45F5-BBF6-B0244F76DB18}"/>
              </a:ext>
            </a:extLst>
          </p:cNvPr>
          <p:cNvSpPr txBox="1"/>
          <p:nvPr/>
        </p:nvSpPr>
        <p:spPr>
          <a:xfrm>
            <a:off x="7057753" y="1832431"/>
            <a:ext cx="396294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0" i="0" dirty="0">
                <a:solidFill>
                  <a:srgbClr val="000000"/>
                </a:solidFill>
                <a:effectLst/>
                <a:latin typeface="-apple-system"/>
              </a:rPr>
              <a:t>При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-apple-system"/>
              </a:rPr>
              <a:t>розподілі</a:t>
            </a:r>
            <a:r>
              <a:rPr lang="ru-RU" b="0" i="0" dirty="0">
                <a:solidFill>
                  <a:srgbClr val="000000"/>
                </a:solidFill>
                <a:effectLst/>
                <a:latin typeface="-apple-system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-apple-system"/>
              </a:rPr>
              <a:t>варто</a:t>
            </a:r>
            <a:r>
              <a:rPr lang="ru-RU" b="0" i="0" dirty="0">
                <a:solidFill>
                  <a:srgbClr val="000000"/>
                </a:solidFill>
                <a:effectLst/>
                <a:latin typeface="-apple-system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-apple-system"/>
              </a:rPr>
              <a:t>враховувати</a:t>
            </a:r>
            <a:r>
              <a:rPr lang="ru-RU" b="0" i="0" dirty="0">
                <a:solidFill>
                  <a:srgbClr val="000000"/>
                </a:solidFill>
                <a:effectLst/>
                <a:latin typeface="-apple-system"/>
              </a:rPr>
              <a:t>,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-apple-system"/>
              </a:rPr>
              <a:t>що</a:t>
            </a:r>
            <a:r>
              <a:rPr lang="ru-RU" b="0" i="0" dirty="0">
                <a:solidFill>
                  <a:srgbClr val="000000"/>
                </a:solidFill>
                <a:effectLst/>
                <a:latin typeface="-apple-system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-apple-system"/>
              </a:rPr>
              <a:t>якщо</a:t>
            </a:r>
            <a:r>
              <a:rPr lang="ru-RU" b="0" i="0" dirty="0">
                <a:solidFill>
                  <a:srgbClr val="000000"/>
                </a:solidFill>
                <a:effectLst/>
                <a:latin typeface="-apple-system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-apple-system"/>
              </a:rPr>
              <a:t>обидва</a:t>
            </a:r>
            <a:r>
              <a:rPr lang="ru-RU" b="0" i="0" dirty="0">
                <a:solidFill>
                  <a:srgbClr val="000000"/>
                </a:solidFill>
                <a:effectLst/>
                <a:latin typeface="-apple-system"/>
              </a:rPr>
              <a:t> операнда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-apple-system"/>
              </a:rPr>
              <a:t>представляють</a:t>
            </a:r>
            <a:r>
              <a:rPr lang="ru-RU" b="0" i="0" dirty="0">
                <a:solidFill>
                  <a:srgbClr val="000000"/>
                </a:solidFill>
                <a:effectLst/>
                <a:latin typeface="-apple-system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-apple-system"/>
              </a:rPr>
              <a:t>цілі</a:t>
            </a:r>
            <a:r>
              <a:rPr lang="ru-RU" b="0" i="0" dirty="0">
                <a:solidFill>
                  <a:srgbClr val="000000"/>
                </a:solidFill>
                <a:effectLst/>
                <a:latin typeface="-apple-system"/>
              </a:rPr>
              <a:t> числа, то результат буде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-apple-system"/>
              </a:rPr>
              <a:t>округлятися</a:t>
            </a:r>
            <a:r>
              <a:rPr lang="ru-RU" b="0" i="0" dirty="0">
                <a:solidFill>
                  <a:srgbClr val="000000"/>
                </a:solidFill>
                <a:effectLst/>
                <a:latin typeface="-apple-system"/>
              </a:rPr>
              <a:t> до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-apple-system"/>
              </a:rPr>
              <a:t>цілого</a:t>
            </a:r>
            <a:r>
              <a:rPr lang="ru-RU" b="0" i="0" dirty="0">
                <a:solidFill>
                  <a:srgbClr val="000000"/>
                </a:solidFill>
                <a:effectLst/>
                <a:latin typeface="-apple-system"/>
              </a:rPr>
              <a:t> числа:</a:t>
            </a:r>
            <a:endParaRPr lang="uk-UA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1EB7E85-8725-4EAB-BBD0-D5341C2069DC}"/>
              </a:ext>
            </a:extLst>
          </p:cNvPr>
          <p:cNvSpPr txBox="1"/>
          <p:nvPr/>
        </p:nvSpPr>
        <p:spPr>
          <a:xfrm>
            <a:off x="838200" y="3995263"/>
            <a:ext cx="609600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a = 10;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b = 3;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c = a / b; 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82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// 3.33333333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2" name="Rectangle 7">
            <a:extLst>
              <a:ext uri="{FF2B5EF4-FFF2-40B4-BE49-F238E27FC236}">
                <a16:creationId xmlns:a16="http://schemas.microsoft.com/office/drawing/2014/main" id="{9F380E86-3AB3-494B-9456-1A3BD80949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72299" y="4149151"/>
            <a:ext cx="4510850" cy="4308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x = 10.0;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z = x % 4.0; 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82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//результат дорівнює 2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604278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8FDDC4D8-B307-439C-AC1F-AD35FFB09B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>
                <a:solidFill>
                  <a:srgbClr val="000000"/>
                </a:solidFill>
                <a:latin typeface="-apple-system"/>
              </a:rPr>
              <a:t>Арифметичні операції. </a:t>
            </a:r>
            <a:r>
              <a:rPr lang="uk-UA" b="1" dirty="0" err="1">
                <a:solidFill>
                  <a:srgbClr val="000000"/>
                </a:solidFill>
                <a:latin typeface="-apple-system"/>
              </a:rPr>
              <a:t>Унарні</a:t>
            </a:r>
            <a:r>
              <a:rPr lang="uk-UA" b="1" dirty="0">
                <a:solidFill>
                  <a:srgbClr val="000000"/>
                </a:solidFill>
                <a:latin typeface="-apple-system"/>
              </a:rPr>
              <a:t> операції</a:t>
            </a:r>
            <a:endParaRPr lang="uk-UA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E013ED1-BF81-47CD-A3DA-CB7CE1BE8D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4787" y="1444021"/>
            <a:ext cx="11782426" cy="15696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uk-UA" altLang="uk-UA" sz="24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Операція </a:t>
            </a:r>
            <a:r>
              <a:rPr kumimoji="0" lang="uk-UA" altLang="uk-UA" sz="2400" b="1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інкременту</a:t>
            </a:r>
            <a:r>
              <a:rPr kumimoji="0" lang="uk-UA" altLang="uk-UA" sz="24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++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Інкремент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буває </a:t>
            </a: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префіксним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: ++</a:t>
            </a: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xспочатку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значення змінної x збільшується на 1, а потім її значення повертається як результат операції.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І також існує постфіксний </a:t>
            </a: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інкремент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: x++спочатку значення змінної x повертається як результат операції, а потім до нього додається 1.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FBA2686-1A0D-4C37-83CE-2E7A7CB144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5275" y="3013681"/>
            <a:ext cx="12058650" cy="150810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x1 = 5;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z1 = ++x1; 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82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// z1=6; x1=6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Console.WriteLine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($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"{x1} - {z1}"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x2 = 5;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z2 = x2++; 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82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// z2=5; x2=6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Console.WriteLine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($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"{x2} - {z2}"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775014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8FDDC4D8-B307-439C-AC1F-AD35FFB09B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>
                <a:solidFill>
                  <a:srgbClr val="000000"/>
                </a:solidFill>
                <a:latin typeface="-apple-system"/>
              </a:rPr>
              <a:t>Арифметичні операції. </a:t>
            </a:r>
            <a:r>
              <a:rPr lang="uk-UA" b="1" dirty="0" err="1">
                <a:solidFill>
                  <a:srgbClr val="000000"/>
                </a:solidFill>
                <a:latin typeface="-apple-system"/>
              </a:rPr>
              <a:t>Унарні</a:t>
            </a:r>
            <a:r>
              <a:rPr lang="uk-UA" b="1" dirty="0">
                <a:solidFill>
                  <a:srgbClr val="000000"/>
                </a:solidFill>
                <a:latin typeface="-apple-system"/>
              </a:rPr>
              <a:t> операції</a:t>
            </a:r>
            <a:endParaRPr lang="uk-UA" dirty="0"/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F33F0780-AA92-4484-B785-B3B2D70774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5275" y="1511470"/>
            <a:ext cx="11620500" cy="1015663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24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Операція </a:t>
            </a:r>
            <a:r>
              <a:rPr kumimoji="0" lang="uk-UA" altLang="uk-UA" sz="2400" b="1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декременту</a:t>
            </a:r>
            <a:r>
              <a:rPr kumimoji="0" lang="uk-UA" altLang="uk-UA" sz="24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--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чи зменшення значення на одиницю.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Також існує </a:t>
            </a: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префіксна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форма </a:t>
            </a: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декременту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( --x) та постфіксна ( x--).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5A28B05F-C3F5-4BCC-ACD2-E73D0C5E71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0050" y="2674947"/>
            <a:ext cx="3651641" cy="150810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0" lang="uk-UA" altLang="uk-UA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x1 = 5;</a:t>
            </a:r>
            <a:endParaRPr kumimoji="0" lang="uk-UA" altLang="uk-UA" sz="1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0" lang="uk-UA" altLang="uk-UA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z1 = --x1; </a:t>
            </a:r>
            <a:r>
              <a:rPr kumimoji="0" lang="uk-UA" altLang="uk-UA" sz="1400" b="0" i="0" u="none" strike="noStrike" cap="none" normalizeH="0" baseline="0">
                <a:ln>
                  <a:noFill/>
                </a:ln>
                <a:solidFill>
                  <a:srgbClr val="0082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// z1=4; x1=4</a:t>
            </a:r>
            <a:endParaRPr kumimoji="0" lang="uk-UA" altLang="uk-UA" sz="1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Console.WriteLine($</a:t>
            </a:r>
            <a:r>
              <a:rPr kumimoji="0" lang="uk-UA" altLang="uk-UA" sz="1400" b="0" i="0" u="none" strike="noStrike" cap="none" normalizeH="0" baseline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"{x1} - {z1}"</a:t>
            </a:r>
            <a:r>
              <a:rPr kumimoji="0" lang="uk-UA" altLang="uk-UA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  <a:endParaRPr kumimoji="0" lang="uk-UA" altLang="uk-UA" sz="1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</a:t>
            </a:r>
            <a:endParaRPr kumimoji="0" lang="uk-UA" altLang="uk-UA" sz="1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0" lang="uk-UA" altLang="uk-UA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x2 = 5;</a:t>
            </a:r>
            <a:endParaRPr kumimoji="0" lang="uk-UA" altLang="uk-UA" sz="1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0" lang="uk-UA" altLang="uk-UA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z2 = x2--; </a:t>
            </a:r>
            <a:r>
              <a:rPr kumimoji="0" lang="uk-UA" altLang="uk-UA" sz="1400" b="0" i="0" u="none" strike="noStrike" cap="none" normalizeH="0" baseline="0">
                <a:ln>
                  <a:noFill/>
                </a:ln>
                <a:solidFill>
                  <a:srgbClr val="0082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// z2=5; x2=4</a:t>
            </a:r>
            <a:endParaRPr kumimoji="0" lang="uk-UA" altLang="uk-UA" sz="1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Console.WriteLine($</a:t>
            </a:r>
            <a:r>
              <a:rPr kumimoji="0" lang="uk-UA" altLang="uk-UA" sz="1400" b="0" i="0" u="none" strike="noStrike" cap="none" normalizeH="0" baseline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"{x2} - {z2}"</a:t>
            </a:r>
            <a:r>
              <a:rPr kumimoji="0" lang="uk-UA" altLang="uk-UA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  <a:endParaRPr kumimoji="0" lang="uk-UA" altLang="uk-UA" sz="1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0627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8FDDC4D8-B307-439C-AC1F-AD35FFB09B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734675" cy="1325563"/>
          </a:xfrm>
        </p:spPr>
        <p:txBody>
          <a:bodyPr/>
          <a:lstStyle/>
          <a:p>
            <a:r>
              <a:rPr lang="uk-UA" b="1" dirty="0">
                <a:solidFill>
                  <a:srgbClr val="000000"/>
                </a:solidFill>
                <a:latin typeface="-apple-system"/>
              </a:rPr>
              <a:t>Арифметичні операції. Пріоритет операцій</a:t>
            </a:r>
            <a:endParaRPr lang="uk-UA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62FAEEC-94B4-432F-8ABD-A08D92044F2E}"/>
              </a:ext>
            </a:extLst>
          </p:cNvPr>
          <p:cNvSpPr txBox="1"/>
          <p:nvPr/>
        </p:nvSpPr>
        <p:spPr>
          <a:xfrm>
            <a:off x="619126" y="1338560"/>
            <a:ext cx="1103947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При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виконанні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кількох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арифметичних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операцій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слід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враховувати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порядок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виконання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Пріоритет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операцій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від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найвищого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до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нижчого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uk-UA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4675274-A2CD-463D-8CD1-B054C26565C3}"/>
              </a:ext>
            </a:extLst>
          </p:cNvPr>
          <p:cNvSpPr txBox="1"/>
          <p:nvPr/>
        </p:nvSpPr>
        <p:spPr>
          <a:xfrm>
            <a:off x="1295400" y="1984891"/>
            <a:ext cx="609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+mj-lt"/>
              <a:buAutoNum type="arabicPeriod"/>
            </a:pP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Інкремент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декремент</a:t>
            </a:r>
          </a:p>
          <a:p>
            <a:pPr algn="l">
              <a:buFont typeface="+mj-lt"/>
              <a:buAutoNum type="arabicPeriod"/>
            </a:pP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Множення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розподіл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отримання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залишку</a:t>
            </a:r>
            <a:endParaRPr lang="ru-RU" b="0" i="0" dirty="0">
              <a:solidFill>
                <a:srgbClr val="000000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>
              <a:buFont typeface="+mj-lt"/>
              <a:buAutoNum type="arabicPeriod"/>
            </a:pP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Додавання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віднімання</a:t>
            </a:r>
            <a:endParaRPr lang="ru-RU" b="0" i="0" dirty="0">
              <a:solidFill>
                <a:srgbClr val="000000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1B08D48-09D4-45DC-8F98-C67D4D3A9F8C}"/>
              </a:ext>
            </a:extLst>
          </p:cNvPr>
          <p:cNvSpPr txBox="1"/>
          <p:nvPr/>
        </p:nvSpPr>
        <p:spPr>
          <a:xfrm>
            <a:off x="619126" y="2958326"/>
            <a:ext cx="76104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Для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зміни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порядку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проходження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операцій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застосовуються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дужки.</a:t>
            </a:r>
            <a:endParaRPr lang="uk-UA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033A6BE-9D92-44A2-A376-6F4F146FC789}"/>
              </a:ext>
            </a:extLst>
          </p:cNvPr>
          <p:cNvSpPr txBox="1"/>
          <p:nvPr/>
        </p:nvSpPr>
        <p:spPr>
          <a:xfrm>
            <a:off x="619124" y="323569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uk-UA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Розглянемо набір операцій:</a:t>
            </a:r>
          </a:p>
        </p:txBody>
      </p:sp>
      <p:sp>
        <p:nvSpPr>
          <p:cNvPr id="13" name="Rectangle 2">
            <a:extLst>
              <a:ext uri="{FF2B5EF4-FFF2-40B4-BE49-F238E27FC236}">
                <a16:creationId xmlns:a16="http://schemas.microsoft.com/office/drawing/2014/main" id="{DB13D184-596A-43C3-86A0-AB256CD0E86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4375" y="3569584"/>
            <a:ext cx="5262659" cy="107721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a = 3;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b = 5;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c = 40;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d = c---b*a;    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82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// a=3  b=5  c=39  d=25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Console.WriteLine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($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"a={a}  b={b}  c={c}  d={d}"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F6D6FCD-937A-4AE2-9125-96C6BF2FC2B4}"/>
              </a:ext>
            </a:extLst>
          </p:cNvPr>
          <p:cNvSpPr txBox="1"/>
          <p:nvPr/>
        </p:nvSpPr>
        <p:spPr>
          <a:xfrm>
            <a:off x="619124" y="4646802"/>
            <a:ext cx="1103947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Тут ми маємо справу з трьома операціями: </a:t>
            </a:r>
            <a:r>
              <a:rPr lang="uk-UA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декремент</a:t>
            </a:r>
            <a:r>
              <a:rPr lang="uk-UA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віднімання та множення. Спочатку виконується </a:t>
            </a:r>
            <a:r>
              <a:rPr lang="uk-UA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декремент</a:t>
            </a:r>
            <a:r>
              <a:rPr lang="uk-UA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змінної </a:t>
            </a:r>
            <a:r>
              <a:rPr lang="en-US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c, </a:t>
            </a:r>
            <a:r>
              <a:rPr lang="uk-UA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потім множення </a:t>
            </a:r>
            <a:r>
              <a:rPr lang="en-US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 * a, </a:t>
            </a:r>
            <a:r>
              <a:rPr lang="uk-UA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і в кінці віднімання. Тобто фактично набір операцій виглядав так:</a:t>
            </a:r>
            <a:endParaRPr lang="uk-UA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Rectangle 4">
            <a:extLst>
              <a:ext uri="{FF2B5EF4-FFF2-40B4-BE49-F238E27FC236}">
                <a16:creationId xmlns:a16="http://schemas.microsoft.com/office/drawing/2014/main" id="{31BFDD5A-65ED-45E4-9871-240F9B00DA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4375" y="5281268"/>
            <a:ext cx="2255426" cy="21544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d = (c--)-(b*a);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E952C3E-B6A7-4AF8-91C9-D9071B2CFDCA}"/>
              </a:ext>
            </a:extLst>
          </p:cNvPr>
          <p:cNvSpPr txBox="1"/>
          <p:nvPr/>
        </p:nvSpPr>
        <p:spPr>
          <a:xfrm>
            <a:off x="619124" y="5437711"/>
            <a:ext cx="106775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Але за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допомогою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дужок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ми могли б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змінити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порядок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операцій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наприклад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так:</a:t>
            </a:r>
            <a:endParaRPr lang="uk-UA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Rectangle 5">
            <a:extLst>
              <a:ext uri="{FF2B5EF4-FFF2-40B4-BE49-F238E27FC236}">
                <a16:creationId xmlns:a16="http://schemas.microsoft.com/office/drawing/2014/main" id="{8C25C68E-7CDB-4DFA-B8E4-1562F91FF4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4375" y="5748041"/>
            <a:ext cx="5262659" cy="107721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a = 3;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b = 5;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c = 40;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d = (c-(--b))*a;    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82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// a=3  b=4  c=40  d=108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Console.WriteLine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($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"a={a}  b={b}  c={c}  d={d}"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986443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8FDDC4D8-B307-439C-AC1F-AD35FFB09B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896601" cy="1325563"/>
          </a:xfrm>
        </p:spPr>
        <p:txBody>
          <a:bodyPr>
            <a:normAutofit/>
          </a:bodyPr>
          <a:lstStyle/>
          <a:p>
            <a:pPr algn="l"/>
            <a:r>
              <a:rPr lang="uk-UA" b="1" dirty="0">
                <a:solidFill>
                  <a:srgbClr val="000000"/>
                </a:solidFill>
                <a:latin typeface="-apple-system"/>
              </a:rPr>
              <a:t>Арифметичні операції. </a:t>
            </a:r>
            <a:r>
              <a:rPr lang="uk-UA" b="1" i="0" dirty="0">
                <a:solidFill>
                  <a:srgbClr val="000000"/>
                </a:solidFill>
                <a:effectLst/>
                <a:latin typeface="-apple-system"/>
              </a:rPr>
              <a:t>Асоціативність операторів</a:t>
            </a:r>
            <a:endParaRPr lang="uk-UA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2C4A9D8-8E80-4E03-9F6B-8D4F0AF93712}"/>
              </a:ext>
            </a:extLst>
          </p:cNvPr>
          <p:cNvSpPr txBox="1"/>
          <p:nvPr/>
        </p:nvSpPr>
        <p:spPr>
          <a:xfrm>
            <a:off x="457200" y="1690688"/>
            <a:ext cx="112776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Як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вище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було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зазначено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операції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множення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та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поділу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мають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один і той же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пріоритет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але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який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тоді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результат буде у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виразі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uk-UA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ED3410A-36C6-4BFC-ADEF-D3C55C1ADDE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2450" y="2359253"/>
            <a:ext cx="2148024" cy="21544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0" lang="uk-UA" altLang="uk-UA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x = 10 / 5 * 2;</a:t>
            </a:r>
            <a:r>
              <a:rPr kumimoji="0" lang="uk-UA" altLang="uk-UA" sz="1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8260F57B-172C-4419-91EF-9EE0289701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2574697"/>
            <a:ext cx="11277600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Чи варто нам трактувати цей вислів як (10 / 5) * 2чи як 10 / (5 * 2)? Адже, залежно від трактування, ми отримаємо різні результати.</a:t>
            </a:r>
            <a:endParaRPr kumimoji="0" lang="uk-UA" altLang="uk-UA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Коли операції мають той самий пріоритет, порядок обчислення визначається асоціативністю операторів. Залежно від асоціативності є два типи операторів:</a:t>
            </a:r>
            <a:endParaRPr kumimoji="0" lang="uk-UA" altLang="uk-UA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uk-UA" altLang="uk-UA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Лівоасоціативні оператори, які виконуються зліва направо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uk-UA" altLang="uk-UA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Правоасоціативні оператори, які виконуються праворуч наліво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Усі арифметичні оператори є лівоасоціативними, тобто виконуються зліва направо. Тому вираз 10 / 5 * 2 необхідно трактувати як (10 / 5) * 2, тобто результатом буде 4.</a:t>
            </a:r>
            <a:endParaRPr kumimoji="0" lang="uk-UA" altLang="uk-UA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188595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8FDDC4D8-B307-439C-AC1F-AD35FFB09B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896601" cy="1325563"/>
          </a:xfrm>
        </p:spPr>
        <p:txBody>
          <a:bodyPr>
            <a:normAutofit/>
          </a:bodyPr>
          <a:lstStyle/>
          <a:p>
            <a:pPr algn="l"/>
            <a:r>
              <a:rPr lang="uk-UA" b="1" i="0" dirty="0">
                <a:solidFill>
                  <a:srgbClr val="000000"/>
                </a:solidFill>
                <a:effectLst/>
                <a:latin typeface="-apple-system"/>
              </a:rPr>
              <a:t>Операції присвоєння</a:t>
            </a:r>
            <a:endParaRPr lang="uk-UA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60448BC-92FC-41C9-A319-84C97F0A9BC5}"/>
              </a:ext>
            </a:extLst>
          </p:cNvPr>
          <p:cNvSpPr txBox="1"/>
          <p:nvPr/>
        </p:nvSpPr>
        <p:spPr>
          <a:xfrm>
            <a:off x="304800" y="1308438"/>
            <a:ext cx="114300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Операції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присвоєння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встановлюють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значення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 В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операціях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присвоєння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беруть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участь два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операнди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причому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лівий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операнд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може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представляти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тільки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модифікований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іменований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вираз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наприклад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змінну</a:t>
            </a:r>
            <a:endParaRPr lang="ru-RU" b="0" i="0" dirty="0">
              <a:solidFill>
                <a:srgbClr val="000000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Як і в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багатьох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інших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мовах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програмування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C# є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базова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операція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присвоєння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r>
              <a:rPr lang="ru-RU" b="1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=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, яка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надає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значення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правого операнда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лівому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операнду:</a:t>
            </a:r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52143654-7DC3-4694-ABFB-FDC43BA403B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0525" y="2418557"/>
            <a:ext cx="1825821" cy="21544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0" lang="uk-UA" altLang="uk-UA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number = 23;</a:t>
            </a:r>
            <a:r>
              <a:rPr kumimoji="0" lang="uk-UA" altLang="uk-UA" sz="1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E0B013-3599-4E3C-B0F4-B687B8504A37}"/>
              </a:ext>
            </a:extLst>
          </p:cNvPr>
          <p:cNvSpPr txBox="1"/>
          <p:nvPr/>
        </p:nvSpPr>
        <p:spPr>
          <a:xfrm>
            <a:off x="304799" y="2634001"/>
            <a:ext cx="1142999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uk-UA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Тут змінній </a:t>
            </a:r>
            <a:r>
              <a:rPr lang="en-US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number </a:t>
            </a:r>
            <a:r>
              <a:rPr lang="uk-UA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присвоюється число 23. Змінна </a:t>
            </a:r>
            <a:r>
              <a:rPr lang="en-US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number </a:t>
            </a:r>
            <a:r>
              <a:rPr lang="uk-UA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представляє лівий операнд, якому присвоюється значення правого </a:t>
            </a:r>
            <a:r>
              <a:rPr lang="uk-UA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операнда</a:t>
            </a:r>
            <a:r>
              <a:rPr lang="uk-UA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тобто 23.</a:t>
            </a:r>
          </a:p>
          <a:p>
            <a:pPr algn="l"/>
            <a:r>
              <a:rPr lang="uk-UA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Також можна виконувати множинне присвоєння відразу кількох змінним одночасно:</a:t>
            </a:r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174FBCF8-68C6-4746-A658-CC9FE552F8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0525" y="3557331"/>
            <a:ext cx="1611018" cy="4308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0" lang="uk-UA" altLang="uk-UA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a, b, c;</a:t>
            </a:r>
            <a:endParaRPr kumimoji="0" lang="uk-UA" altLang="uk-UA" sz="1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a = b = c = 34;</a:t>
            </a:r>
            <a:endParaRPr kumimoji="0" lang="uk-UA" altLang="uk-UA" sz="1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C81545F-4992-40BC-8138-0D468C5C9839}"/>
              </a:ext>
            </a:extLst>
          </p:cNvPr>
          <p:cNvSpPr txBox="1"/>
          <p:nvPr/>
        </p:nvSpPr>
        <p:spPr>
          <a:xfrm>
            <a:off x="304798" y="4017667"/>
            <a:ext cx="1055370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Варто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відзначити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що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операції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присвоєння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мають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низький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пріоритет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uk-UA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Rectangle 4">
            <a:extLst>
              <a:ext uri="{FF2B5EF4-FFF2-40B4-BE49-F238E27FC236}">
                <a16:creationId xmlns:a16="http://schemas.microsoft.com/office/drawing/2014/main" id="{14D3372D-80B6-426E-9007-2D2C8ED4ED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9100" y="4394679"/>
            <a:ext cx="3114635" cy="4308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0" lang="uk-UA" altLang="uk-UA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a, b, c;</a:t>
            </a:r>
            <a:endParaRPr kumimoji="0" lang="uk-UA" altLang="uk-UA" sz="1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a = b = c = 34 * 2 / 4; </a:t>
            </a:r>
            <a:r>
              <a:rPr kumimoji="0" lang="uk-UA" altLang="uk-UA" sz="1400" b="0" i="0" u="none" strike="noStrike" cap="none" normalizeH="0" baseline="0">
                <a:ln>
                  <a:noFill/>
                </a:ln>
                <a:solidFill>
                  <a:srgbClr val="0082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// 17</a:t>
            </a:r>
            <a:endParaRPr kumimoji="0" lang="uk-UA" altLang="uk-UA" sz="1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5" name="Rectangle 5">
            <a:extLst>
              <a:ext uri="{FF2B5EF4-FFF2-40B4-BE49-F238E27FC236}">
                <a16:creationId xmlns:a16="http://schemas.microsoft.com/office/drawing/2014/main" id="{3078A521-F942-4CB5-A783-DBE74B637B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4798" y="4847335"/>
            <a:ext cx="11887202" cy="369332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Спочатку обчислюватиметься вираз 34 * 2 / 4, потім отримане значення буде надано змінним.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6876074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8FDDC4D8-B307-439C-AC1F-AD35FFB09B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896601" cy="1325563"/>
          </a:xfrm>
        </p:spPr>
        <p:txBody>
          <a:bodyPr>
            <a:normAutofit/>
          </a:bodyPr>
          <a:lstStyle/>
          <a:p>
            <a:pPr algn="l"/>
            <a:r>
              <a:rPr lang="uk-UA" b="1" i="0" dirty="0">
                <a:solidFill>
                  <a:srgbClr val="000000"/>
                </a:solidFill>
                <a:effectLst/>
                <a:latin typeface="-apple-system"/>
              </a:rPr>
              <a:t>Операції присвоєння</a:t>
            </a:r>
            <a:endParaRPr lang="uk-UA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3F0E922-7F61-48E0-ABC6-CC2A1D60B4A5}"/>
              </a:ext>
            </a:extLst>
          </p:cNvPr>
          <p:cNvSpPr txBox="1"/>
          <p:nvPr/>
        </p:nvSpPr>
        <p:spPr>
          <a:xfrm>
            <a:off x="314325" y="1390650"/>
            <a:ext cx="11601450" cy="5355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uk-UA" b="0" i="0" dirty="0">
                <a:solidFill>
                  <a:srgbClr val="000000"/>
                </a:solidFill>
                <a:effectLst/>
                <a:latin typeface="-apple-system"/>
              </a:rPr>
              <a:t>Крім базової операції присвоєння 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C# </a:t>
            </a:r>
            <a:r>
              <a:rPr lang="uk-UA" b="0" i="0" dirty="0">
                <a:solidFill>
                  <a:srgbClr val="000000"/>
                </a:solidFill>
                <a:effectLst/>
                <a:latin typeface="-apple-system"/>
              </a:rPr>
              <a:t>є ще ряд операцій: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uk-UA" b="1" i="0" dirty="0">
                <a:solidFill>
                  <a:srgbClr val="000000"/>
                </a:solidFill>
                <a:effectLst/>
                <a:latin typeface="-apple-system"/>
              </a:rPr>
              <a:t>+=</a:t>
            </a:r>
            <a:r>
              <a:rPr lang="uk-UA" b="0" i="0" dirty="0">
                <a:solidFill>
                  <a:srgbClr val="000000"/>
                </a:solidFill>
                <a:effectLst/>
                <a:latin typeface="-apple-system"/>
              </a:rPr>
              <a:t> : привласнення після складання. Надає лівому операнду суму лівого та правого операндів: вираз </a:t>
            </a:r>
            <a:r>
              <a:rPr lang="en-US" b="1" i="0" dirty="0">
                <a:solidFill>
                  <a:srgbClr val="000000"/>
                </a:solidFill>
                <a:effectLst/>
                <a:latin typeface="-apple-system"/>
              </a:rPr>
              <a:t>A + = B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 </a:t>
            </a:r>
            <a:r>
              <a:rPr lang="uk-UA" b="0" i="0" dirty="0">
                <a:solidFill>
                  <a:srgbClr val="000000"/>
                </a:solidFill>
                <a:effectLst/>
                <a:latin typeface="-apple-system"/>
              </a:rPr>
              <a:t>рівнозначний виразу </a:t>
            </a:r>
            <a:r>
              <a:rPr lang="en-US" b="1" i="0" dirty="0">
                <a:solidFill>
                  <a:srgbClr val="000000"/>
                </a:solidFill>
                <a:effectLst/>
                <a:latin typeface="-apple-system"/>
              </a:rPr>
              <a:t>A = A + B</a:t>
            </a:r>
            <a:endParaRPr lang="en-US" b="0" i="0" dirty="0">
              <a:solidFill>
                <a:srgbClr val="000000"/>
              </a:solidFill>
              <a:effectLst/>
              <a:latin typeface="-apple-system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00000"/>
                </a:solidFill>
                <a:effectLst/>
                <a:latin typeface="-apple-system"/>
              </a:rPr>
              <a:t>-=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 : </a:t>
            </a:r>
            <a:r>
              <a:rPr lang="uk-UA" b="0" i="0" dirty="0">
                <a:solidFill>
                  <a:srgbClr val="000000"/>
                </a:solidFill>
                <a:effectLst/>
                <a:latin typeface="-apple-system"/>
              </a:rPr>
              <a:t>привласнення після віднімання. Надає лівого </a:t>
            </a:r>
            <a:r>
              <a:rPr lang="uk-UA" b="0" i="0" dirty="0" err="1">
                <a:solidFill>
                  <a:srgbClr val="000000"/>
                </a:solidFill>
                <a:effectLst/>
                <a:latin typeface="-apple-system"/>
              </a:rPr>
              <a:t>операнда</a:t>
            </a:r>
            <a:r>
              <a:rPr lang="uk-UA" b="0" i="0" dirty="0">
                <a:solidFill>
                  <a:srgbClr val="000000"/>
                </a:solidFill>
                <a:effectLst/>
                <a:latin typeface="-apple-system"/>
              </a:rPr>
              <a:t> різниця лівого і правого </a:t>
            </a:r>
            <a:r>
              <a:rPr lang="uk-UA" b="0" i="0" dirty="0" err="1">
                <a:solidFill>
                  <a:srgbClr val="000000"/>
                </a:solidFill>
                <a:effectLst/>
                <a:latin typeface="-apple-system"/>
              </a:rPr>
              <a:t>операнда</a:t>
            </a:r>
            <a:r>
              <a:rPr lang="uk-UA" b="0" i="0" dirty="0">
                <a:solidFill>
                  <a:srgbClr val="000000"/>
                </a:solidFill>
                <a:effectLst/>
                <a:latin typeface="-apple-system"/>
              </a:rPr>
              <a:t>: </a:t>
            </a:r>
            <a:r>
              <a:rPr lang="en-US" b="1" i="0" dirty="0">
                <a:solidFill>
                  <a:srgbClr val="000000"/>
                </a:solidFill>
                <a:effectLst/>
                <a:latin typeface="-apple-system"/>
              </a:rPr>
              <a:t>A -= B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 </a:t>
            </a:r>
            <a:r>
              <a:rPr lang="uk-UA" b="0" i="0" dirty="0">
                <a:solidFill>
                  <a:srgbClr val="000000"/>
                </a:solidFill>
                <a:effectLst/>
                <a:latin typeface="-apple-system"/>
              </a:rPr>
              <a:t>еквівалентно </a:t>
            </a:r>
            <a:r>
              <a:rPr lang="en-US" b="1" i="0" dirty="0">
                <a:solidFill>
                  <a:srgbClr val="000000"/>
                </a:solidFill>
                <a:effectLst/>
                <a:latin typeface="-apple-system"/>
              </a:rPr>
              <a:t>A = A - B</a:t>
            </a:r>
            <a:endParaRPr lang="en-US" b="0" i="0" dirty="0">
              <a:solidFill>
                <a:srgbClr val="000000"/>
              </a:solidFill>
              <a:effectLst/>
              <a:latin typeface="-apple-system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00000"/>
                </a:solidFill>
                <a:effectLst/>
                <a:latin typeface="-apple-system"/>
              </a:rPr>
              <a:t>*=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 : </a:t>
            </a:r>
            <a:r>
              <a:rPr lang="uk-UA" b="0" i="0" dirty="0">
                <a:solidFill>
                  <a:srgbClr val="000000"/>
                </a:solidFill>
                <a:effectLst/>
                <a:latin typeface="-apple-system"/>
              </a:rPr>
              <a:t>надання після множення. Надає лівому операнду добуток лівого та правого операндів: </a:t>
            </a:r>
            <a:r>
              <a:rPr lang="en-US" b="1" i="0" dirty="0">
                <a:solidFill>
                  <a:srgbClr val="000000"/>
                </a:solidFill>
                <a:effectLst/>
                <a:latin typeface="-apple-system"/>
              </a:rPr>
              <a:t>A *= B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 </a:t>
            </a:r>
            <a:r>
              <a:rPr lang="uk-UA" b="0" i="0" dirty="0">
                <a:solidFill>
                  <a:srgbClr val="000000"/>
                </a:solidFill>
                <a:effectLst/>
                <a:latin typeface="-apple-system"/>
              </a:rPr>
              <a:t>еквівалентно </a:t>
            </a:r>
            <a:r>
              <a:rPr lang="en-US" b="1" i="0" dirty="0">
                <a:solidFill>
                  <a:srgbClr val="000000"/>
                </a:solidFill>
                <a:effectLst/>
                <a:latin typeface="-apple-system"/>
              </a:rPr>
              <a:t>A = A * B</a:t>
            </a:r>
            <a:endParaRPr lang="en-US" b="0" i="0" dirty="0">
              <a:solidFill>
                <a:srgbClr val="000000"/>
              </a:solidFill>
              <a:effectLst/>
              <a:latin typeface="-apple-system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00000"/>
                </a:solidFill>
                <a:effectLst/>
                <a:latin typeface="-apple-system"/>
              </a:rPr>
              <a:t>/ =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 : </a:t>
            </a:r>
            <a:r>
              <a:rPr lang="uk-UA" b="0" i="0" dirty="0">
                <a:solidFill>
                  <a:srgbClr val="000000"/>
                </a:solidFill>
                <a:effectLst/>
                <a:latin typeface="-apple-system"/>
              </a:rPr>
              <a:t>привласнення після розподілу </a:t>
            </a:r>
            <a:r>
              <a:rPr lang="uk-UA" b="1" i="0" dirty="0">
                <a:solidFill>
                  <a:srgbClr val="000000"/>
                </a:solidFill>
                <a:effectLst/>
                <a:latin typeface="-apple-system"/>
              </a:rPr>
              <a:t>.</a:t>
            </a:r>
            <a:endParaRPr lang="uk-UA" b="0" i="0" dirty="0">
              <a:solidFill>
                <a:srgbClr val="000000"/>
              </a:solidFill>
              <a:effectLst/>
              <a:latin typeface="-apple-system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uk-UA" b="1" i="0" dirty="0">
                <a:solidFill>
                  <a:srgbClr val="000000"/>
                </a:solidFill>
                <a:effectLst/>
                <a:latin typeface="-apple-system"/>
              </a:rPr>
              <a:t>%=</a:t>
            </a:r>
            <a:r>
              <a:rPr lang="uk-UA" b="0" i="0" dirty="0">
                <a:solidFill>
                  <a:srgbClr val="000000"/>
                </a:solidFill>
                <a:effectLst/>
                <a:latin typeface="-apple-system"/>
              </a:rPr>
              <a:t> : надання після розподілу по модулю. Надає лівому операнду залишок від цілого розподілу лівого </a:t>
            </a:r>
            <a:r>
              <a:rPr lang="uk-UA" b="0" i="0" dirty="0" err="1">
                <a:solidFill>
                  <a:srgbClr val="000000"/>
                </a:solidFill>
                <a:effectLst/>
                <a:latin typeface="-apple-system"/>
              </a:rPr>
              <a:t>операнда</a:t>
            </a:r>
            <a:r>
              <a:rPr lang="uk-UA" b="0" i="0" dirty="0">
                <a:solidFill>
                  <a:srgbClr val="000000"/>
                </a:solidFill>
                <a:effectLst/>
                <a:latin typeface="-apple-system"/>
              </a:rPr>
              <a:t> на правий: </a:t>
            </a:r>
            <a:r>
              <a:rPr lang="en-US" b="1" i="0" dirty="0">
                <a:solidFill>
                  <a:srgbClr val="000000"/>
                </a:solidFill>
                <a:effectLst/>
                <a:latin typeface="-apple-system"/>
              </a:rPr>
              <a:t>A %= B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 </a:t>
            </a:r>
            <a:r>
              <a:rPr lang="uk-UA" b="0" i="0" dirty="0">
                <a:solidFill>
                  <a:srgbClr val="000000"/>
                </a:solidFill>
                <a:effectLst/>
                <a:latin typeface="-apple-system"/>
              </a:rPr>
              <a:t>еквівалентно </a:t>
            </a:r>
            <a:r>
              <a:rPr lang="en-US" b="1" i="0" dirty="0">
                <a:solidFill>
                  <a:srgbClr val="000000"/>
                </a:solidFill>
                <a:effectLst/>
                <a:latin typeface="-apple-system"/>
              </a:rPr>
              <a:t>A = A % B</a:t>
            </a:r>
            <a:endParaRPr lang="en-US" b="0" i="0" dirty="0">
              <a:solidFill>
                <a:srgbClr val="000000"/>
              </a:solidFill>
              <a:effectLst/>
              <a:latin typeface="-apple-system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00000"/>
                </a:solidFill>
                <a:effectLst/>
                <a:latin typeface="-apple-system"/>
              </a:rPr>
              <a:t>&amp;=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 : </a:t>
            </a:r>
            <a:r>
              <a:rPr lang="uk-UA" b="0" i="0" dirty="0">
                <a:solidFill>
                  <a:srgbClr val="000000"/>
                </a:solidFill>
                <a:effectLst/>
                <a:latin typeface="-apple-system"/>
              </a:rPr>
              <a:t>надання після порозрядної кон'юнкції. Надає лівому операнду результат порозрядної кон'юнкції його бітового уявлення з бітовим уявленням правого </a:t>
            </a:r>
            <a:r>
              <a:rPr lang="uk-UA" b="0" i="0" dirty="0" err="1">
                <a:solidFill>
                  <a:srgbClr val="000000"/>
                </a:solidFill>
                <a:effectLst/>
                <a:latin typeface="-apple-system"/>
              </a:rPr>
              <a:t>операнда</a:t>
            </a:r>
            <a:r>
              <a:rPr lang="uk-UA" b="0" i="0" dirty="0">
                <a:solidFill>
                  <a:srgbClr val="000000"/>
                </a:solidFill>
                <a:effectLst/>
                <a:latin typeface="-apple-system"/>
              </a:rPr>
              <a:t>: </a:t>
            </a:r>
            <a:r>
              <a:rPr lang="en-US" b="1" i="0" dirty="0">
                <a:solidFill>
                  <a:srgbClr val="000000"/>
                </a:solidFill>
                <a:effectLst/>
                <a:latin typeface="-apple-system"/>
              </a:rPr>
              <a:t>A &amp;= B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 </a:t>
            </a:r>
            <a:r>
              <a:rPr lang="uk-UA" b="0" i="0" dirty="0">
                <a:solidFill>
                  <a:srgbClr val="000000"/>
                </a:solidFill>
                <a:effectLst/>
                <a:latin typeface="-apple-system"/>
              </a:rPr>
              <a:t>еквівалентно </a:t>
            </a:r>
            <a:r>
              <a:rPr lang="en-US" b="1" i="0" dirty="0">
                <a:solidFill>
                  <a:srgbClr val="000000"/>
                </a:solidFill>
                <a:effectLst/>
                <a:latin typeface="-apple-system"/>
              </a:rPr>
              <a:t>A = A &amp; B</a:t>
            </a:r>
            <a:endParaRPr lang="en-US" b="0" i="0" dirty="0">
              <a:solidFill>
                <a:srgbClr val="000000"/>
              </a:solidFill>
              <a:effectLst/>
              <a:latin typeface="-apple-system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00000"/>
                </a:solidFill>
                <a:effectLst/>
                <a:latin typeface="-apple-system"/>
              </a:rPr>
              <a:t>|=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 : </a:t>
            </a:r>
            <a:r>
              <a:rPr lang="uk-UA" b="0" i="0" dirty="0">
                <a:solidFill>
                  <a:srgbClr val="000000"/>
                </a:solidFill>
                <a:effectLst/>
                <a:latin typeface="-apple-system"/>
              </a:rPr>
              <a:t>присвоєння після порозрядної диз'юнкції. Надає лівому операнду результат порозрядної диз'юнкції його бітового уявлення з бітовим уявленням правого </a:t>
            </a:r>
            <a:r>
              <a:rPr lang="uk-UA" b="0" i="0" dirty="0" err="1">
                <a:solidFill>
                  <a:srgbClr val="000000"/>
                </a:solidFill>
                <a:effectLst/>
                <a:latin typeface="-apple-system"/>
              </a:rPr>
              <a:t>операнда</a:t>
            </a:r>
            <a:r>
              <a:rPr lang="uk-UA" b="0" i="0" dirty="0">
                <a:solidFill>
                  <a:srgbClr val="000000"/>
                </a:solidFill>
                <a:effectLst/>
                <a:latin typeface="-apple-system"/>
              </a:rPr>
              <a:t>: </a:t>
            </a:r>
            <a:r>
              <a:rPr lang="en-US" b="1" i="0" dirty="0">
                <a:solidFill>
                  <a:srgbClr val="000000"/>
                </a:solidFill>
                <a:effectLst/>
                <a:latin typeface="-apple-system"/>
              </a:rPr>
              <a:t>A |= B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 </a:t>
            </a:r>
            <a:r>
              <a:rPr lang="uk-UA" b="0" i="0" dirty="0">
                <a:solidFill>
                  <a:srgbClr val="000000"/>
                </a:solidFill>
                <a:effectLst/>
                <a:latin typeface="-apple-system"/>
              </a:rPr>
              <a:t>еквівалентно </a:t>
            </a:r>
            <a:r>
              <a:rPr lang="en-US" b="1" i="0" dirty="0">
                <a:solidFill>
                  <a:srgbClr val="000000"/>
                </a:solidFill>
                <a:effectLst/>
                <a:latin typeface="-apple-system"/>
              </a:rPr>
              <a:t>A = A | B</a:t>
            </a:r>
            <a:endParaRPr lang="en-US" b="0" i="0" dirty="0">
              <a:solidFill>
                <a:srgbClr val="000000"/>
              </a:solidFill>
              <a:effectLst/>
              <a:latin typeface="-apple-system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00000"/>
                </a:solidFill>
                <a:effectLst/>
                <a:latin typeface="-apple-system"/>
              </a:rPr>
              <a:t>^=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 : </a:t>
            </a:r>
            <a:r>
              <a:rPr lang="uk-UA" b="0" i="0" dirty="0">
                <a:solidFill>
                  <a:srgbClr val="000000"/>
                </a:solidFill>
                <a:effectLst/>
                <a:latin typeface="-apple-system"/>
              </a:rPr>
              <a:t>привласнення після операції виключає АБО. Надає лівому операнду результат операції виключає АБО його бітового уявлення з бітовим поданням правого </a:t>
            </a:r>
            <a:r>
              <a:rPr lang="uk-UA" b="0" i="0" dirty="0" err="1">
                <a:solidFill>
                  <a:srgbClr val="000000"/>
                </a:solidFill>
                <a:effectLst/>
                <a:latin typeface="-apple-system"/>
              </a:rPr>
              <a:t>операнда</a:t>
            </a:r>
            <a:r>
              <a:rPr lang="uk-UA" b="0" i="0" dirty="0">
                <a:solidFill>
                  <a:srgbClr val="000000"/>
                </a:solidFill>
                <a:effectLst/>
                <a:latin typeface="-apple-system"/>
              </a:rPr>
              <a:t>: </a:t>
            </a:r>
            <a:r>
              <a:rPr lang="en-US" b="1" i="0" dirty="0">
                <a:solidFill>
                  <a:srgbClr val="000000"/>
                </a:solidFill>
                <a:effectLst/>
                <a:latin typeface="-apple-system"/>
              </a:rPr>
              <a:t>A ^= B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 </a:t>
            </a:r>
            <a:r>
              <a:rPr lang="uk-UA" b="0" i="0" dirty="0">
                <a:solidFill>
                  <a:srgbClr val="000000"/>
                </a:solidFill>
                <a:effectLst/>
                <a:latin typeface="-apple-system"/>
              </a:rPr>
              <a:t>еквівалентно </a:t>
            </a:r>
            <a:r>
              <a:rPr lang="en-US" b="1" i="0" dirty="0">
                <a:solidFill>
                  <a:srgbClr val="000000"/>
                </a:solidFill>
                <a:effectLst/>
                <a:latin typeface="-apple-system"/>
              </a:rPr>
              <a:t>A = A ^ B</a:t>
            </a:r>
            <a:endParaRPr lang="en-US" b="0" i="0" dirty="0">
              <a:solidFill>
                <a:srgbClr val="000000"/>
              </a:solidFill>
              <a:effectLst/>
              <a:latin typeface="-apple-system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00000"/>
                </a:solidFill>
                <a:effectLst/>
                <a:latin typeface="-apple-system"/>
              </a:rPr>
              <a:t>&lt;&lt;=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 : </a:t>
            </a:r>
            <a:r>
              <a:rPr lang="uk-UA" b="0" i="0" dirty="0">
                <a:solidFill>
                  <a:srgbClr val="000000"/>
                </a:solidFill>
                <a:effectLst/>
                <a:latin typeface="-apple-system"/>
              </a:rPr>
              <a:t>привласнення після зсуву розрядів </a:t>
            </a:r>
            <a:r>
              <a:rPr lang="uk-UA" b="1" i="0" dirty="0">
                <a:solidFill>
                  <a:srgbClr val="000000"/>
                </a:solidFill>
                <a:effectLst/>
                <a:latin typeface="-apple-system"/>
              </a:rPr>
              <a:t>вліво .</a:t>
            </a:r>
            <a:endParaRPr lang="uk-UA" b="0" i="0" dirty="0">
              <a:solidFill>
                <a:srgbClr val="000000"/>
              </a:solidFill>
              <a:effectLst/>
              <a:latin typeface="-apple-system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uk-UA" b="1" i="0" dirty="0">
                <a:solidFill>
                  <a:srgbClr val="000000"/>
                </a:solidFill>
                <a:effectLst/>
                <a:latin typeface="-apple-system"/>
              </a:rPr>
              <a:t>&gt;&gt;=</a:t>
            </a:r>
            <a:r>
              <a:rPr lang="uk-UA" b="0" i="0" dirty="0">
                <a:solidFill>
                  <a:srgbClr val="000000"/>
                </a:solidFill>
                <a:effectLst/>
                <a:latin typeface="-apple-system"/>
              </a:rPr>
              <a:t> : привласнення після зсуву розрядів праворуч. Надає лівому операнду результат зсуву його бітового подання вправо на певну кількість розрядів, що дорівнює значенню правого </a:t>
            </a:r>
            <a:r>
              <a:rPr lang="uk-UA" b="0" i="0" dirty="0" err="1">
                <a:solidFill>
                  <a:srgbClr val="000000"/>
                </a:solidFill>
                <a:effectLst/>
                <a:latin typeface="-apple-system"/>
              </a:rPr>
              <a:t>операнда</a:t>
            </a:r>
            <a:r>
              <a:rPr lang="uk-UA" b="0" i="0" dirty="0">
                <a:solidFill>
                  <a:srgbClr val="000000"/>
                </a:solidFill>
                <a:effectLst/>
                <a:latin typeface="-apple-system"/>
              </a:rPr>
              <a:t>: </a:t>
            </a:r>
            <a:r>
              <a:rPr lang="en-US" b="1" i="0" dirty="0">
                <a:solidFill>
                  <a:srgbClr val="000000"/>
                </a:solidFill>
                <a:effectLst/>
                <a:latin typeface="-apple-system"/>
              </a:rPr>
              <a:t>A &gt;&gt;= B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 </a:t>
            </a:r>
            <a:r>
              <a:rPr lang="uk-UA" b="0" i="0" dirty="0">
                <a:solidFill>
                  <a:srgbClr val="000000"/>
                </a:solidFill>
                <a:effectLst/>
                <a:latin typeface="-apple-system"/>
              </a:rPr>
              <a:t>еквівалентно </a:t>
            </a:r>
            <a:r>
              <a:rPr lang="en-US" b="1" i="0" dirty="0">
                <a:solidFill>
                  <a:srgbClr val="000000"/>
                </a:solidFill>
                <a:effectLst/>
                <a:latin typeface="-apple-system"/>
              </a:rPr>
              <a:t>A = A &gt;&gt; B</a:t>
            </a:r>
            <a:endParaRPr lang="en-US" b="0" i="0" dirty="0">
              <a:solidFill>
                <a:srgbClr val="000000"/>
              </a:solidFill>
              <a:effectLst/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15208186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8FDDC4D8-B307-439C-AC1F-AD35FFB09B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896601" cy="1325563"/>
          </a:xfrm>
        </p:spPr>
        <p:txBody>
          <a:bodyPr>
            <a:normAutofit/>
          </a:bodyPr>
          <a:lstStyle/>
          <a:p>
            <a:pPr algn="l"/>
            <a:r>
              <a:rPr lang="uk-UA" b="1" i="0" dirty="0">
                <a:solidFill>
                  <a:srgbClr val="000000"/>
                </a:solidFill>
                <a:effectLst/>
                <a:latin typeface="-apple-system"/>
              </a:rPr>
              <a:t>Операції присвоєння</a:t>
            </a:r>
            <a:r>
              <a:rPr lang="en-US" b="1" dirty="0">
                <a:solidFill>
                  <a:srgbClr val="000000"/>
                </a:solidFill>
                <a:latin typeface="-apple-system"/>
              </a:rPr>
              <a:t>. </a:t>
            </a:r>
            <a:r>
              <a:rPr lang="uk-UA" b="1" dirty="0">
                <a:solidFill>
                  <a:srgbClr val="000000"/>
                </a:solidFill>
                <a:latin typeface="-apple-system"/>
              </a:rPr>
              <a:t>Приклад</a:t>
            </a:r>
            <a:endParaRPr lang="uk-UA" dirty="0"/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9B328F66-E372-447E-86EA-52286AEF324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1385897"/>
            <a:ext cx="11925300" cy="150810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a = 10;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a += 10;        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82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// 20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a -= 4;         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82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// 16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a *= 2;         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82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// 32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a /= 8;         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82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// 4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a &lt;&lt;= 4;      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82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// 64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a &gt;&gt;= 2;      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82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// 16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8E17B4C-EF37-430F-976C-31213BF083E5}"/>
              </a:ext>
            </a:extLst>
          </p:cNvPr>
          <p:cNvSpPr txBox="1"/>
          <p:nvPr/>
        </p:nvSpPr>
        <p:spPr>
          <a:xfrm>
            <a:off x="371474" y="2894002"/>
            <a:ext cx="101060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Операції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присвоєння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є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правоасоціативними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тобто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виконуються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праворуч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наліво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Наприклад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uk-UA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4BBAA6F5-502E-4518-AA6E-666D53D62C4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3271501"/>
            <a:ext cx="3007233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0" lang="uk-UA" altLang="uk-UA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a = 8;</a:t>
            </a:r>
            <a:endParaRPr kumimoji="0" lang="uk-UA" altLang="uk-UA" sz="1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0" lang="uk-UA" altLang="uk-UA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b = 6;</a:t>
            </a:r>
            <a:endParaRPr kumimoji="0" lang="uk-UA" altLang="uk-UA" sz="1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0" lang="uk-UA" altLang="uk-UA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c = a += b -= 5;    </a:t>
            </a:r>
            <a:r>
              <a:rPr kumimoji="0" lang="uk-UA" altLang="uk-UA" sz="1400" b="0" i="0" u="none" strike="noStrike" cap="none" normalizeH="0" baseline="0">
                <a:ln>
                  <a:noFill/>
                </a:ln>
                <a:solidFill>
                  <a:srgbClr val="0082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// 9</a:t>
            </a:r>
            <a:endParaRPr kumimoji="0" lang="uk-UA" altLang="uk-UA" sz="1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98CBA6E-A5D8-4BA8-BE2D-858F43D375AD}"/>
              </a:ext>
            </a:extLst>
          </p:cNvPr>
          <p:cNvSpPr txBox="1"/>
          <p:nvPr/>
        </p:nvSpPr>
        <p:spPr>
          <a:xfrm>
            <a:off x="371474" y="4171274"/>
            <a:ext cx="619125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В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даному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випадку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виконання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виразу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йтиме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таким чином:</a:t>
            </a:r>
          </a:p>
          <a:p>
            <a:pPr algn="l">
              <a:buFont typeface="+mj-lt"/>
              <a:buAutoNum type="arabicPeriod"/>
            </a:pP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 -= 5 (6-5=1)</a:t>
            </a:r>
          </a:p>
          <a:p>
            <a:pPr algn="l">
              <a:buFont typeface="+mj-lt"/>
              <a:buAutoNum type="arabicPeriod"/>
            </a:pP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 += (b-=5) (8+1 = 9)</a:t>
            </a:r>
          </a:p>
          <a:p>
            <a:pPr algn="l">
              <a:buFont typeface="+mj-lt"/>
              <a:buAutoNum type="arabicPeriod"/>
            </a:pP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 = (a + = (b-=5)) (c = 9)</a:t>
            </a:r>
          </a:p>
        </p:txBody>
      </p:sp>
    </p:spTree>
    <p:extLst>
      <p:ext uri="{BB962C8B-B14F-4D97-AF65-F5344CB8AC3E}">
        <p14:creationId xmlns:p14="http://schemas.microsoft.com/office/powerpoint/2010/main" val="12248034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8FDDC4D8-B307-439C-AC1F-AD35FFB09B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896601" cy="1325563"/>
          </a:xfrm>
        </p:spPr>
        <p:txBody>
          <a:bodyPr>
            <a:normAutofit/>
          </a:bodyPr>
          <a:lstStyle/>
          <a:p>
            <a:pPr algn="l"/>
            <a:r>
              <a:rPr lang="uk-UA" b="1" i="0" dirty="0">
                <a:solidFill>
                  <a:srgbClr val="000000"/>
                </a:solidFill>
                <a:effectLst/>
                <a:latin typeface="-apple-system"/>
              </a:rPr>
              <a:t>Звуження та розширення перетворення</a:t>
            </a:r>
            <a:endParaRPr lang="uk-UA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19CC67F-2906-4A2B-81C2-75D258661787}"/>
              </a:ext>
            </a:extLst>
          </p:cNvPr>
          <p:cNvSpPr txBox="1"/>
          <p:nvPr/>
        </p:nvSpPr>
        <p:spPr>
          <a:xfrm>
            <a:off x="457200" y="1395710"/>
            <a:ext cx="115824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1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Перетворення можуть бути звужувальні (</a:t>
            </a:r>
            <a:r>
              <a:rPr lang="en-US" sz="1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narrowing) </a:t>
            </a:r>
            <a:r>
              <a:rPr lang="uk-UA" sz="1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та </a:t>
            </a:r>
            <a:r>
              <a:rPr lang="uk-UA" sz="1400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розширюючі</a:t>
            </a:r>
            <a:r>
              <a:rPr lang="uk-UA" sz="1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en-US" sz="1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widening). </a:t>
            </a:r>
            <a:r>
              <a:rPr lang="uk-UA" sz="1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Розширювальні перетворення розширюють розмір об'єкта пам'яті. Наприклад:</a:t>
            </a:r>
            <a:endParaRPr lang="uk-UA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2B618C72-E3E6-43C2-8241-74045AA832C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0550" y="2008823"/>
            <a:ext cx="3651641" cy="4308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byte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a = 4;             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82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// 0000100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ushort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b = a;   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82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// 000000000000100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6F4C8E3-8697-4D01-8980-72DBA337ADC5}"/>
              </a:ext>
            </a:extLst>
          </p:cNvPr>
          <p:cNvSpPr txBox="1"/>
          <p:nvPr/>
        </p:nvSpPr>
        <p:spPr>
          <a:xfrm>
            <a:off x="457200" y="2546479"/>
            <a:ext cx="112776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1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У разі змінної типу </a:t>
            </a:r>
            <a:r>
              <a:rPr lang="en-US" sz="1400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ushort</a:t>
            </a:r>
            <a:r>
              <a:rPr lang="en-US" sz="1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uk-UA" sz="1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присвоюється значення типу </a:t>
            </a:r>
            <a:r>
              <a:rPr lang="en-US" sz="1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byte. </a:t>
            </a:r>
            <a:r>
              <a:rPr lang="uk-UA" sz="1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Тип </a:t>
            </a:r>
            <a:r>
              <a:rPr lang="en-US" sz="1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byte </a:t>
            </a:r>
            <a:r>
              <a:rPr lang="uk-UA" sz="1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займає 1 байт (8 біт), і значення змінної </a:t>
            </a:r>
            <a:r>
              <a:rPr lang="en-US" sz="1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 </a:t>
            </a:r>
            <a:r>
              <a:rPr lang="uk-UA" sz="1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у двійковому вигляді можна уявити як:</a:t>
            </a:r>
            <a:endParaRPr lang="uk-UA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4C9133D-2533-4477-81E7-FCB953815F27}"/>
              </a:ext>
            </a:extLst>
          </p:cNvPr>
          <p:cNvSpPr txBox="1"/>
          <p:nvPr/>
        </p:nvSpPr>
        <p:spPr>
          <a:xfrm>
            <a:off x="457200" y="3152865"/>
            <a:ext cx="63246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1400" b="0" i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00000100</a:t>
            </a:r>
            <a:endParaRPr lang="uk-UA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00509C4-40B3-46A0-9178-77754EDA0BD5}"/>
              </a:ext>
            </a:extLst>
          </p:cNvPr>
          <p:cNvSpPr txBox="1"/>
          <p:nvPr/>
        </p:nvSpPr>
        <p:spPr>
          <a:xfrm>
            <a:off x="457199" y="3482252"/>
            <a:ext cx="1127759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1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Значення типу </a:t>
            </a:r>
            <a:r>
              <a:rPr lang="en-US" sz="1400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ushort</a:t>
            </a:r>
            <a:r>
              <a:rPr lang="en-US" sz="1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uk-UA" sz="1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займає 2 байти (16 біт). І за присвоєння змінної </a:t>
            </a:r>
            <a:r>
              <a:rPr lang="en-US" sz="1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 </a:t>
            </a:r>
            <a:r>
              <a:rPr lang="uk-UA" sz="1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значення змінної </a:t>
            </a:r>
            <a:r>
              <a:rPr lang="en-US" sz="1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 </a:t>
            </a:r>
            <a:r>
              <a:rPr lang="uk-UA" sz="1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розширюється до 2 байт</a:t>
            </a:r>
            <a:endParaRPr lang="uk-UA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DF9B624-2216-4662-93E9-BDB33AF35644}"/>
              </a:ext>
            </a:extLst>
          </p:cNvPr>
          <p:cNvSpPr txBox="1"/>
          <p:nvPr/>
        </p:nvSpPr>
        <p:spPr>
          <a:xfrm>
            <a:off x="457200" y="4057501"/>
            <a:ext cx="63246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1400" b="0" i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0000000000000100</a:t>
            </a:r>
            <a:endParaRPr lang="uk-UA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531FAFF-1B2B-47BC-BAB7-2080567B53EC}"/>
              </a:ext>
            </a:extLst>
          </p:cNvPr>
          <p:cNvSpPr txBox="1"/>
          <p:nvPr/>
        </p:nvSpPr>
        <p:spPr>
          <a:xfrm>
            <a:off x="457200" y="4412101"/>
            <a:ext cx="63246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400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Тобто</a:t>
            </a:r>
            <a:r>
              <a:rPr lang="ru-RU" sz="1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400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значення</a:t>
            </a:r>
            <a:r>
              <a:rPr lang="ru-RU" sz="1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1400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що</a:t>
            </a:r>
            <a:r>
              <a:rPr lang="ru-RU" sz="1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400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займає</a:t>
            </a:r>
            <a:r>
              <a:rPr lang="ru-RU" sz="1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8 </a:t>
            </a:r>
            <a:r>
              <a:rPr lang="ru-RU" sz="1400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біт</a:t>
            </a:r>
            <a:r>
              <a:rPr lang="ru-RU" sz="1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 </a:t>
            </a:r>
            <a:r>
              <a:rPr lang="ru-RU" sz="1400" b="1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розширюється</a:t>
            </a:r>
            <a:r>
              <a:rPr lang="ru-RU" sz="1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до 16 </a:t>
            </a:r>
            <a:r>
              <a:rPr lang="ru-RU" sz="1400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біт</a:t>
            </a:r>
            <a:r>
              <a:rPr lang="ru-RU" sz="1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uk-UA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8659B95-F20F-41E9-8A6F-4299BB3C53A2}"/>
              </a:ext>
            </a:extLst>
          </p:cNvPr>
          <p:cNvSpPr txBox="1"/>
          <p:nvPr/>
        </p:nvSpPr>
        <p:spPr>
          <a:xfrm>
            <a:off x="457198" y="4756398"/>
            <a:ext cx="1127759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400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Звужуючі</a:t>
            </a:r>
            <a:r>
              <a:rPr lang="ru-RU" sz="1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400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перетворення</a:t>
            </a:r>
            <a:r>
              <a:rPr lang="ru-RU" sz="1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1400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навпаки</a:t>
            </a:r>
            <a:r>
              <a:rPr lang="ru-RU" sz="1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1400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звужують</a:t>
            </a:r>
            <a:r>
              <a:rPr lang="ru-RU" sz="1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400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значення</a:t>
            </a:r>
            <a:r>
              <a:rPr lang="ru-RU" sz="1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типу </a:t>
            </a:r>
            <a:r>
              <a:rPr lang="ru-RU" sz="1400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меншої</a:t>
            </a:r>
            <a:r>
              <a:rPr lang="ru-RU" sz="1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400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разядности</a:t>
            </a:r>
            <a:r>
              <a:rPr lang="ru-RU" sz="1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 У другому </a:t>
            </a:r>
            <a:r>
              <a:rPr lang="ru-RU" sz="1400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лістингу</a:t>
            </a:r>
            <a:r>
              <a:rPr lang="ru-RU" sz="1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400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статті</a:t>
            </a:r>
            <a:r>
              <a:rPr lang="ru-RU" sz="1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ми </a:t>
            </a:r>
            <a:r>
              <a:rPr lang="ru-RU" sz="1400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мали</a:t>
            </a:r>
            <a:r>
              <a:rPr lang="ru-RU" sz="1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справу з </a:t>
            </a:r>
            <a:r>
              <a:rPr lang="ru-RU" sz="1400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звужуючими</a:t>
            </a:r>
            <a:r>
              <a:rPr lang="ru-RU" sz="1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400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перетвореннями</a:t>
            </a:r>
            <a:r>
              <a:rPr lang="ru-RU" sz="1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uk-UA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Rectangle 3">
            <a:extLst>
              <a:ext uri="{FF2B5EF4-FFF2-40B4-BE49-F238E27FC236}">
                <a16:creationId xmlns:a16="http://schemas.microsoft.com/office/drawing/2014/main" id="{40EC038A-9B7E-495A-B973-9AB875955D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0550" y="5311884"/>
            <a:ext cx="1933222" cy="4308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ushort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a = 4;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byte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b = (</a:t>
            </a: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byte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 a;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3" name="Rectangle 4">
            <a:extLst>
              <a:ext uri="{FF2B5EF4-FFF2-40B4-BE49-F238E27FC236}">
                <a16:creationId xmlns:a16="http://schemas.microsoft.com/office/drawing/2014/main" id="{C32DFE6B-B167-46FD-96B3-1B547DE40F1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0550" y="5832069"/>
            <a:ext cx="11144247" cy="52322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Тут змінною b, яка займає 8 біт, присвоюється значення ushort, яке займає 16 біт. Тобто з 0000000000000100 отримуємо 00000100. Таким чином значення звужується з 16 біт (2 байт) до 8 біт (1 байт).</a:t>
            </a:r>
            <a:r>
              <a:rPr kumimoji="0" lang="uk-UA" altLang="uk-UA" sz="1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865939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8FDDC4D8-B307-439C-AC1F-AD35FFB09B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896601" cy="1325563"/>
          </a:xfrm>
        </p:spPr>
        <p:txBody>
          <a:bodyPr>
            <a:normAutofit/>
          </a:bodyPr>
          <a:lstStyle/>
          <a:p>
            <a:pPr algn="l"/>
            <a:r>
              <a:rPr lang="uk-UA" b="1" i="0" dirty="0">
                <a:solidFill>
                  <a:srgbClr val="000000"/>
                </a:solidFill>
                <a:effectLst/>
                <a:latin typeface="-apple-system"/>
              </a:rPr>
              <a:t>Перетворення базових типів даних</a:t>
            </a:r>
            <a:endParaRPr lang="uk-UA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063DDC-2627-4CD1-AF6F-25959E245DC4}"/>
              </a:ext>
            </a:extLst>
          </p:cNvPr>
          <p:cNvSpPr txBox="1"/>
          <p:nvPr/>
        </p:nvSpPr>
        <p:spPr>
          <a:xfrm>
            <a:off x="380999" y="1457236"/>
            <a:ext cx="113538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При розгляді типів даних вказувалося, які значення може мати той чи інший тип і скільки байт пам'яті може займати. У минулій темі було розглянуто арифметичні операції. Тепер застосуємо операцію додавання до даних різних типів:</a:t>
            </a:r>
            <a:endParaRPr lang="uk-UA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2FB4722F-3064-4213-81D4-ABBA539924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6250" y="2393722"/>
            <a:ext cx="1611018" cy="4308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byte</a:t>
            </a:r>
            <a:r>
              <a:rPr kumimoji="0" lang="uk-UA" altLang="uk-UA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a = 4;</a:t>
            </a:r>
            <a:endParaRPr kumimoji="0" lang="uk-UA" altLang="uk-UA" sz="1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0" lang="uk-UA" altLang="uk-UA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b = a + 70;</a:t>
            </a:r>
            <a:endParaRPr kumimoji="0" lang="uk-UA" altLang="uk-UA" sz="1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B245C13-3A56-437E-93D6-C4DCC871EB04}"/>
              </a:ext>
            </a:extLst>
          </p:cNvPr>
          <p:cNvSpPr txBox="1"/>
          <p:nvPr/>
        </p:nvSpPr>
        <p:spPr>
          <a:xfrm>
            <a:off x="380998" y="2872512"/>
            <a:ext cx="1135380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Результатом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операції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цілком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справедливо є число 74, як і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очікується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algn="l"/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Але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тепер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спробуємо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застосувати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додавання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до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двох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об'єктів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типу </a:t>
            </a:r>
            <a:r>
              <a:rPr lang="ru-RU" b="1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byte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:</a:t>
            </a:r>
          </a:p>
        </p:txBody>
      </p:sp>
      <p:sp>
        <p:nvSpPr>
          <p:cNvPr id="12" name="Rectangle 3">
            <a:extLst>
              <a:ext uri="{FF2B5EF4-FFF2-40B4-BE49-F238E27FC236}">
                <a16:creationId xmlns:a16="http://schemas.microsoft.com/office/drawing/2014/main" id="{334A69CC-FA4E-4C2A-BEF2-E7B2FF524F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6250" y="3516124"/>
            <a:ext cx="3007233" cy="4308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byte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a = 4;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byte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b = a + 70;  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82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// помилка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B638615-F893-40D8-96F5-B4A63491EA76}"/>
              </a:ext>
            </a:extLst>
          </p:cNvPr>
          <p:cNvSpPr txBox="1"/>
          <p:nvPr/>
        </p:nvSpPr>
        <p:spPr>
          <a:xfrm>
            <a:off x="380997" y="4162455"/>
            <a:ext cx="1135379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Тут змінився лише тип змінної, яка отримує результат додавання - з </a:t>
            </a:r>
            <a:r>
              <a:rPr lang="en-US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int </a:t>
            </a:r>
            <a:r>
              <a:rPr lang="uk-UA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на </a:t>
            </a:r>
            <a:r>
              <a:rPr lang="en-US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byte. </a:t>
            </a:r>
            <a:r>
              <a:rPr lang="uk-UA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Проте за спробі скомпілювати програму ми отримаємо помилку на етапі компіляції. І якщо ми працюємо в </a:t>
            </a:r>
            <a:r>
              <a:rPr lang="en-US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Visual Studio, </a:t>
            </a:r>
            <a:r>
              <a:rPr lang="uk-UA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середа підкреслить другий рядок червоною хвилястою лінією, вказуючи, що в ній є помилка.</a:t>
            </a:r>
            <a:endParaRPr lang="uk-UA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70687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8FDDC4D8-B307-439C-AC1F-AD35FFB09B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896601" cy="1325563"/>
          </a:xfrm>
        </p:spPr>
        <p:txBody>
          <a:bodyPr>
            <a:normAutofit/>
          </a:bodyPr>
          <a:lstStyle/>
          <a:p>
            <a:pPr algn="l"/>
            <a:r>
              <a:rPr lang="uk-UA" b="1" i="0" dirty="0">
                <a:solidFill>
                  <a:srgbClr val="000000"/>
                </a:solidFill>
                <a:effectLst/>
                <a:latin typeface="-apple-system"/>
              </a:rPr>
              <a:t>Перетворення базових типів даних</a:t>
            </a:r>
            <a:endParaRPr lang="uk-UA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E8F63F2-74C9-44C2-A225-CDD2A148A5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5471" y="1427448"/>
            <a:ext cx="11661058" cy="264072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Під час операцій ми повинні враховувати діапазон значень, які може зберігати той чи інший тип. Але в даному випадку число 74, яке ми очікуємо отримати, цілком укладається в діапазон значень типу </a:t>
            </a: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byte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проте ми отримуємо помилку.</a:t>
            </a:r>
            <a:endParaRPr kumimoji="0" lang="uk-UA" altLang="uk-UA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Справа в тому, що операція додавання (та й віднімання) повертає значення типу </a:t>
            </a: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int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якщо в операції беруть участь цілі численні типи даних з розрядністю менше або дорівнює </a:t>
            </a: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int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(тобто типи </a:t>
            </a: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byte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short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int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). Тому результатом операції a + 70буде об'єкт, який має довжину в пам'яті 4 байти. Потім цей об'єкт ми намагаємось присвоїти змінній b, яка має тип </a:t>
            </a: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byte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і в пам'яті займає 1 байт.</a:t>
            </a:r>
            <a:endParaRPr kumimoji="0" lang="uk-UA" altLang="uk-UA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І щоб вийти із цієї ситуації, необхідно застосувати операцію перетворення типів. </a:t>
            </a:r>
            <a:r>
              <a:rPr kumimoji="0" lang="uk-UA" altLang="uk-UA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Операція перетворення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типів передбачає вказівку у дужках того типу, якого треба перетворити значення:</a:t>
            </a:r>
            <a:endParaRPr kumimoji="0" lang="uk-UA" altLang="uk-UA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925847F-DFA4-4EAB-8D87-18AFF287231E}"/>
              </a:ext>
            </a:extLst>
          </p:cNvPr>
          <p:cNvSpPr txBox="1"/>
          <p:nvPr/>
        </p:nvSpPr>
        <p:spPr>
          <a:xfrm>
            <a:off x="265470" y="4229785"/>
            <a:ext cx="882137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uk-U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тип_данних_в_якому_потрібно_перетворити</a:t>
            </a:r>
            <a:r>
              <a:rPr lang="uk-U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uk-U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значення_для_перетворення</a:t>
            </a:r>
            <a:r>
              <a:rPr lang="uk-U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5CEF776-25C8-410E-940C-E4F39F428715}"/>
              </a:ext>
            </a:extLst>
          </p:cNvPr>
          <p:cNvSpPr txBox="1"/>
          <p:nvPr/>
        </p:nvSpPr>
        <p:spPr>
          <a:xfrm>
            <a:off x="265470" y="4599117"/>
            <a:ext cx="101548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Так,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змінимо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попередній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приклад,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застосувавши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операцію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перетворення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типів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uk-UA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EE078150-78CA-43DE-85F1-B84C6D9988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2900" y="4986508"/>
            <a:ext cx="2577629" cy="4308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byte</a:t>
            </a:r>
            <a:r>
              <a:rPr kumimoji="0" lang="uk-UA" altLang="uk-UA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a = 4;</a:t>
            </a:r>
            <a:endParaRPr kumimoji="0" lang="uk-UA" altLang="uk-UA" sz="1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byte</a:t>
            </a:r>
            <a:r>
              <a:rPr kumimoji="0" lang="uk-UA" altLang="uk-UA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b = (</a:t>
            </a:r>
            <a:r>
              <a:rPr kumimoji="0" lang="uk-UA" altLang="uk-UA" sz="1400" b="0" i="0" u="none" strike="noStrike" cap="none" normalizeH="0" baseline="0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byte</a:t>
            </a:r>
            <a:r>
              <a:rPr kumimoji="0" lang="uk-UA" altLang="uk-UA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)(a + 70);</a:t>
            </a:r>
            <a:endParaRPr kumimoji="0" lang="uk-UA" altLang="uk-UA" sz="1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3142157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8FDDC4D8-B307-439C-AC1F-AD35FFB09B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896601" cy="1325563"/>
          </a:xfrm>
        </p:spPr>
        <p:txBody>
          <a:bodyPr>
            <a:normAutofit/>
          </a:bodyPr>
          <a:lstStyle/>
          <a:p>
            <a:pPr algn="l"/>
            <a:r>
              <a:rPr lang="uk-UA" b="1" i="0" dirty="0">
                <a:solidFill>
                  <a:srgbClr val="000000"/>
                </a:solidFill>
                <a:effectLst/>
                <a:latin typeface="-apple-system"/>
              </a:rPr>
              <a:t>Перетворення базових типів даних</a:t>
            </a:r>
            <a:endParaRPr lang="uk-UA" dirty="0"/>
          </a:p>
        </p:txBody>
      </p:sp>
      <p:graphicFrame>
        <p:nvGraphicFramePr>
          <p:cNvPr id="3" name="Таблиця 2">
            <a:extLst>
              <a:ext uri="{FF2B5EF4-FFF2-40B4-BE49-F238E27FC236}">
                <a16:creationId xmlns:a16="http://schemas.microsoft.com/office/drawing/2014/main" id="{81B64B3F-C09D-4A10-927D-232E5473DFE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2726001"/>
              </p:ext>
            </p:extLst>
          </p:nvPr>
        </p:nvGraphicFramePr>
        <p:xfrm>
          <a:off x="4762500" y="1690688"/>
          <a:ext cx="6591300" cy="3185160"/>
        </p:xfrm>
        <a:graphic>
          <a:graphicData uri="http://schemas.openxmlformats.org/drawingml/2006/table">
            <a:tbl>
              <a:tblPr>
                <a:tableStyleId>{69C7853C-536D-4A76-A0AE-DD22124D55A5}</a:tableStyleId>
              </a:tblPr>
              <a:tblGrid>
                <a:gridCol w="885825">
                  <a:extLst>
                    <a:ext uri="{9D8B030D-6E8A-4147-A177-3AD203B41FA5}">
                      <a16:colId xmlns:a16="http://schemas.microsoft.com/office/drawing/2014/main" val="2537032281"/>
                    </a:ext>
                  </a:extLst>
                </a:gridCol>
                <a:gridCol w="5705475">
                  <a:extLst>
                    <a:ext uri="{9D8B030D-6E8A-4147-A177-3AD203B41FA5}">
                      <a16:colId xmlns:a16="http://schemas.microsoft.com/office/drawing/2014/main" val="211089138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fontAlgn="t"/>
                      <a:r>
                        <a:rPr lang="uk-UA">
                          <a:effectLst/>
                        </a:rPr>
                        <a:t>Тип</a:t>
                      </a:r>
                    </a:p>
                  </a:txBody>
                  <a:tcPr marL="38100" marR="22860" marT="7620" marB="7620"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ru-RU">
                          <a:effectLst/>
                        </a:rPr>
                        <a:t>В які типи безпечно перетворюється</a:t>
                      </a:r>
                    </a:p>
                  </a:txBody>
                  <a:tcPr marL="38100" marR="22860" marT="7620" marB="7620"/>
                </a:tc>
                <a:extLst>
                  <a:ext uri="{0D108BD9-81ED-4DB2-BD59-A6C34878D82A}">
                    <a16:rowId xmlns:a16="http://schemas.microsoft.com/office/drawing/2014/main" val="190466959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fontAlgn="t"/>
                      <a:r>
                        <a:rPr lang="en-US">
                          <a:effectLst/>
                        </a:rPr>
                        <a:t>byte</a:t>
                      </a:r>
                    </a:p>
                  </a:txBody>
                  <a:tcPr marL="38100" marR="22860" marT="7620" marB="7620"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>
                          <a:effectLst/>
                        </a:rPr>
                        <a:t>short, ushort, int, uint, long, ulong, float, double, decimal</a:t>
                      </a:r>
                    </a:p>
                  </a:txBody>
                  <a:tcPr marL="38100" marR="22860" marT="7620" marB="7620"/>
                </a:tc>
                <a:extLst>
                  <a:ext uri="{0D108BD9-81ED-4DB2-BD59-A6C34878D82A}">
                    <a16:rowId xmlns:a16="http://schemas.microsoft.com/office/drawing/2014/main" val="321835322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fontAlgn="t"/>
                      <a:r>
                        <a:rPr lang="en-US">
                          <a:effectLst/>
                        </a:rPr>
                        <a:t>sbyte</a:t>
                      </a:r>
                    </a:p>
                  </a:txBody>
                  <a:tcPr marL="38100" marR="22860" marT="7620" marB="7620"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>
                          <a:effectLst/>
                        </a:rPr>
                        <a:t>short, int, long, float, double, decimal</a:t>
                      </a:r>
                    </a:p>
                  </a:txBody>
                  <a:tcPr marL="38100" marR="22860" marT="7620" marB="7620"/>
                </a:tc>
                <a:extLst>
                  <a:ext uri="{0D108BD9-81ED-4DB2-BD59-A6C34878D82A}">
                    <a16:rowId xmlns:a16="http://schemas.microsoft.com/office/drawing/2014/main" val="3345598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fontAlgn="t"/>
                      <a:r>
                        <a:rPr lang="en-US">
                          <a:effectLst/>
                        </a:rPr>
                        <a:t>short</a:t>
                      </a:r>
                    </a:p>
                  </a:txBody>
                  <a:tcPr marL="38100" marR="22860" marT="7620" marB="7620"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>
                          <a:effectLst/>
                        </a:rPr>
                        <a:t>int, long, float, double, decimal</a:t>
                      </a:r>
                    </a:p>
                  </a:txBody>
                  <a:tcPr marL="38100" marR="22860" marT="7620" marB="7620"/>
                </a:tc>
                <a:extLst>
                  <a:ext uri="{0D108BD9-81ED-4DB2-BD59-A6C34878D82A}">
                    <a16:rowId xmlns:a16="http://schemas.microsoft.com/office/drawing/2014/main" val="29046272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fontAlgn="t"/>
                      <a:r>
                        <a:rPr lang="en-US">
                          <a:effectLst/>
                        </a:rPr>
                        <a:t>ushort</a:t>
                      </a:r>
                    </a:p>
                  </a:txBody>
                  <a:tcPr marL="38100" marR="22860" marT="7620" marB="7620"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>
                          <a:effectLst/>
                        </a:rPr>
                        <a:t>int, uint, long, ulong, float, double, decimal</a:t>
                      </a:r>
                    </a:p>
                  </a:txBody>
                  <a:tcPr marL="38100" marR="22860" marT="7620" marB="7620"/>
                </a:tc>
                <a:extLst>
                  <a:ext uri="{0D108BD9-81ED-4DB2-BD59-A6C34878D82A}">
                    <a16:rowId xmlns:a16="http://schemas.microsoft.com/office/drawing/2014/main" val="15208153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fontAlgn="t"/>
                      <a:r>
                        <a:rPr lang="en-US">
                          <a:effectLst/>
                        </a:rPr>
                        <a:t>int</a:t>
                      </a:r>
                    </a:p>
                  </a:txBody>
                  <a:tcPr marL="38100" marR="22860" marT="7620" marB="7620"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>
                          <a:effectLst/>
                        </a:rPr>
                        <a:t>long, float, double, decimal</a:t>
                      </a:r>
                    </a:p>
                  </a:txBody>
                  <a:tcPr marL="38100" marR="22860" marT="7620" marB="7620"/>
                </a:tc>
                <a:extLst>
                  <a:ext uri="{0D108BD9-81ED-4DB2-BD59-A6C34878D82A}">
                    <a16:rowId xmlns:a16="http://schemas.microsoft.com/office/drawing/2014/main" val="168898442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fontAlgn="t"/>
                      <a:r>
                        <a:rPr lang="en-US">
                          <a:effectLst/>
                        </a:rPr>
                        <a:t>uint</a:t>
                      </a:r>
                    </a:p>
                  </a:txBody>
                  <a:tcPr marL="38100" marR="22860" marT="7620" marB="7620"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>
                          <a:effectLst/>
                        </a:rPr>
                        <a:t>long, ulong, float, double, decimal</a:t>
                      </a:r>
                    </a:p>
                  </a:txBody>
                  <a:tcPr marL="38100" marR="22860" marT="7620" marB="7620"/>
                </a:tc>
                <a:extLst>
                  <a:ext uri="{0D108BD9-81ED-4DB2-BD59-A6C34878D82A}">
                    <a16:rowId xmlns:a16="http://schemas.microsoft.com/office/drawing/2014/main" val="39849820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fontAlgn="t"/>
                      <a:r>
                        <a:rPr lang="en-US">
                          <a:effectLst/>
                        </a:rPr>
                        <a:t>long</a:t>
                      </a:r>
                    </a:p>
                  </a:txBody>
                  <a:tcPr marL="38100" marR="22860" marT="7620" marB="7620"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>
                          <a:effectLst/>
                        </a:rPr>
                        <a:t>float, double, decimal</a:t>
                      </a:r>
                    </a:p>
                  </a:txBody>
                  <a:tcPr marL="38100" marR="22860" marT="7620" marB="7620"/>
                </a:tc>
                <a:extLst>
                  <a:ext uri="{0D108BD9-81ED-4DB2-BD59-A6C34878D82A}">
                    <a16:rowId xmlns:a16="http://schemas.microsoft.com/office/drawing/2014/main" val="8385471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fontAlgn="t"/>
                      <a:r>
                        <a:rPr lang="en-US">
                          <a:effectLst/>
                        </a:rPr>
                        <a:t>ulong</a:t>
                      </a:r>
                    </a:p>
                  </a:txBody>
                  <a:tcPr marL="38100" marR="22860" marT="7620" marB="7620"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>
                          <a:effectLst/>
                        </a:rPr>
                        <a:t>float, double, decimal</a:t>
                      </a:r>
                    </a:p>
                  </a:txBody>
                  <a:tcPr marL="38100" marR="22860" marT="7620" marB="7620"/>
                </a:tc>
                <a:extLst>
                  <a:ext uri="{0D108BD9-81ED-4DB2-BD59-A6C34878D82A}">
                    <a16:rowId xmlns:a16="http://schemas.microsoft.com/office/drawing/2014/main" val="41858993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fontAlgn="t"/>
                      <a:r>
                        <a:rPr lang="en-US">
                          <a:effectLst/>
                        </a:rPr>
                        <a:t>float</a:t>
                      </a:r>
                    </a:p>
                  </a:txBody>
                  <a:tcPr marL="38100" marR="22860" marT="7620" marB="7620"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>
                          <a:effectLst/>
                        </a:rPr>
                        <a:t>double</a:t>
                      </a:r>
                    </a:p>
                  </a:txBody>
                  <a:tcPr marL="38100" marR="22860" marT="7620" marB="7620"/>
                </a:tc>
                <a:extLst>
                  <a:ext uri="{0D108BD9-81ED-4DB2-BD59-A6C34878D82A}">
                    <a16:rowId xmlns:a16="http://schemas.microsoft.com/office/drawing/2014/main" val="247108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fontAlgn="t"/>
                      <a:r>
                        <a:rPr lang="en-US">
                          <a:effectLst/>
                        </a:rPr>
                        <a:t>char</a:t>
                      </a:r>
                    </a:p>
                  </a:txBody>
                  <a:tcPr marL="38100" marR="22860" marT="7620" marB="7620"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dirty="0" err="1">
                          <a:effectLst/>
                        </a:rPr>
                        <a:t>ushort</a:t>
                      </a:r>
                      <a:r>
                        <a:rPr lang="en-US" dirty="0">
                          <a:effectLst/>
                        </a:rPr>
                        <a:t>, int, </a:t>
                      </a:r>
                      <a:r>
                        <a:rPr lang="en-US" dirty="0" err="1">
                          <a:effectLst/>
                        </a:rPr>
                        <a:t>uint</a:t>
                      </a:r>
                      <a:r>
                        <a:rPr lang="en-US" dirty="0">
                          <a:effectLst/>
                        </a:rPr>
                        <a:t>, long, </a:t>
                      </a:r>
                      <a:r>
                        <a:rPr lang="en-US" dirty="0" err="1">
                          <a:effectLst/>
                        </a:rPr>
                        <a:t>ulong</a:t>
                      </a:r>
                      <a:r>
                        <a:rPr lang="en-US" dirty="0">
                          <a:effectLst/>
                        </a:rPr>
                        <a:t>, float, double, decimal</a:t>
                      </a:r>
                    </a:p>
                  </a:txBody>
                  <a:tcPr marL="38100" marR="22860" marT="7620" marB="7620"/>
                </a:tc>
                <a:extLst>
                  <a:ext uri="{0D108BD9-81ED-4DB2-BD59-A6C34878D82A}">
                    <a16:rowId xmlns:a16="http://schemas.microsoft.com/office/drawing/2014/main" val="2084421856"/>
                  </a:ext>
                </a:extLst>
              </a:tr>
            </a:tbl>
          </a:graphicData>
        </a:graphic>
      </p:graphicFrame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526B317B-0D86-4C78-B48A-08E273B88E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86725"/>
            <a:ext cx="4154882" cy="43079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63538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8FDDC4D8-B307-439C-AC1F-AD35FFB09B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896601" cy="1325563"/>
          </a:xfrm>
        </p:spPr>
        <p:txBody>
          <a:bodyPr>
            <a:normAutofit/>
          </a:bodyPr>
          <a:lstStyle/>
          <a:p>
            <a:pPr algn="l"/>
            <a:r>
              <a:rPr lang="uk-UA" b="1" i="0" dirty="0">
                <a:solidFill>
                  <a:srgbClr val="000000"/>
                </a:solidFill>
                <a:effectLst/>
                <a:latin typeface="-apple-system"/>
              </a:rPr>
              <a:t>Перетворення базових типів даних</a:t>
            </a:r>
            <a:endParaRPr lang="uk-UA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AC2752A-466F-42BF-BBEF-D559E7F72B13}"/>
              </a:ext>
            </a:extLst>
          </p:cNvPr>
          <p:cNvSpPr txBox="1"/>
          <p:nvPr/>
        </p:nvSpPr>
        <p:spPr>
          <a:xfrm>
            <a:off x="333374" y="1332637"/>
            <a:ext cx="1140142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uk-UA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За інших випадках слід використовувати явні перетворення типів.</a:t>
            </a:r>
          </a:p>
          <a:p>
            <a:pPr algn="l"/>
            <a:r>
              <a:rPr lang="uk-UA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Також слід зазначити, що незважаючи на те, що і </a:t>
            </a:r>
            <a:r>
              <a:rPr lang="en-US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double, </a:t>
            </a:r>
            <a:r>
              <a:rPr lang="uk-UA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і </a:t>
            </a:r>
            <a:r>
              <a:rPr lang="en-US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decimal </a:t>
            </a:r>
            <a:r>
              <a:rPr lang="uk-UA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можуть зберігати дробові дані, а </a:t>
            </a:r>
            <a:r>
              <a:rPr lang="en-US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decimal </a:t>
            </a:r>
            <a:r>
              <a:rPr lang="uk-UA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має більшу розрядність, ніж </a:t>
            </a:r>
            <a:r>
              <a:rPr lang="en-US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double, </a:t>
            </a:r>
            <a:r>
              <a:rPr lang="uk-UA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але все одно значення </a:t>
            </a:r>
            <a:r>
              <a:rPr lang="en-US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double </a:t>
            </a:r>
            <a:r>
              <a:rPr lang="uk-UA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потрібно явно наводити до типу </a:t>
            </a:r>
            <a:r>
              <a:rPr lang="en-US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decimal:</a:t>
            </a: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30B676CF-1768-4A64-8217-773C55087F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1" y="2364373"/>
            <a:ext cx="2470228" cy="4308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a = 4.0;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decimal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b = (</a:t>
            </a: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decimal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)a;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0B616EB-0C12-4364-9B8D-A9F66EB4E7CC}"/>
              </a:ext>
            </a:extLst>
          </p:cNvPr>
          <p:cNvSpPr txBox="1"/>
          <p:nvPr/>
        </p:nvSpPr>
        <p:spPr>
          <a:xfrm>
            <a:off x="333374" y="3429000"/>
            <a:ext cx="106775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Розглянемо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іншу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ситуацію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що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буде,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наприклад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у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наступному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випадку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uk-UA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DA327D6E-D5BC-4496-B0E0-D99482A5C36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1" y="3798332"/>
            <a:ext cx="3222036" cy="86177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a = 33;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b = 600;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byte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c = (</a:t>
            </a: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byte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)(</a:t>
            </a: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a+b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Console.WriteLine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(c);   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82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// 121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D2A209E-71AA-493D-B2B3-EC5C68ED4A33}"/>
              </a:ext>
            </a:extLst>
          </p:cNvPr>
          <p:cNvSpPr txBox="1"/>
          <p:nvPr/>
        </p:nvSpPr>
        <p:spPr>
          <a:xfrm>
            <a:off x="333373" y="4774406"/>
            <a:ext cx="1140142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Результатом буде число 121, так число 633 не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потрапляє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в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допустимий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діапазон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типу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byte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і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старші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біти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будуть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усікатися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 У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результаті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вийде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число 121. Тому, при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перетвореннях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треба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це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враховувати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 І ми в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даному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випадку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можемо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взяти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такі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числа a і b,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які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в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сумі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дадуть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число не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більше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255,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або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ми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можемо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вибрати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замість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byte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інший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тип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даних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наприклад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int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uk-UA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7814511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8FDDC4D8-B307-439C-AC1F-AD35FFB09B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896601" cy="1325563"/>
          </a:xfrm>
        </p:spPr>
        <p:txBody>
          <a:bodyPr>
            <a:normAutofit/>
          </a:bodyPr>
          <a:lstStyle/>
          <a:p>
            <a:pPr algn="l"/>
            <a:r>
              <a:rPr lang="uk-UA" b="1" i="0" dirty="0">
                <a:solidFill>
                  <a:srgbClr val="000000"/>
                </a:solidFill>
                <a:effectLst/>
                <a:latin typeface="-apple-system"/>
              </a:rPr>
              <a:t>Умовні вирази</a:t>
            </a:r>
            <a:endParaRPr lang="uk-UA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D695084-C608-460A-B906-383BAD6BBEB8}"/>
              </a:ext>
            </a:extLst>
          </p:cNvPr>
          <p:cNvSpPr txBox="1"/>
          <p:nvPr/>
        </p:nvSpPr>
        <p:spPr>
          <a:xfrm>
            <a:off x="457200" y="1366361"/>
            <a:ext cx="113538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b="0" i="0" dirty="0">
                <a:solidFill>
                  <a:srgbClr val="000000"/>
                </a:solidFill>
                <a:effectLst/>
                <a:latin typeface="-apple-system"/>
              </a:rPr>
              <a:t>Окремий набір операцій представляє умовні висловлювання. Такі операції повертають логічне значення, тобто значення типу </a:t>
            </a:r>
            <a:r>
              <a:rPr lang="en-US" b="1" i="0" dirty="0">
                <a:solidFill>
                  <a:srgbClr val="000000"/>
                </a:solidFill>
                <a:effectLst/>
                <a:latin typeface="-apple-system"/>
              </a:rPr>
              <a:t>bool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 : </a:t>
            </a:r>
            <a:r>
              <a:rPr lang="en-US" b="1" i="0" dirty="0">
                <a:solidFill>
                  <a:srgbClr val="000000"/>
                </a:solidFill>
                <a:effectLst/>
                <a:latin typeface="-apple-system"/>
              </a:rPr>
              <a:t>true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 , </a:t>
            </a:r>
            <a:r>
              <a:rPr lang="uk-UA" b="0" i="0" dirty="0">
                <a:solidFill>
                  <a:srgbClr val="000000"/>
                </a:solidFill>
                <a:effectLst/>
                <a:latin typeface="-apple-system"/>
              </a:rPr>
              <a:t>якщо вираз істинно, і </a:t>
            </a:r>
            <a:r>
              <a:rPr lang="en-US" b="1" i="0" dirty="0">
                <a:solidFill>
                  <a:srgbClr val="000000"/>
                </a:solidFill>
                <a:effectLst/>
                <a:latin typeface="-apple-system"/>
              </a:rPr>
              <a:t>false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 , </a:t>
            </a:r>
            <a:r>
              <a:rPr lang="uk-UA" b="0" i="0" dirty="0">
                <a:solidFill>
                  <a:srgbClr val="000000"/>
                </a:solidFill>
                <a:effectLst/>
                <a:latin typeface="-apple-system"/>
              </a:rPr>
              <a:t>якщо вираз хибний. До подібних операцій належать операції порівняння та логічні операції.</a:t>
            </a:r>
            <a:endParaRPr lang="uk-UA" dirty="0"/>
          </a:p>
        </p:txBody>
      </p:sp>
    </p:spTree>
    <p:extLst>
      <p:ext uri="{BB962C8B-B14F-4D97-AF65-F5344CB8AC3E}">
        <p14:creationId xmlns:p14="http://schemas.microsoft.com/office/powerpoint/2010/main" val="62740152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8FDDC4D8-B307-439C-AC1F-AD35FFB09B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896601" cy="1325563"/>
          </a:xfrm>
        </p:spPr>
        <p:txBody>
          <a:bodyPr>
            <a:normAutofit/>
          </a:bodyPr>
          <a:lstStyle/>
          <a:p>
            <a:pPr algn="l"/>
            <a:r>
              <a:rPr lang="uk-UA" b="1" i="0" dirty="0">
                <a:solidFill>
                  <a:srgbClr val="000000"/>
                </a:solidFill>
                <a:effectLst/>
                <a:latin typeface="-apple-system"/>
              </a:rPr>
              <a:t>Умовні вирази</a:t>
            </a:r>
            <a:r>
              <a:rPr lang="en-US" b="1" dirty="0">
                <a:solidFill>
                  <a:srgbClr val="000000"/>
                </a:solidFill>
                <a:latin typeface="-apple-system"/>
              </a:rPr>
              <a:t>. </a:t>
            </a:r>
            <a:r>
              <a:rPr lang="uk-UA" b="1" dirty="0">
                <a:solidFill>
                  <a:srgbClr val="000000"/>
                </a:solidFill>
                <a:latin typeface="-apple-system"/>
              </a:rPr>
              <a:t>Операції порівняння</a:t>
            </a:r>
            <a:endParaRPr lang="uk-UA" dirty="0"/>
          </a:p>
        </p:txBody>
      </p:sp>
      <p:graphicFrame>
        <p:nvGraphicFramePr>
          <p:cNvPr id="7" name="Таблиця 12">
            <a:extLst>
              <a:ext uri="{FF2B5EF4-FFF2-40B4-BE49-F238E27FC236}">
                <a16:creationId xmlns:a16="http://schemas.microsoft.com/office/drawing/2014/main" id="{50EB7552-5611-4F1A-B472-F4F809746FE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54354102"/>
              </p:ext>
            </p:extLst>
          </p:nvPr>
        </p:nvGraphicFramePr>
        <p:xfrm>
          <a:off x="307975" y="1323340"/>
          <a:ext cx="11522076" cy="512572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3840692">
                  <a:extLst>
                    <a:ext uri="{9D8B030D-6E8A-4147-A177-3AD203B41FA5}">
                      <a16:colId xmlns:a16="http://schemas.microsoft.com/office/drawing/2014/main" val="1253398685"/>
                    </a:ext>
                  </a:extLst>
                </a:gridCol>
                <a:gridCol w="3840692">
                  <a:extLst>
                    <a:ext uri="{9D8B030D-6E8A-4147-A177-3AD203B41FA5}">
                      <a16:colId xmlns:a16="http://schemas.microsoft.com/office/drawing/2014/main" val="1169331494"/>
                    </a:ext>
                  </a:extLst>
                </a:gridCol>
                <a:gridCol w="3840692">
                  <a:extLst>
                    <a:ext uri="{9D8B030D-6E8A-4147-A177-3AD203B41FA5}">
                      <a16:colId xmlns:a16="http://schemas.microsoft.com/office/drawing/2014/main" val="75754804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uk-UA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uk-U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uk-UA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341206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uk-UA" sz="1800" b="1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==</a:t>
                      </a:r>
                      <a:endParaRPr lang="uk-U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Порівнює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два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операнди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на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рівність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Якщо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вони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рівні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то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операція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повертає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</a:t>
                      </a:r>
                      <a:r>
                        <a:rPr lang="ru-RU" sz="1800" b="1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true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якщо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не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рівні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то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повертається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</a:t>
                      </a:r>
                      <a:r>
                        <a:rPr lang="ru-RU" sz="1800" b="1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false</a:t>
                      </a:r>
                      <a:endParaRPr lang="uk-U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base"/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int a = 10;</a:t>
                      </a:r>
                    </a:p>
                    <a:p>
                      <a:pPr fontAlgn="base"/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int b = 4;</a:t>
                      </a:r>
                    </a:p>
                    <a:p>
                      <a:pPr fontAlgn="base"/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bool c = a == b; // false</a:t>
                      </a:r>
                    </a:p>
                    <a:p>
                      <a:endParaRPr lang="uk-UA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921662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uk-UA" sz="1800" b="1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!=</a:t>
                      </a:r>
                      <a:endParaRPr lang="uk-U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uk-U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Порівнює два операнди і повертає </a:t>
                      </a: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true, </a:t>
                      </a:r>
                      <a:r>
                        <a:rPr lang="uk-U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якщо операнди не рівні, і </a:t>
                      </a: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false, </a:t>
                      </a:r>
                      <a:r>
                        <a:rPr lang="uk-U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якщо вони рівні</a:t>
                      </a:r>
                      <a:endParaRPr lang="uk-U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base"/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int a = 10;</a:t>
                      </a:r>
                    </a:p>
                    <a:p>
                      <a:pPr fontAlgn="base"/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int b = 4;</a:t>
                      </a:r>
                    </a:p>
                    <a:p>
                      <a:pPr fontAlgn="base"/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bool c = a != b;    // true</a:t>
                      </a:r>
                    </a:p>
                    <a:p>
                      <a:pPr fontAlgn="base"/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bool d = a!=10;     // 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86619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uk-UA" sz="1800" b="1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&lt;</a:t>
                      </a:r>
                      <a:endParaRPr lang="uk-U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Операція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"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менша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ніж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".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Повертає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true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якщо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перший операнд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менший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за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другий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і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false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якщо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перший операнд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більший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за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другий</a:t>
                      </a:r>
                      <a:endParaRPr lang="uk-U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base"/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int a = 10;</a:t>
                      </a:r>
                    </a:p>
                    <a:p>
                      <a:pPr fontAlgn="base"/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int b = 4;</a:t>
                      </a:r>
                    </a:p>
                    <a:p>
                      <a:pPr fontAlgn="base"/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bool c = a &lt; b; // false</a:t>
                      </a:r>
                    </a:p>
                    <a:p>
                      <a:endParaRPr lang="uk-UA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8821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uk-UA" sz="1800" b="1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&gt;</a:t>
                      </a:r>
                      <a:endParaRPr lang="uk-UA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br>
                        <a:rPr lang="uk-UA" dirty="0"/>
                      </a:br>
                      <a:endParaRPr lang="uk-U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Операція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"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більше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ніж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".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Порівнює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два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операнди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і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повертає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true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якщо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перший операнд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більший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за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другий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інакше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повертає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false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base"/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int a = 10;</a:t>
                      </a:r>
                    </a:p>
                    <a:p>
                      <a:pPr fontAlgn="base"/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int b = 4;</a:t>
                      </a:r>
                    </a:p>
                    <a:p>
                      <a:pPr fontAlgn="base"/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bool c = a &gt; b;     // true</a:t>
                      </a:r>
                    </a:p>
                    <a:p>
                      <a:pPr fontAlgn="base"/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bool d = a &gt; 25;    // 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7073188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0866849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8FDDC4D8-B307-439C-AC1F-AD35FFB09B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896601" cy="1325563"/>
          </a:xfrm>
        </p:spPr>
        <p:txBody>
          <a:bodyPr>
            <a:normAutofit/>
          </a:bodyPr>
          <a:lstStyle/>
          <a:p>
            <a:pPr algn="l"/>
            <a:r>
              <a:rPr lang="uk-UA" b="1" i="0" dirty="0">
                <a:solidFill>
                  <a:srgbClr val="000000"/>
                </a:solidFill>
                <a:effectLst/>
                <a:latin typeface="-apple-system"/>
              </a:rPr>
              <a:t>Умовні вирази</a:t>
            </a:r>
            <a:r>
              <a:rPr lang="en-US" b="1" dirty="0">
                <a:solidFill>
                  <a:srgbClr val="000000"/>
                </a:solidFill>
                <a:latin typeface="-apple-system"/>
              </a:rPr>
              <a:t>. </a:t>
            </a:r>
            <a:r>
              <a:rPr lang="uk-UA" b="1" dirty="0">
                <a:solidFill>
                  <a:srgbClr val="000000"/>
                </a:solidFill>
                <a:latin typeface="-apple-system"/>
              </a:rPr>
              <a:t>Операції порівняння</a:t>
            </a:r>
            <a:endParaRPr lang="uk-UA" dirty="0"/>
          </a:p>
        </p:txBody>
      </p:sp>
      <p:graphicFrame>
        <p:nvGraphicFramePr>
          <p:cNvPr id="7" name="Таблиця 12">
            <a:extLst>
              <a:ext uri="{FF2B5EF4-FFF2-40B4-BE49-F238E27FC236}">
                <a16:creationId xmlns:a16="http://schemas.microsoft.com/office/drawing/2014/main" id="{50EB7552-5611-4F1A-B472-F4F809746FE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98220177"/>
              </p:ext>
            </p:extLst>
          </p:nvPr>
        </p:nvGraphicFramePr>
        <p:xfrm>
          <a:off x="307975" y="1323340"/>
          <a:ext cx="11522076" cy="329692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3840692">
                  <a:extLst>
                    <a:ext uri="{9D8B030D-6E8A-4147-A177-3AD203B41FA5}">
                      <a16:colId xmlns:a16="http://schemas.microsoft.com/office/drawing/2014/main" val="1253398685"/>
                    </a:ext>
                  </a:extLst>
                </a:gridCol>
                <a:gridCol w="3840692">
                  <a:extLst>
                    <a:ext uri="{9D8B030D-6E8A-4147-A177-3AD203B41FA5}">
                      <a16:colId xmlns:a16="http://schemas.microsoft.com/office/drawing/2014/main" val="1169331494"/>
                    </a:ext>
                  </a:extLst>
                </a:gridCol>
                <a:gridCol w="3840692">
                  <a:extLst>
                    <a:ext uri="{9D8B030D-6E8A-4147-A177-3AD203B41FA5}">
                      <a16:colId xmlns:a16="http://schemas.microsoft.com/office/drawing/2014/main" val="75754804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uk-UA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uk-U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uk-UA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341206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uk-UA" sz="1800" b="1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&lt;=</a:t>
                      </a:r>
                      <a:endParaRPr lang="uk-UA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br>
                        <a:rPr lang="uk-UA" dirty="0"/>
                      </a:br>
                      <a:endParaRPr lang="uk-U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uk-U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Операція "менше або одно". Порівнює два операнди і повертає </a:t>
                      </a: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true, </a:t>
                      </a:r>
                      <a:r>
                        <a:rPr lang="uk-U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якщо перший операнд менше або дорівнює другому. Інакше повертає </a:t>
                      </a: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false.</a:t>
                      </a:r>
                      <a:endParaRPr lang="uk-U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base"/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int a = 10;</a:t>
                      </a:r>
                    </a:p>
                    <a:p>
                      <a:pPr fontAlgn="base"/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int b = 4;</a:t>
                      </a:r>
                    </a:p>
                    <a:p>
                      <a:pPr fontAlgn="base"/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bool c = a &lt;= b;     // false</a:t>
                      </a:r>
                    </a:p>
                    <a:p>
                      <a:pPr fontAlgn="base"/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bool d = a &lt;= 25;    // true</a:t>
                      </a:r>
                    </a:p>
                    <a:p>
                      <a:endParaRPr lang="uk-UA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92166204"/>
                  </a:ext>
                </a:extLst>
              </a:tr>
              <a:tr h="1360170">
                <a:tc>
                  <a:txBody>
                    <a:bodyPr/>
                    <a:lstStyle/>
                    <a:p>
                      <a:r>
                        <a:rPr lang="uk-UA" sz="1800" b="1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&gt;=</a:t>
                      </a:r>
                      <a:endParaRPr lang="uk-U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uk-U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Операція "більше чи одно". Порівнює два операнди і повертає </a:t>
                      </a: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true, </a:t>
                      </a:r>
                      <a:r>
                        <a:rPr lang="uk-U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якщо перший операнд більше або дорівнює другому, інакше повертається </a:t>
                      </a: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false:</a:t>
                      </a:r>
                      <a:endParaRPr lang="uk-U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base"/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int a = 10;</a:t>
                      </a:r>
                    </a:p>
                    <a:p>
                      <a:pPr fontAlgn="base"/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int b = 4;</a:t>
                      </a:r>
                    </a:p>
                    <a:p>
                      <a:pPr fontAlgn="base"/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bool c = a &gt;= b;     // true</a:t>
                      </a:r>
                    </a:p>
                    <a:p>
                      <a:pPr fontAlgn="base"/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bool d = a &gt;= 25;    // false</a:t>
                      </a:r>
                    </a:p>
                    <a:p>
                      <a:pPr fontAlgn="base"/>
                      <a:endParaRPr lang="en-US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866194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388A1BFC-B9F5-4C38-8062-680B6C0C0436}"/>
              </a:ext>
            </a:extLst>
          </p:cNvPr>
          <p:cNvSpPr txBox="1"/>
          <p:nvPr/>
        </p:nvSpPr>
        <p:spPr>
          <a:xfrm>
            <a:off x="307975" y="5082659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0" i="0" dirty="0" err="1">
                <a:solidFill>
                  <a:srgbClr val="000000"/>
                </a:solidFill>
                <a:effectLst/>
                <a:latin typeface="-apple-system"/>
              </a:rPr>
              <a:t>Операції</a:t>
            </a:r>
            <a:r>
              <a:rPr lang="ru-RU" b="0" i="0" dirty="0">
                <a:solidFill>
                  <a:srgbClr val="000000"/>
                </a:solidFill>
                <a:effectLst/>
                <a:latin typeface="-apple-system"/>
              </a:rPr>
              <a:t> &lt;, &gt; &lt;=, &gt;=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-apple-system"/>
              </a:rPr>
              <a:t>мають</a:t>
            </a:r>
            <a:r>
              <a:rPr lang="ru-RU" b="0" i="0" dirty="0">
                <a:solidFill>
                  <a:srgbClr val="000000"/>
                </a:solidFill>
                <a:effectLst/>
                <a:latin typeface="-apple-system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-apple-system"/>
              </a:rPr>
              <a:t>більший</a:t>
            </a:r>
            <a:r>
              <a:rPr lang="ru-RU" b="0" i="0" dirty="0">
                <a:solidFill>
                  <a:srgbClr val="000000"/>
                </a:solidFill>
                <a:effectLst/>
                <a:latin typeface="-apple-system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-apple-system"/>
              </a:rPr>
              <a:t>пріоритет</a:t>
            </a:r>
            <a:r>
              <a:rPr lang="ru-RU" b="0" i="0" dirty="0">
                <a:solidFill>
                  <a:srgbClr val="000000"/>
                </a:solidFill>
                <a:effectLst/>
                <a:latin typeface="-apple-system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-apple-system"/>
              </a:rPr>
              <a:t>ніж</a:t>
            </a:r>
            <a:r>
              <a:rPr lang="ru-RU" b="0" i="0" dirty="0">
                <a:solidFill>
                  <a:srgbClr val="000000"/>
                </a:solidFill>
                <a:effectLst/>
                <a:latin typeface="-apple-system"/>
              </a:rPr>
              <a:t> == і !=.</a:t>
            </a:r>
            <a:endParaRPr lang="uk-UA" dirty="0"/>
          </a:p>
        </p:txBody>
      </p:sp>
    </p:spTree>
    <p:extLst>
      <p:ext uri="{BB962C8B-B14F-4D97-AF65-F5344CB8AC3E}">
        <p14:creationId xmlns:p14="http://schemas.microsoft.com/office/powerpoint/2010/main" val="161073516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8FDDC4D8-B307-439C-AC1F-AD35FFB09B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896601" cy="1325563"/>
          </a:xfrm>
        </p:spPr>
        <p:txBody>
          <a:bodyPr>
            <a:normAutofit/>
          </a:bodyPr>
          <a:lstStyle/>
          <a:p>
            <a:pPr algn="l"/>
            <a:r>
              <a:rPr lang="uk-UA" b="1" i="0" dirty="0">
                <a:solidFill>
                  <a:srgbClr val="000000"/>
                </a:solidFill>
                <a:effectLst/>
                <a:latin typeface="-apple-system"/>
              </a:rPr>
              <a:t>Умовні вирази</a:t>
            </a:r>
            <a:r>
              <a:rPr lang="en-US" b="1" dirty="0">
                <a:solidFill>
                  <a:srgbClr val="000000"/>
                </a:solidFill>
                <a:latin typeface="-apple-system"/>
              </a:rPr>
              <a:t>. </a:t>
            </a:r>
            <a:r>
              <a:rPr lang="uk-UA" b="1" dirty="0">
                <a:solidFill>
                  <a:srgbClr val="000000"/>
                </a:solidFill>
                <a:latin typeface="-apple-system"/>
              </a:rPr>
              <a:t>Логічні операції</a:t>
            </a:r>
            <a:endParaRPr lang="uk-UA" dirty="0"/>
          </a:p>
        </p:txBody>
      </p:sp>
      <p:graphicFrame>
        <p:nvGraphicFramePr>
          <p:cNvPr id="7" name="Таблиця 12">
            <a:extLst>
              <a:ext uri="{FF2B5EF4-FFF2-40B4-BE49-F238E27FC236}">
                <a16:creationId xmlns:a16="http://schemas.microsoft.com/office/drawing/2014/main" id="{50EB7552-5611-4F1A-B472-F4F809746FE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32448723"/>
              </p:ext>
            </p:extLst>
          </p:nvPr>
        </p:nvGraphicFramePr>
        <p:xfrm>
          <a:off x="212723" y="1970217"/>
          <a:ext cx="11522076" cy="475996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939802">
                  <a:extLst>
                    <a:ext uri="{9D8B030D-6E8A-4147-A177-3AD203B41FA5}">
                      <a16:colId xmlns:a16="http://schemas.microsoft.com/office/drawing/2014/main" val="1253398685"/>
                    </a:ext>
                  </a:extLst>
                </a:gridCol>
                <a:gridCol w="3552825">
                  <a:extLst>
                    <a:ext uri="{9D8B030D-6E8A-4147-A177-3AD203B41FA5}">
                      <a16:colId xmlns:a16="http://schemas.microsoft.com/office/drawing/2014/main" val="1169331494"/>
                    </a:ext>
                  </a:extLst>
                </a:gridCol>
                <a:gridCol w="7029449">
                  <a:extLst>
                    <a:ext uri="{9D8B030D-6E8A-4147-A177-3AD203B41FA5}">
                      <a16:colId xmlns:a16="http://schemas.microsoft.com/office/drawing/2014/main" val="75754804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uk-U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uk-U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uk-UA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341206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uk-UA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r>
                        <a:rPr lang="uk-UA" sz="1800" b="1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|</a:t>
                      </a:r>
                      <a:br>
                        <a:rPr lang="uk-UA" dirty="0"/>
                      </a:br>
                      <a:endParaRPr lang="uk-U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Операція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логічного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додавання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або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логічне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АБО.</a:t>
                      </a:r>
                      <a:endParaRPr lang="uk-U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base"/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bool x1 = (5 &gt; 6) | (4 &lt; 6); // 5 &gt; 6 - false, 4 &lt; 6 - true, </a:t>
                      </a:r>
                      <a:r>
                        <a:rPr lang="uk-UA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поэтому</a:t>
                      </a:r>
                      <a:r>
                        <a:rPr lang="uk-U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uk-UA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возвращается</a:t>
                      </a:r>
                      <a:r>
                        <a:rPr lang="uk-U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true</a:t>
                      </a:r>
                    </a:p>
                    <a:p>
                      <a:pPr fontAlgn="base"/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bool x2 = (5 &gt; 6) | (4 &gt; 6); // 5 &gt; 6 - false, 4 &gt; 6 - false, </a:t>
                      </a:r>
                      <a:r>
                        <a:rPr lang="uk-UA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поэтому</a:t>
                      </a:r>
                      <a:r>
                        <a:rPr lang="uk-U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uk-UA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возвращается</a:t>
                      </a:r>
                      <a:r>
                        <a:rPr lang="uk-U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false</a:t>
                      </a:r>
                    </a:p>
                    <a:p>
                      <a:endParaRPr lang="uk-UA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92166204"/>
                  </a:ext>
                </a:extLst>
              </a:tr>
              <a:tr h="1360170">
                <a:tc>
                  <a:txBody>
                    <a:bodyPr/>
                    <a:lstStyle/>
                    <a:p>
                      <a:r>
                        <a:rPr lang="uk-UA" sz="1800" b="1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&amp;</a:t>
                      </a:r>
                      <a:endParaRPr lang="uk-U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Операція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логічного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множення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чи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логічне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І.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Повертає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true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якщо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обидва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операнда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одночасно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дорівнюють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true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  <a:endParaRPr lang="uk-U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base"/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bool x1 = (5 &gt; 6) &amp; (4 &lt; 6); // 5 &gt; 6 - false, 4 &lt; 6 - true, </a:t>
                      </a:r>
                      <a:r>
                        <a:rPr lang="uk-UA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поэтому</a:t>
                      </a:r>
                      <a:r>
                        <a:rPr lang="uk-U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uk-UA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возвращается</a:t>
                      </a:r>
                      <a:r>
                        <a:rPr lang="uk-U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false</a:t>
                      </a:r>
                    </a:p>
                    <a:p>
                      <a:pPr fontAlgn="base"/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bool x2 = (5 &lt; 6) &amp; (4 &lt; 6); // 5 &lt; 6 - true, 4 &lt; 6 - true, </a:t>
                      </a:r>
                      <a:r>
                        <a:rPr lang="uk-UA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поэтому</a:t>
                      </a:r>
                      <a:r>
                        <a:rPr lang="uk-U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uk-UA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возвращается</a:t>
                      </a:r>
                      <a:r>
                        <a:rPr lang="uk-U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true</a:t>
                      </a:r>
                    </a:p>
                    <a:p>
                      <a:pPr fontAlgn="base"/>
                      <a:endParaRPr lang="en-US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8661949"/>
                  </a:ext>
                </a:extLst>
              </a:tr>
              <a:tr h="1360170">
                <a:tc>
                  <a:txBody>
                    <a:bodyPr/>
                    <a:lstStyle/>
                    <a:p>
                      <a:r>
                        <a:rPr lang="uk-UA" sz="1800" b="1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^</a:t>
                      </a:r>
                      <a:endParaRPr lang="uk-UA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br>
                        <a:rPr lang="uk-UA" dirty="0"/>
                      </a:br>
                      <a:endParaRPr lang="uk-U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uk-U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Операція виключає АБО.</a:t>
                      </a:r>
                      <a:endParaRPr lang="uk-U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base"/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bool x5 = (5 &gt; 6) ^ (4 &lt; 6); // 5 &gt; 6 - false, 4 &lt; 6 - true, </a:t>
                      </a:r>
                      <a:r>
                        <a:rPr lang="uk-UA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поэтому</a:t>
                      </a:r>
                      <a:r>
                        <a:rPr lang="uk-U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uk-UA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возвращается</a:t>
                      </a:r>
                      <a:r>
                        <a:rPr lang="uk-U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true</a:t>
                      </a:r>
                    </a:p>
                    <a:p>
                      <a:pPr fontAlgn="base"/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bool x6 = (50 &gt; 6) ^ (4 / 2 &lt; 3); // 50 &gt; 6 - true, 4/2 &lt; 3 - true, </a:t>
                      </a:r>
                      <a:r>
                        <a:rPr lang="uk-UA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поэтому</a:t>
                      </a:r>
                      <a:r>
                        <a:rPr lang="uk-U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uk-UA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возвращается</a:t>
                      </a:r>
                      <a:r>
                        <a:rPr lang="uk-U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false</a:t>
                      </a:r>
                    </a:p>
                    <a:p>
                      <a:pPr fontAlgn="base"/>
                      <a:endParaRPr lang="en-US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56683229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9272E49B-A1A4-4E40-87D5-C6EB0E5D70A3}"/>
              </a:ext>
            </a:extLst>
          </p:cNvPr>
          <p:cNvSpPr txBox="1"/>
          <p:nvPr/>
        </p:nvSpPr>
        <p:spPr>
          <a:xfrm>
            <a:off x="212723" y="1323886"/>
            <a:ext cx="1126490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b="0" i="0" dirty="0">
                <a:solidFill>
                  <a:srgbClr val="000000"/>
                </a:solidFill>
                <a:effectLst/>
                <a:latin typeface="-apple-system"/>
              </a:rPr>
              <a:t>Також у 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C# </a:t>
            </a:r>
            <a:r>
              <a:rPr lang="uk-UA" b="0" i="0" dirty="0">
                <a:solidFill>
                  <a:srgbClr val="000000"/>
                </a:solidFill>
                <a:effectLst/>
                <a:latin typeface="-apple-system"/>
              </a:rPr>
              <a:t>визначено логічні оператори, які повертають значення типу </a:t>
            </a:r>
            <a:r>
              <a:rPr lang="en-US" b="1" i="0" dirty="0">
                <a:solidFill>
                  <a:srgbClr val="000000"/>
                </a:solidFill>
                <a:effectLst/>
                <a:latin typeface="-apple-system"/>
              </a:rPr>
              <a:t>bool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 . </a:t>
            </a:r>
            <a:r>
              <a:rPr lang="uk-UA" b="0" i="0" dirty="0">
                <a:solidFill>
                  <a:srgbClr val="000000"/>
                </a:solidFill>
                <a:effectLst/>
                <a:latin typeface="-apple-system"/>
              </a:rPr>
              <a:t>Як операнди вони приймають значення типу </a:t>
            </a:r>
            <a:r>
              <a:rPr lang="en-US" b="1" i="0" dirty="0">
                <a:solidFill>
                  <a:srgbClr val="000000"/>
                </a:solidFill>
                <a:effectLst/>
                <a:latin typeface="-apple-system"/>
              </a:rPr>
              <a:t>bool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 . </a:t>
            </a:r>
            <a:r>
              <a:rPr lang="uk-UA" b="0" i="0" dirty="0">
                <a:solidFill>
                  <a:srgbClr val="000000"/>
                </a:solidFill>
                <a:effectLst/>
                <a:latin typeface="-apple-system"/>
              </a:rPr>
              <a:t>Як правило, застосовуються до відносин і поєднують кілька операцій порівняння.</a:t>
            </a:r>
            <a:endParaRPr lang="uk-UA" dirty="0"/>
          </a:p>
        </p:txBody>
      </p:sp>
    </p:spTree>
    <p:extLst>
      <p:ext uri="{BB962C8B-B14F-4D97-AF65-F5344CB8AC3E}">
        <p14:creationId xmlns:p14="http://schemas.microsoft.com/office/powerpoint/2010/main" val="81889020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8FDDC4D8-B307-439C-AC1F-AD35FFB09B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896601" cy="1325563"/>
          </a:xfrm>
        </p:spPr>
        <p:txBody>
          <a:bodyPr>
            <a:normAutofit/>
          </a:bodyPr>
          <a:lstStyle/>
          <a:p>
            <a:pPr algn="l"/>
            <a:r>
              <a:rPr lang="uk-UA" b="1" i="0" dirty="0">
                <a:solidFill>
                  <a:srgbClr val="000000"/>
                </a:solidFill>
                <a:effectLst/>
                <a:latin typeface="-apple-system"/>
              </a:rPr>
              <a:t>Умовні вирази</a:t>
            </a:r>
            <a:r>
              <a:rPr lang="en-US" b="1" dirty="0">
                <a:solidFill>
                  <a:srgbClr val="000000"/>
                </a:solidFill>
                <a:latin typeface="-apple-system"/>
              </a:rPr>
              <a:t>. </a:t>
            </a:r>
            <a:r>
              <a:rPr lang="uk-UA" b="1" dirty="0">
                <a:solidFill>
                  <a:srgbClr val="000000"/>
                </a:solidFill>
                <a:latin typeface="-apple-system"/>
              </a:rPr>
              <a:t>Логічні операції</a:t>
            </a:r>
            <a:endParaRPr lang="uk-UA" dirty="0"/>
          </a:p>
        </p:txBody>
      </p:sp>
      <p:graphicFrame>
        <p:nvGraphicFramePr>
          <p:cNvPr id="7" name="Таблиця 12">
            <a:extLst>
              <a:ext uri="{FF2B5EF4-FFF2-40B4-BE49-F238E27FC236}">
                <a16:creationId xmlns:a16="http://schemas.microsoft.com/office/drawing/2014/main" id="{50EB7552-5611-4F1A-B472-F4F809746FE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56368114"/>
              </p:ext>
            </p:extLst>
          </p:nvPr>
        </p:nvGraphicFramePr>
        <p:xfrm>
          <a:off x="307975" y="1323340"/>
          <a:ext cx="11522076" cy="567944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873125">
                  <a:extLst>
                    <a:ext uri="{9D8B030D-6E8A-4147-A177-3AD203B41FA5}">
                      <a16:colId xmlns:a16="http://schemas.microsoft.com/office/drawing/2014/main" val="1253398685"/>
                    </a:ext>
                  </a:extLst>
                </a:gridCol>
                <a:gridCol w="6808259">
                  <a:extLst>
                    <a:ext uri="{9D8B030D-6E8A-4147-A177-3AD203B41FA5}">
                      <a16:colId xmlns:a16="http://schemas.microsoft.com/office/drawing/2014/main" val="1169331494"/>
                    </a:ext>
                  </a:extLst>
                </a:gridCol>
                <a:gridCol w="3840692">
                  <a:extLst>
                    <a:ext uri="{9D8B030D-6E8A-4147-A177-3AD203B41FA5}">
                      <a16:colId xmlns:a16="http://schemas.microsoft.com/office/drawing/2014/main" val="75754804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uk-U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uk-U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uk-UA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341206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uk-UA" sz="1800" b="1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||</a:t>
                      </a:r>
                      <a:endParaRPr lang="uk-UA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br>
                        <a:rPr lang="uk-UA" dirty="0"/>
                      </a:br>
                      <a:endParaRPr lang="uk-U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Операція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логічного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складання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Повертає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true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якщо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хоча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б один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із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операндів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повертає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true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  <a:endParaRPr lang="uk-U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base"/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bool x1 = (5 &gt; 6) || (4 &lt; 6); // 5 &gt; 6 - false, 4 &lt; 6 - true, </a:t>
                      </a:r>
                      <a:r>
                        <a:rPr lang="uk-UA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поэтому</a:t>
                      </a:r>
                      <a:r>
                        <a:rPr lang="uk-U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uk-UA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возвращается</a:t>
                      </a:r>
                      <a:r>
                        <a:rPr lang="uk-U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true</a:t>
                      </a:r>
                    </a:p>
                    <a:p>
                      <a:pPr fontAlgn="base"/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bool x2 = (5 &gt; 6) || (4 &gt; 6); // 5 &gt; 6 - false, 4 &gt; 6 - false, </a:t>
                      </a:r>
                      <a:r>
                        <a:rPr lang="uk-UA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поэтому</a:t>
                      </a:r>
                      <a:r>
                        <a:rPr lang="uk-U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uk-UA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возвращается</a:t>
                      </a:r>
                      <a:r>
                        <a:rPr lang="uk-U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false</a:t>
                      </a:r>
                    </a:p>
                    <a:p>
                      <a:endParaRPr lang="uk-UA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921662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uk-UA" sz="1800" b="1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&amp;&amp;</a:t>
                      </a:r>
                      <a:endParaRPr lang="uk-UA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br>
                        <a:rPr lang="uk-UA" dirty="0"/>
                      </a:br>
                      <a:endParaRPr lang="uk-U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Операція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логічного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множення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Повертає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true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якщо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обидва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операнди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одночасно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рівні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true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</a:p>
                    <a:p>
                      <a:br>
                        <a:rPr lang="ru-RU" dirty="0"/>
                      </a:br>
                      <a:endParaRPr lang="uk-U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base"/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bool x1 = (5 &gt; 6) &amp;&amp; (4 &lt; 6); // 5 &gt; 6 - false, 4 &lt; 6 - true, </a:t>
                      </a:r>
                      <a:r>
                        <a:rPr lang="uk-UA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поэтому</a:t>
                      </a:r>
                      <a:r>
                        <a:rPr lang="uk-U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uk-UA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возвращается</a:t>
                      </a:r>
                      <a:r>
                        <a:rPr lang="uk-U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false</a:t>
                      </a:r>
                    </a:p>
                    <a:p>
                      <a:pPr fontAlgn="base"/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bool x2 = (5 &lt; 6) &amp;&amp; (4 &lt; 6); // 5 &lt; 6 - true, 4 &lt; 6 - true, </a:t>
                      </a:r>
                      <a:r>
                        <a:rPr lang="uk-UA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поэтому</a:t>
                      </a:r>
                      <a:r>
                        <a:rPr lang="uk-U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uk-UA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возвращается</a:t>
                      </a:r>
                      <a:r>
                        <a:rPr lang="uk-U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true</a:t>
                      </a:r>
                    </a:p>
                    <a:p>
                      <a:pPr fontAlgn="base"/>
                      <a:endParaRPr lang="en-US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86619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uk-UA" sz="1800" b="1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!</a:t>
                      </a:r>
                      <a:endParaRPr lang="uk-UA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br>
                        <a:rPr lang="uk-UA" dirty="0"/>
                      </a:br>
                      <a:endParaRPr lang="uk-U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uk-U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Операція логічного заперечення. Виробляється над одним операндом і повертає </a:t>
                      </a: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true, </a:t>
                      </a:r>
                      <a:r>
                        <a:rPr lang="uk-U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якщо операнд дорівнює </a:t>
                      </a: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false. </a:t>
                      </a:r>
                      <a:r>
                        <a:rPr lang="uk-U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Якщо операнд дорівнює </a:t>
                      </a: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true, </a:t>
                      </a:r>
                      <a:r>
                        <a:rPr lang="uk-U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операція повертає </a:t>
                      </a: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false:</a:t>
                      </a:r>
                      <a:endParaRPr lang="uk-U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base"/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bool a = true;</a:t>
                      </a:r>
                    </a:p>
                    <a:p>
                      <a:pPr fontAlgn="base"/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bool b = !a;    // false</a:t>
                      </a:r>
                    </a:p>
                    <a:p>
                      <a:endParaRPr lang="uk-UA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8821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uk-U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base"/>
                      <a:endParaRPr lang="en-US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7073188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3402825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8FDDC4D8-B307-439C-AC1F-AD35FFB09B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896601" cy="1325563"/>
          </a:xfrm>
        </p:spPr>
        <p:txBody>
          <a:bodyPr>
            <a:normAutofit/>
          </a:bodyPr>
          <a:lstStyle/>
          <a:p>
            <a:pPr algn="l"/>
            <a:r>
              <a:rPr lang="uk-UA" b="1" i="0" dirty="0">
                <a:solidFill>
                  <a:srgbClr val="000000"/>
                </a:solidFill>
                <a:effectLst/>
                <a:latin typeface="-apple-system"/>
              </a:rPr>
              <a:t>Умовні вирази</a:t>
            </a:r>
            <a:r>
              <a:rPr lang="en-US" b="1" dirty="0">
                <a:solidFill>
                  <a:srgbClr val="000000"/>
                </a:solidFill>
                <a:latin typeface="-apple-system"/>
              </a:rPr>
              <a:t>. </a:t>
            </a:r>
            <a:r>
              <a:rPr lang="uk-UA" b="1" dirty="0">
                <a:solidFill>
                  <a:srgbClr val="000000"/>
                </a:solidFill>
                <a:latin typeface="-apple-system"/>
              </a:rPr>
              <a:t>Логічні операції</a:t>
            </a:r>
            <a:endParaRPr lang="uk-UA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EEA9A1A-1C3B-4389-BBE7-C2D96612AE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7819" y="1279544"/>
            <a:ext cx="11936361" cy="31393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Тут у нас дві пари операцій |і ||(а також &amp;і &amp;&amp;) виконують схожі дії, однак вони не рівнозначні.</a:t>
            </a:r>
            <a:endParaRPr kumimoji="0" lang="uk-UA" altLang="uk-UA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У виразі z=x|y;обчислюватимуться обидва значення - x і y.</a:t>
            </a:r>
            <a:endParaRPr kumimoji="0" lang="uk-UA" altLang="uk-UA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У виразі z=x||y;спочатку буде обчислюватися значення x, і якщо воно дорівнює true, то обчислення значення y вже сенсу не має, так як у нас у будь-якому випадку вже z буде дорівнює true. Значення y буде обчислюватися тільки в тому випадку, якщо x одноfalse</a:t>
            </a:r>
            <a:endParaRPr kumimoji="0" lang="uk-UA" altLang="uk-UA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Те саме стосується пари операцій &amp;/&amp;&amp;. У виразі z=x&amp;y;обчислюватимуться обидва значення - x і y.</a:t>
            </a:r>
            <a:endParaRPr kumimoji="0" lang="uk-UA" altLang="uk-UA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У виразі z=x&amp;&amp;y;спочатку буде обчислюватися значення x, і якщо воно дорівнює false, то обчислення значення y вже сенсу не має, так як у нас у будь-якому випадку вже z буде дорівнює false. Значення y буде обчислюватися тільки в тому випадку, якщо x одноtrue</a:t>
            </a:r>
            <a:endParaRPr kumimoji="0" lang="uk-UA" altLang="uk-UA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Тому операції ||і &amp;&amp;зручніші у обчисленнях, оскільки дозволяють скоротити час на обчислення значення виразу, і тим самим підвищують продуктивність. А операції |і &amp;більше підходять до виконання порозрядних операцій над числами.</a:t>
            </a:r>
            <a:endParaRPr kumimoji="0" lang="uk-UA" altLang="uk-UA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2262915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8FDDC4D8-B307-439C-AC1F-AD35FFB09B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896601" cy="1325563"/>
          </a:xfrm>
        </p:spPr>
        <p:txBody>
          <a:bodyPr>
            <a:normAutofit/>
          </a:bodyPr>
          <a:lstStyle/>
          <a:p>
            <a:pPr algn="l"/>
            <a:r>
              <a:rPr lang="uk-UA" b="1" i="0" dirty="0">
                <a:solidFill>
                  <a:srgbClr val="000000"/>
                </a:solidFill>
                <a:effectLst/>
                <a:latin typeface="-apple-system"/>
              </a:rPr>
              <a:t>Приклад 1</a:t>
            </a:r>
            <a:endParaRPr lang="uk-UA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BF00007-A6E3-47C4-A6D2-BD809D23B873}"/>
              </a:ext>
            </a:extLst>
          </p:cNvPr>
          <p:cNvSpPr txBox="1"/>
          <p:nvPr/>
        </p:nvSpPr>
        <p:spPr>
          <a:xfrm>
            <a:off x="323850" y="1342936"/>
            <a:ext cx="60960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/>
              <a:t>Створи </a:t>
            </a:r>
            <a:r>
              <a:rPr lang="ru-RU" dirty="0" err="1"/>
              <a:t>програму</a:t>
            </a:r>
            <a:r>
              <a:rPr lang="ru-RU" dirty="0"/>
              <a:t>, яка </a:t>
            </a:r>
            <a:r>
              <a:rPr lang="ru-RU" dirty="0" err="1"/>
              <a:t>зчитує</a:t>
            </a:r>
            <a:r>
              <a:rPr lang="ru-RU" dirty="0"/>
              <a:t> два числа з </a:t>
            </a:r>
            <a:r>
              <a:rPr lang="ru-RU" dirty="0" err="1"/>
              <a:t>плаваючою</a:t>
            </a:r>
            <a:r>
              <a:rPr lang="ru-RU" dirty="0"/>
              <a:t> </a:t>
            </a:r>
            <a:r>
              <a:rPr lang="ru-RU" dirty="0" err="1"/>
              <a:t>крапкою</a:t>
            </a:r>
            <a:br>
              <a:rPr lang="ru-RU" dirty="0"/>
            </a:br>
            <a:r>
              <a:rPr lang="ru-RU" dirty="0"/>
              <a:t>та </a:t>
            </a:r>
            <a:r>
              <a:rPr lang="ru-RU" dirty="0" err="1"/>
              <a:t>обчислює</a:t>
            </a:r>
            <a:r>
              <a:rPr lang="ru-RU" dirty="0"/>
              <a:t> </a:t>
            </a:r>
            <a:r>
              <a:rPr lang="ru-RU" dirty="0" err="1"/>
              <a:t>їх</a:t>
            </a:r>
            <a:r>
              <a:rPr lang="ru-RU" dirty="0"/>
              <a:t> </a:t>
            </a:r>
            <a:r>
              <a:rPr lang="ru-RU" dirty="0" err="1"/>
              <a:t>середнє</a:t>
            </a:r>
            <a:r>
              <a:rPr lang="ru-RU" dirty="0"/>
              <a:t> </a:t>
            </a:r>
            <a:r>
              <a:rPr lang="ru-RU" dirty="0" err="1"/>
              <a:t>арифметичне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 err="1"/>
              <a:t>Виведи</a:t>
            </a:r>
            <a:r>
              <a:rPr lang="ru-RU" dirty="0"/>
              <a:t> результат з </a:t>
            </a:r>
            <a:r>
              <a:rPr lang="ru-RU" dirty="0" err="1"/>
              <a:t>двома</a:t>
            </a:r>
            <a:r>
              <a:rPr lang="ru-RU" dirty="0"/>
              <a:t> знаками </a:t>
            </a:r>
            <a:r>
              <a:rPr lang="ru-RU" dirty="0" err="1"/>
              <a:t>після</a:t>
            </a:r>
            <a:r>
              <a:rPr lang="ru-RU" dirty="0"/>
              <a:t> коми.</a:t>
            </a:r>
            <a:endParaRPr lang="uk-UA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E91A97B-17D9-4AF3-BDD3-5856AA1676BA}"/>
              </a:ext>
            </a:extLst>
          </p:cNvPr>
          <p:cNvSpPr txBox="1"/>
          <p:nvPr/>
        </p:nvSpPr>
        <p:spPr>
          <a:xfrm>
            <a:off x="7419975" y="1481435"/>
            <a:ext cx="609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dirty="0"/>
              <a:t>Введи перше число: 4.5  </a:t>
            </a:r>
          </a:p>
          <a:p>
            <a:r>
              <a:rPr lang="uk-UA" dirty="0"/>
              <a:t>Введи друге число: 7.5  </a:t>
            </a:r>
          </a:p>
          <a:p>
            <a:r>
              <a:rPr lang="uk-UA" dirty="0"/>
              <a:t>Середнє: 6.00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57AD8F6-6D02-4E1C-9213-A850E7A6212A}"/>
              </a:ext>
            </a:extLst>
          </p:cNvPr>
          <p:cNvSpPr txBox="1"/>
          <p:nvPr/>
        </p:nvSpPr>
        <p:spPr>
          <a:xfrm>
            <a:off x="323850" y="3429000"/>
            <a:ext cx="6757986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dirty="0" err="1"/>
              <a:t>Console.Write</a:t>
            </a:r>
            <a:r>
              <a:rPr lang="uk-UA" dirty="0"/>
              <a:t>("Введи перше число: ");</a:t>
            </a:r>
          </a:p>
          <a:p>
            <a:r>
              <a:rPr lang="uk-UA" dirty="0" err="1"/>
              <a:t>double</a:t>
            </a:r>
            <a:r>
              <a:rPr lang="uk-UA" dirty="0"/>
              <a:t> x = </a:t>
            </a:r>
            <a:r>
              <a:rPr lang="uk-UA" dirty="0" err="1"/>
              <a:t>double.Parse</a:t>
            </a:r>
            <a:r>
              <a:rPr lang="uk-UA" dirty="0"/>
              <a:t>(</a:t>
            </a:r>
            <a:r>
              <a:rPr lang="uk-UA" dirty="0" err="1"/>
              <a:t>Console.ReadLine</a:t>
            </a:r>
            <a:r>
              <a:rPr lang="uk-UA" dirty="0"/>
              <a:t>());</a:t>
            </a:r>
          </a:p>
          <a:p>
            <a:endParaRPr lang="uk-UA" dirty="0"/>
          </a:p>
          <a:p>
            <a:r>
              <a:rPr lang="uk-UA" dirty="0" err="1"/>
              <a:t>Console.Write</a:t>
            </a:r>
            <a:r>
              <a:rPr lang="uk-UA" dirty="0"/>
              <a:t>("Введи друге число: ");</a:t>
            </a:r>
          </a:p>
          <a:p>
            <a:r>
              <a:rPr lang="uk-UA" dirty="0" err="1"/>
              <a:t>double</a:t>
            </a:r>
            <a:r>
              <a:rPr lang="uk-UA" dirty="0"/>
              <a:t> y = </a:t>
            </a:r>
            <a:r>
              <a:rPr lang="uk-UA" dirty="0" err="1"/>
              <a:t>double.Parse</a:t>
            </a:r>
            <a:r>
              <a:rPr lang="uk-UA" dirty="0"/>
              <a:t>(</a:t>
            </a:r>
            <a:r>
              <a:rPr lang="uk-UA" dirty="0" err="1"/>
              <a:t>Console.ReadLine</a:t>
            </a:r>
            <a:r>
              <a:rPr lang="uk-UA" dirty="0"/>
              <a:t>());</a:t>
            </a:r>
          </a:p>
          <a:p>
            <a:endParaRPr lang="uk-UA" dirty="0"/>
          </a:p>
          <a:p>
            <a:r>
              <a:rPr lang="uk-UA" dirty="0" err="1"/>
              <a:t>double</a:t>
            </a:r>
            <a:r>
              <a:rPr lang="uk-UA" dirty="0"/>
              <a:t> </a:t>
            </a:r>
            <a:r>
              <a:rPr lang="uk-UA" dirty="0" err="1"/>
              <a:t>average</a:t>
            </a:r>
            <a:r>
              <a:rPr lang="uk-UA" dirty="0"/>
              <a:t> = (x + y) / 2;</a:t>
            </a:r>
          </a:p>
          <a:p>
            <a:endParaRPr lang="uk-UA" dirty="0"/>
          </a:p>
          <a:p>
            <a:r>
              <a:rPr lang="uk-UA" dirty="0" err="1"/>
              <a:t>Console.WriteLine</a:t>
            </a:r>
            <a:r>
              <a:rPr lang="uk-UA" dirty="0"/>
              <a:t>($"Середнє: {average:F2}");</a:t>
            </a:r>
          </a:p>
        </p:txBody>
      </p:sp>
    </p:spTree>
    <p:extLst>
      <p:ext uri="{BB962C8B-B14F-4D97-AF65-F5344CB8AC3E}">
        <p14:creationId xmlns:p14="http://schemas.microsoft.com/office/powerpoint/2010/main" val="186777697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8FDDC4D8-B307-439C-AC1F-AD35FFB09B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896601" cy="1325563"/>
          </a:xfrm>
        </p:spPr>
        <p:txBody>
          <a:bodyPr>
            <a:normAutofit/>
          </a:bodyPr>
          <a:lstStyle/>
          <a:p>
            <a:pPr algn="l"/>
            <a:r>
              <a:rPr lang="uk-UA" b="1" i="0" dirty="0">
                <a:solidFill>
                  <a:srgbClr val="000000"/>
                </a:solidFill>
                <a:effectLst/>
                <a:latin typeface="-apple-system"/>
              </a:rPr>
              <a:t>Приклад 2</a:t>
            </a:r>
            <a:endParaRPr lang="uk-UA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68591EB-0469-4F6B-AF87-1C29C8693983}"/>
              </a:ext>
            </a:extLst>
          </p:cNvPr>
          <p:cNvSpPr txBox="1"/>
          <p:nvPr/>
        </p:nvSpPr>
        <p:spPr>
          <a:xfrm>
            <a:off x="457200" y="1433810"/>
            <a:ext cx="6096000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dirty="0"/>
              <a:t>Створи </a:t>
            </a:r>
            <a:r>
              <a:rPr lang="ru-RU" sz="2400" dirty="0" err="1"/>
              <a:t>програму</a:t>
            </a:r>
            <a:r>
              <a:rPr lang="ru-RU" sz="2400" dirty="0"/>
              <a:t>, яка </a:t>
            </a:r>
            <a:r>
              <a:rPr lang="ru-RU" sz="2400" dirty="0" err="1"/>
              <a:t>запитує</a:t>
            </a:r>
            <a:r>
              <a:rPr lang="ru-RU" sz="2400" dirty="0"/>
              <a:t> у </a:t>
            </a:r>
            <a:r>
              <a:rPr lang="ru-RU" sz="2400" dirty="0" err="1"/>
              <a:t>користувача</a:t>
            </a:r>
            <a:r>
              <a:rPr lang="ru-RU" sz="2400" dirty="0"/>
              <a:t> </a:t>
            </a:r>
            <a:r>
              <a:rPr lang="ru-RU" sz="2400" dirty="0" err="1"/>
              <a:t>довжину</a:t>
            </a:r>
            <a:r>
              <a:rPr lang="ru-RU" sz="2400" dirty="0"/>
              <a:t> </a:t>
            </a:r>
            <a:r>
              <a:rPr lang="ru-RU" sz="2400" dirty="0" err="1"/>
              <a:t>основи</a:t>
            </a:r>
            <a:r>
              <a:rPr lang="ru-RU" sz="2400" dirty="0"/>
              <a:t> та </a:t>
            </a:r>
            <a:r>
              <a:rPr lang="ru-RU" sz="2400" dirty="0" err="1"/>
              <a:t>висоту</a:t>
            </a:r>
            <a:r>
              <a:rPr lang="ru-RU" sz="2400" dirty="0"/>
              <a:t> </a:t>
            </a:r>
            <a:r>
              <a:rPr lang="ru-RU" sz="2400" dirty="0" err="1"/>
              <a:t>трикутника</a:t>
            </a:r>
            <a:r>
              <a:rPr lang="ru-RU" sz="2400" dirty="0"/>
              <a:t>.</a:t>
            </a:r>
            <a:br>
              <a:rPr lang="ru-RU" sz="2400" dirty="0"/>
            </a:br>
            <a:r>
              <a:rPr lang="ru-RU" sz="2400" dirty="0" err="1"/>
              <a:t>Обчисли</a:t>
            </a:r>
            <a:r>
              <a:rPr lang="ru-RU" sz="2400" dirty="0"/>
              <a:t> </a:t>
            </a:r>
            <a:r>
              <a:rPr lang="ru-RU" sz="2400" dirty="0" err="1"/>
              <a:t>площу</a:t>
            </a:r>
            <a:r>
              <a:rPr lang="ru-RU" sz="2400" dirty="0"/>
              <a:t> </a:t>
            </a:r>
            <a:r>
              <a:rPr lang="ru-RU" sz="2400" dirty="0" err="1"/>
              <a:t>трикутника</a:t>
            </a:r>
            <a:r>
              <a:rPr lang="ru-RU" sz="2400" dirty="0"/>
              <a:t> за формулою:</a:t>
            </a:r>
            <a:br>
              <a:rPr lang="ru-RU" sz="2400" dirty="0"/>
            </a:br>
            <a:r>
              <a:rPr lang="ru-RU" sz="2400" b="1" dirty="0"/>
              <a:t>S = (основа × </a:t>
            </a:r>
            <a:r>
              <a:rPr lang="ru-RU" sz="2400" b="1" dirty="0" err="1"/>
              <a:t>висота</a:t>
            </a:r>
            <a:r>
              <a:rPr lang="ru-RU" sz="2400" b="1" dirty="0"/>
              <a:t>) / 2</a:t>
            </a:r>
            <a:br>
              <a:rPr lang="ru-RU" sz="2400" dirty="0"/>
            </a:br>
            <a:r>
              <a:rPr lang="ru-RU" sz="2400" dirty="0"/>
              <a:t>і </a:t>
            </a:r>
            <a:r>
              <a:rPr lang="ru-RU" sz="2400" dirty="0" err="1"/>
              <a:t>виведи</a:t>
            </a:r>
            <a:r>
              <a:rPr lang="ru-RU" sz="2400" dirty="0"/>
              <a:t> результат.</a:t>
            </a:r>
            <a:endParaRPr lang="uk-UA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8E6A0FB-40B7-4A23-82F4-4E56C7BFFB7C}"/>
              </a:ext>
            </a:extLst>
          </p:cNvPr>
          <p:cNvSpPr txBox="1"/>
          <p:nvPr/>
        </p:nvSpPr>
        <p:spPr>
          <a:xfrm>
            <a:off x="457200" y="3907552"/>
            <a:ext cx="6096000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/>
              <a:t>Console.Write</a:t>
            </a:r>
            <a:r>
              <a:rPr lang="en-US" dirty="0"/>
              <a:t>("</a:t>
            </a:r>
            <a:r>
              <a:rPr lang="uk-UA" dirty="0"/>
              <a:t>Введи основу трикутника: ");</a:t>
            </a:r>
          </a:p>
          <a:p>
            <a:r>
              <a:rPr lang="en-US" dirty="0"/>
              <a:t>double </a:t>
            </a:r>
            <a:r>
              <a:rPr lang="en-US" dirty="0" err="1"/>
              <a:t>baseLength</a:t>
            </a:r>
            <a:r>
              <a:rPr lang="en-US" dirty="0"/>
              <a:t> = </a:t>
            </a:r>
            <a:r>
              <a:rPr lang="en-US" dirty="0" err="1"/>
              <a:t>Convert.ToDouble</a:t>
            </a:r>
            <a:r>
              <a:rPr lang="en-US" dirty="0"/>
              <a:t>(</a:t>
            </a:r>
            <a:r>
              <a:rPr lang="en-US" dirty="0" err="1"/>
              <a:t>Console.ReadLine</a:t>
            </a:r>
            <a:r>
              <a:rPr lang="en-US" dirty="0"/>
              <a:t>());</a:t>
            </a:r>
          </a:p>
          <a:p>
            <a:endParaRPr lang="en-US" dirty="0"/>
          </a:p>
          <a:p>
            <a:r>
              <a:rPr lang="en-US" dirty="0" err="1"/>
              <a:t>Console.Write</a:t>
            </a:r>
            <a:r>
              <a:rPr lang="en-US" dirty="0"/>
              <a:t>("</a:t>
            </a:r>
            <a:r>
              <a:rPr lang="uk-UA" dirty="0"/>
              <a:t>Введи висоту трикутника: ");</a:t>
            </a:r>
          </a:p>
          <a:p>
            <a:r>
              <a:rPr lang="en-US" dirty="0"/>
              <a:t>double height = </a:t>
            </a:r>
            <a:r>
              <a:rPr lang="en-US" dirty="0" err="1"/>
              <a:t>Convert.ToDouble</a:t>
            </a:r>
            <a:r>
              <a:rPr lang="en-US" dirty="0"/>
              <a:t>(</a:t>
            </a:r>
            <a:r>
              <a:rPr lang="en-US" dirty="0" err="1"/>
              <a:t>Console.ReadLine</a:t>
            </a:r>
            <a:r>
              <a:rPr lang="en-US" dirty="0"/>
              <a:t>());</a:t>
            </a:r>
          </a:p>
          <a:p>
            <a:endParaRPr lang="en-US" dirty="0"/>
          </a:p>
          <a:p>
            <a:r>
              <a:rPr lang="en-US" dirty="0"/>
              <a:t>double area = (</a:t>
            </a:r>
            <a:r>
              <a:rPr lang="en-US" dirty="0" err="1"/>
              <a:t>baseLength</a:t>
            </a:r>
            <a:r>
              <a:rPr lang="en-US" dirty="0"/>
              <a:t> * height) / 2;</a:t>
            </a:r>
          </a:p>
          <a:p>
            <a:endParaRPr lang="en-US" dirty="0"/>
          </a:p>
          <a:p>
            <a:r>
              <a:rPr lang="en-US" dirty="0" err="1"/>
              <a:t>Console.WriteLine</a:t>
            </a:r>
            <a:r>
              <a:rPr lang="en-US" dirty="0"/>
              <a:t>($"</a:t>
            </a:r>
            <a:r>
              <a:rPr lang="uk-UA" dirty="0"/>
              <a:t>Площа трикутника: {</a:t>
            </a:r>
            <a:r>
              <a:rPr lang="en-US" dirty="0"/>
              <a:t>area}");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771FE22-1D0F-4AAB-8E56-01E19D8BF074}"/>
              </a:ext>
            </a:extLst>
          </p:cNvPr>
          <p:cNvSpPr txBox="1"/>
          <p:nvPr/>
        </p:nvSpPr>
        <p:spPr>
          <a:xfrm>
            <a:off x="6715125" y="1690688"/>
            <a:ext cx="609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dirty="0"/>
              <a:t>Введи основу трикутника: 10  </a:t>
            </a:r>
          </a:p>
          <a:p>
            <a:r>
              <a:rPr lang="uk-UA" dirty="0"/>
              <a:t>Введи висоту трикутника: 5  </a:t>
            </a:r>
          </a:p>
          <a:p>
            <a:r>
              <a:rPr lang="uk-UA" dirty="0"/>
              <a:t>Площа трикутника: 25</a:t>
            </a:r>
          </a:p>
        </p:txBody>
      </p:sp>
    </p:spTree>
    <p:extLst>
      <p:ext uri="{BB962C8B-B14F-4D97-AF65-F5344CB8AC3E}">
        <p14:creationId xmlns:p14="http://schemas.microsoft.com/office/powerpoint/2010/main" val="1523894966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26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27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29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24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25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28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23"/>
</p:tagLst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12418</TotalTime>
  <Words>3345</Words>
  <Application>Microsoft Office PowerPoint</Application>
  <PresentationFormat>Широкий екран</PresentationFormat>
  <Paragraphs>303</Paragraphs>
  <Slides>23</Slides>
  <Notes>22</Notes>
  <HiddenSlides>0</HiddenSlides>
  <MMClips>0</MMClips>
  <ScaleCrop>false</ScaleCrop>
  <HeadingPairs>
    <vt:vector size="6" baseType="variant">
      <vt:variant>
        <vt:lpstr>Використані шрифти</vt:lpstr>
      </vt:variant>
      <vt:variant>
        <vt:i4>9</vt:i4>
      </vt:variant>
      <vt:variant>
        <vt:lpstr>Тема</vt:lpstr>
      </vt:variant>
      <vt:variant>
        <vt:i4>1</vt:i4>
      </vt:variant>
      <vt:variant>
        <vt:lpstr>Заголовки слайдів</vt:lpstr>
      </vt:variant>
      <vt:variant>
        <vt:i4>23</vt:i4>
      </vt:variant>
    </vt:vector>
  </HeadingPairs>
  <TitlesOfParts>
    <vt:vector size="33" baseType="lpstr">
      <vt:lpstr>-apple-system</vt:lpstr>
      <vt:lpstr>Aptos</vt:lpstr>
      <vt:lpstr>Arial</vt:lpstr>
      <vt:lpstr>Calibri</vt:lpstr>
      <vt:lpstr>Calibri Light</vt:lpstr>
      <vt:lpstr>Cascadia Code</vt:lpstr>
      <vt:lpstr>Comfortaa</vt:lpstr>
      <vt:lpstr>Courier New</vt:lpstr>
      <vt:lpstr>Times New Roman</vt:lpstr>
      <vt:lpstr>Тема Office</vt:lpstr>
      <vt:lpstr>Презентація PowerPoint</vt:lpstr>
      <vt:lpstr>Базові операції</vt:lpstr>
      <vt:lpstr>Арифметичні операції. Бінарні операції</vt:lpstr>
      <vt:lpstr>Арифметичні операції. Унарні операції</vt:lpstr>
      <vt:lpstr>Арифметичні операції. Унарні операції</vt:lpstr>
      <vt:lpstr>Арифметичні операції. Пріоритет операцій</vt:lpstr>
      <vt:lpstr>Арифметичні операції. Асоціативність операторів</vt:lpstr>
      <vt:lpstr>Операції присвоєння</vt:lpstr>
      <vt:lpstr>Операції присвоєння</vt:lpstr>
      <vt:lpstr>Операції присвоєння. Приклад</vt:lpstr>
      <vt:lpstr>Звуження та розширення перетворення</vt:lpstr>
      <vt:lpstr>Перетворення базових типів даних</vt:lpstr>
      <vt:lpstr>Перетворення базових типів даних</vt:lpstr>
      <vt:lpstr>Перетворення базових типів даних</vt:lpstr>
      <vt:lpstr>Перетворення базових типів даних</vt:lpstr>
      <vt:lpstr>Умовні вирази</vt:lpstr>
      <vt:lpstr>Умовні вирази. Операції порівняння</vt:lpstr>
      <vt:lpstr>Умовні вирази. Операції порівняння</vt:lpstr>
      <vt:lpstr>Умовні вирази. Логічні операції</vt:lpstr>
      <vt:lpstr>Умовні вирази. Логічні операції</vt:lpstr>
      <vt:lpstr>Умовні вирази. Логічні операції</vt:lpstr>
      <vt:lpstr>Приклад 1</vt:lpstr>
      <vt:lpstr>Приклад 2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Шейко Ростислав Олександрович</dc:creator>
  <cp:lastModifiedBy>Шейко Ростислав Олександрович</cp:lastModifiedBy>
  <cp:revision>92</cp:revision>
  <dcterms:created xsi:type="dcterms:W3CDTF">2024-06-01T09:56:10Z</dcterms:created>
  <dcterms:modified xsi:type="dcterms:W3CDTF">2025-07-22T16:36:07Z</dcterms:modified>
</cp:coreProperties>
</file>