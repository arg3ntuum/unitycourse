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6" r:id="rId29"/>
    <p:sldId id="284"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283" r:id="rId53"/>
    <p:sldId id="285" r:id="rId54"/>
  </p:sldIdLst>
  <p:sldSz cx="12192000" cy="6858000"/>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Помір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Стиль із теми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Стиль із теми 1 – акцент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73A0DAA-6AF3-43AB-8588-CEC1D06C72B9}" styleName="Помір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snapToGrid="0">
      <p:cViewPr varScale="1">
        <p:scale>
          <a:sx n="80" d="100"/>
          <a:sy n="80" d="100"/>
        </p:scale>
        <p:origin x="533"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uk-UA"/>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81528B-9B6F-4248-9BF4-341C8496BA36}" type="datetimeFigureOut">
              <a:rPr lang="uk-UA" smtClean="0"/>
              <a:t>03.08.2025</a:t>
            </a:fld>
            <a:endParaRPr lang="uk-UA"/>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uk-UA"/>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uk-UA"/>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uk-UA"/>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40F577-1FC1-4001-B2C2-9EAF79F39BE2}" type="slidenum">
              <a:rPr lang="uk-UA" smtClean="0"/>
              <a:t>‹№›</a:t>
            </a:fld>
            <a:endParaRPr lang="uk-UA"/>
          </a:p>
        </p:txBody>
      </p:sp>
    </p:spTree>
    <p:extLst>
      <p:ext uri="{BB962C8B-B14F-4D97-AF65-F5344CB8AC3E}">
        <p14:creationId xmlns:p14="http://schemas.microsoft.com/office/powerpoint/2010/main" val="858069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63981e42f3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 name="Google Shape;58;g363981e42f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63981e42f3_0_6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 name="Google Shape;68;g363981e42f3_0_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63981e42f3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63981e42f3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63981e42f3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63981e42f3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63981e42f3_0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63981e42f3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63981e42f3_0_1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63981e42f3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63981e42f3_0_1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63981e42f3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63981e42f3_0_1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63981e42f3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63981e42f3_0_1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63981e42f3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63991780d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63991780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63991780d6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63991780d6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63991780d6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63991780d6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63991780d6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63991780d6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63991780d6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63991780d6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63991780d6_0_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63991780d6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63991780d6_0_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63991780d6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63991780d6_0_1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63991780d6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63991780d6_0_1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63991780d6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63991780d6_0_1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63991780d6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63991780d6_0_1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63991780d6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63991780d6_0_2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63991780d6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63991780d6_0_2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63991780d6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63991780d6_0_2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63991780d6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63991780d6_0_2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363991780d6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63991780d6_0_2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363991780d6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63991780d6_0_2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363991780d6_0_2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63995b1c4f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63995b1c4f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63995b1c4f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63995b1c4f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63995b1c4f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63995b1c4f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63995b1c4f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363995b1c4f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63995b1c4f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363995b1c4f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63995b1c4f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363995b1c4f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63995b1c4f_0_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363995b1c4f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63995b1c4f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363995b1c4f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363995b1c4f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363995b1c4f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363995b1c4f_0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363995b1c4f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63995b1c4f_0_1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363995b1c4f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63995b1c4f_0_1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63995b1c4f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63995b1c4f_0_1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63995b1c4f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363995b1c4f_0_2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363995b1c4f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363995b1c4f_0_2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363995b1c4f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363995b1c4f_0_2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363995b1c4f_0_2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363995b1c4f_0_2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363995b1c4f_0_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363995b1c4f_0_3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363995b1c4f_0_3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363995b1c4f_0_3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363995b1c4f_0_3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363995b1c4f_0_3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1" name="Google Shape;461;g363995b1c4f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363995b1c4f_0_3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8" name="Google Shape;468;g363995b1c4f_0_3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363995b1c4f_0_4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363995b1c4f_0_4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63995b1c4f_0_4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63995b1c4f_0_4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363995b1c4f_0_4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363995b1c4f_0_4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endParaRPr lang="uk-UA" dirty="0"/>
          </a:p>
        </p:txBody>
      </p:sp>
      <p:sp>
        <p:nvSpPr>
          <p:cNvPr id="4" name="Місце для номера слайда 3"/>
          <p:cNvSpPr>
            <a:spLocks noGrp="1"/>
          </p:cNvSpPr>
          <p:nvPr>
            <p:ph type="sldNum" sz="quarter" idx="5"/>
          </p:nvPr>
        </p:nvSpPr>
        <p:spPr/>
        <p:txBody>
          <a:bodyPr/>
          <a:lstStyle/>
          <a:p>
            <a:fld id="{9B40F577-1FC1-4001-B2C2-9EAF79F39BE2}" type="slidenum">
              <a:rPr lang="uk-UA" smtClean="0"/>
              <a:t>52</a:t>
            </a:fld>
            <a:endParaRPr lang="uk-UA"/>
          </a:p>
        </p:txBody>
      </p:sp>
    </p:spTree>
    <p:extLst>
      <p:ext uri="{BB962C8B-B14F-4D97-AF65-F5344CB8AC3E}">
        <p14:creationId xmlns:p14="http://schemas.microsoft.com/office/powerpoint/2010/main" val="199314573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endParaRPr lang="uk-UA" dirty="0"/>
          </a:p>
        </p:txBody>
      </p:sp>
      <p:sp>
        <p:nvSpPr>
          <p:cNvPr id="4" name="Місце для номера слайда 3"/>
          <p:cNvSpPr>
            <a:spLocks noGrp="1"/>
          </p:cNvSpPr>
          <p:nvPr>
            <p:ph type="sldNum" sz="quarter" idx="5"/>
          </p:nvPr>
        </p:nvSpPr>
        <p:spPr/>
        <p:txBody>
          <a:bodyPr/>
          <a:lstStyle/>
          <a:p>
            <a:fld id="{9B40F577-1FC1-4001-B2C2-9EAF79F39BE2}" type="slidenum">
              <a:rPr lang="uk-UA" smtClean="0"/>
              <a:t>53</a:t>
            </a:fld>
            <a:endParaRPr lang="uk-UA"/>
          </a:p>
        </p:txBody>
      </p:sp>
    </p:spTree>
    <p:extLst>
      <p:ext uri="{BB962C8B-B14F-4D97-AF65-F5344CB8AC3E}">
        <p14:creationId xmlns:p14="http://schemas.microsoft.com/office/powerpoint/2010/main" val="2746696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31F6D5-EE77-F05F-8B36-EE698B21D820}"/>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uk-UA"/>
          </a:p>
        </p:txBody>
      </p:sp>
      <p:sp>
        <p:nvSpPr>
          <p:cNvPr id="3" name="Подзаголовок 2">
            <a:extLst>
              <a:ext uri="{FF2B5EF4-FFF2-40B4-BE49-F238E27FC236}">
                <a16:creationId xmlns:a16="http://schemas.microsoft.com/office/drawing/2014/main" id="{AA3D416F-B419-0893-CF2A-60046F97AA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uk-UA"/>
          </a:p>
        </p:txBody>
      </p:sp>
      <p:sp>
        <p:nvSpPr>
          <p:cNvPr id="4" name="Дата 3">
            <a:extLst>
              <a:ext uri="{FF2B5EF4-FFF2-40B4-BE49-F238E27FC236}">
                <a16:creationId xmlns:a16="http://schemas.microsoft.com/office/drawing/2014/main" id="{7C3563C5-2ABA-6BE0-F79B-E9DB4BDEE41C}"/>
              </a:ext>
            </a:extLst>
          </p:cNvPr>
          <p:cNvSpPr>
            <a:spLocks noGrp="1"/>
          </p:cNvSpPr>
          <p:nvPr>
            <p:ph type="dt" sz="half" idx="10"/>
          </p:nvPr>
        </p:nvSpPr>
        <p:spPr/>
        <p:txBody>
          <a:bodyPr/>
          <a:lstStyle/>
          <a:p>
            <a:fld id="{F1E3972C-1D59-4812-9879-0ADA85AB86FA}" type="datetimeFigureOut">
              <a:rPr lang="uk-UA" smtClean="0"/>
              <a:t>03.08.2025</a:t>
            </a:fld>
            <a:endParaRPr lang="uk-UA"/>
          </a:p>
        </p:txBody>
      </p:sp>
      <p:sp>
        <p:nvSpPr>
          <p:cNvPr id="5" name="Нижний колонтитул 4">
            <a:extLst>
              <a:ext uri="{FF2B5EF4-FFF2-40B4-BE49-F238E27FC236}">
                <a16:creationId xmlns:a16="http://schemas.microsoft.com/office/drawing/2014/main" id="{1CA4729E-F6C7-6BDF-624A-6D985B5B28EF}"/>
              </a:ext>
            </a:extLst>
          </p:cNvPr>
          <p:cNvSpPr>
            <a:spLocks noGrp="1"/>
          </p:cNvSpPr>
          <p:nvPr>
            <p:ph type="ftr" sz="quarter" idx="11"/>
          </p:nvPr>
        </p:nvSpPr>
        <p:spPr/>
        <p:txBody>
          <a:bodyPr/>
          <a:lstStyle/>
          <a:p>
            <a:endParaRPr lang="uk-UA"/>
          </a:p>
        </p:txBody>
      </p:sp>
      <p:sp>
        <p:nvSpPr>
          <p:cNvPr id="6" name="Номер слайда 5">
            <a:extLst>
              <a:ext uri="{FF2B5EF4-FFF2-40B4-BE49-F238E27FC236}">
                <a16:creationId xmlns:a16="http://schemas.microsoft.com/office/drawing/2014/main" id="{77D99CCF-CF8A-37C1-30D7-3A4F12E728DE}"/>
              </a:ext>
            </a:extLst>
          </p:cNvPr>
          <p:cNvSpPr>
            <a:spLocks noGrp="1"/>
          </p:cNvSpPr>
          <p:nvPr>
            <p:ph type="sldNum" sz="quarter" idx="12"/>
          </p:nvPr>
        </p:nvSpPr>
        <p:spPr/>
        <p:txBody>
          <a:bodyPr/>
          <a:lstStyle/>
          <a:p>
            <a:fld id="{3B740B5E-42AC-4C62-8644-F9D9979E3C1B}" type="slidenum">
              <a:rPr lang="uk-UA" smtClean="0"/>
              <a:t>‹№›</a:t>
            </a:fld>
            <a:endParaRPr lang="uk-UA"/>
          </a:p>
        </p:txBody>
      </p:sp>
    </p:spTree>
    <p:extLst>
      <p:ext uri="{BB962C8B-B14F-4D97-AF65-F5344CB8AC3E}">
        <p14:creationId xmlns:p14="http://schemas.microsoft.com/office/powerpoint/2010/main" val="181530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5A7231-C686-D8CF-FA17-0D8627ABD5D4}"/>
              </a:ext>
            </a:extLst>
          </p:cNvPr>
          <p:cNvSpPr>
            <a:spLocks noGrp="1"/>
          </p:cNvSpPr>
          <p:nvPr>
            <p:ph type="title"/>
          </p:nvPr>
        </p:nvSpPr>
        <p:spPr/>
        <p:txBody>
          <a:bodyPr/>
          <a:lstStyle/>
          <a:p>
            <a:r>
              <a:rPr lang="ru-RU"/>
              <a:t>Образец заголовка</a:t>
            </a:r>
            <a:endParaRPr lang="uk-UA"/>
          </a:p>
        </p:txBody>
      </p:sp>
      <p:sp>
        <p:nvSpPr>
          <p:cNvPr id="3" name="Объект 2">
            <a:extLst>
              <a:ext uri="{FF2B5EF4-FFF2-40B4-BE49-F238E27FC236}">
                <a16:creationId xmlns:a16="http://schemas.microsoft.com/office/drawing/2014/main" id="{5766263C-782F-0D49-1AA1-2BD5EF1B6988}"/>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uk-UA"/>
          </a:p>
        </p:txBody>
      </p:sp>
      <p:sp>
        <p:nvSpPr>
          <p:cNvPr id="4" name="Дата 3">
            <a:extLst>
              <a:ext uri="{FF2B5EF4-FFF2-40B4-BE49-F238E27FC236}">
                <a16:creationId xmlns:a16="http://schemas.microsoft.com/office/drawing/2014/main" id="{AF3FAE1C-22C9-0EC4-2ED7-9EEA6D420416}"/>
              </a:ext>
            </a:extLst>
          </p:cNvPr>
          <p:cNvSpPr>
            <a:spLocks noGrp="1"/>
          </p:cNvSpPr>
          <p:nvPr>
            <p:ph type="dt" sz="half" idx="10"/>
          </p:nvPr>
        </p:nvSpPr>
        <p:spPr/>
        <p:txBody>
          <a:bodyPr/>
          <a:lstStyle/>
          <a:p>
            <a:fld id="{F1E3972C-1D59-4812-9879-0ADA85AB86FA}" type="datetimeFigureOut">
              <a:rPr lang="uk-UA" smtClean="0"/>
              <a:t>03.08.2025</a:t>
            </a:fld>
            <a:endParaRPr lang="uk-UA"/>
          </a:p>
        </p:txBody>
      </p:sp>
      <p:sp>
        <p:nvSpPr>
          <p:cNvPr id="5" name="Нижний колонтитул 4">
            <a:extLst>
              <a:ext uri="{FF2B5EF4-FFF2-40B4-BE49-F238E27FC236}">
                <a16:creationId xmlns:a16="http://schemas.microsoft.com/office/drawing/2014/main" id="{754513AF-D9EC-2C9B-46F0-FBC11B991494}"/>
              </a:ext>
            </a:extLst>
          </p:cNvPr>
          <p:cNvSpPr>
            <a:spLocks noGrp="1"/>
          </p:cNvSpPr>
          <p:nvPr>
            <p:ph type="ftr" sz="quarter" idx="11"/>
          </p:nvPr>
        </p:nvSpPr>
        <p:spPr/>
        <p:txBody>
          <a:bodyPr/>
          <a:lstStyle/>
          <a:p>
            <a:endParaRPr lang="uk-UA"/>
          </a:p>
        </p:txBody>
      </p:sp>
      <p:sp>
        <p:nvSpPr>
          <p:cNvPr id="6" name="Номер слайда 5">
            <a:extLst>
              <a:ext uri="{FF2B5EF4-FFF2-40B4-BE49-F238E27FC236}">
                <a16:creationId xmlns:a16="http://schemas.microsoft.com/office/drawing/2014/main" id="{F356EC0D-BDCD-2993-E5B6-0E8FE244943D}"/>
              </a:ext>
            </a:extLst>
          </p:cNvPr>
          <p:cNvSpPr>
            <a:spLocks noGrp="1"/>
          </p:cNvSpPr>
          <p:nvPr>
            <p:ph type="sldNum" sz="quarter" idx="12"/>
          </p:nvPr>
        </p:nvSpPr>
        <p:spPr/>
        <p:txBody>
          <a:bodyPr/>
          <a:lstStyle/>
          <a:p>
            <a:fld id="{3B740B5E-42AC-4C62-8644-F9D9979E3C1B}" type="slidenum">
              <a:rPr lang="uk-UA" smtClean="0"/>
              <a:t>‹№›</a:t>
            </a:fld>
            <a:endParaRPr lang="uk-UA"/>
          </a:p>
        </p:txBody>
      </p:sp>
    </p:spTree>
    <p:extLst>
      <p:ext uri="{BB962C8B-B14F-4D97-AF65-F5344CB8AC3E}">
        <p14:creationId xmlns:p14="http://schemas.microsoft.com/office/powerpoint/2010/main" val="1884143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ED93858-E4D8-D43B-ACB3-0C9AC6B46BCA}"/>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uk-UA"/>
          </a:p>
        </p:txBody>
      </p:sp>
      <p:sp>
        <p:nvSpPr>
          <p:cNvPr id="3" name="Текст 2">
            <a:extLst>
              <a:ext uri="{FF2B5EF4-FFF2-40B4-BE49-F238E27FC236}">
                <a16:creationId xmlns:a16="http://schemas.microsoft.com/office/drawing/2014/main" id="{732040E3-EA86-307F-07E0-BC7B3D6F14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ABFAE8B8-12AD-19AA-1620-86D64CDACAD8}"/>
              </a:ext>
            </a:extLst>
          </p:cNvPr>
          <p:cNvSpPr>
            <a:spLocks noGrp="1"/>
          </p:cNvSpPr>
          <p:nvPr>
            <p:ph type="dt" sz="half" idx="10"/>
          </p:nvPr>
        </p:nvSpPr>
        <p:spPr/>
        <p:txBody>
          <a:bodyPr/>
          <a:lstStyle/>
          <a:p>
            <a:fld id="{F1E3972C-1D59-4812-9879-0ADA85AB86FA}" type="datetimeFigureOut">
              <a:rPr lang="uk-UA" smtClean="0"/>
              <a:t>03.08.2025</a:t>
            </a:fld>
            <a:endParaRPr lang="uk-UA"/>
          </a:p>
        </p:txBody>
      </p:sp>
      <p:sp>
        <p:nvSpPr>
          <p:cNvPr id="5" name="Нижний колонтитул 4">
            <a:extLst>
              <a:ext uri="{FF2B5EF4-FFF2-40B4-BE49-F238E27FC236}">
                <a16:creationId xmlns:a16="http://schemas.microsoft.com/office/drawing/2014/main" id="{58D6F026-C83D-F5A0-ED0E-2732983D4221}"/>
              </a:ext>
            </a:extLst>
          </p:cNvPr>
          <p:cNvSpPr>
            <a:spLocks noGrp="1"/>
          </p:cNvSpPr>
          <p:nvPr>
            <p:ph type="ftr" sz="quarter" idx="11"/>
          </p:nvPr>
        </p:nvSpPr>
        <p:spPr/>
        <p:txBody>
          <a:bodyPr/>
          <a:lstStyle/>
          <a:p>
            <a:endParaRPr lang="uk-UA"/>
          </a:p>
        </p:txBody>
      </p:sp>
      <p:sp>
        <p:nvSpPr>
          <p:cNvPr id="6" name="Номер слайда 5">
            <a:extLst>
              <a:ext uri="{FF2B5EF4-FFF2-40B4-BE49-F238E27FC236}">
                <a16:creationId xmlns:a16="http://schemas.microsoft.com/office/drawing/2014/main" id="{5D54D0E8-1B97-2B88-CD05-460E8D3516E5}"/>
              </a:ext>
            </a:extLst>
          </p:cNvPr>
          <p:cNvSpPr>
            <a:spLocks noGrp="1"/>
          </p:cNvSpPr>
          <p:nvPr>
            <p:ph type="sldNum" sz="quarter" idx="12"/>
          </p:nvPr>
        </p:nvSpPr>
        <p:spPr/>
        <p:txBody>
          <a:bodyPr/>
          <a:lstStyle/>
          <a:p>
            <a:fld id="{3B740B5E-42AC-4C62-8644-F9D9979E3C1B}" type="slidenum">
              <a:rPr lang="uk-UA" smtClean="0"/>
              <a:t>‹№›</a:t>
            </a:fld>
            <a:endParaRPr lang="uk-UA"/>
          </a:p>
        </p:txBody>
      </p:sp>
    </p:spTree>
    <p:extLst>
      <p:ext uri="{BB962C8B-B14F-4D97-AF65-F5344CB8AC3E}">
        <p14:creationId xmlns:p14="http://schemas.microsoft.com/office/powerpoint/2010/main" val="2570361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CCBF168-E018-8BDB-B8FF-CC85551D8E23}"/>
              </a:ext>
            </a:extLst>
          </p:cNvPr>
          <p:cNvSpPr>
            <a:spLocks noGrp="1"/>
          </p:cNvSpPr>
          <p:nvPr>
            <p:ph type="title"/>
          </p:nvPr>
        </p:nvSpPr>
        <p:spPr/>
        <p:txBody>
          <a:bodyPr/>
          <a:lstStyle/>
          <a:p>
            <a:r>
              <a:rPr lang="ru-RU"/>
              <a:t>Образец заголовка</a:t>
            </a:r>
            <a:endParaRPr lang="uk-UA"/>
          </a:p>
        </p:txBody>
      </p:sp>
      <p:sp>
        <p:nvSpPr>
          <p:cNvPr id="3" name="Объект 2">
            <a:extLst>
              <a:ext uri="{FF2B5EF4-FFF2-40B4-BE49-F238E27FC236}">
                <a16:creationId xmlns:a16="http://schemas.microsoft.com/office/drawing/2014/main" id="{A347B9E1-A4ED-1B6A-D2BD-234805750357}"/>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uk-UA"/>
          </a:p>
        </p:txBody>
      </p:sp>
      <p:sp>
        <p:nvSpPr>
          <p:cNvPr id="4" name="Объект 3">
            <a:extLst>
              <a:ext uri="{FF2B5EF4-FFF2-40B4-BE49-F238E27FC236}">
                <a16:creationId xmlns:a16="http://schemas.microsoft.com/office/drawing/2014/main" id="{01711F3B-E99A-650B-790B-EB9151C87CBB}"/>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uk-UA"/>
          </a:p>
        </p:txBody>
      </p:sp>
      <p:sp>
        <p:nvSpPr>
          <p:cNvPr id="5" name="Дата 4">
            <a:extLst>
              <a:ext uri="{FF2B5EF4-FFF2-40B4-BE49-F238E27FC236}">
                <a16:creationId xmlns:a16="http://schemas.microsoft.com/office/drawing/2014/main" id="{B64DA05C-7C21-661B-A41E-A547C6359749}"/>
              </a:ext>
            </a:extLst>
          </p:cNvPr>
          <p:cNvSpPr>
            <a:spLocks noGrp="1"/>
          </p:cNvSpPr>
          <p:nvPr>
            <p:ph type="dt" sz="half" idx="10"/>
          </p:nvPr>
        </p:nvSpPr>
        <p:spPr/>
        <p:txBody>
          <a:bodyPr/>
          <a:lstStyle/>
          <a:p>
            <a:fld id="{F1E3972C-1D59-4812-9879-0ADA85AB86FA}" type="datetimeFigureOut">
              <a:rPr lang="uk-UA" smtClean="0"/>
              <a:t>03.08.2025</a:t>
            </a:fld>
            <a:endParaRPr lang="uk-UA"/>
          </a:p>
        </p:txBody>
      </p:sp>
      <p:sp>
        <p:nvSpPr>
          <p:cNvPr id="6" name="Нижний колонтитул 5">
            <a:extLst>
              <a:ext uri="{FF2B5EF4-FFF2-40B4-BE49-F238E27FC236}">
                <a16:creationId xmlns:a16="http://schemas.microsoft.com/office/drawing/2014/main" id="{E832F842-7036-1B37-4C83-51CF5CEBD99F}"/>
              </a:ext>
            </a:extLst>
          </p:cNvPr>
          <p:cNvSpPr>
            <a:spLocks noGrp="1"/>
          </p:cNvSpPr>
          <p:nvPr>
            <p:ph type="ftr" sz="quarter" idx="11"/>
          </p:nvPr>
        </p:nvSpPr>
        <p:spPr/>
        <p:txBody>
          <a:bodyPr/>
          <a:lstStyle/>
          <a:p>
            <a:endParaRPr lang="uk-UA"/>
          </a:p>
        </p:txBody>
      </p:sp>
      <p:sp>
        <p:nvSpPr>
          <p:cNvPr id="7" name="Номер слайда 6">
            <a:extLst>
              <a:ext uri="{FF2B5EF4-FFF2-40B4-BE49-F238E27FC236}">
                <a16:creationId xmlns:a16="http://schemas.microsoft.com/office/drawing/2014/main" id="{4B764A6A-7702-7ADF-5C4F-9C5F07082E80}"/>
              </a:ext>
            </a:extLst>
          </p:cNvPr>
          <p:cNvSpPr>
            <a:spLocks noGrp="1"/>
          </p:cNvSpPr>
          <p:nvPr>
            <p:ph type="sldNum" sz="quarter" idx="12"/>
          </p:nvPr>
        </p:nvSpPr>
        <p:spPr/>
        <p:txBody>
          <a:bodyPr/>
          <a:lstStyle/>
          <a:p>
            <a:fld id="{3B740B5E-42AC-4C62-8644-F9D9979E3C1B}" type="slidenum">
              <a:rPr lang="uk-UA" smtClean="0"/>
              <a:t>‹№›</a:t>
            </a:fld>
            <a:endParaRPr lang="uk-UA"/>
          </a:p>
        </p:txBody>
      </p:sp>
    </p:spTree>
    <p:extLst>
      <p:ext uri="{BB962C8B-B14F-4D97-AF65-F5344CB8AC3E}">
        <p14:creationId xmlns:p14="http://schemas.microsoft.com/office/powerpoint/2010/main" val="433049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5BEFC3-A00E-807A-05C0-DF79AA11DBB8}"/>
              </a:ext>
            </a:extLst>
          </p:cNvPr>
          <p:cNvSpPr>
            <a:spLocks noGrp="1"/>
          </p:cNvSpPr>
          <p:nvPr>
            <p:ph type="title"/>
          </p:nvPr>
        </p:nvSpPr>
        <p:spPr>
          <a:xfrm>
            <a:off x="839788" y="365125"/>
            <a:ext cx="10515600" cy="1325563"/>
          </a:xfrm>
        </p:spPr>
        <p:txBody>
          <a:bodyPr/>
          <a:lstStyle/>
          <a:p>
            <a:r>
              <a:rPr lang="ru-RU"/>
              <a:t>Образец заголовка</a:t>
            </a:r>
            <a:endParaRPr lang="uk-UA"/>
          </a:p>
        </p:txBody>
      </p:sp>
      <p:sp>
        <p:nvSpPr>
          <p:cNvPr id="3" name="Текст 2">
            <a:extLst>
              <a:ext uri="{FF2B5EF4-FFF2-40B4-BE49-F238E27FC236}">
                <a16:creationId xmlns:a16="http://schemas.microsoft.com/office/drawing/2014/main" id="{4F433749-A6A0-DF88-073F-1B884AAF6F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8CB0E37A-0FCA-2171-00F0-57CBBAF9CB2A}"/>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uk-UA"/>
          </a:p>
        </p:txBody>
      </p:sp>
      <p:sp>
        <p:nvSpPr>
          <p:cNvPr id="5" name="Текст 4">
            <a:extLst>
              <a:ext uri="{FF2B5EF4-FFF2-40B4-BE49-F238E27FC236}">
                <a16:creationId xmlns:a16="http://schemas.microsoft.com/office/drawing/2014/main" id="{F1F75DC5-C2F0-8632-D5C2-78870B4131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E550BBA9-0F72-E537-3AA6-E7220DF4F4A1}"/>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uk-UA"/>
          </a:p>
        </p:txBody>
      </p:sp>
      <p:sp>
        <p:nvSpPr>
          <p:cNvPr id="7" name="Дата 6">
            <a:extLst>
              <a:ext uri="{FF2B5EF4-FFF2-40B4-BE49-F238E27FC236}">
                <a16:creationId xmlns:a16="http://schemas.microsoft.com/office/drawing/2014/main" id="{231BD10E-2051-5B25-60B5-3B3C1F256F82}"/>
              </a:ext>
            </a:extLst>
          </p:cNvPr>
          <p:cNvSpPr>
            <a:spLocks noGrp="1"/>
          </p:cNvSpPr>
          <p:nvPr>
            <p:ph type="dt" sz="half" idx="10"/>
          </p:nvPr>
        </p:nvSpPr>
        <p:spPr/>
        <p:txBody>
          <a:bodyPr/>
          <a:lstStyle/>
          <a:p>
            <a:fld id="{F1E3972C-1D59-4812-9879-0ADA85AB86FA}" type="datetimeFigureOut">
              <a:rPr lang="uk-UA" smtClean="0"/>
              <a:t>03.08.2025</a:t>
            </a:fld>
            <a:endParaRPr lang="uk-UA"/>
          </a:p>
        </p:txBody>
      </p:sp>
      <p:sp>
        <p:nvSpPr>
          <p:cNvPr id="8" name="Нижний колонтитул 7">
            <a:extLst>
              <a:ext uri="{FF2B5EF4-FFF2-40B4-BE49-F238E27FC236}">
                <a16:creationId xmlns:a16="http://schemas.microsoft.com/office/drawing/2014/main" id="{2C1E8CCA-C8B9-B59E-93D2-886D22ACB0BC}"/>
              </a:ext>
            </a:extLst>
          </p:cNvPr>
          <p:cNvSpPr>
            <a:spLocks noGrp="1"/>
          </p:cNvSpPr>
          <p:nvPr>
            <p:ph type="ftr" sz="quarter" idx="11"/>
          </p:nvPr>
        </p:nvSpPr>
        <p:spPr/>
        <p:txBody>
          <a:bodyPr/>
          <a:lstStyle/>
          <a:p>
            <a:endParaRPr lang="uk-UA"/>
          </a:p>
        </p:txBody>
      </p:sp>
      <p:sp>
        <p:nvSpPr>
          <p:cNvPr id="9" name="Номер слайда 8">
            <a:extLst>
              <a:ext uri="{FF2B5EF4-FFF2-40B4-BE49-F238E27FC236}">
                <a16:creationId xmlns:a16="http://schemas.microsoft.com/office/drawing/2014/main" id="{3068BBCF-B605-D7C3-4AAB-2C25A24E7E90}"/>
              </a:ext>
            </a:extLst>
          </p:cNvPr>
          <p:cNvSpPr>
            <a:spLocks noGrp="1"/>
          </p:cNvSpPr>
          <p:nvPr>
            <p:ph type="sldNum" sz="quarter" idx="12"/>
          </p:nvPr>
        </p:nvSpPr>
        <p:spPr/>
        <p:txBody>
          <a:bodyPr/>
          <a:lstStyle/>
          <a:p>
            <a:fld id="{3B740B5E-42AC-4C62-8644-F9D9979E3C1B}" type="slidenum">
              <a:rPr lang="uk-UA" smtClean="0"/>
              <a:t>‹№›</a:t>
            </a:fld>
            <a:endParaRPr lang="uk-UA"/>
          </a:p>
        </p:txBody>
      </p:sp>
    </p:spTree>
    <p:extLst>
      <p:ext uri="{BB962C8B-B14F-4D97-AF65-F5344CB8AC3E}">
        <p14:creationId xmlns:p14="http://schemas.microsoft.com/office/powerpoint/2010/main" val="3717059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09D7A6-AA5A-4E60-C4B7-DBCAEB9CA88B}"/>
              </a:ext>
            </a:extLst>
          </p:cNvPr>
          <p:cNvSpPr>
            <a:spLocks noGrp="1"/>
          </p:cNvSpPr>
          <p:nvPr>
            <p:ph type="title"/>
          </p:nvPr>
        </p:nvSpPr>
        <p:spPr/>
        <p:txBody>
          <a:bodyPr/>
          <a:lstStyle/>
          <a:p>
            <a:r>
              <a:rPr lang="ru-RU"/>
              <a:t>Образец заголовка</a:t>
            </a:r>
            <a:endParaRPr lang="uk-UA"/>
          </a:p>
        </p:txBody>
      </p:sp>
      <p:sp>
        <p:nvSpPr>
          <p:cNvPr id="3" name="Дата 2">
            <a:extLst>
              <a:ext uri="{FF2B5EF4-FFF2-40B4-BE49-F238E27FC236}">
                <a16:creationId xmlns:a16="http://schemas.microsoft.com/office/drawing/2014/main" id="{0954A816-DE8A-F94F-C031-AF59E488A9C0}"/>
              </a:ext>
            </a:extLst>
          </p:cNvPr>
          <p:cNvSpPr>
            <a:spLocks noGrp="1"/>
          </p:cNvSpPr>
          <p:nvPr>
            <p:ph type="dt" sz="half" idx="10"/>
          </p:nvPr>
        </p:nvSpPr>
        <p:spPr/>
        <p:txBody>
          <a:bodyPr/>
          <a:lstStyle/>
          <a:p>
            <a:fld id="{F1E3972C-1D59-4812-9879-0ADA85AB86FA}" type="datetimeFigureOut">
              <a:rPr lang="uk-UA" smtClean="0"/>
              <a:t>03.08.2025</a:t>
            </a:fld>
            <a:endParaRPr lang="uk-UA"/>
          </a:p>
        </p:txBody>
      </p:sp>
      <p:sp>
        <p:nvSpPr>
          <p:cNvPr id="4" name="Нижний колонтитул 3">
            <a:extLst>
              <a:ext uri="{FF2B5EF4-FFF2-40B4-BE49-F238E27FC236}">
                <a16:creationId xmlns:a16="http://schemas.microsoft.com/office/drawing/2014/main" id="{608AEBC4-A90F-6450-4083-5BE5A50358EA}"/>
              </a:ext>
            </a:extLst>
          </p:cNvPr>
          <p:cNvSpPr>
            <a:spLocks noGrp="1"/>
          </p:cNvSpPr>
          <p:nvPr>
            <p:ph type="ftr" sz="quarter" idx="11"/>
          </p:nvPr>
        </p:nvSpPr>
        <p:spPr/>
        <p:txBody>
          <a:bodyPr/>
          <a:lstStyle/>
          <a:p>
            <a:endParaRPr lang="uk-UA"/>
          </a:p>
        </p:txBody>
      </p:sp>
      <p:sp>
        <p:nvSpPr>
          <p:cNvPr id="5" name="Номер слайда 4">
            <a:extLst>
              <a:ext uri="{FF2B5EF4-FFF2-40B4-BE49-F238E27FC236}">
                <a16:creationId xmlns:a16="http://schemas.microsoft.com/office/drawing/2014/main" id="{4955FBB7-22A4-3058-7C37-CEE2D484150E}"/>
              </a:ext>
            </a:extLst>
          </p:cNvPr>
          <p:cNvSpPr>
            <a:spLocks noGrp="1"/>
          </p:cNvSpPr>
          <p:nvPr>
            <p:ph type="sldNum" sz="quarter" idx="12"/>
          </p:nvPr>
        </p:nvSpPr>
        <p:spPr/>
        <p:txBody>
          <a:bodyPr/>
          <a:lstStyle/>
          <a:p>
            <a:fld id="{3B740B5E-42AC-4C62-8644-F9D9979E3C1B}" type="slidenum">
              <a:rPr lang="uk-UA" smtClean="0"/>
              <a:t>‹№›</a:t>
            </a:fld>
            <a:endParaRPr lang="uk-UA"/>
          </a:p>
        </p:txBody>
      </p:sp>
    </p:spTree>
    <p:extLst>
      <p:ext uri="{BB962C8B-B14F-4D97-AF65-F5344CB8AC3E}">
        <p14:creationId xmlns:p14="http://schemas.microsoft.com/office/powerpoint/2010/main" val="1878562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BE350C2A-8EFE-9689-19C1-BF14E82E97A7}"/>
              </a:ext>
            </a:extLst>
          </p:cNvPr>
          <p:cNvSpPr>
            <a:spLocks noGrp="1"/>
          </p:cNvSpPr>
          <p:nvPr>
            <p:ph type="dt" sz="half" idx="10"/>
          </p:nvPr>
        </p:nvSpPr>
        <p:spPr/>
        <p:txBody>
          <a:bodyPr/>
          <a:lstStyle/>
          <a:p>
            <a:fld id="{F1E3972C-1D59-4812-9879-0ADA85AB86FA}" type="datetimeFigureOut">
              <a:rPr lang="uk-UA" smtClean="0"/>
              <a:t>03.08.2025</a:t>
            </a:fld>
            <a:endParaRPr lang="uk-UA"/>
          </a:p>
        </p:txBody>
      </p:sp>
      <p:sp>
        <p:nvSpPr>
          <p:cNvPr id="3" name="Нижний колонтитул 2">
            <a:extLst>
              <a:ext uri="{FF2B5EF4-FFF2-40B4-BE49-F238E27FC236}">
                <a16:creationId xmlns:a16="http://schemas.microsoft.com/office/drawing/2014/main" id="{97E8B880-58A1-F037-1F63-5083FFA5C690}"/>
              </a:ext>
            </a:extLst>
          </p:cNvPr>
          <p:cNvSpPr>
            <a:spLocks noGrp="1"/>
          </p:cNvSpPr>
          <p:nvPr>
            <p:ph type="ftr" sz="quarter" idx="11"/>
          </p:nvPr>
        </p:nvSpPr>
        <p:spPr/>
        <p:txBody>
          <a:bodyPr/>
          <a:lstStyle/>
          <a:p>
            <a:endParaRPr lang="uk-UA"/>
          </a:p>
        </p:txBody>
      </p:sp>
      <p:sp>
        <p:nvSpPr>
          <p:cNvPr id="4" name="Номер слайда 3">
            <a:extLst>
              <a:ext uri="{FF2B5EF4-FFF2-40B4-BE49-F238E27FC236}">
                <a16:creationId xmlns:a16="http://schemas.microsoft.com/office/drawing/2014/main" id="{272F4755-3B72-F832-ABB2-A0AEFEFCEBAC}"/>
              </a:ext>
            </a:extLst>
          </p:cNvPr>
          <p:cNvSpPr>
            <a:spLocks noGrp="1"/>
          </p:cNvSpPr>
          <p:nvPr>
            <p:ph type="sldNum" sz="quarter" idx="12"/>
          </p:nvPr>
        </p:nvSpPr>
        <p:spPr/>
        <p:txBody>
          <a:bodyPr/>
          <a:lstStyle/>
          <a:p>
            <a:fld id="{3B740B5E-42AC-4C62-8644-F9D9979E3C1B}" type="slidenum">
              <a:rPr lang="uk-UA" smtClean="0"/>
              <a:t>‹№›</a:t>
            </a:fld>
            <a:endParaRPr lang="uk-UA"/>
          </a:p>
        </p:txBody>
      </p:sp>
    </p:spTree>
    <p:extLst>
      <p:ext uri="{BB962C8B-B14F-4D97-AF65-F5344CB8AC3E}">
        <p14:creationId xmlns:p14="http://schemas.microsoft.com/office/powerpoint/2010/main" val="265896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DA3BB8-B52E-7EBB-C0BE-35834C4E513C}"/>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uk-UA"/>
          </a:p>
        </p:txBody>
      </p:sp>
      <p:sp>
        <p:nvSpPr>
          <p:cNvPr id="3" name="Объект 2">
            <a:extLst>
              <a:ext uri="{FF2B5EF4-FFF2-40B4-BE49-F238E27FC236}">
                <a16:creationId xmlns:a16="http://schemas.microsoft.com/office/drawing/2014/main" id="{2D3E0E39-1E9D-35C3-4F60-A75C61D826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uk-UA"/>
          </a:p>
        </p:txBody>
      </p:sp>
      <p:sp>
        <p:nvSpPr>
          <p:cNvPr id="4" name="Текст 3">
            <a:extLst>
              <a:ext uri="{FF2B5EF4-FFF2-40B4-BE49-F238E27FC236}">
                <a16:creationId xmlns:a16="http://schemas.microsoft.com/office/drawing/2014/main" id="{EAD482B5-6263-8E79-4B0C-E15B27B9A3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18289D75-50AD-DA3E-808C-305E482048E0}"/>
              </a:ext>
            </a:extLst>
          </p:cNvPr>
          <p:cNvSpPr>
            <a:spLocks noGrp="1"/>
          </p:cNvSpPr>
          <p:nvPr>
            <p:ph type="dt" sz="half" idx="10"/>
          </p:nvPr>
        </p:nvSpPr>
        <p:spPr/>
        <p:txBody>
          <a:bodyPr/>
          <a:lstStyle/>
          <a:p>
            <a:fld id="{F1E3972C-1D59-4812-9879-0ADA85AB86FA}" type="datetimeFigureOut">
              <a:rPr lang="uk-UA" smtClean="0"/>
              <a:t>03.08.2025</a:t>
            </a:fld>
            <a:endParaRPr lang="uk-UA"/>
          </a:p>
        </p:txBody>
      </p:sp>
      <p:sp>
        <p:nvSpPr>
          <p:cNvPr id="6" name="Нижний колонтитул 5">
            <a:extLst>
              <a:ext uri="{FF2B5EF4-FFF2-40B4-BE49-F238E27FC236}">
                <a16:creationId xmlns:a16="http://schemas.microsoft.com/office/drawing/2014/main" id="{61EA4FEA-94A7-4925-FE8D-43CA865E7F0E}"/>
              </a:ext>
            </a:extLst>
          </p:cNvPr>
          <p:cNvSpPr>
            <a:spLocks noGrp="1"/>
          </p:cNvSpPr>
          <p:nvPr>
            <p:ph type="ftr" sz="quarter" idx="11"/>
          </p:nvPr>
        </p:nvSpPr>
        <p:spPr/>
        <p:txBody>
          <a:bodyPr/>
          <a:lstStyle/>
          <a:p>
            <a:endParaRPr lang="uk-UA"/>
          </a:p>
        </p:txBody>
      </p:sp>
      <p:sp>
        <p:nvSpPr>
          <p:cNvPr id="7" name="Номер слайда 6">
            <a:extLst>
              <a:ext uri="{FF2B5EF4-FFF2-40B4-BE49-F238E27FC236}">
                <a16:creationId xmlns:a16="http://schemas.microsoft.com/office/drawing/2014/main" id="{AB861DBB-094D-CF71-2FF9-19A30C11C039}"/>
              </a:ext>
            </a:extLst>
          </p:cNvPr>
          <p:cNvSpPr>
            <a:spLocks noGrp="1"/>
          </p:cNvSpPr>
          <p:nvPr>
            <p:ph type="sldNum" sz="quarter" idx="12"/>
          </p:nvPr>
        </p:nvSpPr>
        <p:spPr/>
        <p:txBody>
          <a:bodyPr/>
          <a:lstStyle/>
          <a:p>
            <a:fld id="{3B740B5E-42AC-4C62-8644-F9D9979E3C1B}" type="slidenum">
              <a:rPr lang="uk-UA" smtClean="0"/>
              <a:t>‹№›</a:t>
            </a:fld>
            <a:endParaRPr lang="uk-UA"/>
          </a:p>
        </p:txBody>
      </p:sp>
    </p:spTree>
    <p:extLst>
      <p:ext uri="{BB962C8B-B14F-4D97-AF65-F5344CB8AC3E}">
        <p14:creationId xmlns:p14="http://schemas.microsoft.com/office/powerpoint/2010/main" val="29580920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327B8C0-2FB7-6B3A-8E33-A5354D6CD40B}"/>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uk-UA"/>
          </a:p>
        </p:txBody>
      </p:sp>
      <p:sp>
        <p:nvSpPr>
          <p:cNvPr id="3" name="Рисунок 2">
            <a:extLst>
              <a:ext uri="{FF2B5EF4-FFF2-40B4-BE49-F238E27FC236}">
                <a16:creationId xmlns:a16="http://schemas.microsoft.com/office/drawing/2014/main" id="{BBABF2AA-3490-C8C9-E0EC-E11BE8F7C1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uk-UA"/>
          </a:p>
        </p:txBody>
      </p:sp>
      <p:sp>
        <p:nvSpPr>
          <p:cNvPr id="4" name="Текст 3">
            <a:extLst>
              <a:ext uri="{FF2B5EF4-FFF2-40B4-BE49-F238E27FC236}">
                <a16:creationId xmlns:a16="http://schemas.microsoft.com/office/drawing/2014/main" id="{1B17CE27-4946-90C2-B284-DCBA830BCB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FA6B0D4C-582D-74B3-9532-199CDED2BD92}"/>
              </a:ext>
            </a:extLst>
          </p:cNvPr>
          <p:cNvSpPr>
            <a:spLocks noGrp="1"/>
          </p:cNvSpPr>
          <p:nvPr>
            <p:ph type="dt" sz="half" idx="10"/>
          </p:nvPr>
        </p:nvSpPr>
        <p:spPr/>
        <p:txBody>
          <a:bodyPr/>
          <a:lstStyle/>
          <a:p>
            <a:fld id="{F1E3972C-1D59-4812-9879-0ADA85AB86FA}" type="datetimeFigureOut">
              <a:rPr lang="uk-UA" smtClean="0"/>
              <a:t>03.08.2025</a:t>
            </a:fld>
            <a:endParaRPr lang="uk-UA"/>
          </a:p>
        </p:txBody>
      </p:sp>
      <p:sp>
        <p:nvSpPr>
          <p:cNvPr id="6" name="Нижний колонтитул 5">
            <a:extLst>
              <a:ext uri="{FF2B5EF4-FFF2-40B4-BE49-F238E27FC236}">
                <a16:creationId xmlns:a16="http://schemas.microsoft.com/office/drawing/2014/main" id="{DEFBF8CF-6DE6-47BA-C3FB-BF90B375B1FE}"/>
              </a:ext>
            </a:extLst>
          </p:cNvPr>
          <p:cNvSpPr>
            <a:spLocks noGrp="1"/>
          </p:cNvSpPr>
          <p:nvPr>
            <p:ph type="ftr" sz="quarter" idx="11"/>
          </p:nvPr>
        </p:nvSpPr>
        <p:spPr/>
        <p:txBody>
          <a:bodyPr/>
          <a:lstStyle/>
          <a:p>
            <a:endParaRPr lang="uk-UA"/>
          </a:p>
        </p:txBody>
      </p:sp>
      <p:sp>
        <p:nvSpPr>
          <p:cNvPr id="7" name="Номер слайда 6">
            <a:extLst>
              <a:ext uri="{FF2B5EF4-FFF2-40B4-BE49-F238E27FC236}">
                <a16:creationId xmlns:a16="http://schemas.microsoft.com/office/drawing/2014/main" id="{5D9C40B4-5CEF-7836-05EF-3B723EB2FCBD}"/>
              </a:ext>
            </a:extLst>
          </p:cNvPr>
          <p:cNvSpPr>
            <a:spLocks noGrp="1"/>
          </p:cNvSpPr>
          <p:nvPr>
            <p:ph type="sldNum" sz="quarter" idx="12"/>
          </p:nvPr>
        </p:nvSpPr>
        <p:spPr/>
        <p:txBody>
          <a:bodyPr/>
          <a:lstStyle/>
          <a:p>
            <a:fld id="{3B740B5E-42AC-4C62-8644-F9D9979E3C1B}" type="slidenum">
              <a:rPr lang="uk-UA" smtClean="0"/>
              <a:t>‹№›</a:t>
            </a:fld>
            <a:endParaRPr lang="uk-UA"/>
          </a:p>
        </p:txBody>
      </p:sp>
    </p:spTree>
    <p:extLst>
      <p:ext uri="{BB962C8B-B14F-4D97-AF65-F5344CB8AC3E}">
        <p14:creationId xmlns:p14="http://schemas.microsoft.com/office/powerpoint/2010/main" val="1685147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3A3CA9-4FCE-04E1-42BD-5B8A476C3816}"/>
              </a:ext>
            </a:extLst>
          </p:cNvPr>
          <p:cNvSpPr>
            <a:spLocks noGrp="1"/>
          </p:cNvSpPr>
          <p:nvPr>
            <p:ph type="title"/>
          </p:nvPr>
        </p:nvSpPr>
        <p:spPr/>
        <p:txBody>
          <a:bodyPr/>
          <a:lstStyle/>
          <a:p>
            <a:r>
              <a:rPr lang="ru-RU"/>
              <a:t>Образец заголовка</a:t>
            </a:r>
            <a:endParaRPr lang="uk-UA"/>
          </a:p>
        </p:txBody>
      </p:sp>
      <p:sp>
        <p:nvSpPr>
          <p:cNvPr id="3" name="Вертикальный текст 2">
            <a:extLst>
              <a:ext uri="{FF2B5EF4-FFF2-40B4-BE49-F238E27FC236}">
                <a16:creationId xmlns:a16="http://schemas.microsoft.com/office/drawing/2014/main" id="{28239AA0-5AD0-1B0E-FA81-48CE982A822E}"/>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uk-UA"/>
          </a:p>
        </p:txBody>
      </p:sp>
      <p:sp>
        <p:nvSpPr>
          <p:cNvPr id="4" name="Дата 3">
            <a:extLst>
              <a:ext uri="{FF2B5EF4-FFF2-40B4-BE49-F238E27FC236}">
                <a16:creationId xmlns:a16="http://schemas.microsoft.com/office/drawing/2014/main" id="{7EEA6C21-4BC9-7300-3FB7-F3398A823EB5}"/>
              </a:ext>
            </a:extLst>
          </p:cNvPr>
          <p:cNvSpPr>
            <a:spLocks noGrp="1"/>
          </p:cNvSpPr>
          <p:nvPr>
            <p:ph type="dt" sz="half" idx="10"/>
          </p:nvPr>
        </p:nvSpPr>
        <p:spPr/>
        <p:txBody>
          <a:bodyPr/>
          <a:lstStyle/>
          <a:p>
            <a:fld id="{F1E3972C-1D59-4812-9879-0ADA85AB86FA}" type="datetimeFigureOut">
              <a:rPr lang="uk-UA" smtClean="0"/>
              <a:t>03.08.2025</a:t>
            </a:fld>
            <a:endParaRPr lang="uk-UA"/>
          </a:p>
        </p:txBody>
      </p:sp>
      <p:sp>
        <p:nvSpPr>
          <p:cNvPr id="5" name="Нижний колонтитул 4">
            <a:extLst>
              <a:ext uri="{FF2B5EF4-FFF2-40B4-BE49-F238E27FC236}">
                <a16:creationId xmlns:a16="http://schemas.microsoft.com/office/drawing/2014/main" id="{64E7A3A4-7067-8108-E4DF-8C6E4CD8E966}"/>
              </a:ext>
            </a:extLst>
          </p:cNvPr>
          <p:cNvSpPr>
            <a:spLocks noGrp="1"/>
          </p:cNvSpPr>
          <p:nvPr>
            <p:ph type="ftr" sz="quarter" idx="11"/>
          </p:nvPr>
        </p:nvSpPr>
        <p:spPr/>
        <p:txBody>
          <a:bodyPr/>
          <a:lstStyle/>
          <a:p>
            <a:endParaRPr lang="uk-UA"/>
          </a:p>
        </p:txBody>
      </p:sp>
      <p:sp>
        <p:nvSpPr>
          <p:cNvPr id="6" name="Номер слайда 5">
            <a:extLst>
              <a:ext uri="{FF2B5EF4-FFF2-40B4-BE49-F238E27FC236}">
                <a16:creationId xmlns:a16="http://schemas.microsoft.com/office/drawing/2014/main" id="{B3C10FF2-CD08-629F-DDE1-7A138E0AEB05}"/>
              </a:ext>
            </a:extLst>
          </p:cNvPr>
          <p:cNvSpPr>
            <a:spLocks noGrp="1"/>
          </p:cNvSpPr>
          <p:nvPr>
            <p:ph type="sldNum" sz="quarter" idx="12"/>
          </p:nvPr>
        </p:nvSpPr>
        <p:spPr/>
        <p:txBody>
          <a:bodyPr/>
          <a:lstStyle/>
          <a:p>
            <a:fld id="{3B740B5E-42AC-4C62-8644-F9D9979E3C1B}" type="slidenum">
              <a:rPr lang="uk-UA" smtClean="0"/>
              <a:t>‹№›</a:t>
            </a:fld>
            <a:endParaRPr lang="uk-UA"/>
          </a:p>
        </p:txBody>
      </p:sp>
    </p:spTree>
    <p:extLst>
      <p:ext uri="{BB962C8B-B14F-4D97-AF65-F5344CB8AC3E}">
        <p14:creationId xmlns:p14="http://schemas.microsoft.com/office/powerpoint/2010/main" val="2676875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95CB9DE7-6C28-F2AB-69D7-564D017BBFDA}"/>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uk-UA"/>
          </a:p>
        </p:txBody>
      </p:sp>
      <p:sp>
        <p:nvSpPr>
          <p:cNvPr id="3" name="Вертикальный текст 2">
            <a:extLst>
              <a:ext uri="{FF2B5EF4-FFF2-40B4-BE49-F238E27FC236}">
                <a16:creationId xmlns:a16="http://schemas.microsoft.com/office/drawing/2014/main" id="{FCC1730D-0865-98A5-9C17-905D8F0BB8CE}"/>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uk-UA"/>
          </a:p>
        </p:txBody>
      </p:sp>
      <p:sp>
        <p:nvSpPr>
          <p:cNvPr id="4" name="Дата 3">
            <a:extLst>
              <a:ext uri="{FF2B5EF4-FFF2-40B4-BE49-F238E27FC236}">
                <a16:creationId xmlns:a16="http://schemas.microsoft.com/office/drawing/2014/main" id="{4887782F-B42D-DC1E-E695-5BB95E77920F}"/>
              </a:ext>
            </a:extLst>
          </p:cNvPr>
          <p:cNvSpPr>
            <a:spLocks noGrp="1"/>
          </p:cNvSpPr>
          <p:nvPr>
            <p:ph type="dt" sz="half" idx="10"/>
          </p:nvPr>
        </p:nvSpPr>
        <p:spPr/>
        <p:txBody>
          <a:bodyPr/>
          <a:lstStyle/>
          <a:p>
            <a:fld id="{F1E3972C-1D59-4812-9879-0ADA85AB86FA}" type="datetimeFigureOut">
              <a:rPr lang="uk-UA" smtClean="0"/>
              <a:t>03.08.2025</a:t>
            </a:fld>
            <a:endParaRPr lang="uk-UA"/>
          </a:p>
        </p:txBody>
      </p:sp>
      <p:sp>
        <p:nvSpPr>
          <p:cNvPr id="5" name="Нижний колонтитул 4">
            <a:extLst>
              <a:ext uri="{FF2B5EF4-FFF2-40B4-BE49-F238E27FC236}">
                <a16:creationId xmlns:a16="http://schemas.microsoft.com/office/drawing/2014/main" id="{D58BE4FF-3308-A3BB-13AB-CB0656A1D57A}"/>
              </a:ext>
            </a:extLst>
          </p:cNvPr>
          <p:cNvSpPr>
            <a:spLocks noGrp="1"/>
          </p:cNvSpPr>
          <p:nvPr>
            <p:ph type="ftr" sz="quarter" idx="11"/>
          </p:nvPr>
        </p:nvSpPr>
        <p:spPr/>
        <p:txBody>
          <a:bodyPr/>
          <a:lstStyle/>
          <a:p>
            <a:endParaRPr lang="uk-UA"/>
          </a:p>
        </p:txBody>
      </p:sp>
      <p:sp>
        <p:nvSpPr>
          <p:cNvPr id="6" name="Номер слайда 5">
            <a:extLst>
              <a:ext uri="{FF2B5EF4-FFF2-40B4-BE49-F238E27FC236}">
                <a16:creationId xmlns:a16="http://schemas.microsoft.com/office/drawing/2014/main" id="{5442E754-E68F-D875-966D-BDE24CA16015}"/>
              </a:ext>
            </a:extLst>
          </p:cNvPr>
          <p:cNvSpPr>
            <a:spLocks noGrp="1"/>
          </p:cNvSpPr>
          <p:nvPr>
            <p:ph type="sldNum" sz="quarter" idx="12"/>
          </p:nvPr>
        </p:nvSpPr>
        <p:spPr/>
        <p:txBody>
          <a:bodyPr/>
          <a:lstStyle/>
          <a:p>
            <a:fld id="{3B740B5E-42AC-4C62-8644-F9D9979E3C1B}" type="slidenum">
              <a:rPr lang="uk-UA" smtClean="0"/>
              <a:t>‹№›</a:t>
            </a:fld>
            <a:endParaRPr lang="uk-UA"/>
          </a:p>
        </p:txBody>
      </p:sp>
    </p:spTree>
    <p:extLst>
      <p:ext uri="{BB962C8B-B14F-4D97-AF65-F5344CB8AC3E}">
        <p14:creationId xmlns:p14="http://schemas.microsoft.com/office/powerpoint/2010/main" val="3647476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7F21754-49F4-99BC-3186-F93ABDD1EC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uk-UA"/>
          </a:p>
        </p:txBody>
      </p:sp>
      <p:sp>
        <p:nvSpPr>
          <p:cNvPr id="3" name="Текст 2">
            <a:extLst>
              <a:ext uri="{FF2B5EF4-FFF2-40B4-BE49-F238E27FC236}">
                <a16:creationId xmlns:a16="http://schemas.microsoft.com/office/drawing/2014/main" id="{D649F773-8CE3-A1B9-D56C-9ADA522E7A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uk-UA"/>
          </a:p>
        </p:txBody>
      </p:sp>
      <p:sp>
        <p:nvSpPr>
          <p:cNvPr id="4" name="Дата 3">
            <a:extLst>
              <a:ext uri="{FF2B5EF4-FFF2-40B4-BE49-F238E27FC236}">
                <a16:creationId xmlns:a16="http://schemas.microsoft.com/office/drawing/2014/main" id="{259E54FD-E9A9-BB88-3366-5240E179C1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E3972C-1D59-4812-9879-0ADA85AB86FA}" type="datetimeFigureOut">
              <a:rPr lang="uk-UA" smtClean="0"/>
              <a:t>03.08.2025</a:t>
            </a:fld>
            <a:endParaRPr lang="uk-UA"/>
          </a:p>
        </p:txBody>
      </p:sp>
      <p:sp>
        <p:nvSpPr>
          <p:cNvPr id="5" name="Нижний колонтитул 4">
            <a:extLst>
              <a:ext uri="{FF2B5EF4-FFF2-40B4-BE49-F238E27FC236}">
                <a16:creationId xmlns:a16="http://schemas.microsoft.com/office/drawing/2014/main" id="{353AFDBA-1AD2-2DC3-7099-9ED422E2CC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uk-UA"/>
          </a:p>
        </p:txBody>
      </p:sp>
      <p:sp>
        <p:nvSpPr>
          <p:cNvPr id="6" name="Номер слайда 5">
            <a:extLst>
              <a:ext uri="{FF2B5EF4-FFF2-40B4-BE49-F238E27FC236}">
                <a16:creationId xmlns:a16="http://schemas.microsoft.com/office/drawing/2014/main" id="{F0368F6C-F98C-ABE5-567C-0C5A0D209D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740B5E-42AC-4C62-8644-F9D9979E3C1B}" type="slidenum">
              <a:rPr lang="uk-UA" smtClean="0"/>
              <a:t>‹№›</a:t>
            </a:fld>
            <a:endParaRPr lang="uk-UA"/>
          </a:p>
        </p:txBody>
      </p:sp>
    </p:spTree>
    <p:extLst>
      <p:ext uri="{BB962C8B-B14F-4D97-AF65-F5344CB8AC3E}">
        <p14:creationId xmlns:p14="http://schemas.microsoft.com/office/powerpoint/2010/main" val="344286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2.svg"/><Relationship Id="rId4" Type="http://schemas.openxmlformats.org/officeDocument/2006/relationships/tags" Target="../tags/tag4.xml"/><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Shape4326"/>
          <p:cNvGrpSpPr/>
          <p:nvPr>
            <p:custDataLst>
              <p:tags r:id="rId1"/>
            </p:custDataLst>
          </p:nvPr>
        </p:nvGrpSpPr>
        <p:grpSpPr>
          <a:xfrm>
            <a:off x="0" y="0"/>
            <a:ext cx="12192000" cy="6858000"/>
            <a:chOff x="-635000" y="-635000"/>
            <a:chExt cx="12192000" cy="6858000"/>
          </a:xfrm>
          <a:noFill/>
        </p:grpSpPr>
        <p:sp>
          <p:nvSpPr>
            <p:cNvPr id="10" name="Shape4323">
              <a:extLst>
                <a:ext uri="{FF2B5EF4-FFF2-40B4-BE49-F238E27FC236}">
                  <a16:creationId xmlns:a16="http://schemas.microsoft.com/office/drawing/2014/main" id="{141CCFB4-2F64-06B8-AF1D-C9E48150CDA3}"/>
                </a:ext>
              </a:extLst>
            </p:cNvPr>
            <p:cNvSpPr/>
            <p:nvPr>
              <p:custDataLst>
                <p:tags r:id="rId7"/>
              </p:custDataLst>
            </p:nvPr>
          </p:nvSpPr>
          <p:spPr>
            <a:xfrm>
              <a:off x="-635000" y="-63500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Autofit/>
            </a:bodyPr>
            <a:lstStyle/>
            <a:p>
              <a:pPr algn="ctr"/>
              <a:endParaRPr lang="ru-RU" sz="1100">
                <a:solidFill>
                  <a:srgbClr val="000000"/>
                </a:solidFill>
                <a:latin typeface="Comfortaa"/>
                <a:cs typeface="Comfortaa"/>
              </a:endParaRPr>
            </a:p>
          </p:txBody>
        </p:sp>
      </p:grpSp>
      <p:grpSp>
        <p:nvGrpSpPr>
          <p:cNvPr id="3" name="Shape4327"/>
          <p:cNvGrpSpPr/>
          <p:nvPr>
            <p:custDataLst>
              <p:tags r:id="rId2"/>
            </p:custDataLst>
          </p:nvPr>
        </p:nvGrpSpPr>
        <p:grpSpPr>
          <a:xfrm>
            <a:off x="5197365" y="984555"/>
            <a:ext cx="1797269" cy="1797269"/>
            <a:chOff x="4562366" y="349555"/>
            <a:chExt cx="1797269" cy="1797269"/>
          </a:xfrm>
        </p:grpSpPr>
        <p:pic>
          <p:nvPicPr>
            <p:cNvPr id="5" name="Shape4328"/>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4562366" y="349555"/>
              <a:ext cx="1797269" cy="1797269"/>
            </a:xfrm>
            <a:prstGeom prst="rect">
              <a:avLst/>
            </a:prstGeom>
          </p:spPr>
        </p:pic>
      </p:grpSp>
      <p:grpSp>
        <p:nvGrpSpPr>
          <p:cNvPr id="7" name="Shape4329"/>
          <p:cNvGrpSpPr/>
          <p:nvPr>
            <p:custDataLst>
              <p:tags r:id="rId3"/>
            </p:custDataLst>
          </p:nvPr>
        </p:nvGrpSpPr>
        <p:grpSpPr>
          <a:xfrm>
            <a:off x="5557345" y="3238244"/>
            <a:ext cx="1077311" cy="55245"/>
            <a:chOff x="4925483" y="2578947"/>
            <a:chExt cx="1077311" cy="55245"/>
          </a:xfrm>
        </p:grpSpPr>
        <p:sp>
          <p:nvSpPr>
            <p:cNvPr id="8" name="Shape4325">
              <a:extLst>
                <a:ext uri="{FF2B5EF4-FFF2-40B4-BE49-F238E27FC236}">
                  <a16:creationId xmlns:a16="http://schemas.microsoft.com/office/drawing/2014/main" id="{21F15AB7-005A-EB90-56E9-C5761A58FD31}"/>
                </a:ext>
              </a:extLst>
            </p:cNvPr>
            <p:cNvSpPr/>
            <p:nvPr>
              <p:custDataLst>
                <p:tags r:id="rId5"/>
              </p:custDataLst>
            </p:nvPr>
          </p:nvSpPr>
          <p:spPr>
            <a:xfrm flipV="1">
              <a:off x="4925483" y="2578947"/>
              <a:ext cx="1077311" cy="55245"/>
            </a:xfrm>
            <a:prstGeom prst="rect">
              <a:avLst/>
            </a:prstGeom>
            <a:solidFill>
              <a:schemeClr val="bg2"/>
            </a:solidFill>
            <a:ln w="28575">
              <a:noFill/>
              <a:prstDash val="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ru-RU"/>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412717"/>
              <a:endParaRPr lang="en-US" sz="800">
                <a:solidFill>
                  <a:schemeClr val="tx1"/>
                </a:solidFill>
                <a:latin typeface="Comfortaa"/>
                <a:ea typeface="Comfortaa"/>
                <a:cs typeface="Comfortaa"/>
              </a:endParaRPr>
            </a:p>
          </p:txBody>
        </p:sp>
      </p:grpSp>
      <p:sp>
        <p:nvSpPr>
          <p:cNvPr id="6" name="Shape4324">
            <a:extLst>
              <a:ext uri="{FF2B5EF4-FFF2-40B4-BE49-F238E27FC236}">
                <a16:creationId xmlns:a16="http://schemas.microsoft.com/office/drawing/2014/main" id="{9CB60D78-BFA7-FBF3-D935-4D20CC03291F}"/>
              </a:ext>
            </a:extLst>
          </p:cNvPr>
          <p:cNvSpPr/>
          <p:nvPr>
            <p:custDataLst>
              <p:tags r:id="rId4"/>
            </p:custDataLst>
          </p:nvPr>
        </p:nvSpPr>
        <p:spPr>
          <a:xfrm>
            <a:off x="3371700" y="3568704"/>
            <a:ext cx="5448607" cy="19297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ctr">
              <a:lnSpc>
                <a:spcPct val="95000"/>
              </a:lnSpc>
              <a:spcBef>
                <a:spcPct val="0"/>
              </a:spcBef>
              <a:spcAft>
                <a:spcPct val="0"/>
              </a:spcAft>
            </a:pPr>
            <a:r>
              <a:rPr lang="en-US" sz="6600" dirty="0" err="1">
                <a:solidFill>
                  <a:srgbClr val="000000"/>
                </a:solidFill>
                <a:effectLst>
                  <a:outerShdw blurRad="38100" dist="38100" dir="2700000" algn="tl">
                    <a:srgbClr val="000000">
                      <a:alpha val="43137"/>
                    </a:srgbClr>
                  </a:outerShdw>
                </a:effectLst>
                <a:latin typeface="Cascadia Code" panose="020B0609020000020004" pitchFamily="49" charset="0"/>
                <a:cs typeface="Cascadia Code" panose="020B0609020000020004" pitchFamily="49" charset="0"/>
              </a:rPr>
              <a:t>Тема</a:t>
            </a:r>
            <a:r>
              <a:rPr lang="en-US" sz="6600" dirty="0">
                <a:solidFill>
                  <a:srgbClr val="000000"/>
                </a:solidFill>
                <a:effectLst>
                  <a:outerShdw blurRad="38100" dist="38100" dir="2700000" algn="tl">
                    <a:srgbClr val="000000">
                      <a:alpha val="43137"/>
                    </a:srgbClr>
                  </a:outerShdw>
                </a:effectLst>
                <a:latin typeface="Cascadia Code" panose="020B0609020000020004" pitchFamily="49" charset="0"/>
                <a:cs typeface="Cascadia Code" panose="020B0609020000020004" pitchFamily="49" charset="0"/>
              </a:rPr>
              <a:t> </a:t>
            </a:r>
            <a:r>
              <a:rPr lang="en-US" sz="6600" dirty="0" err="1">
                <a:solidFill>
                  <a:srgbClr val="000000"/>
                </a:solidFill>
                <a:effectLst>
                  <a:outerShdw blurRad="38100" dist="38100" dir="2700000" algn="tl">
                    <a:srgbClr val="000000">
                      <a:alpha val="43137"/>
                    </a:srgbClr>
                  </a:outerShdw>
                </a:effectLst>
                <a:latin typeface="Cascadia Code" panose="020B0609020000020004" pitchFamily="49" charset="0"/>
                <a:cs typeface="Cascadia Code" panose="020B0609020000020004" pitchFamily="49" charset="0"/>
              </a:rPr>
              <a:t>уроку</a:t>
            </a:r>
            <a:r>
              <a:rPr lang="en-US" sz="6600" dirty="0">
                <a:solidFill>
                  <a:srgbClr val="000000"/>
                </a:solidFill>
                <a:effectLst>
                  <a:outerShdw blurRad="38100" dist="38100" dir="2700000" algn="tl">
                    <a:srgbClr val="000000">
                      <a:alpha val="43137"/>
                    </a:srgbClr>
                  </a:outerShdw>
                </a:effectLst>
                <a:latin typeface="Cascadia Code" panose="020B0609020000020004" pitchFamily="49" charset="0"/>
                <a:cs typeface="Cascadia Code" panose="020B0609020000020004" pitchFamily="49" charset="0"/>
              </a:rPr>
              <a:t>:
</a:t>
            </a:r>
            <a:r>
              <a:rPr lang="uk-UA" sz="6600" dirty="0">
                <a:solidFill>
                  <a:srgbClr val="000000"/>
                </a:solidFill>
                <a:effectLst>
                  <a:outerShdw blurRad="38100" dist="38100" dir="2700000" algn="tl">
                    <a:srgbClr val="000000">
                      <a:alpha val="43137"/>
                    </a:srgbClr>
                  </a:outerShdw>
                </a:effectLst>
                <a:latin typeface="Cascadia Code" panose="020B0609020000020004" pitchFamily="49" charset="0"/>
                <a:cs typeface="Cascadia Code" panose="020B0609020000020004" pitchFamily="49" charset="0"/>
              </a:rPr>
              <a:t>Методи</a:t>
            </a:r>
            <a:endParaRPr lang="en-US" sz="6600" dirty="0">
              <a:solidFill>
                <a:srgbClr val="000000"/>
              </a:solidFill>
              <a:effectLst>
                <a:outerShdw blurRad="38100" dist="38100" dir="2700000" algn="tl">
                  <a:srgbClr val="000000">
                    <a:alpha val="43137"/>
                  </a:srgbClr>
                </a:outerShdw>
              </a:effectLst>
              <a:latin typeface="Cascadia Code" panose="020B0609020000020004" pitchFamily="49" charset="0"/>
              <a:cs typeface="Cascadia Code" panose="020B0609020000020004" pitchFamily="49"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descr="Оператор while - 2"/>
          <p:cNvSpPr/>
          <p:nvPr/>
        </p:nvSpPr>
        <p:spPr>
          <a:xfrm>
            <a:off x="5943600" y="3276600"/>
            <a:ext cx="304800" cy="304800"/>
          </a:xfrm>
          <a:prstGeom prst="rect">
            <a:avLst/>
          </a:prstGeom>
          <a:noFill/>
          <a:ln>
            <a:noFill/>
          </a:ln>
        </p:spPr>
        <p:txBody>
          <a:bodyPr spcFirstLastPara="1" wrap="square" lIns="91433" tIns="45700" rIns="91433" bIns="45700" anchor="t" anchorCtr="0">
            <a:noAutofit/>
          </a:bodyPr>
          <a:lstStyle/>
          <a:p>
            <a:endParaRPr sz="1867">
              <a:solidFill>
                <a:schemeClr val="dk1"/>
              </a:solidFill>
              <a:latin typeface="Calibri"/>
              <a:ea typeface="Calibri"/>
              <a:cs typeface="Calibri"/>
              <a:sym typeface="Calibri"/>
            </a:endParaRPr>
          </a:p>
        </p:txBody>
      </p:sp>
      <p:sp>
        <p:nvSpPr>
          <p:cNvPr id="61" name="Google Shape;61;p14" descr="Оператор while - 2"/>
          <p:cNvSpPr/>
          <p:nvPr/>
        </p:nvSpPr>
        <p:spPr>
          <a:xfrm>
            <a:off x="6096000" y="3429000"/>
            <a:ext cx="304800" cy="304800"/>
          </a:xfrm>
          <a:prstGeom prst="rect">
            <a:avLst/>
          </a:prstGeom>
          <a:noFill/>
          <a:ln>
            <a:noFill/>
          </a:ln>
        </p:spPr>
        <p:txBody>
          <a:bodyPr spcFirstLastPara="1" wrap="square" lIns="91433" tIns="45700" rIns="91433" bIns="45700" anchor="t" anchorCtr="0">
            <a:noAutofit/>
          </a:bodyPr>
          <a:lstStyle/>
          <a:p>
            <a:endParaRPr sz="1867">
              <a:solidFill>
                <a:schemeClr val="dk1"/>
              </a:solidFill>
              <a:latin typeface="Calibri"/>
              <a:ea typeface="Calibri"/>
              <a:cs typeface="Calibri"/>
              <a:sym typeface="Calibri"/>
            </a:endParaRPr>
          </a:p>
        </p:txBody>
      </p:sp>
      <p:sp>
        <p:nvSpPr>
          <p:cNvPr id="62" name="Google Shape;62;p14"/>
          <p:cNvSpPr/>
          <p:nvPr/>
        </p:nvSpPr>
        <p:spPr>
          <a:xfrm>
            <a:off x="6248400" y="3581400"/>
            <a:ext cx="304800" cy="304800"/>
          </a:xfrm>
          <a:prstGeom prst="rect">
            <a:avLst/>
          </a:prstGeom>
          <a:noFill/>
          <a:ln>
            <a:noFill/>
          </a:ln>
        </p:spPr>
        <p:txBody>
          <a:bodyPr spcFirstLastPara="1" wrap="square" lIns="91433" tIns="45700" rIns="91433" bIns="45700" anchor="t" anchorCtr="0">
            <a:noAutofit/>
          </a:bodyPr>
          <a:lstStyle/>
          <a:p>
            <a:endParaRPr sz="1867">
              <a:solidFill>
                <a:schemeClr val="dk1"/>
              </a:solidFill>
              <a:latin typeface="Calibri"/>
              <a:ea typeface="Calibri"/>
              <a:cs typeface="Calibri"/>
              <a:sym typeface="Calibri"/>
            </a:endParaRPr>
          </a:p>
        </p:txBody>
      </p:sp>
      <p:sp>
        <p:nvSpPr>
          <p:cNvPr id="63" name="Google Shape;63;p14"/>
          <p:cNvSpPr txBox="1"/>
          <p:nvPr/>
        </p:nvSpPr>
        <p:spPr>
          <a:xfrm>
            <a:off x="168133" y="211967"/>
            <a:ext cx="8487600" cy="984845"/>
          </a:xfrm>
          <a:prstGeom prst="rect">
            <a:avLst/>
          </a:prstGeom>
          <a:noFill/>
          <a:ln>
            <a:noFill/>
          </a:ln>
        </p:spPr>
        <p:txBody>
          <a:bodyPr spcFirstLastPara="1" wrap="square" lIns="121900" tIns="121900" rIns="121900" bIns="121900" anchor="t" anchorCtr="0">
            <a:spAutoFit/>
          </a:bodyPr>
          <a:lstStyle/>
          <a:p>
            <a:pPr algn="ctr"/>
            <a:r>
              <a:rPr lang="uk" sz="4800" b="1">
                <a:solidFill>
                  <a:schemeClr val="dk1"/>
                </a:solidFill>
                <a:latin typeface="Times New Roman"/>
                <a:ea typeface="Times New Roman"/>
                <a:cs typeface="Times New Roman"/>
                <a:sym typeface="Times New Roman"/>
              </a:rPr>
              <a:t>Що таке методи на пальцях</a:t>
            </a:r>
            <a:endParaRPr sz="1467">
              <a:solidFill>
                <a:schemeClr val="dk1"/>
              </a:solidFill>
            </a:endParaRPr>
          </a:p>
        </p:txBody>
      </p:sp>
      <p:sp>
        <p:nvSpPr>
          <p:cNvPr id="64" name="Google Shape;64;p14"/>
          <p:cNvSpPr txBox="1"/>
          <p:nvPr/>
        </p:nvSpPr>
        <p:spPr>
          <a:xfrm>
            <a:off x="168133" y="1197168"/>
            <a:ext cx="4427200" cy="5144060"/>
          </a:xfrm>
          <a:prstGeom prst="rect">
            <a:avLst/>
          </a:prstGeom>
          <a:noFill/>
          <a:ln>
            <a:noFill/>
          </a:ln>
        </p:spPr>
        <p:txBody>
          <a:bodyPr spcFirstLastPara="1" wrap="square" lIns="121900" tIns="121900" rIns="121900" bIns="121900" anchor="t" anchorCtr="0">
            <a:spAutoFit/>
          </a:bodyPr>
          <a:lstStyle/>
          <a:p>
            <a:pPr marL="609585" indent="-406390">
              <a:lnSpc>
                <a:spcPct val="137500"/>
              </a:lnSpc>
              <a:spcBef>
                <a:spcPts val="1067"/>
              </a:spcBef>
              <a:buClr>
                <a:srgbClr val="001D35"/>
              </a:buClr>
              <a:buSzPts val="1200"/>
              <a:buChar char="●"/>
            </a:pPr>
            <a:r>
              <a:rPr lang="uk" sz="1600" b="1">
                <a:solidFill>
                  <a:srgbClr val="001D35"/>
                </a:solidFill>
                <a:highlight>
                  <a:srgbClr val="FFFFFF"/>
                </a:highlight>
                <a:latin typeface="Times New Roman"/>
                <a:ea typeface="Times New Roman"/>
                <a:cs typeface="Times New Roman"/>
                <a:sym typeface="Times New Roman"/>
              </a:rPr>
              <a:t>Уявіть, що у вас є куховарська книга.</a:t>
            </a:r>
            <a:r>
              <a:rPr lang="uk" sz="1600">
                <a:solidFill>
                  <a:srgbClr val="001D35"/>
                </a:solidFill>
                <a:highlight>
                  <a:srgbClr val="FFFFFF"/>
                </a:highlight>
                <a:latin typeface="Times New Roman"/>
                <a:ea typeface="Times New Roman"/>
                <a:cs typeface="Times New Roman"/>
                <a:sym typeface="Times New Roman"/>
              </a:rPr>
              <a:t> Ця книга містить багато рецептів.</a:t>
            </a:r>
            <a:endParaRPr sz="1600">
              <a:solidFill>
                <a:srgbClr val="001D35"/>
              </a:solidFill>
              <a:highlight>
                <a:srgbClr val="FFFFFF"/>
              </a:highlight>
              <a:latin typeface="Times New Roman"/>
              <a:ea typeface="Times New Roman"/>
              <a:cs typeface="Times New Roman"/>
              <a:sym typeface="Times New Roman"/>
            </a:endParaRPr>
          </a:p>
          <a:p>
            <a:pPr marL="609585" indent="-406390">
              <a:lnSpc>
                <a:spcPct val="137500"/>
              </a:lnSpc>
              <a:buClr>
                <a:srgbClr val="001D35"/>
              </a:buClr>
              <a:buSzPts val="1200"/>
              <a:buChar char="●"/>
            </a:pPr>
            <a:r>
              <a:rPr lang="uk" sz="1600" b="1">
                <a:solidFill>
                  <a:srgbClr val="001D35"/>
                </a:solidFill>
                <a:highlight>
                  <a:srgbClr val="FFFFFF"/>
                </a:highlight>
                <a:latin typeface="Times New Roman"/>
                <a:ea typeface="Times New Roman"/>
                <a:cs typeface="Times New Roman"/>
                <a:sym typeface="Times New Roman"/>
              </a:rPr>
              <a:t>Кожен рецепт - це метод.</a:t>
            </a:r>
            <a:r>
              <a:rPr lang="uk" sz="1600">
                <a:solidFill>
                  <a:srgbClr val="001D35"/>
                </a:solidFill>
                <a:highlight>
                  <a:srgbClr val="FFFFFF"/>
                </a:highlight>
                <a:latin typeface="Times New Roman"/>
                <a:ea typeface="Times New Roman"/>
                <a:cs typeface="Times New Roman"/>
                <a:sym typeface="Times New Roman"/>
              </a:rPr>
              <a:t> Наприклад, "Рецепт бутерброда" або "Рецепт яєчні".</a:t>
            </a:r>
            <a:endParaRPr sz="1600">
              <a:solidFill>
                <a:srgbClr val="001D35"/>
              </a:solidFill>
              <a:highlight>
                <a:srgbClr val="FFFFFF"/>
              </a:highlight>
              <a:latin typeface="Times New Roman"/>
              <a:ea typeface="Times New Roman"/>
              <a:cs typeface="Times New Roman"/>
              <a:sym typeface="Times New Roman"/>
            </a:endParaRPr>
          </a:p>
          <a:p>
            <a:pPr marL="609585" indent="-406390">
              <a:lnSpc>
                <a:spcPct val="137500"/>
              </a:lnSpc>
              <a:buClr>
                <a:srgbClr val="001D35"/>
              </a:buClr>
              <a:buSzPts val="1200"/>
              <a:buChar char="●"/>
            </a:pPr>
            <a:r>
              <a:rPr lang="uk" sz="1600" b="1">
                <a:solidFill>
                  <a:srgbClr val="001D35"/>
                </a:solidFill>
                <a:highlight>
                  <a:srgbClr val="FFFFFF"/>
                </a:highlight>
                <a:latin typeface="Times New Roman"/>
                <a:ea typeface="Times New Roman"/>
                <a:cs typeface="Times New Roman"/>
                <a:sym typeface="Times New Roman"/>
              </a:rPr>
              <a:t>Коли ви хочете приготувати бутерброд, ви відкриваєте відповідний рецепт.</a:t>
            </a:r>
            <a:r>
              <a:rPr lang="uk" sz="1600">
                <a:solidFill>
                  <a:srgbClr val="001D35"/>
                </a:solidFill>
                <a:highlight>
                  <a:srgbClr val="FFFFFF"/>
                </a:highlight>
                <a:latin typeface="Times New Roman"/>
                <a:ea typeface="Times New Roman"/>
                <a:cs typeface="Times New Roman"/>
                <a:sym typeface="Times New Roman"/>
              </a:rPr>
              <a:t> Це як "виклик методу".</a:t>
            </a:r>
            <a:endParaRPr sz="1600">
              <a:solidFill>
                <a:srgbClr val="001D35"/>
              </a:solidFill>
              <a:highlight>
                <a:srgbClr val="FFFFFF"/>
              </a:highlight>
              <a:latin typeface="Times New Roman"/>
              <a:ea typeface="Times New Roman"/>
              <a:cs typeface="Times New Roman"/>
              <a:sym typeface="Times New Roman"/>
            </a:endParaRPr>
          </a:p>
          <a:p>
            <a:pPr marL="609585" indent="-406390">
              <a:lnSpc>
                <a:spcPct val="137500"/>
              </a:lnSpc>
              <a:buClr>
                <a:srgbClr val="001D35"/>
              </a:buClr>
              <a:buSzPts val="1200"/>
              <a:buChar char="●"/>
            </a:pPr>
            <a:r>
              <a:rPr lang="uk" sz="1600" b="1">
                <a:solidFill>
                  <a:srgbClr val="001D35"/>
                </a:solidFill>
                <a:highlight>
                  <a:srgbClr val="FFFFFF"/>
                </a:highlight>
                <a:latin typeface="Times New Roman"/>
                <a:ea typeface="Times New Roman"/>
                <a:cs typeface="Times New Roman"/>
                <a:sym typeface="Times New Roman"/>
              </a:rPr>
              <a:t>Рецепт містить інструкції, що робити.</a:t>
            </a:r>
            <a:r>
              <a:rPr lang="uk" sz="1600">
                <a:solidFill>
                  <a:srgbClr val="001D35"/>
                </a:solidFill>
                <a:highlight>
                  <a:srgbClr val="FFFFFF"/>
                </a:highlight>
                <a:latin typeface="Times New Roman"/>
                <a:ea typeface="Times New Roman"/>
                <a:cs typeface="Times New Roman"/>
                <a:sym typeface="Times New Roman"/>
              </a:rPr>
              <a:t> Наприклад, покласти хліб, потім масло, потім ковбасу, і так далі. Це те, що робить метод.</a:t>
            </a:r>
            <a:endParaRPr sz="1600">
              <a:solidFill>
                <a:srgbClr val="001D35"/>
              </a:solidFill>
              <a:highlight>
                <a:srgbClr val="FFFFFF"/>
              </a:highlight>
              <a:latin typeface="Times New Roman"/>
              <a:ea typeface="Times New Roman"/>
              <a:cs typeface="Times New Roman"/>
              <a:sym typeface="Times New Roman"/>
            </a:endParaRPr>
          </a:p>
          <a:p>
            <a:pPr marL="609585" indent="-406390">
              <a:lnSpc>
                <a:spcPct val="137500"/>
              </a:lnSpc>
              <a:buClr>
                <a:srgbClr val="001D35"/>
              </a:buClr>
              <a:buSzPts val="1200"/>
              <a:buChar char="●"/>
            </a:pPr>
            <a:r>
              <a:rPr lang="uk" sz="1600" b="1">
                <a:solidFill>
                  <a:srgbClr val="001D35"/>
                </a:solidFill>
                <a:highlight>
                  <a:srgbClr val="FFFFFF"/>
                </a:highlight>
                <a:latin typeface="Times New Roman"/>
                <a:ea typeface="Times New Roman"/>
                <a:cs typeface="Times New Roman"/>
                <a:sym typeface="Times New Roman"/>
              </a:rPr>
              <a:t>Виконавши всі інструкції, ви отримаєте бутерброд.</a:t>
            </a:r>
            <a:r>
              <a:rPr lang="uk" sz="1600">
                <a:solidFill>
                  <a:srgbClr val="001D35"/>
                </a:solidFill>
                <a:highlight>
                  <a:srgbClr val="FFFFFF"/>
                </a:highlight>
                <a:latin typeface="Times New Roman"/>
                <a:ea typeface="Times New Roman"/>
                <a:cs typeface="Times New Roman"/>
                <a:sym typeface="Times New Roman"/>
              </a:rPr>
              <a:t> Це результат виконання методу.</a:t>
            </a:r>
            <a:endParaRPr sz="1600">
              <a:solidFill>
                <a:srgbClr val="001D35"/>
              </a:solidFill>
              <a:highlight>
                <a:srgbClr val="FFFFFF"/>
              </a:highlight>
              <a:latin typeface="Times New Roman"/>
              <a:ea typeface="Times New Roman"/>
              <a:cs typeface="Times New Roman"/>
              <a:sym typeface="Times New Roman"/>
            </a:endParaRPr>
          </a:p>
        </p:txBody>
      </p:sp>
      <p:sp>
        <p:nvSpPr>
          <p:cNvPr id="65" name="Google Shape;65;p14"/>
          <p:cNvSpPr txBox="1"/>
          <p:nvPr/>
        </p:nvSpPr>
        <p:spPr>
          <a:xfrm>
            <a:off x="7305267" y="4034101"/>
            <a:ext cx="4000000" cy="1631175"/>
          </a:xfrm>
          <a:prstGeom prst="rect">
            <a:avLst/>
          </a:prstGeom>
          <a:noFill/>
          <a:ln>
            <a:noFill/>
          </a:ln>
        </p:spPr>
        <p:txBody>
          <a:bodyPr spcFirstLastPara="1" wrap="square" lIns="121900" tIns="121900" rIns="121900" bIns="121900" anchor="t" anchorCtr="0">
            <a:spAutoFit/>
          </a:bodyPr>
          <a:lstStyle/>
          <a:p>
            <a:r>
              <a:rPr lang="uk">
                <a:solidFill>
                  <a:srgbClr val="001D35"/>
                </a:solidFill>
                <a:latin typeface="Times New Roman"/>
                <a:ea typeface="Times New Roman"/>
                <a:cs typeface="Times New Roman"/>
                <a:sym typeface="Times New Roman"/>
              </a:rPr>
              <a:t>Метод - це маленька "програма" всередині великої програми, яка робить щось конкретне. Вона має назву та інструкції, що потрібно зробити, щоб отримати результат.</a:t>
            </a:r>
            <a:endParaRPr sz="24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descr="Оператор while - 2"/>
          <p:cNvSpPr/>
          <p:nvPr/>
        </p:nvSpPr>
        <p:spPr>
          <a:xfrm>
            <a:off x="5943600" y="3276600"/>
            <a:ext cx="304800" cy="304800"/>
          </a:xfrm>
          <a:prstGeom prst="rect">
            <a:avLst/>
          </a:prstGeom>
          <a:noFill/>
          <a:ln>
            <a:noFill/>
          </a:ln>
        </p:spPr>
        <p:txBody>
          <a:bodyPr spcFirstLastPara="1" wrap="square" lIns="91433" tIns="45700" rIns="91433" bIns="45700" anchor="t" anchorCtr="0">
            <a:noAutofit/>
          </a:bodyPr>
          <a:lstStyle/>
          <a:p>
            <a:endParaRPr sz="1867">
              <a:solidFill>
                <a:schemeClr val="dk1"/>
              </a:solidFill>
              <a:latin typeface="Calibri"/>
              <a:ea typeface="Calibri"/>
              <a:cs typeface="Calibri"/>
              <a:sym typeface="Calibri"/>
            </a:endParaRPr>
          </a:p>
        </p:txBody>
      </p:sp>
      <p:sp>
        <p:nvSpPr>
          <p:cNvPr id="71" name="Google Shape;71;p15" descr="Оператор while - 2"/>
          <p:cNvSpPr/>
          <p:nvPr/>
        </p:nvSpPr>
        <p:spPr>
          <a:xfrm>
            <a:off x="6096000" y="3429000"/>
            <a:ext cx="304800" cy="304800"/>
          </a:xfrm>
          <a:prstGeom prst="rect">
            <a:avLst/>
          </a:prstGeom>
          <a:noFill/>
          <a:ln>
            <a:noFill/>
          </a:ln>
        </p:spPr>
        <p:txBody>
          <a:bodyPr spcFirstLastPara="1" wrap="square" lIns="91433" tIns="45700" rIns="91433" bIns="45700" anchor="t" anchorCtr="0">
            <a:noAutofit/>
          </a:bodyPr>
          <a:lstStyle/>
          <a:p>
            <a:endParaRPr sz="1867">
              <a:solidFill>
                <a:schemeClr val="dk1"/>
              </a:solidFill>
              <a:latin typeface="Calibri"/>
              <a:ea typeface="Calibri"/>
              <a:cs typeface="Calibri"/>
              <a:sym typeface="Calibri"/>
            </a:endParaRPr>
          </a:p>
        </p:txBody>
      </p:sp>
      <p:sp>
        <p:nvSpPr>
          <p:cNvPr id="72" name="Google Shape;72;p15"/>
          <p:cNvSpPr/>
          <p:nvPr/>
        </p:nvSpPr>
        <p:spPr>
          <a:xfrm>
            <a:off x="6248400" y="3581400"/>
            <a:ext cx="304800" cy="304800"/>
          </a:xfrm>
          <a:prstGeom prst="rect">
            <a:avLst/>
          </a:prstGeom>
          <a:noFill/>
          <a:ln>
            <a:noFill/>
          </a:ln>
        </p:spPr>
        <p:txBody>
          <a:bodyPr spcFirstLastPara="1" wrap="square" lIns="91433" tIns="45700" rIns="91433" bIns="45700" anchor="t" anchorCtr="0">
            <a:noAutofit/>
          </a:bodyPr>
          <a:lstStyle/>
          <a:p>
            <a:endParaRPr sz="1867">
              <a:solidFill>
                <a:schemeClr val="dk1"/>
              </a:solidFill>
              <a:latin typeface="Calibri"/>
              <a:ea typeface="Calibri"/>
              <a:cs typeface="Calibri"/>
              <a:sym typeface="Calibri"/>
            </a:endParaRPr>
          </a:p>
        </p:txBody>
      </p:sp>
      <p:sp>
        <p:nvSpPr>
          <p:cNvPr id="73" name="Google Shape;73;p15"/>
          <p:cNvSpPr txBox="1"/>
          <p:nvPr/>
        </p:nvSpPr>
        <p:spPr>
          <a:xfrm>
            <a:off x="168133" y="211967"/>
            <a:ext cx="114080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Переваги використання методів</a:t>
            </a:r>
            <a:endParaRPr sz="4800" b="1">
              <a:solidFill>
                <a:schemeClr val="dk1"/>
              </a:solidFill>
              <a:latin typeface="Times New Roman"/>
              <a:ea typeface="Times New Roman"/>
              <a:cs typeface="Times New Roman"/>
              <a:sym typeface="Times New Roman"/>
            </a:endParaRPr>
          </a:p>
          <a:p>
            <a:pPr algn="ctr"/>
            <a:endParaRPr sz="4800" b="1">
              <a:solidFill>
                <a:schemeClr val="dk1"/>
              </a:solidFill>
              <a:latin typeface="Times New Roman"/>
              <a:ea typeface="Times New Roman"/>
              <a:cs typeface="Times New Roman"/>
              <a:sym typeface="Times New Roman"/>
            </a:endParaRPr>
          </a:p>
        </p:txBody>
      </p:sp>
      <p:sp>
        <p:nvSpPr>
          <p:cNvPr id="74" name="Google Shape;74;p15"/>
          <p:cNvSpPr txBox="1"/>
          <p:nvPr/>
        </p:nvSpPr>
        <p:spPr>
          <a:xfrm>
            <a:off x="315733" y="1104967"/>
            <a:ext cx="6603600" cy="3638905"/>
          </a:xfrm>
          <a:prstGeom prst="rect">
            <a:avLst/>
          </a:prstGeom>
          <a:noFill/>
          <a:ln>
            <a:noFill/>
          </a:ln>
        </p:spPr>
        <p:txBody>
          <a:bodyPr spcFirstLastPara="1" wrap="square" lIns="121900" tIns="121900" rIns="121900" bIns="121900" anchor="t" anchorCtr="0">
            <a:spAutoFit/>
          </a:bodyPr>
          <a:lstStyle/>
          <a:p>
            <a:pPr marL="609585" indent="-406390">
              <a:lnSpc>
                <a:spcPct val="137500"/>
              </a:lnSpc>
              <a:spcBef>
                <a:spcPts val="1067"/>
              </a:spcBef>
              <a:buSzPts val="1200"/>
              <a:buFont typeface="Times New Roman"/>
              <a:buChar char="●"/>
            </a:pPr>
            <a:r>
              <a:rPr lang="uk" sz="1600" b="1">
                <a:solidFill>
                  <a:srgbClr val="001D35"/>
                </a:solidFill>
                <a:highlight>
                  <a:srgbClr val="FFFFFF"/>
                </a:highlight>
                <a:latin typeface="Times New Roman"/>
                <a:ea typeface="Times New Roman"/>
                <a:cs typeface="Times New Roman"/>
                <a:sym typeface="Times New Roman"/>
              </a:rPr>
              <a:t>Ваш код стає організованим. </a:t>
            </a:r>
            <a:r>
              <a:rPr lang="uk" sz="1600">
                <a:solidFill>
                  <a:srgbClr val="545D7E"/>
                </a:solidFill>
                <a:highlight>
                  <a:srgbClr val="FFFFFF"/>
                </a:highlight>
                <a:latin typeface="Times New Roman"/>
                <a:ea typeface="Times New Roman"/>
                <a:cs typeface="Times New Roman"/>
                <a:sym typeface="Times New Roman"/>
              </a:rPr>
              <a:t>Код становиться схожим на куховарську книгу, або як набір предметів в інвентарі.</a:t>
            </a:r>
            <a:endParaRPr sz="1600">
              <a:solidFill>
                <a:srgbClr val="545D7E"/>
              </a:solidFill>
              <a:highlight>
                <a:srgbClr val="FFFFFF"/>
              </a:highlight>
              <a:latin typeface="Times New Roman"/>
              <a:ea typeface="Times New Roman"/>
              <a:cs typeface="Times New Roman"/>
              <a:sym typeface="Times New Roman"/>
            </a:endParaRPr>
          </a:p>
          <a:p>
            <a:pPr marL="609585" indent="-406390">
              <a:lnSpc>
                <a:spcPct val="137500"/>
              </a:lnSpc>
              <a:buSzPts val="1200"/>
              <a:buFont typeface="Times New Roman"/>
              <a:buChar char="●"/>
            </a:pPr>
            <a:r>
              <a:rPr lang="uk" sz="1600" b="1">
                <a:solidFill>
                  <a:srgbClr val="001D35"/>
                </a:solidFill>
                <a:highlight>
                  <a:srgbClr val="FFFFFF"/>
                </a:highlight>
                <a:latin typeface="Times New Roman"/>
                <a:ea typeface="Times New Roman"/>
                <a:cs typeface="Times New Roman"/>
                <a:sym typeface="Times New Roman"/>
              </a:rPr>
              <a:t>Повторне використання коду.</a:t>
            </a:r>
            <a:br>
              <a:rPr lang="uk" sz="1600" b="1">
                <a:solidFill>
                  <a:srgbClr val="001D35"/>
                </a:solidFill>
                <a:highlight>
                  <a:srgbClr val="FFFFFF"/>
                </a:highlight>
                <a:latin typeface="Times New Roman"/>
                <a:ea typeface="Times New Roman"/>
                <a:cs typeface="Times New Roman"/>
                <a:sym typeface="Times New Roman"/>
              </a:rPr>
            </a:br>
            <a:r>
              <a:rPr lang="uk" sz="1600">
                <a:solidFill>
                  <a:srgbClr val="545D7E"/>
                </a:solidFill>
                <a:highlight>
                  <a:srgbClr val="FFFFFF"/>
                </a:highlight>
                <a:latin typeface="Times New Roman"/>
                <a:ea typeface="Times New Roman"/>
                <a:cs typeface="Times New Roman"/>
                <a:sym typeface="Times New Roman"/>
              </a:rPr>
              <a:t>Один і той же метод можна використовувати багато разів, не переписуючи код. Це єкономить час під час розробки гри.</a:t>
            </a:r>
            <a:endParaRPr sz="1600">
              <a:solidFill>
                <a:srgbClr val="545D7E"/>
              </a:solidFill>
              <a:highlight>
                <a:srgbClr val="FFFFFF"/>
              </a:highlight>
              <a:latin typeface="Times New Roman"/>
              <a:ea typeface="Times New Roman"/>
              <a:cs typeface="Times New Roman"/>
              <a:sym typeface="Times New Roman"/>
            </a:endParaRPr>
          </a:p>
          <a:p>
            <a:pPr marL="609585" indent="-406390">
              <a:lnSpc>
                <a:spcPct val="137500"/>
              </a:lnSpc>
              <a:buSzPts val="1200"/>
              <a:buFont typeface="Times New Roman"/>
              <a:buChar char="●"/>
            </a:pPr>
            <a:r>
              <a:rPr lang="uk" sz="1600" b="1">
                <a:solidFill>
                  <a:srgbClr val="001D35"/>
                </a:solidFill>
                <a:highlight>
                  <a:srgbClr val="FFFFFF"/>
                </a:highlight>
                <a:latin typeface="Times New Roman"/>
                <a:ea typeface="Times New Roman"/>
                <a:cs typeface="Times New Roman"/>
                <a:sym typeface="Times New Roman"/>
              </a:rPr>
              <a:t>Легше виправляти помилки:</a:t>
            </a:r>
            <a:br>
              <a:rPr lang="uk" sz="1600" b="1">
                <a:solidFill>
                  <a:srgbClr val="001D35"/>
                </a:solidFill>
                <a:highlight>
                  <a:srgbClr val="FFFFFF"/>
                </a:highlight>
                <a:latin typeface="Times New Roman"/>
                <a:ea typeface="Times New Roman"/>
                <a:cs typeface="Times New Roman"/>
                <a:sym typeface="Times New Roman"/>
              </a:rPr>
            </a:br>
            <a:r>
              <a:rPr lang="uk" sz="1600">
                <a:solidFill>
                  <a:srgbClr val="545D7E"/>
                </a:solidFill>
                <a:highlight>
                  <a:srgbClr val="FFFFFF"/>
                </a:highlight>
                <a:latin typeface="Times New Roman"/>
                <a:ea typeface="Times New Roman"/>
                <a:cs typeface="Times New Roman"/>
                <a:sym typeface="Times New Roman"/>
              </a:rPr>
              <a:t>Якщо є помилка в методі, її легко виправити в одному місці, і це вплине на всі місця, де метод використовується.</a:t>
            </a:r>
            <a:endParaRPr sz="1600">
              <a:solidFill>
                <a:srgbClr val="545D7E"/>
              </a:solidFill>
              <a:highlight>
                <a:srgbClr val="FFFFFF"/>
              </a:highlight>
              <a:latin typeface="Times New Roman"/>
              <a:ea typeface="Times New Roman"/>
              <a:cs typeface="Times New Roman"/>
              <a:sym typeface="Times New Roman"/>
            </a:endParaRPr>
          </a:p>
          <a:p>
            <a:pPr>
              <a:spcBef>
                <a:spcPts val="2000"/>
              </a:spcBef>
            </a:pPr>
            <a:endParaRPr>
              <a:solidFill>
                <a:srgbClr val="001D35"/>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6"/>
          <p:cNvSpPr txBox="1"/>
          <p:nvPr/>
        </p:nvSpPr>
        <p:spPr>
          <a:xfrm>
            <a:off x="168133" y="211967"/>
            <a:ext cx="114080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Структура методів</a:t>
            </a:r>
            <a:endParaRPr sz="4800" b="1">
              <a:solidFill>
                <a:schemeClr val="dk1"/>
              </a:solidFill>
              <a:latin typeface="Times New Roman"/>
              <a:ea typeface="Times New Roman"/>
              <a:cs typeface="Times New Roman"/>
              <a:sym typeface="Times New Roman"/>
            </a:endParaRPr>
          </a:p>
          <a:p>
            <a:pPr algn="ctr"/>
            <a:endParaRPr sz="4800" b="1">
              <a:solidFill>
                <a:schemeClr val="dk1"/>
              </a:solidFill>
              <a:latin typeface="Times New Roman"/>
              <a:ea typeface="Times New Roman"/>
              <a:cs typeface="Times New Roman"/>
              <a:sym typeface="Times New Roman"/>
            </a:endParaRPr>
          </a:p>
        </p:txBody>
      </p:sp>
      <p:sp>
        <p:nvSpPr>
          <p:cNvPr id="80" name="Google Shape;80;p16"/>
          <p:cNvSpPr txBox="1"/>
          <p:nvPr/>
        </p:nvSpPr>
        <p:spPr>
          <a:xfrm>
            <a:off x="333267" y="1210233"/>
            <a:ext cx="9199600" cy="1466000"/>
          </a:xfrm>
          <a:prstGeom prst="rect">
            <a:avLst/>
          </a:prstGeom>
          <a:noFill/>
          <a:ln>
            <a:noFill/>
          </a:ln>
        </p:spPr>
        <p:txBody>
          <a:bodyPr spcFirstLastPara="1" wrap="square" lIns="121900" tIns="121900" rIns="121900" bIns="121900" anchor="ctr" anchorCtr="0">
            <a:noAutofit/>
          </a:bodyPr>
          <a:lstStyle/>
          <a:p>
            <a:pPr>
              <a:lnSpc>
                <a:spcPct val="115000"/>
              </a:lnSpc>
            </a:pPr>
            <a:r>
              <a:rPr lang="uk" sz="1600">
                <a:solidFill>
                  <a:schemeClr val="dk1"/>
                </a:solidFill>
                <a:latin typeface="Times New Roman"/>
                <a:ea typeface="Times New Roman"/>
                <a:cs typeface="Times New Roman"/>
                <a:sym typeface="Times New Roman"/>
              </a:rPr>
              <a:t>Якщо змінні зберігають деякі значення, то методи містять набір інструкцій, які виконують певні дії. Насправді спосіб - це іменований блок коду, який виконує деякі дії.</a:t>
            </a:r>
            <a:endParaRPr sz="1600">
              <a:solidFill>
                <a:schemeClr val="dk1"/>
              </a:solidFill>
              <a:latin typeface="Times New Roman"/>
              <a:ea typeface="Times New Roman"/>
              <a:cs typeface="Times New Roman"/>
              <a:sym typeface="Times New Roman"/>
            </a:endParaRPr>
          </a:p>
          <a:p>
            <a:pPr>
              <a:lnSpc>
                <a:spcPct val="115000"/>
              </a:lnSpc>
            </a:pPr>
            <a:r>
              <a:rPr lang="uk" sz="1600">
                <a:solidFill>
                  <a:schemeClr val="dk1"/>
                </a:solidFill>
                <a:latin typeface="Times New Roman"/>
                <a:ea typeface="Times New Roman"/>
                <a:cs typeface="Times New Roman"/>
                <a:sym typeface="Times New Roman"/>
              </a:rPr>
              <a:t>Загальне визначення методів виглядає так:</a:t>
            </a:r>
            <a:endParaRPr sz="1600">
              <a:solidFill>
                <a:schemeClr val="dk1"/>
              </a:solidFill>
              <a:latin typeface="Times New Roman"/>
              <a:ea typeface="Times New Roman"/>
              <a:cs typeface="Times New Roman"/>
              <a:sym typeface="Times New Roman"/>
            </a:endParaRPr>
          </a:p>
        </p:txBody>
      </p:sp>
      <p:sp>
        <p:nvSpPr>
          <p:cNvPr id="81" name="Google Shape;81;p16"/>
          <p:cNvSpPr txBox="1"/>
          <p:nvPr/>
        </p:nvSpPr>
        <p:spPr>
          <a:xfrm>
            <a:off x="394667" y="2595867"/>
            <a:ext cx="10374800" cy="1478570"/>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188038"/>
                </a:solidFill>
                <a:latin typeface="Courier New"/>
                <a:ea typeface="Courier New"/>
                <a:cs typeface="Courier New"/>
                <a:sym typeface="Courier New"/>
              </a:rPr>
              <a:t>[модифікатори] тип_повертаємого_значення назва_методу ([параметри])</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    </a:t>
            </a:r>
            <a:r>
              <a:rPr lang="uk" sz="1400">
                <a:solidFill>
                  <a:srgbClr val="008200"/>
                </a:solidFill>
                <a:latin typeface="Courier New"/>
                <a:ea typeface="Courier New"/>
                <a:cs typeface="Courier New"/>
                <a:sym typeface="Courier New"/>
              </a:rPr>
              <a:t>// тіло методу</a:t>
            </a:r>
            <a:endParaRPr sz="1400">
              <a:solidFill>
                <a:srgbClr val="008200"/>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p:txBody>
      </p:sp>
      <p:sp>
        <p:nvSpPr>
          <p:cNvPr id="82" name="Google Shape;82;p16"/>
          <p:cNvSpPr txBox="1"/>
          <p:nvPr/>
        </p:nvSpPr>
        <p:spPr>
          <a:xfrm>
            <a:off x="394667" y="4060434"/>
            <a:ext cx="11408000" cy="2462172"/>
          </a:xfrm>
          <a:prstGeom prst="rect">
            <a:avLst/>
          </a:prstGeom>
          <a:noFill/>
          <a:ln>
            <a:noFill/>
          </a:ln>
        </p:spPr>
        <p:txBody>
          <a:bodyPr spcFirstLastPara="1" wrap="square" lIns="121900" tIns="121900" rIns="121900" bIns="121900" anchor="t" anchorCtr="0">
            <a:spAutoFit/>
          </a:bodyPr>
          <a:lstStyle/>
          <a:p>
            <a:pPr>
              <a:lnSpc>
                <a:spcPct val="150000"/>
              </a:lnSpc>
            </a:pPr>
            <a:r>
              <a:rPr lang="uk" sz="2400">
                <a:solidFill>
                  <a:schemeClr val="dk1"/>
                </a:solidFill>
                <a:latin typeface="Times New Roman"/>
                <a:ea typeface="Times New Roman"/>
                <a:cs typeface="Times New Roman"/>
                <a:sym typeface="Times New Roman"/>
              </a:rPr>
              <a:t>Модифікатори та параметри необов'язкові.</a:t>
            </a:r>
            <a:endParaRPr sz="2400">
              <a:solidFill>
                <a:schemeClr val="dk1"/>
              </a:solidFill>
              <a:latin typeface="Times New Roman"/>
              <a:ea typeface="Times New Roman"/>
              <a:cs typeface="Times New Roman"/>
              <a:sym typeface="Times New Roman"/>
            </a:endParaRPr>
          </a:p>
          <a:p>
            <a:pPr>
              <a:lnSpc>
                <a:spcPct val="150000"/>
              </a:lnSpc>
            </a:pPr>
            <a:r>
              <a:rPr lang="uk" sz="2400">
                <a:solidFill>
                  <a:schemeClr val="dk1"/>
                </a:solidFill>
                <a:latin typeface="Times New Roman"/>
                <a:ea typeface="Times New Roman"/>
                <a:cs typeface="Times New Roman"/>
                <a:sym typeface="Times New Roman"/>
              </a:rPr>
              <a:t>Раніше ми вже використовували як мінімум один метод - </a:t>
            </a:r>
            <a:r>
              <a:rPr lang="uk" sz="2400" b="1">
                <a:solidFill>
                  <a:schemeClr val="dk1"/>
                </a:solidFill>
                <a:latin typeface="Times New Roman"/>
                <a:ea typeface="Times New Roman"/>
                <a:cs typeface="Times New Roman"/>
                <a:sym typeface="Times New Roman"/>
              </a:rPr>
              <a:t>Console.WriteLine()</a:t>
            </a:r>
            <a:r>
              <a:rPr lang="uk" sz="2400">
                <a:solidFill>
                  <a:schemeClr val="dk1"/>
                </a:solidFill>
                <a:latin typeface="Times New Roman"/>
                <a:ea typeface="Times New Roman"/>
                <a:cs typeface="Times New Roman"/>
                <a:sym typeface="Times New Roman"/>
              </a:rPr>
              <a:t> , який виводить інформацію на консоль. Тепер розглянемо як ми можемо створювати свої методи.</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7"/>
          <p:cNvSpPr txBox="1"/>
          <p:nvPr/>
        </p:nvSpPr>
        <p:spPr>
          <a:xfrm>
            <a:off x="168133" y="211967"/>
            <a:ext cx="114080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Визначення методу</a:t>
            </a:r>
            <a:endParaRPr sz="4800" b="1">
              <a:solidFill>
                <a:schemeClr val="dk1"/>
              </a:solidFill>
              <a:latin typeface="Times New Roman"/>
              <a:ea typeface="Times New Roman"/>
              <a:cs typeface="Times New Roman"/>
              <a:sym typeface="Times New Roman"/>
            </a:endParaRPr>
          </a:p>
          <a:p>
            <a:pPr algn="ctr"/>
            <a:endParaRPr sz="4800" b="1">
              <a:solidFill>
                <a:schemeClr val="dk1"/>
              </a:solidFill>
              <a:latin typeface="Times New Roman"/>
              <a:ea typeface="Times New Roman"/>
              <a:cs typeface="Times New Roman"/>
              <a:sym typeface="Times New Roman"/>
            </a:endParaRPr>
          </a:p>
        </p:txBody>
      </p:sp>
      <p:sp>
        <p:nvSpPr>
          <p:cNvPr id="88" name="Google Shape;88;p17"/>
          <p:cNvSpPr txBox="1"/>
          <p:nvPr/>
        </p:nvSpPr>
        <p:spPr>
          <a:xfrm>
            <a:off x="324500" y="1122533"/>
            <a:ext cx="11408000" cy="615513"/>
          </a:xfrm>
          <a:prstGeom prst="rect">
            <a:avLst/>
          </a:prstGeom>
          <a:noFill/>
          <a:ln>
            <a:noFill/>
          </a:ln>
        </p:spPr>
        <p:txBody>
          <a:bodyPr spcFirstLastPara="1" wrap="square" lIns="121900" tIns="121900" rIns="121900" bIns="121900" anchor="t" anchorCtr="0">
            <a:spAutoFit/>
          </a:bodyPr>
          <a:lstStyle/>
          <a:p>
            <a:pPr>
              <a:lnSpc>
                <a:spcPct val="150000"/>
              </a:lnSpc>
            </a:pPr>
            <a:r>
              <a:rPr lang="uk" sz="1600">
                <a:solidFill>
                  <a:schemeClr val="dk1"/>
                </a:solidFill>
                <a:highlight>
                  <a:srgbClr val="F7F7FA"/>
                </a:highlight>
              </a:rPr>
              <a:t>Визначимо один метод:</a:t>
            </a:r>
            <a:endParaRPr sz="2400">
              <a:solidFill>
                <a:schemeClr val="dk1"/>
              </a:solidFill>
              <a:latin typeface="Times New Roman"/>
              <a:ea typeface="Times New Roman"/>
              <a:cs typeface="Times New Roman"/>
              <a:sym typeface="Times New Roman"/>
            </a:endParaRPr>
          </a:p>
        </p:txBody>
      </p:sp>
      <p:sp>
        <p:nvSpPr>
          <p:cNvPr id="89" name="Google Shape;89;p17"/>
          <p:cNvSpPr txBox="1"/>
          <p:nvPr/>
        </p:nvSpPr>
        <p:spPr>
          <a:xfrm>
            <a:off x="168133" y="1569801"/>
            <a:ext cx="4000000" cy="1478570"/>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highlight>
                  <a:srgbClr val="F5F5FA"/>
                </a:highlight>
                <a:latin typeface="Courier New"/>
                <a:ea typeface="Courier New"/>
                <a:cs typeface="Courier New"/>
                <a:sym typeface="Courier New"/>
              </a:rPr>
              <a:t>void</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SayHello()</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Console.WriteLine(</a:t>
            </a:r>
            <a:r>
              <a:rPr lang="uk" sz="1400">
                <a:solidFill>
                  <a:srgbClr val="DB003E"/>
                </a:solidFill>
                <a:highlight>
                  <a:srgbClr val="F5F5FA"/>
                </a:highlight>
                <a:latin typeface="Courier New"/>
                <a:ea typeface="Courier New"/>
                <a:cs typeface="Courier New"/>
                <a:sym typeface="Courier New"/>
              </a:rPr>
              <a:t>"Hello"</a:t>
            </a: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p:txBody>
      </p:sp>
      <p:sp>
        <p:nvSpPr>
          <p:cNvPr id="90" name="Google Shape;90;p17"/>
          <p:cNvSpPr txBox="1"/>
          <p:nvPr/>
        </p:nvSpPr>
        <p:spPr>
          <a:xfrm>
            <a:off x="168133" y="2957000"/>
            <a:ext cx="12137600" cy="396065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pPr>
            <a:r>
              <a:rPr lang="uk" sz="1600">
                <a:solidFill>
                  <a:schemeClr val="dk1"/>
                </a:solidFill>
              </a:rPr>
              <a:t>Тут визначено метод </a:t>
            </a:r>
            <a:r>
              <a:rPr lang="uk" sz="1600">
                <a:solidFill>
                  <a:srgbClr val="188038"/>
                </a:solidFill>
                <a:latin typeface="Roboto Mono"/>
                <a:ea typeface="Roboto Mono"/>
                <a:cs typeface="Roboto Mono"/>
                <a:sym typeface="Roboto Mono"/>
              </a:rPr>
              <a:t>SayHello</a:t>
            </a:r>
            <a:r>
              <a:rPr lang="uk" sz="1600">
                <a:solidFill>
                  <a:schemeClr val="dk1"/>
                </a:solidFill>
              </a:rPr>
              <a:t>, який виводить деяке повідомлення. До назв методів пред'являються у принципі самі вимоги, як і назв змінних. Однак, як правило, назви методів починаються з великої літери.</a:t>
            </a:r>
            <a:endParaRPr sz="1600">
              <a:solidFill>
                <a:schemeClr val="dk1"/>
              </a:solidFill>
            </a:endParaRPr>
          </a:p>
          <a:p>
            <a:pPr>
              <a:lnSpc>
                <a:spcPct val="156000"/>
              </a:lnSpc>
              <a:spcBef>
                <a:spcPts val="1600"/>
              </a:spcBef>
            </a:pPr>
            <a:r>
              <a:rPr lang="uk" sz="1600">
                <a:solidFill>
                  <a:schemeClr val="dk1"/>
                </a:solidFill>
              </a:rPr>
              <a:t>Перед назвою методу йде тип даних, що повертається. Тут це тип </a:t>
            </a:r>
            <a:r>
              <a:rPr lang="uk" sz="1600" b="1">
                <a:solidFill>
                  <a:schemeClr val="dk1"/>
                </a:solidFill>
              </a:rPr>
              <a:t>void</a:t>
            </a:r>
            <a:r>
              <a:rPr lang="uk" sz="1600">
                <a:solidFill>
                  <a:schemeClr val="dk1"/>
                </a:solidFill>
              </a:rPr>
              <a:t> , який вказує, що фактично нічого не повертає, він просто робить деякі дії.</a:t>
            </a:r>
            <a:endParaRPr sz="1600">
              <a:solidFill>
                <a:schemeClr val="dk1"/>
              </a:solidFill>
            </a:endParaRPr>
          </a:p>
          <a:p>
            <a:pPr>
              <a:lnSpc>
                <a:spcPct val="156000"/>
              </a:lnSpc>
              <a:spcBef>
                <a:spcPts val="1600"/>
              </a:spcBef>
            </a:pPr>
            <a:r>
              <a:rPr lang="uk" sz="1600">
                <a:solidFill>
                  <a:schemeClr val="dk1"/>
                </a:solidFill>
              </a:rPr>
              <a:t>Після назви методу у дужках йде перелік параметрів. Але в даному випадку дужки порожні, що означає, що метод не приймає жодних параметрів.</a:t>
            </a:r>
            <a:endParaRPr sz="1600">
              <a:solidFill>
                <a:schemeClr val="dk1"/>
              </a:solidFill>
            </a:endParaRPr>
          </a:p>
          <a:p>
            <a:pPr>
              <a:lnSpc>
                <a:spcPct val="156000"/>
              </a:lnSpc>
              <a:spcBef>
                <a:spcPts val="1600"/>
              </a:spcBef>
              <a:spcAft>
                <a:spcPts val="1600"/>
              </a:spcAft>
            </a:pPr>
            <a:endParaRPr sz="16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p:nvPr/>
        </p:nvSpPr>
        <p:spPr>
          <a:xfrm>
            <a:off x="168133" y="211967"/>
            <a:ext cx="114080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Визначення методу</a:t>
            </a:r>
            <a:endParaRPr sz="4800" b="1">
              <a:solidFill>
                <a:schemeClr val="dk1"/>
              </a:solidFill>
              <a:latin typeface="Times New Roman"/>
              <a:ea typeface="Times New Roman"/>
              <a:cs typeface="Times New Roman"/>
              <a:sym typeface="Times New Roman"/>
            </a:endParaRPr>
          </a:p>
          <a:p>
            <a:pPr algn="ctr"/>
            <a:endParaRPr sz="4800" b="1">
              <a:solidFill>
                <a:schemeClr val="dk1"/>
              </a:solidFill>
              <a:latin typeface="Times New Roman"/>
              <a:ea typeface="Times New Roman"/>
              <a:cs typeface="Times New Roman"/>
              <a:sym typeface="Times New Roman"/>
            </a:endParaRPr>
          </a:p>
        </p:txBody>
      </p:sp>
      <p:sp>
        <p:nvSpPr>
          <p:cNvPr id="96" name="Google Shape;96;p18"/>
          <p:cNvSpPr txBox="1"/>
          <p:nvPr/>
        </p:nvSpPr>
        <p:spPr>
          <a:xfrm>
            <a:off x="324500" y="1122534"/>
            <a:ext cx="11408000" cy="1794040"/>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buClr>
                <a:schemeClr val="dk1"/>
              </a:buClr>
              <a:buSzPts val="1100"/>
            </a:pPr>
            <a:r>
              <a:rPr lang="uk" sz="1600">
                <a:solidFill>
                  <a:schemeClr val="dk1"/>
                </a:solidFill>
              </a:rPr>
              <a:t>Після списку параметрів у круглих дужках йде блок коду, який представляє набір інструкцій, що виконуються методом. В даному випадку блок методу SayHello містить лише одну інструкцію, яка виводить рядок на консоль:</a:t>
            </a:r>
            <a:endParaRPr sz="1600">
              <a:solidFill>
                <a:schemeClr val="dk1"/>
              </a:solidFill>
            </a:endParaRPr>
          </a:p>
          <a:p>
            <a:pPr>
              <a:lnSpc>
                <a:spcPct val="150000"/>
              </a:lnSpc>
              <a:spcBef>
                <a:spcPts val="1600"/>
              </a:spcBef>
            </a:pPr>
            <a:endParaRPr sz="1600">
              <a:solidFill>
                <a:schemeClr val="dk1"/>
              </a:solidFill>
              <a:highlight>
                <a:srgbClr val="F7F7FA"/>
              </a:highlight>
            </a:endParaRPr>
          </a:p>
        </p:txBody>
      </p:sp>
      <p:sp>
        <p:nvSpPr>
          <p:cNvPr id="97" name="Google Shape;97;p18"/>
          <p:cNvSpPr txBox="1"/>
          <p:nvPr/>
        </p:nvSpPr>
        <p:spPr>
          <a:xfrm>
            <a:off x="254333" y="2126934"/>
            <a:ext cx="4000000" cy="461624"/>
          </a:xfrm>
          <a:prstGeom prst="rect">
            <a:avLst/>
          </a:prstGeom>
          <a:noFill/>
          <a:ln>
            <a:noFill/>
          </a:ln>
        </p:spPr>
        <p:txBody>
          <a:bodyPr spcFirstLastPara="1" wrap="square" lIns="121900" tIns="121900" rIns="121900" bIns="121900" anchor="t" anchorCtr="0">
            <a:spAutoFit/>
          </a:bodyPr>
          <a:lstStyle/>
          <a:p>
            <a:r>
              <a:rPr lang="uk" sz="1400">
                <a:solidFill>
                  <a:srgbClr val="188038"/>
                </a:solidFill>
                <a:latin typeface="Courier New"/>
                <a:ea typeface="Courier New"/>
                <a:cs typeface="Courier New"/>
                <a:sym typeface="Courier New"/>
              </a:rPr>
              <a:t>Console.WriteLine(</a:t>
            </a:r>
            <a:r>
              <a:rPr lang="uk" sz="1400">
                <a:solidFill>
                  <a:srgbClr val="DB003E"/>
                </a:solidFill>
                <a:latin typeface="Courier New"/>
                <a:ea typeface="Courier New"/>
                <a:cs typeface="Courier New"/>
                <a:sym typeface="Courier New"/>
              </a:rPr>
              <a:t>"Hello"</a:t>
            </a:r>
            <a:r>
              <a:rPr lang="uk" sz="1400">
                <a:solidFill>
                  <a:srgbClr val="188038"/>
                </a:solidFill>
                <a:latin typeface="Courier New"/>
                <a:ea typeface="Courier New"/>
                <a:cs typeface="Courier New"/>
                <a:sym typeface="Courier New"/>
              </a:rPr>
              <a:t>);</a:t>
            </a:r>
            <a:endParaRPr sz="2400"/>
          </a:p>
        </p:txBody>
      </p:sp>
      <p:sp>
        <p:nvSpPr>
          <p:cNvPr id="98" name="Google Shape;98;p18"/>
          <p:cNvSpPr txBox="1"/>
          <p:nvPr/>
        </p:nvSpPr>
        <p:spPr>
          <a:xfrm>
            <a:off x="324500" y="2762501"/>
            <a:ext cx="11041200" cy="738623"/>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latin typeface="Times New Roman"/>
                <a:ea typeface="Times New Roman"/>
                <a:cs typeface="Times New Roman"/>
                <a:sym typeface="Times New Roman"/>
              </a:rPr>
              <a:t>Але якщо ми запустимо цей проект, то ми не побачимо жодного рядка, який має виводити метод SayHello. Тому що після визначення методу ще треба викликати, щоб він виконав свою роботу.</a:t>
            </a:r>
            <a:endParaRPr sz="24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p:nvPr/>
        </p:nvSpPr>
        <p:spPr>
          <a:xfrm>
            <a:off x="168133" y="211967"/>
            <a:ext cx="114080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Виклик методів</a:t>
            </a:r>
            <a:endParaRPr sz="4800" b="1">
              <a:solidFill>
                <a:schemeClr val="dk1"/>
              </a:solidFill>
              <a:latin typeface="Times New Roman"/>
              <a:ea typeface="Times New Roman"/>
              <a:cs typeface="Times New Roman"/>
              <a:sym typeface="Times New Roman"/>
            </a:endParaRPr>
          </a:p>
          <a:p>
            <a:pPr algn="ctr"/>
            <a:endParaRPr sz="4800" b="1">
              <a:solidFill>
                <a:schemeClr val="dk1"/>
              </a:solidFill>
              <a:latin typeface="Times New Roman"/>
              <a:ea typeface="Times New Roman"/>
              <a:cs typeface="Times New Roman"/>
              <a:sym typeface="Times New Roman"/>
            </a:endParaRPr>
          </a:p>
        </p:txBody>
      </p:sp>
      <p:sp>
        <p:nvSpPr>
          <p:cNvPr id="104" name="Google Shape;104;p19"/>
          <p:cNvSpPr txBox="1"/>
          <p:nvPr/>
        </p:nvSpPr>
        <p:spPr>
          <a:xfrm>
            <a:off x="324500" y="1122534"/>
            <a:ext cx="11408000" cy="984845"/>
          </a:xfrm>
          <a:prstGeom prst="rect">
            <a:avLst/>
          </a:prstGeom>
          <a:noFill/>
          <a:ln>
            <a:noFill/>
          </a:ln>
        </p:spPr>
        <p:txBody>
          <a:bodyPr spcFirstLastPara="1" wrap="square" lIns="121900" tIns="121900" rIns="121900" bIns="121900" anchor="t" anchorCtr="0">
            <a:spAutoFit/>
          </a:bodyPr>
          <a:lstStyle/>
          <a:p>
            <a:pPr>
              <a:lnSpc>
                <a:spcPct val="150000"/>
              </a:lnSpc>
            </a:pPr>
            <a:r>
              <a:rPr lang="uk" sz="1600">
                <a:solidFill>
                  <a:schemeClr val="dk1"/>
                </a:solidFill>
                <a:highlight>
                  <a:srgbClr val="F7F7FA"/>
                </a:highlight>
              </a:rPr>
              <a:t>Щоб використати метод SayHello, нам треба його викликати. Для виклику методу вказується його ім'я, після якого у дужках йдуть значення його параметрів (якщо метод приймає параметри).</a:t>
            </a:r>
            <a:endParaRPr sz="1600">
              <a:solidFill>
                <a:schemeClr val="dk1"/>
              </a:solidFill>
              <a:highlight>
                <a:srgbClr val="F7F7FA"/>
              </a:highlight>
            </a:endParaRPr>
          </a:p>
        </p:txBody>
      </p:sp>
      <p:sp>
        <p:nvSpPr>
          <p:cNvPr id="105" name="Google Shape;105;p19"/>
          <p:cNvSpPr txBox="1"/>
          <p:nvPr/>
        </p:nvSpPr>
        <p:spPr>
          <a:xfrm>
            <a:off x="403433" y="2025801"/>
            <a:ext cx="7734800" cy="461624"/>
          </a:xfrm>
          <a:prstGeom prst="rect">
            <a:avLst/>
          </a:prstGeom>
          <a:noFill/>
          <a:ln>
            <a:noFill/>
          </a:ln>
        </p:spPr>
        <p:txBody>
          <a:bodyPr spcFirstLastPara="1" wrap="square" lIns="121900" tIns="121900" rIns="121900" bIns="121900" anchor="t" anchorCtr="0">
            <a:spAutoFit/>
          </a:bodyPr>
          <a:lstStyle/>
          <a:p>
            <a:r>
              <a:rPr lang="uk" sz="1400">
                <a:solidFill>
                  <a:schemeClr val="dk1"/>
                </a:solidFill>
                <a:highlight>
                  <a:srgbClr val="F5F5FA"/>
                </a:highlight>
                <a:latin typeface="Courier New"/>
                <a:ea typeface="Courier New"/>
                <a:cs typeface="Courier New"/>
                <a:sym typeface="Courier New"/>
              </a:rPr>
              <a:t>назва_методу (значення_для_параметрів_методу);</a:t>
            </a:r>
            <a:endParaRPr sz="2400"/>
          </a:p>
        </p:txBody>
      </p:sp>
      <p:sp>
        <p:nvSpPr>
          <p:cNvPr id="106" name="Google Shape;106;p19"/>
          <p:cNvSpPr txBox="1"/>
          <p:nvPr/>
        </p:nvSpPr>
        <p:spPr>
          <a:xfrm>
            <a:off x="464800" y="2639734"/>
            <a:ext cx="6340400" cy="104062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spcAft>
                <a:spcPts val="1600"/>
              </a:spcAft>
            </a:pPr>
            <a:r>
              <a:rPr lang="uk" sz="1600">
                <a:solidFill>
                  <a:schemeClr val="dk1"/>
                </a:solidFill>
              </a:rPr>
              <a:t>Наприклад, виклик методу SayHello виглядатиме так:</a:t>
            </a:r>
            <a:endParaRPr sz="1600">
              <a:solidFill>
                <a:schemeClr val="dk1"/>
              </a:solidFill>
            </a:endParaRPr>
          </a:p>
        </p:txBody>
      </p:sp>
      <p:sp>
        <p:nvSpPr>
          <p:cNvPr id="107" name="Google Shape;107;p19"/>
          <p:cNvSpPr txBox="1"/>
          <p:nvPr/>
        </p:nvSpPr>
        <p:spPr>
          <a:xfrm>
            <a:off x="464800" y="3132134"/>
            <a:ext cx="4000000" cy="461624"/>
          </a:xfrm>
          <a:prstGeom prst="rect">
            <a:avLst/>
          </a:prstGeom>
          <a:noFill/>
          <a:ln>
            <a:noFill/>
          </a:ln>
        </p:spPr>
        <p:txBody>
          <a:bodyPr spcFirstLastPara="1" wrap="square" lIns="121900" tIns="121900" rIns="121900" bIns="121900" anchor="t" anchorCtr="0">
            <a:spAutoFit/>
          </a:bodyPr>
          <a:lstStyle/>
          <a:p>
            <a:r>
              <a:rPr lang="uk" sz="1400">
                <a:solidFill>
                  <a:schemeClr val="dk1"/>
                </a:solidFill>
                <a:highlight>
                  <a:srgbClr val="F5F5FA"/>
                </a:highlight>
                <a:latin typeface="Courier New"/>
                <a:ea typeface="Courier New"/>
                <a:cs typeface="Courier New"/>
                <a:sym typeface="Courier New"/>
              </a:rPr>
              <a:t>SayHello();</a:t>
            </a:r>
            <a:endParaRPr sz="2400"/>
          </a:p>
        </p:txBody>
      </p:sp>
      <p:sp>
        <p:nvSpPr>
          <p:cNvPr id="108" name="Google Shape;108;p19"/>
          <p:cNvSpPr txBox="1"/>
          <p:nvPr/>
        </p:nvSpPr>
        <p:spPr>
          <a:xfrm>
            <a:off x="324500" y="3674567"/>
            <a:ext cx="11251600" cy="1428043"/>
          </a:xfrm>
          <a:prstGeom prst="rect">
            <a:avLst/>
          </a:prstGeom>
          <a:noFill/>
          <a:ln>
            <a:noFill/>
          </a:ln>
        </p:spPr>
        <p:txBody>
          <a:bodyPr spcFirstLastPara="1" wrap="square" lIns="121900" tIns="121900" rIns="121900" bIns="121900" anchor="t" anchorCtr="0">
            <a:spAutoFit/>
          </a:bodyPr>
          <a:lstStyle/>
          <a:p>
            <a:pPr>
              <a:lnSpc>
                <a:spcPct val="115000"/>
              </a:lnSpc>
              <a:spcBef>
                <a:spcPts val="1600"/>
              </a:spcBef>
            </a:pPr>
            <a:r>
              <a:rPr lang="uk" sz="1600">
                <a:solidFill>
                  <a:schemeClr val="dk1"/>
                </a:solidFill>
              </a:rPr>
              <a:t>Оскільки метод не приймає жодних параметрів, після назви методу йдуть порожні дужки.</a:t>
            </a:r>
            <a:endParaRPr sz="1600">
              <a:solidFill>
                <a:schemeClr val="dk1"/>
              </a:solidFill>
            </a:endParaRPr>
          </a:p>
          <a:p>
            <a:pPr>
              <a:lnSpc>
                <a:spcPct val="115000"/>
              </a:lnSpc>
              <a:spcBef>
                <a:spcPts val="1600"/>
              </a:spcBef>
              <a:spcAft>
                <a:spcPts val="1600"/>
              </a:spcAft>
            </a:pPr>
            <a:r>
              <a:rPr lang="uk" sz="1600">
                <a:solidFill>
                  <a:schemeClr val="dk1"/>
                </a:solidFill>
              </a:rPr>
              <a:t>Об'єднаємо визначення та виклик методу:</a:t>
            </a:r>
            <a:endParaRPr sz="1600">
              <a:solidFill>
                <a:schemeClr val="dk1"/>
              </a:solidFill>
            </a:endParaRPr>
          </a:p>
        </p:txBody>
      </p:sp>
      <p:sp>
        <p:nvSpPr>
          <p:cNvPr id="109" name="Google Shape;109;p19"/>
          <p:cNvSpPr txBox="1"/>
          <p:nvPr/>
        </p:nvSpPr>
        <p:spPr>
          <a:xfrm>
            <a:off x="464800" y="4544801"/>
            <a:ext cx="4000000" cy="2402862"/>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highlight>
                  <a:srgbClr val="F5F5FA"/>
                </a:highlight>
                <a:latin typeface="Courier New"/>
                <a:ea typeface="Courier New"/>
                <a:cs typeface="Courier New"/>
                <a:sym typeface="Courier New"/>
              </a:rPr>
              <a:t>void</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SayHello()</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Console.WriteLine(</a:t>
            </a:r>
            <a:r>
              <a:rPr lang="uk" sz="1400">
                <a:solidFill>
                  <a:srgbClr val="DB003E"/>
                </a:solidFill>
                <a:highlight>
                  <a:srgbClr val="F5F5FA"/>
                </a:highlight>
                <a:latin typeface="Courier New"/>
                <a:ea typeface="Courier New"/>
                <a:cs typeface="Courier New"/>
                <a:sym typeface="Courier New"/>
              </a:rPr>
              <a:t>"Hello"</a:t>
            </a: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SayHello(); </a:t>
            </a:r>
            <a:r>
              <a:rPr lang="uk" sz="1400">
                <a:solidFill>
                  <a:srgbClr val="008200"/>
                </a:solidFill>
                <a:highlight>
                  <a:srgbClr val="F5F5FA"/>
                </a:highlight>
                <a:latin typeface="Courier New"/>
                <a:ea typeface="Courier New"/>
                <a:cs typeface="Courier New"/>
                <a:sym typeface="Courier New"/>
              </a:rPr>
              <a:t>// Hello</a:t>
            </a:r>
            <a:endParaRPr sz="1400">
              <a:solidFill>
                <a:srgbClr val="008200"/>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SayHello(); </a:t>
            </a:r>
            <a:r>
              <a:rPr lang="uk" sz="1400">
                <a:solidFill>
                  <a:srgbClr val="008200"/>
                </a:solidFill>
                <a:highlight>
                  <a:srgbClr val="F5F5FA"/>
                </a:highlight>
                <a:latin typeface="Courier New"/>
                <a:ea typeface="Courier New"/>
                <a:cs typeface="Courier New"/>
                <a:sym typeface="Courier New"/>
              </a:rPr>
              <a:t>// Hello</a:t>
            </a:r>
            <a:endParaRPr sz="1400">
              <a:solidFill>
                <a:srgbClr val="008200"/>
              </a:solidFill>
              <a:highlight>
                <a:srgbClr val="F5F5FA"/>
              </a:highlight>
              <a:latin typeface="Courier New"/>
              <a:ea typeface="Courier New"/>
              <a:cs typeface="Courier New"/>
              <a:sym typeface="Courier New"/>
            </a:endParaRPr>
          </a:p>
        </p:txBody>
      </p:sp>
      <p:pic>
        <p:nvPicPr>
          <p:cNvPr id="110" name="Google Shape;110;p19"/>
          <p:cNvPicPr preferRelativeResize="0"/>
          <p:nvPr/>
        </p:nvPicPr>
        <p:blipFill>
          <a:blip r:embed="rId3">
            <a:alphaModFix/>
          </a:blip>
          <a:stretch>
            <a:fillRect/>
          </a:stretch>
        </p:blipFill>
        <p:spPr>
          <a:xfrm>
            <a:off x="5384632" y="4246299"/>
            <a:ext cx="3761467" cy="253296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0"/>
          <p:cNvSpPr txBox="1"/>
          <p:nvPr/>
        </p:nvSpPr>
        <p:spPr>
          <a:xfrm>
            <a:off x="168133" y="211967"/>
            <a:ext cx="114080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Виклик методів</a:t>
            </a:r>
            <a:endParaRPr sz="4800" b="1">
              <a:solidFill>
                <a:schemeClr val="dk1"/>
              </a:solidFill>
              <a:latin typeface="Times New Roman"/>
              <a:ea typeface="Times New Roman"/>
              <a:cs typeface="Times New Roman"/>
              <a:sym typeface="Times New Roman"/>
            </a:endParaRPr>
          </a:p>
          <a:p>
            <a:pPr algn="ctr"/>
            <a:endParaRPr sz="4800" b="1">
              <a:solidFill>
                <a:schemeClr val="dk1"/>
              </a:solidFill>
              <a:latin typeface="Times New Roman"/>
              <a:ea typeface="Times New Roman"/>
              <a:cs typeface="Times New Roman"/>
              <a:sym typeface="Times New Roman"/>
            </a:endParaRPr>
          </a:p>
        </p:txBody>
      </p:sp>
      <p:sp>
        <p:nvSpPr>
          <p:cNvPr id="116" name="Google Shape;116;p20"/>
          <p:cNvSpPr txBox="1"/>
          <p:nvPr/>
        </p:nvSpPr>
        <p:spPr>
          <a:xfrm>
            <a:off x="324533" y="1113767"/>
            <a:ext cx="11251600" cy="2886391"/>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buClr>
                <a:schemeClr val="dk1"/>
              </a:buClr>
              <a:buSzPts val="1100"/>
            </a:pPr>
            <a:r>
              <a:rPr lang="uk" sz="1600">
                <a:solidFill>
                  <a:schemeClr val="dk1"/>
                </a:solidFill>
              </a:rPr>
              <a:t>Перевагою методів є те, що їх можна повторно та багаторазово викликати у різних частинах програми. Наприклад, у прикладі вище двічі викликається метод SayHello.</a:t>
            </a:r>
            <a:endParaRPr sz="1600">
              <a:solidFill>
                <a:schemeClr val="dk1"/>
              </a:solidFill>
            </a:endParaRPr>
          </a:p>
          <a:p>
            <a:pPr>
              <a:lnSpc>
                <a:spcPct val="156000"/>
              </a:lnSpc>
              <a:spcBef>
                <a:spcPts val="1600"/>
              </a:spcBef>
              <a:buClr>
                <a:schemeClr val="dk1"/>
              </a:buClr>
              <a:buSzPts val="1100"/>
            </a:pPr>
            <a:r>
              <a:rPr lang="uk" sz="1600">
                <a:solidFill>
                  <a:schemeClr val="dk1"/>
                </a:solidFill>
              </a:rPr>
              <a:t>У цьому разі немає різниці, спочатку визначається метод, та був викликається чи навпаки. Наприклад, ми могли б написати і так:</a:t>
            </a:r>
            <a:endParaRPr sz="1600">
              <a:solidFill>
                <a:schemeClr val="dk1"/>
              </a:solidFill>
            </a:endParaRPr>
          </a:p>
          <a:p>
            <a:pPr>
              <a:lnSpc>
                <a:spcPct val="115000"/>
              </a:lnSpc>
              <a:spcBef>
                <a:spcPts val="1600"/>
              </a:spcBef>
              <a:spcAft>
                <a:spcPts val="1600"/>
              </a:spcAft>
            </a:pPr>
            <a:endParaRPr sz="1600">
              <a:solidFill>
                <a:schemeClr val="dk1"/>
              </a:solidFill>
            </a:endParaRPr>
          </a:p>
        </p:txBody>
      </p:sp>
      <p:sp>
        <p:nvSpPr>
          <p:cNvPr id="117" name="Google Shape;117;p20"/>
          <p:cNvSpPr txBox="1"/>
          <p:nvPr/>
        </p:nvSpPr>
        <p:spPr>
          <a:xfrm>
            <a:off x="403433" y="3183434"/>
            <a:ext cx="4000000" cy="2402862"/>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188038"/>
                </a:solidFill>
                <a:highlight>
                  <a:srgbClr val="F5F5FA"/>
                </a:highlight>
                <a:latin typeface="Courier New"/>
                <a:ea typeface="Courier New"/>
                <a:cs typeface="Courier New"/>
                <a:sym typeface="Courier New"/>
              </a:rPr>
              <a:t>SayHello(); </a:t>
            </a:r>
            <a:r>
              <a:rPr lang="uk" sz="1400">
                <a:solidFill>
                  <a:srgbClr val="008200"/>
                </a:solidFill>
                <a:highlight>
                  <a:srgbClr val="F5F5FA"/>
                </a:highlight>
                <a:latin typeface="Courier New"/>
                <a:ea typeface="Courier New"/>
                <a:cs typeface="Courier New"/>
                <a:sym typeface="Courier New"/>
              </a:rPr>
              <a:t>// Hello</a:t>
            </a:r>
            <a:endParaRPr sz="1400">
              <a:solidFill>
                <a:srgbClr val="008200"/>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SayHello(); </a:t>
            </a:r>
            <a:r>
              <a:rPr lang="uk" sz="1400">
                <a:solidFill>
                  <a:srgbClr val="008200"/>
                </a:solidFill>
                <a:highlight>
                  <a:srgbClr val="F5F5FA"/>
                </a:highlight>
                <a:latin typeface="Courier New"/>
                <a:ea typeface="Courier New"/>
                <a:cs typeface="Courier New"/>
                <a:sym typeface="Courier New"/>
              </a:rPr>
              <a:t>// Hello</a:t>
            </a:r>
            <a:endParaRPr sz="1400">
              <a:solidFill>
                <a:srgbClr val="008200"/>
              </a:solidFill>
              <a:highlight>
                <a:srgbClr val="F5F5FA"/>
              </a:highlight>
              <a:latin typeface="Courier New"/>
              <a:ea typeface="Courier New"/>
              <a:cs typeface="Courier New"/>
              <a:sym typeface="Courier New"/>
            </a:endParaRPr>
          </a:p>
          <a:p>
            <a:pPr marL="84665" marR="84665">
              <a:lnSpc>
                <a:spcPct val="143181"/>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43181"/>
              </a:lnSpc>
            </a:pPr>
            <a:r>
              <a:rPr lang="uk" sz="1400">
                <a:solidFill>
                  <a:srgbClr val="006699"/>
                </a:solidFill>
                <a:highlight>
                  <a:srgbClr val="F5F5FA"/>
                </a:highlight>
                <a:latin typeface="Courier New"/>
                <a:ea typeface="Courier New"/>
                <a:cs typeface="Courier New"/>
                <a:sym typeface="Courier New"/>
              </a:rPr>
              <a:t>void</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SayHello()</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Console.WriteLine(</a:t>
            </a:r>
            <a:r>
              <a:rPr lang="uk" sz="1400">
                <a:solidFill>
                  <a:srgbClr val="DB003E"/>
                </a:solidFill>
                <a:highlight>
                  <a:srgbClr val="F5F5FA"/>
                </a:highlight>
                <a:latin typeface="Courier New"/>
                <a:ea typeface="Courier New"/>
                <a:cs typeface="Courier New"/>
                <a:sym typeface="Courier New"/>
              </a:rPr>
              <a:t>"Hello"</a:t>
            </a: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1"/>
          <p:cNvSpPr txBox="1"/>
          <p:nvPr/>
        </p:nvSpPr>
        <p:spPr>
          <a:xfrm>
            <a:off x="168133" y="211967"/>
            <a:ext cx="114080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Виклик методів</a:t>
            </a:r>
            <a:endParaRPr sz="4800" b="1">
              <a:solidFill>
                <a:schemeClr val="dk1"/>
              </a:solidFill>
              <a:latin typeface="Times New Roman"/>
              <a:ea typeface="Times New Roman"/>
              <a:cs typeface="Times New Roman"/>
              <a:sym typeface="Times New Roman"/>
            </a:endParaRPr>
          </a:p>
          <a:p>
            <a:pPr algn="ctr"/>
            <a:endParaRPr sz="4800" b="1">
              <a:solidFill>
                <a:schemeClr val="dk1"/>
              </a:solidFill>
              <a:latin typeface="Times New Roman"/>
              <a:ea typeface="Times New Roman"/>
              <a:cs typeface="Times New Roman"/>
              <a:sym typeface="Times New Roman"/>
            </a:endParaRPr>
          </a:p>
        </p:txBody>
      </p:sp>
      <p:sp>
        <p:nvSpPr>
          <p:cNvPr id="123" name="Google Shape;123;p21"/>
          <p:cNvSpPr txBox="1"/>
          <p:nvPr/>
        </p:nvSpPr>
        <p:spPr>
          <a:xfrm>
            <a:off x="271867" y="1192667"/>
            <a:ext cx="5262000" cy="104062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spcAft>
                <a:spcPts val="1600"/>
              </a:spcAft>
            </a:pPr>
            <a:r>
              <a:rPr lang="uk" sz="1600">
                <a:solidFill>
                  <a:schemeClr val="dk1"/>
                </a:solidFill>
              </a:rPr>
              <a:t>Визначимо та викличемо ще кілька методів:</a:t>
            </a:r>
            <a:endParaRPr sz="1600">
              <a:solidFill>
                <a:schemeClr val="dk1"/>
              </a:solidFill>
            </a:endParaRPr>
          </a:p>
        </p:txBody>
      </p:sp>
      <p:sp>
        <p:nvSpPr>
          <p:cNvPr id="124" name="Google Shape;124;p21"/>
          <p:cNvSpPr txBox="1"/>
          <p:nvPr/>
        </p:nvSpPr>
        <p:spPr>
          <a:xfrm>
            <a:off x="271867" y="1806567"/>
            <a:ext cx="4000000" cy="4761520"/>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733">
                <a:solidFill>
                  <a:srgbClr val="006699"/>
                </a:solidFill>
                <a:highlight>
                  <a:srgbClr val="F5F5FA"/>
                </a:highlight>
                <a:latin typeface="Courier New"/>
                <a:ea typeface="Courier New"/>
                <a:cs typeface="Courier New"/>
                <a:sym typeface="Courier New"/>
              </a:rPr>
              <a:t>void</a:t>
            </a:r>
            <a:r>
              <a:rPr lang="uk" sz="733">
                <a:solidFill>
                  <a:schemeClr val="dk1"/>
                </a:solidFill>
                <a:highlight>
                  <a:srgbClr val="F5F5FA"/>
                </a:highlight>
                <a:latin typeface="Courier New"/>
                <a:ea typeface="Courier New"/>
                <a:cs typeface="Courier New"/>
                <a:sym typeface="Courier New"/>
              </a:rPr>
              <a:t> </a:t>
            </a:r>
            <a:r>
              <a:rPr lang="uk" sz="733">
                <a:solidFill>
                  <a:srgbClr val="188038"/>
                </a:solidFill>
                <a:highlight>
                  <a:srgbClr val="F5F5FA"/>
                </a:highlight>
                <a:latin typeface="Courier New"/>
                <a:ea typeface="Courier New"/>
                <a:cs typeface="Courier New"/>
                <a:sym typeface="Courier New"/>
              </a:rPr>
              <a:t>SayHelloUA()</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rgbClr val="188038"/>
                </a:solidFill>
                <a:highlight>
                  <a:srgbClr val="F5F5FA"/>
                </a:highlight>
                <a:latin typeface="Courier New"/>
                <a:ea typeface="Courier New"/>
                <a:cs typeface="Courier New"/>
                <a:sym typeface="Courier New"/>
              </a:rPr>
              <a:t>{</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rgbClr val="188038"/>
                </a:solidFill>
                <a:highlight>
                  <a:srgbClr val="F5F5FA"/>
                </a:highlight>
                <a:latin typeface="Courier New"/>
                <a:ea typeface="Courier New"/>
                <a:cs typeface="Courier New"/>
                <a:sym typeface="Courier New"/>
              </a:rPr>
              <a:t>    Console.WriteLine(</a:t>
            </a:r>
            <a:r>
              <a:rPr lang="uk" sz="733">
                <a:solidFill>
                  <a:srgbClr val="DB003E"/>
                </a:solidFill>
                <a:highlight>
                  <a:srgbClr val="F5F5FA"/>
                </a:highlight>
                <a:latin typeface="Courier New"/>
                <a:ea typeface="Courier New"/>
                <a:cs typeface="Courier New"/>
                <a:sym typeface="Courier New"/>
              </a:rPr>
              <a:t>"Привіт"</a:t>
            </a:r>
            <a:r>
              <a:rPr lang="uk" sz="733">
                <a:solidFill>
                  <a:srgbClr val="188038"/>
                </a:solidFill>
                <a:highlight>
                  <a:srgbClr val="F5F5FA"/>
                </a:highlight>
                <a:latin typeface="Courier New"/>
                <a:ea typeface="Courier New"/>
                <a:cs typeface="Courier New"/>
                <a:sym typeface="Courier New"/>
              </a:rPr>
              <a:t>);</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rgbClr val="188038"/>
                </a:solidFill>
                <a:highlight>
                  <a:srgbClr val="F5F5FA"/>
                </a:highlight>
                <a:latin typeface="Courier New"/>
                <a:ea typeface="Courier New"/>
                <a:cs typeface="Courier New"/>
                <a:sym typeface="Courier New"/>
              </a:rPr>
              <a:t>}</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rgbClr val="006699"/>
                </a:solidFill>
                <a:highlight>
                  <a:srgbClr val="F5F5FA"/>
                </a:highlight>
                <a:latin typeface="Courier New"/>
                <a:ea typeface="Courier New"/>
                <a:cs typeface="Courier New"/>
                <a:sym typeface="Courier New"/>
              </a:rPr>
              <a:t>void</a:t>
            </a:r>
            <a:r>
              <a:rPr lang="uk" sz="733">
                <a:solidFill>
                  <a:schemeClr val="dk1"/>
                </a:solidFill>
                <a:highlight>
                  <a:srgbClr val="F5F5FA"/>
                </a:highlight>
                <a:latin typeface="Courier New"/>
                <a:ea typeface="Courier New"/>
                <a:cs typeface="Courier New"/>
                <a:sym typeface="Courier New"/>
              </a:rPr>
              <a:t> </a:t>
            </a:r>
            <a:r>
              <a:rPr lang="uk" sz="733">
                <a:solidFill>
                  <a:srgbClr val="188038"/>
                </a:solidFill>
                <a:highlight>
                  <a:srgbClr val="F5F5FA"/>
                </a:highlight>
                <a:latin typeface="Courier New"/>
                <a:ea typeface="Courier New"/>
                <a:cs typeface="Courier New"/>
                <a:sym typeface="Courier New"/>
              </a:rPr>
              <a:t>SayHelloEn()</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rgbClr val="188038"/>
                </a:solidFill>
                <a:highlight>
                  <a:srgbClr val="F5F5FA"/>
                </a:highlight>
                <a:latin typeface="Courier New"/>
                <a:ea typeface="Courier New"/>
                <a:cs typeface="Courier New"/>
                <a:sym typeface="Courier New"/>
              </a:rPr>
              <a:t>{</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rgbClr val="188038"/>
                </a:solidFill>
                <a:highlight>
                  <a:srgbClr val="F5F5FA"/>
                </a:highlight>
                <a:latin typeface="Courier New"/>
                <a:ea typeface="Courier New"/>
                <a:cs typeface="Courier New"/>
                <a:sym typeface="Courier New"/>
              </a:rPr>
              <a:t>    Console.WriteLine(</a:t>
            </a:r>
            <a:r>
              <a:rPr lang="uk" sz="733">
                <a:solidFill>
                  <a:srgbClr val="DB003E"/>
                </a:solidFill>
                <a:highlight>
                  <a:srgbClr val="F5F5FA"/>
                </a:highlight>
                <a:latin typeface="Courier New"/>
                <a:ea typeface="Courier New"/>
                <a:cs typeface="Courier New"/>
                <a:sym typeface="Courier New"/>
              </a:rPr>
              <a:t>"Hello"</a:t>
            </a:r>
            <a:r>
              <a:rPr lang="uk" sz="733">
                <a:solidFill>
                  <a:srgbClr val="188038"/>
                </a:solidFill>
                <a:highlight>
                  <a:srgbClr val="F5F5FA"/>
                </a:highlight>
                <a:latin typeface="Courier New"/>
                <a:ea typeface="Courier New"/>
                <a:cs typeface="Courier New"/>
                <a:sym typeface="Courier New"/>
              </a:rPr>
              <a:t>);</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rgbClr val="188038"/>
                </a:solidFill>
                <a:highlight>
                  <a:srgbClr val="F5F5FA"/>
                </a:highlight>
                <a:latin typeface="Courier New"/>
                <a:ea typeface="Courier New"/>
                <a:cs typeface="Courier New"/>
                <a:sym typeface="Courier New"/>
              </a:rPr>
              <a:t>}</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rgbClr val="006699"/>
                </a:solidFill>
                <a:highlight>
                  <a:srgbClr val="F5F5FA"/>
                </a:highlight>
                <a:latin typeface="Courier New"/>
                <a:ea typeface="Courier New"/>
                <a:cs typeface="Courier New"/>
                <a:sym typeface="Courier New"/>
              </a:rPr>
              <a:t>void</a:t>
            </a:r>
            <a:r>
              <a:rPr lang="uk" sz="733">
                <a:solidFill>
                  <a:schemeClr val="dk1"/>
                </a:solidFill>
                <a:highlight>
                  <a:srgbClr val="F5F5FA"/>
                </a:highlight>
                <a:latin typeface="Courier New"/>
                <a:ea typeface="Courier New"/>
                <a:cs typeface="Courier New"/>
                <a:sym typeface="Courier New"/>
              </a:rPr>
              <a:t> </a:t>
            </a:r>
            <a:r>
              <a:rPr lang="uk" sz="733">
                <a:solidFill>
                  <a:srgbClr val="188038"/>
                </a:solidFill>
                <a:highlight>
                  <a:srgbClr val="F5F5FA"/>
                </a:highlight>
                <a:latin typeface="Courier New"/>
                <a:ea typeface="Courier New"/>
                <a:cs typeface="Courier New"/>
                <a:sym typeface="Courier New"/>
              </a:rPr>
              <a:t>SayHelloFr()</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rgbClr val="188038"/>
                </a:solidFill>
                <a:highlight>
                  <a:srgbClr val="F5F5FA"/>
                </a:highlight>
                <a:latin typeface="Courier New"/>
                <a:ea typeface="Courier New"/>
                <a:cs typeface="Courier New"/>
                <a:sym typeface="Courier New"/>
              </a:rPr>
              <a:t>{</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rgbClr val="188038"/>
                </a:solidFill>
                <a:highlight>
                  <a:srgbClr val="F5F5FA"/>
                </a:highlight>
                <a:latin typeface="Courier New"/>
                <a:ea typeface="Courier New"/>
                <a:cs typeface="Courier New"/>
                <a:sym typeface="Courier New"/>
              </a:rPr>
              <a:t>    Console.WriteLine(</a:t>
            </a:r>
            <a:r>
              <a:rPr lang="uk" sz="733">
                <a:solidFill>
                  <a:srgbClr val="DB003E"/>
                </a:solidFill>
                <a:highlight>
                  <a:srgbClr val="F5F5FA"/>
                </a:highlight>
                <a:latin typeface="Courier New"/>
                <a:ea typeface="Courier New"/>
                <a:cs typeface="Courier New"/>
                <a:sym typeface="Courier New"/>
              </a:rPr>
              <a:t>"Salut"</a:t>
            </a:r>
            <a:r>
              <a:rPr lang="uk" sz="733">
                <a:solidFill>
                  <a:srgbClr val="188038"/>
                </a:solidFill>
                <a:highlight>
                  <a:srgbClr val="F5F5FA"/>
                </a:highlight>
                <a:latin typeface="Courier New"/>
                <a:ea typeface="Courier New"/>
                <a:cs typeface="Courier New"/>
                <a:sym typeface="Courier New"/>
              </a:rPr>
              <a:t>);</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rgbClr val="188038"/>
                </a:solidFill>
                <a:highlight>
                  <a:srgbClr val="F5F5FA"/>
                </a:highlight>
                <a:latin typeface="Courier New"/>
                <a:ea typeface="Courier New"/>
                <a:cs typeface="Courier New"/>
                <a:sym typeface="Courier New"/>
              </a:rPr>
              <a:t>}</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chemeClr val="dk1"/>
                </a:solidFill>
                <a:highlight>
                  <a:srgbClr val="F5F5FA"/>
                </a:highlight>
                <a:latin typeface="Courier New"/>
                <a:ea typeface="Courier New"/>
                <a:cs typeface="Courier New"/>
                <a:sym typeface="Courier New"/>
              </a:rPr>
              <a:t> </a:t>
            </a:r>
            <a:endParaRPr sz="733">
              <a:solidFill>
                <a:schemeClr val="dk1"/>
              </a:solidFill>
              <a:highlight>
                <a:srgbClr val="F5F5FA"/>
              </a:highlight>
              <a:latin typeface="Courier New"/>
              <a:ea typeface="Courier New"/>
              <a:cs typeface="Courier New"/>
              <a:sym typeface="Courier New"/>
            </a:endParaRPr>
          </a:p>
          <a:p>
            <a:pPr marL="84665" marR="84665">
              <a:lnSpc>
                <a:spcPct val="143181"/>
              </a:lnSpc>
            </a:pPr>
            <a:r>
              <a:rPr lang="uk" sz="733">
                <a:solidFill>
                  <a:schemeClr val="dk1"/>
                </a:solidFill>
                <a:highlight>
                  <a:srgbClr val="F5F5FA"/>
                </a:highlight>
                <a:latin typeface="Courier New"/>
                <a:ea typeface="Courier New"/>
                <a:cs typeface="Courier New"/>
                <a:sym typeface="Courier New"/>
              </a:rPr>
              <a:t> </a:t>
            </a:r>
            <a:endParaRPr sz="733">
              <a:solidFill>
                <a:schemeClr val="dk1"/>
              </a:solidFill>
              <a:highlight>
                <a:srgbClr val="F5F5FA"/>
              </a:highlight>
              <a:latin typeface="Courier New"/>
              <a:ea typeface="Courier New"/>
              <a:cs typeface="Courier New"/>
              <a:sym typeface="Courier New"/>
            </a:endParaRPr>
          </a:p>
          <a:p>
            <a:pPr marL="84665" marR="84665">
              <a:lnSpc>
                <a:spcPct val="143181"/>
              </a:lnSpc>
            </a:pPr>
            <a:r>
              <a:rPr lang="uk" sz="733">
                <a:solidFill>
                  <a:srgbClr val="006699"/>
                </a:solidFill>
                <a:highlight>
                  <a:srgbClr val="F5F5FA"/>
                </a:highlight>
                <a:latin typeface="Courier New"/>
                <a:ea typeface="Courier New"/>
                <a:cs typeface="Courier New"/>
                <a:sym typeface="Courier New"/>
              </a:rPr>
              <a:t>string</a:t>
            </a:r>
            <a:r>
              <a:rPr lang="uk" sz="733">
                <a:solidFill>
                  <a:schemeClr val="dk1"/>
                </a:solidFill>
                <a:highlight>
                  <a:srgbClr val="F5F5FA"/>
                </a:highlight>
                <a:latin typeface="Courier New"/>
                <a:ea typeface="Courier New"/>
                <a:cs typeface="Courier New"/>
                <a:sym typeface="Courier New"/>
              </a:rPr>
              <a:t> </a:t>
            </a:r>
            <a:r>
              <a:rPr lang="uk" sz="733">
                <a:solidFill>
                  <a:srgbClr val="188038"/>
                </a:solidFill>
                <a:highlight>
                  <a:srgbClr val="F5F5FA"/>
                </a:highlight>
                <a:latin typeface="Courier New"/>
                <a:ea typeface="Courier New"/>
                <a:cs typeface="Courier New"/>
                <a:sym typeface="Courier New"/>
              </a:rPr>
              <a:t>language = </a:t>
            </a:r>
            <a:r>
              <a:rPr lang="uk" sz="733">
                <a:solidFill>
                  <a:srgbClr val="DB003E"/>
                </a:solidFill>
                <a:highlight>
                  <a:srgbClr val="F5F5FA"/>
                </a:highlight>
                <a:latin typeface="Courier New"/>
                <a:ea typeface="Courier New"/>
                <a:cs typeface="Courier New"/>
                <a:sym typeface="Courier New"/>
              </a:rPr>
              <a:t>"en"</a:t>
            </a:r>
            <a:r>
              <a:rPr lang="uk" sz="733">
                <a:solidFill>
                  <a:srgbClr val="188038"/>
                </a:solidFill>
                <a:highlight>
                  <a:srgbClr val="F5F5FA"/>
                </a:highlight>
                <a:latin typeface="Courier New"/>
                <a:ea typeface="Courier New"/>
                <a:cs typeface="Courier New"/>
                <a:sym typeface="Courier New"/>
              </a:rPr>
              <a:t>;</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chemeClr val="dk1"/>
                </a:solidFill>
                <a:highlight>
                  <a:srgbClr val="F5F5FA"/>
                </a:highlight>
                <a:latin typeface="Courier New"/>
                <a:ea typeface="Courier New"/>
                <a:cs typeface="Courier New"/>
                <a:sym typeface="Courier New"/>
              </a:rPr>
              <a:t> </a:t>
            </a:r>
            <a:endParaRPr sz="733">
              <a:solidFill>
                <a:schemeClr val="dk1"/>
              </a:solidFill>
              <a:highlight>
                <a:srgbClr val="F5F5FA"/>
              </a:highlight>
              <a:latin typeface="Courier New"/>
              <a:ea typeface="Courier New"/>
              <a:cs typeface="Courier New"/>
              <a:sym typeface="Courier New"/>
            </a:endParaRPr>
          </a:p>
          <a:p>
            <a:pPr marL="84665" marR="84665">
              <a:lnSpc>
                <a:spcPct val="143181"/>
              </a:lnSpc>
            </a:pPr>
            <a:r>
              <a:rPr lang="uk" sz="733">
                <a:solidFill>
                  <a:srgbClr val="006699"/>
                </a:solidFill>
                <a:highlight>
                  <a:srgbClr val="F5F5FA"/>
                </a:highlight>
                <a:latin typeface="Courier New"/>
                <a:ea typeface="Courier New"/>
                <a:cs typeface="Courier New"/>
                <a:sym typeface="Courier New"/>
              </a:rPr>
              <a:t>switch</a:t>
            </a:r>
            <a:r>
              <a:rPr lang="uk" sz="733">
                <a:solidFill>
                  <a:schemeClr val="dk1"/>
                </a:solidFill>
                <a:highlight>
                  <a:srgbClr val="F5F5FA"/>
                </a:highlight>
                <a:latin typeface="Courier New"/>
                <a:ea typeface="Courier New"/>
                <a:cs typeface="Courier New"/>
                <a:sym typeface="Courier New"/>
              </a:rPr>
              <a:t> </a:t>
            </a:r>
            <a:r>
              <a:rPr lang="uk" sz="733">
                <a:solidFill>
                  <a:srgbClr val="188038"/>
                </a:solidFill>
                <a:highlight>
                  <a:srgbClr val="F5F5FA"/>
                </a:highlight>
                <a:latin typeface="Courier New"/>
                <a:ea typeface="Courier New"/>
                <a:cs typeface="Courier New"/>
                <a:sym typeface="Courier New"/>
              </a:rPr>
              <a:t>(language)</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rgbClr val="188038"/>
                </a:solidFill>
                <a:highlight>
                  <a:srgbClr val="F5F5FA"/>
                </a:highlight>
                <a:latin typeface="Courier New"/>
                <a:ea typeface="Courier New"/>
                <a:cs typeface="Courier New"/>
                <a:sym typeface="Courier New"/>
              </a:rPr>
              <a:t>{</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rgbClr val="188038"/>
                </a:solidFill>
                <a:highlight>
                  <a:srgbClr val="F5F5FA"/>
                </a:highlight>
                <a:latin typeface="Courier New"/>
                <a:ea typeface="Courier New"/>
                <a:cs typeface="Courier New"/>
                <a:sym typeface="Courier New"/>
              </a:rPr>
              <a:t>    </a:t>
            </a:r>
            <a:r>
              <a:rPr lang="uk" sz="733">
                <a:solidFill>
                  <a:srgbClr val="006699"/>
                </a:solidFill>
                <a:highlight>
                  <a:srgbClr val="F5F5FA"/>
                </a:highlight>
                <a:latin typeface="Courier New"/>
                <a:ea typeface="Courier New"/>
                <a:cs typeface="Courier New"/>
                <a:sym typeface="Courier New"/>
              </a:rPr>
              <a:t>case</a:t>
            </a:r>
            <a:r>
              <a:rPr lang="uk" sz="733">
                <a:solidFill>
                  <a:schemeClr val="dk1"/>
                </a:solidFill>
                <a:highlight>
                  <a:srgbClr val="F5F5FA"/>
                </a:highlight>
                <a:latin typeface="Courier New"/>
                <a:ea typeface="Courier New"/>
                <a:cs typeface="Courier New"/>
                <a:sym typeface="Courier New"/>
              </a:rPr>
              <a:t> </a:t>
            </a:r>
            <a:r>
              <a:rPr lang="uk" sz="733">
                <a:solidFill>
                  <a:srgbClr val="DB003E"/>
                </a:solidFill>
                <a:highlight>
                  <a:srgbClr val="F5F5FA"/>
                </a:highlight>
                <a:latin typeface="Courier New"/>
                <a:ea typeface="Courier New"/>
                <a:cs typeface="Courier New"/>
                <a:sym typeface="Courier New"/>
              </a:rPr>
              <a:t>"en"</a:t>
            </a:r>
            <a:r>
              <a:rPr lang="uk" sz="733">
                <a:solidFill>
                  <a:srgbClr val="188038"/>
                </a:solidFill>
                <a:highlight>
                  <a:srgbClr val="F5F5FA"/>
                </a:highlight>
                <a:latin typeface="Courier New"/>
                <a:ea typeface="Courier New"/>
                <a:cs typeface="Courier New"/>
                <a:sym typeface="Courier New"/>
              </a:rPr>
              <a:t>:</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rgbClr val="188038"/>
                </a:solidFill>
                <a:highlight>
                  <a:srgbClr val="F5F5FA"/>
                </a:highlight>
                <a:latin typeface="Courier New"/>
                <a:ea typeface="Courier New"/>
                <a:cs typeface="Courier New"/>
                <a:sym typeface="Courier New"/>
              </a:rPr>
              <a:t>        SayHelloEn();</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rgbClr val="188038"/>
                </a:solidFill>
                <a:highlight>
                  <a:srgbClr val="F5F5FA"/>
                </a:highlight>
                <a:latin typeface="Courier New"/>
                <a:ea typeface="Courier New"/>
                <a:cs typeface="Courier New"/>
                <a:sym typeface="Courier New"/>
              </a:rPr>
              <a:t>        </a:t>
            </a:r>
            <a:r>
              <a:rPr lang="uk" sz="733">
                <a:solidFill>
                  <a:srgbClr val="006699"/>
                </a:solidFill>
                <a:highlight>
                  <a:srgbClr val="F5F5FA"/>
                </a:highlight>
                <a:latin typeface="Courier New"/>
                <a:ea typeface="Courier New"/>
                <a:cs typeface="Courier New"/>
                <a:sym typeface="Courier New"/>
              </a:rPr>
              <a:t>break</a:t>
            </a:r>
            <a:r>
              <a:rPr lang="uk" sz="733">
                <a:solidFill>
                  <a:srgbClr val="188038"/>
                </a:solidFill>
                <a:highlight>
                  <a:srgbClr val="F5F5FA"/>
                </a:highlight>
                <a:latin typeface="Courier New"/>
                <a:ea typeface="Courier New"/>
                <a:cs typeface="Courier New"/>
                <a:sym typeface="Courier New"/>
              </a:rPr>
              <a:t>;</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rgbClr val="188038"/>
                </a:solidFill>
                <a:highlight>
                  <a:srgbClr val="F5F5FA"/>
                </a:highlight>
                <a:latin typeface="Courier New"/>
                <a:ea typeface="Courier New"/>
                <a:cs typeface="Courier New"/>
                <a:sym typeface="Courier New"/>
              </a:rPr>
              <a:t>    </a:t>
            </a:r>
            <a:r>
              <a:rPr lang="uk" sz="733">
                <a:solidFill>
                  <a:srgbClr val="006699"/>
                </a:solidFill>
                <a:highlight>
                  <a:srgbClr val="F5F5FA"/>
                </a:highlight>
                <a:latin typeface="Courier New"/>
                <a:ea typeface="Courier New"/>
                <a:cs typeface="Courier New"/>
                <a:sym typeface="Courier New"/>
              </a:rPr>
              <a:t>case</a:t>
            </a:r>
            <a:r>
              <a:rPr lang="uk" sz="733">
                <a:solidFill>
                  <a:schemeClr val="dk1"/>
                </a:solidFill>
                <a:highlight>
                  <a:srgbClr val="F5F5FA"/>
                </a:highlight>
                <a:latin typeface="Courier New"/>
                <a:ea typeface="Courier New"/>
                <a:cs typeface="Courier New"/>
                <a:sym typeface="Courier New"/>
              </a:rPr>
              <a:t> </a:t>
            </a:r>
            <a:r>
              <a:rPr lang="uk" sz="733">
                <a:solidFill>
                  <a:srgbClr val="DB003E"/>
                </a:solidFill>
                <a:highlight>
                  <a:srgbClr val="F5F5FA"/>
                </a:highlight>
                <a:latin typeface="Courier New"/>
                <a:ea typeface="Courier New"/>
                <a:cs typeface="Courier New"/>
                <a:sym typeface="Courier New"/>
              </a:rPr>
              <a:t>"ua"</a:t>
            </a:r>
            <a:r>
              <a:rPr lang="uk" sz="733">
                <a:solidFill>
                  <a:srgbClr val="188038"/>
                </a:solidFill>
                <a:highlight>
                  <a:srgbClr val="F5F5FA"/>
                </a:highlight>
                <a:latin typeface="Courier New"/>
                <a:ea typeface="Courier New"/>
                <a:cs typeface="Courier New"/>
                <a:sym typeface="Courier New"/>
              </a:rPr>
              <a:t>:</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rgbClr val="188038"/>
                </a:solidFill>
                <a:highlight>
                  <a:srgbClr val="F5F5FA"/>
                </a:highlight>
                <a:latin typeface="Courier New"/>
                <a:ea typeface="Courier New"/>
                <a:cs typeface="Courier New"/>
                <a:sym typeface="Courier New"/>
              </a:rPr>
              <a:t>        SayHelloUA();</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rgbClr val="188038"/>
                </a:solidFill>
                <a:highlight>
                  <a:srgbClr val="F5F5FA"/>
                </a:highlight>
                <a:latin typeface="Courier New"/>
                <a:ea typeface="Courier New"/>
                <a:cs typeface="Courier New"/>
                <a:sym typeface="Courier New"/>
              </a:rPr>
              <a:t>        </a:t>
            </a:r>
            <a:r>
              <a:rPr lang="uk" sz="733">
                <a:solidFill>
                  <a:srgbClr val="006699"/>
                </a:solidFill>
                <a:highlight>
                  <a:srgbClr val="F5F5FA"/>
                </a:highlight>
                <a:latin typeface="Courier New"/>
                <a:ea typeface="Courier New"/>
                <a:cs typeface="Courier New"/>
                <a:sym typeface="Courier New"/>
              </a:rPr>
              <a:t>break</a:t>
            </a:r>
            <a:r>
              <a:rPr lang="uk" sz="733">
                <a:solidFill>
                  <a:srgbClr val="188038"/>
                </a:solidFill>
                <a:highlight>
                  <a:srgbClr val="F5F5FA"/>
                </a:highlight>
                <a:latin typeface="Courier New"/>
                <a:ea typeface="Courier New"/>
                <a:cs typeface="Courier New"/>
                <a:sym typeface="Courier New"/>
              </a:rPr>
              <a:t>;</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rgbClr val="188038"/>
                </a:solidFill>
                <a:highlight>
                  <a:srgbClr val="F5F5FA"/>
                </a:highlight>
                <a:latin typeface="Courier New"/>
                <a:ea typeface="Courier New"/>
                <a:cs typeface="Courier New"/>
                <a:sym typeface="Courier New"/>
              </a:rPr>
              <a:t>    </a:t>
            </a:r>
            <a:r>
              <a:rPr lang="uk" sz="733">
                <a:solidFill>
                  <a:srgbClr val="006699"/>
                </a:solidFill>
                <a:highlight>
                  <a:srgbClr val="F5F5FA"/>
                </a:highlight>
                <a:latin typeface="Courier New"/>
                <a:ea typeface="Courier New"/>
                <a:cs typeface="Courier New"/>
                <a:sym typeface="Courier New"/>
              </a:rPr>
              <a:t>case</a:t>
            </a:r>
            <a:r>
              <a:rPr lang="uk" sz="733">
                <a:solidFill>
                  <a:schemeClr val="dk1"/>
                </a:solidFill>
                <a:highlight>
                  <a:srgbClr val="F5F5FA"/>
                </a:highlight>
                <a:latin typeface="Courier New"/>
                <a:ea typeface="Courier New"/>
                <a:cs typeface="Courier New"/>
                <a:sym typeface="Courier New"/>
              </a:rPr>
              <a:t> </a:t>
            </a:r>
            <a:r>
              <a:rPr lang="uk" sz="733">
                <a:solidFill>
                  <a:srgbClr val="DB003E"/>
                </a:solidFill>
                <a:highlight>
                  <a:srgbClr val="F5F5FA"/>
                </a:highlight>
                <a:latin typeface="Courier New"/>
                <a:ea typeface="Courier New"/>
                <a:cs typeface="Courier New"/>
                <a:sym typeface="Courier New"/>
              </a:rPr>
              <a:t>"fr"</a:t>
            </a:r>
            <a:r>
              <a:rPr lang="uk" sz="733">
                <a:solidFill>
                  <a:srgbClr val="188038"/>
                </a:solidFill>
                <a:highlight>
                  <a:srgbClr val="F5F5FA"/>
                </a:highlight>
                <a:latin typeface="Courier New"/>
                <a:ea typeface="Courier New"/>
                <a:cs typeface="Courier New"/>
                <a:sym typeface="Courier New"/>
              </a:rPr>
              <a:t>:</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rgbClr val="188038"/>
                </a:solidFill>
                <a:highlight>
                  <a:srgbClr val="F5F5FA"/>
                </a:highlight>
                <a:latin typeface="Courier New"/>
                <a:ea typeface="Courier New"/>
                <a:cs typeface="Courier New"/>
                <a:sym typeface="Courier New"/>
              </a:rPr>
              <a:t>        SayHelloFr();</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rgbClr val="188038"/>
                </a:solidFill>
                <a:highlight>
                  <a:srgbClr val="F5F5FA"/>
                </a:highlight>
                <a:latin typeface="Courier New"/>
                <a:ea typeface="Courier New"/>
                <a:cs typeface="Courier New"/>
                <a:sym typeface="Courier New"/>
              </a:rPr>
              <a:t>        </a:t>
            </a:r>
            <a:r>
              <a:rPr lang="uk" sz="733">
                <a:solidFill>
                  <a:srgbClr val="006699"/>
                </a:solidFill>
                <a:highlight>
                  <a:srgbClr val="F5F5FA"/>
                </a:highlight>
                <a:latin typeface="Courier New"/>
                <a:ea typeface="Courier New"/>
                <a:cs typeface="Courier New"/>
                <a:sym typeface="Courier New"/>
              </a:rPr>
              <a:t>break</a:t>
            </a:r>
            <a:r>
              <a:rPr lang="uk" sz="733">
                <a:solidFill>
                  <a:srgbClr val="188038"/>
                </a:solidFill>
                <a:highlight>
                  <a:srgbClr val="F5F5FA"/>
                </a:highlight>
                <a:latin typeface="Courier New"/>
                <a:ea typeface="Courier New"/>
                <a:cs typeface="Courier New"/>
                <a:sym typeface="Courier New"/>
              </a:rPr>
              <a:t>;</a:t>
            </a:r>
            <a:endParaRPr sz="733">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733">
                <a:solidFill>
                  <a:srgbClr val="188038"/>
                </a:solidFill>
                <a:highlight>
                  <a:srgbClr val="F5F5FA"/>
                </a:highlight>
                <a:latin typeface="Courier New"/>
                <a:ea typeface="Courier New"/>
                <a:cs typeface="Courier New"/>
                <a:sym typeface="Courier New"/>
              </a:rPr>
              <a:t>}</a:t>
            </a:r>
            <a:endParaRPr sz="733">
              <a:solidFill>
                <a:srgbClr val="188038"/>
              </a:solidFill>
              <a:highlight>
                <a:srgbClr val="F5F5FA"/>
              </a:highlight>
              <a:latin typeface="Courier New"/>
              <a:ea typeface="Courier New"/>
              <a:cs typeface="Courier New"/>
              <a:sym typeface="Courier New"/>
            </a:endParaRPr>
          </a:p>
        </p:txBody>
      </p:sp>
      <p:sp>
        <p:nvSpPr>
          <p:cNvPr id="125" name="Google Shape;125;p21"/>
          <p:cNvSpPr txBox="1"/>
          <p:nvPr/>
        </p:nvSpPr>
        <p:spPr>
          <a:xfrm>
            <a:off x="4911100" y="701601"/>
            <a:ext cx="4000000" cy="508660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pPr>
            <a:r>
              <a:rPr lang="uk" sz="1600">
                <a:solidFill>
                  <a:schemeClr val="dk1"/>
                </a:solidFill>
              </a:rPr>
              <a:t>Тут визначено три методи </a:t>
            </a:r>
            <a:r>
              <a:rPr lang="uk" sz="1600">
                <a:solidFill>
                  <a:srgbClr val="188038"/>
                </a:solidFill>
                <a:latin typeface="Roboto Mono"/>
                <a:ea typeface="Roboto Mono"/>
                <a:cs typeface="Roboto Mono"/>
                <a:sym typeface="Roboto Mono"/>
              </a:rPr>
              <a:t>SayHelloUA()</a:t>
            </a:r>
            <a:r>
              <a:rPr lang="uk" sz="1600">
                <a:solidFill>
                  <a:schemeClr val="dk1"/>
                </a:solidFill>
              </a:rPr>
              <a:t>, </a:t>
            </a:r>
            <a:r>
              <a:rPr lang="uk" sz="1600">
                <a:solidFill>
                  <a:srgbClr val="188038"/>
                </a:solidFill>
                <a:latin typeface="Roboto Mono"/>
                <a:ea typeface="Roboto Mono"/>
                <a:cs typeface="Roboto Mono"/>
                <a:sym typeface="Roboto Mono"/>
              </a:rPr>
              <a:t>SayHelloEn()</a:t>
            </a:r>
            <a:r>
              <a:rPr lang="uk" sz="1600">
                <a:solidFill>
                  <a:schemeClr val="dk1"/>
                </a:solidFill>
              </a:rPr>
              <a:t>і </a:t>
            </a:r>
            <a:r>
              <a:rPr lang="uk" sz="1600">
                <a:solidFill>
                  <a:srgbClr val="188038"/>
                </a:solidFill>
                <a:latin typeface="Roboto Mono"/>
                <a:ea typeface="Roboto Mono"/>
                <a:cs typeface="Roboto Mono"/>
                <a:sym typeface="Roboto Mono"/>
              </a:rPr>
              <a:t>SayHelloFr()</a:t>
            </a:r>
            <a:r>
              <a:rPr lang="uk" sz="1600">
                <a:solidFill>
                  <a:schemeClr val="dk1"/>
                </a:solidFill>
              </a:rPr>
              <a:t>, які мають тип </a:t>
            </a:r>
            <a:r>
              <a:rPr lang="uk" sz="1600">
                <a:solidFill>
                  <a:srgbClr val="188038"/>
                </a:solidFill>
                <a:latin typeface="Roboto Mono"/>
                <a:ea typeface="Roboto Mono"/>
                <a:cs typeface="Roboto Mono"/>
                <a:sym typeface="Roboto Mono"/>
              </a:rPr>
              <a:t>void</a:t>
            </a:r>
            <a:r>
              <a:rPr lang="uk" sz="1600">
                <a:solidFill>
                  <a:schemeClr val="dk1"/>
                </a:solidFill>
              </a:rPr>
              <a:t>, не приймають жодних параметрів і також виводить деякий рядок на консоль. Умовно кажучи, вони виводять вітання певною мовою.</a:t>
            </a:r>
            <a:endParaRPr sz="1600">
              <a:solidFill>
                <a:schemeClr val="dk1"/>
              </a:solidFill>
            </a:endParaRPr>
          </a:p>
          <a:p>
            <a:pPr>
              <a:lnSpc>
                <a:spcPct val="156000"/>
              </a:lnSpc>
              <a:spcBef>
                <a:spcPts val="1600"/>
              </a:spcBef>
              <a:spcAft>
                <a:spcPts val="1600"/>
              </a:spcAft>
            </a:pPr>
            <a:r>
              <a:rPr lang="uk" sz="1600">
                <a:solidFill>
                  <a:schemeClr val="dk1"/>
                </a:solidFill>
              </a:rPr>
              <a:t>У конструкції </a:t>
            </a:r>
            <a:r>
              <a:rPr lang="uk" sz="1600">
                <a:solidFill>
                  <a:srgbClr val="188038"/>
                </a:solidFill>
                <a:latin typeface="Roboto Mono"/>
                <a:ea typeface="Roboto Mono"/>
                <a:cs typeface="Roboto Mono"/>
                <a:sym typeface="Roboto Mono"/>
              </a:rPr>
              <a:t>switch </a:t>
            </a:r>
            <a:r>
              <a:rPr lang="uk" sz="1600">
                <a:solidFill>
                  <a:schemeClr val="dk1"/>
                </a:solidFill>
              </a:rPr>
              <a:t>перевіряється значення змінної </a:t>
            </a:r>
            <a:r>
              <a:rPr lang="uk" sz="1600">
                <a:solidFill>
                  <a:srgbClr val="188038"/>
                </a:solidFill>
                <a:latin typeface="Roboto Mono"/>
                <a:ea typeface="Roboto Mono"/>
                <a:cs typeface="Roboto Mono"/>
                <a:sym typeface="Roboto Mono"/>
              </a:rPr>
              <a:t>language</a:t>
            </a:r>
            <a:r>
              <a:rPr lang="uk" sz="1600">
                <a:solidFill>
                  <a:schemeClr val="dk1"/>
                </a:solidFill>
              </a:rPr>
              <a:t>, яка умовно зберігає код мови, і залежно від значення викликається певний метод. Так, у цьому випадку на консоль буде виведено</a:t>
            </a:r>
            <a:endParaRPr sz="1600">
              <a:solidFill>
                <a:schemeClr val="dk1"/>
              </a:solidFill>
            </a:endParaRPr>
          </a:p>
        </p:txBody>
      </p:sp>
      <p:sp>
        <p:nvSpPr>
          <p:cNvPr id="126" name="Google Shape;126;p21"/>
          <p:cNvSpPr txBox="1"/>
          <p:nvPr/>
        </p:nvSpPr>
        <p:spPr>
          <a:xfrm>
            <a:off x="5007567" y="6009601"/>
            <a:ext cx="4000000" cy="677068"/>
          </a:xfrm>
          <a:prstGeom prst="rect">
            <a:avLst/>
          </a:prstGeom>
          <a:noFill/>
          <a:ln>
            <a:noFill/>
          </a:ln>
        </p:spPr>
        <p:txBody>
          <a:bodyPr spcFirstLastPara="1" wrap="square" lIns="121900" tIns="121900" rIns="121900" bIns="121900" anchor="t" anchorCtr="0">
            <a:spAutoFit/>
          </a:bodyPr>
          <a:lstStyle/>
          <a:p>
            <a:pPr marL="101597" marR="101597">
              <a:lnSpc>
                <a:spcPct val="174545"/>
              </a:lnSpc>
            </a:pPr>
            <a:r>
              <a:rPr lang="uk" sz="1600">
                <a:solidFill>
                  <a:srgbClr val="EEEEEE"/>
                </a:solidFill>
                <a:highlight>
                  <a:srgbClr val="333333"/>
                </a:highlight>
              </a:rPr>
              <a:t>Hello</a:t>
            </a:r>
            <a:endParaRPr sz="1600">
              <a:solidFill>
                <a:srgbClr val="EEEEEE"/>
              </a:solidFill>
              <a:highlight>
                <a:srgbClr val="333333"/>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2"/>
          <p:cNvSpPr txBox="1"/>
          <p:nvPr/>
        </p:nvSpPr>
        <p:spPr>
          <a:xfrm>
            <a:off x="168133" y="211967"/>
            <a:ext cx="114080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Скорочений запис методів</a:t>
            </a:r>
            <a:endParaRPr sz="4800" b="1">
              <a:solidFill>
                <a:schemeClr val="dk1"/>
              </a:solidFill>
              <a:latin typeface="Times New Roman"/>
              <a:ea typeface="Times New Roman"/>
              <a:cs typeface="Times New Roman"/>
              <a:sym typeface="Times New Roman"/>
            </a:endParaRPr>
          </a:p>
          <a:p>
            <a:pPr algn="ctr"/>
            <a:endParaRPr sz="4800" b="1">
              <a:solidFill>
                <a:schemeClr val="dk1"/>
              </a:solidFill>
              <a:latin typeface="Times New Roman"/>
              <a:ea typeface="Times New Roman"/>
              <a:cs typeface="Times New Roman"/>
              <a:sym typeface="Times New Roman"/>
            </a:endParaRPr>
          </a:p>
        </p:txBody>
      </p:sp>
      <p:sp>
        <p:nvSpPr>
          <p:cNvPr id="132" name="Google Shape;132;p22"/>
          <p:cNvSpPr txBox="1"/>
          <p:nvPr/>
        </p:nvSpPr>
        <p:spPr>
          <a:xfrm>
            <a:off x="271867" y="1192667"/>
            <a:ext cx="5262000" cy="2013972"/>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buClr>
                <a:schemeClr val="dk1"/>
              </a:buClr>
              <a:buSzPts val="1100"/>
            </a:pPr>
            <a:r>
              <a:rPr lang="uk" sz="1600">
                <a:solidFill>
                  <a:schemeClr val="dk1"/>
                </a:solidFill>
              </a:rPr>
              <a:t>Якщо метод як тіло визначає лише одну інструкцію, то ми можемо скоротити визначення методу.</a:t>
            </a:r>
            <a:endParaRPr sz="1600">
              <a:solidFill>
                <a:schemeClr val="dk1"/>
              </a:solidFill>
            </a:endParaRPr>
          </a:p>
          <a:p>
            <a:pPr>
              <a:lnSpc>
                <a:spcPct val="156000"/>
              </a:lnSpc>
              <a:spcBef>
                <a:spcPts val="1600"/>
              </a:spcBef>
              <a:spcAft>
                <a:spcPts val="1600"/>
              </a:spcAft>
            </a:pPr>
            <a:endParaRPr sz="1600">
              <a:solidFill>
                <a:schemeClr val="dk1"/>
              </a:solidFill>
            </a:endParaRPr>
          </a:p>
        </p:txBody>
      </p:sp>
      <p:sp>
        <p:nvSpPr>
          <p:cNvPr id="133" name="Google Shape;133;p22"/>
          <p:cNvSpPr txBox="1"/>
          <p:nvPr/>
        </p:nvSpPr>
        <p:spPr>
          <a:xfrm>
            <a:off x="403400" y="2139867"/>
            <a:ext cx="4000000" cy="1478570"/>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highlight>
                  <a:srgbClr val="F5F5FA"/>
                </a:highlight>
                <a:latin typeface="Courier New"/>
                <a:ea typeface="Courier New"/>
                <a:cs typeface="Courier New"/>
                <a:sym typeface="Courier New"/>
              </a:rPr>
              <a:t>void</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SayHello()</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Console.WriteLine(</a:t>
            </a:r>
            <a:r>
              <a:rPr lang="uk" sz="1400">
                <a:solidFill>
                  <a:srgbClr val="DB003E"/>
                </a:solidFill>
                <a:highlight>
                  <a:srgbClr val="F5F5FA"/>
                </a:highlight>
                <a:latin typeface="Courier New"/>
                <a:ea typeface="Courier New"/>
                <a:cs typeface="Courier New"/>
                <a:sym typeface="Courier New"/>
              </a:rPr>
              <a:t>"Hello"</a:t>
            </a: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p:txBody>
      </p:sp>
      <p:sp>
        <p:nvSpPr>
          <p:cNvPr id="134" name="Google Shape;134;p22"/>
          <p:cNvSpPr txBox="1"/>
          <p:nvPr/>
        </p:nvSpPr>
        <p:spPr>
          <a:xfrm>
            <a:off x="403400" y="3730967"/>
            <a:ext cx="4000000" cy="104062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spcAft>
                <a:spcPts val="1600"/>
              </a:spcAft>
            </a:pPr>
            <a:r>
              <a:rPr lang="uk" sz="1600">
                <a:solidFill>
                  <a:schemeClr val="dk1"/>
                </a:solidFill>
              </a:rPr>
              <a:t>Ми можемо його скоротити так:</a:t>
            </a:r>
            <a:endParaRPr sz="1600">
              <a:solidFill>
                <a:schemeClr val="dk1"/>
              </a:solidFill>
            </a:endParaRPr>
          </a:p>
        </p:txBody>
      </p:sp>
      <p:sp>
        <p:nvSpPr>
          <p:cNvPr id="135" name="Google Shape;135;p22"/>
          <p:cNvSpPr txBox="1"/>
          <p:nvPr/>
        </p:nvSpPr>
        <p:spPr>
          <a:xfrm>
            <a:off x="499867" y="4223368"/>
            <a:ext cx="4963600" cy="984845"/>
          </a:xfrm>
          <a:prstGeom prst="rect">
            <a:avLst/>
          </a:prstGeom>
          <a:noFill/>
          <a:ln>
            <a:noFill/>
          </a:ln>
        </p:spPr>
        <p:txBody>
          <a:bodyPr spcFirstLastPara="1" wrap="square" lIns="121900" tIns="121900" rIns="121900" bIns="121900" anchor="t" anchorCtr="0">
            <a:spAutoFit/>
          </a:bodyPr>
          <a:lstStyle/>
          <a:p>
            <a:r>
              <a:rPr lang="uk" sz="2400"/>
              <a:t>void SayHello() =&gt; Console.WriteLine</a:t>
            </a:r>
            <a:r>
              <a:rPr lang="uk" sz="1400">
                <a:solidFill>
                  <a:srgbClr val="188038"/>
                </a:solidFill>
                <a:latin typeface="Courier New"/>
                <a:ea typeface="Courier New"/>
                <a:cs typeface="Courier New"/>
                <a:sym typeface="Courier New"/>
              </a:rPr>
              <a:t>(</a:t>
            </a:r>
            <a:r>
              <a:rPr lang="uk" sz="1400">
                <a:solidFill>
                  <a:srgbClr val="DB003E"/>
                </a:solidFill>
                <a:latin typeface="Courier New"/>
                <a:ea typeface="Courier New"/>
                <a:cs typeface="Courier New"/>
                <a:sym typeface="Courier New"/>
              </a:rPr>
              <a:t>"Hello"</a:t>
            </a:r>
            <a:r>
              <a:rPr lang="uk" sz="1400">
                <a:solidFill>
                  <a:srgbClr val="188038"/>
                </a:solidFill>
                <a:latin typeface="Courier New"/>
                <a:ea typeface="Courier New"/>
                <a:cs typeface="Courier New"/>
                <a:sym typeface="Courier New"/>
              </a:rPr>
              <a:t>);</a:t>
            </a:r>
            <a:endParaRPr sz="2400"/>
          </a:p>
        </p:txBody>
      </p:sp>
      <p:sp>
        <p:nvSpPr>
          <p:cNvPr id="136" name="Google Shape;136;p22"/>
          <p:cNvSpPr txBox="1"/>
          <p:nvPr/>
        </p:nvSpPr>
        <p:spPr>
          <a:xfrm>
            <a:off x="403400" y="5367134"/>
            <a:ext cx="4000000" cy="984845"/>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rPr>
              <a:t>Тобто після списку параметрів ставиться оператор </a:t>
            </a:r>
            <a:r>
              <a:rPr lang="uk" sz="1600" b="1">
                <a:solidFill>
                  <a:schemeClr val="dk1"/>
                </a:solidFill>
                <a:highlight>
                  <a:srgbClr val="F7F7FA"/>
                </a:highlight>
              </a:rPr>
              <a:t>=&gt;</a:t>
            </a:r>
            <a:r>
              <a:rPr lang="uk" sz="1600">
                <a:solidFill>
                  <a:schemeClr val="dk1"/>
                </a:solidFill>
                <a:highlight>
                  <a:srgbClr val="F7F7FA"/>
                </a:highlight>
              </a:rPr>
              <a:t> , після якого йде інструкція, що виконується.</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3"/>
          <p:cNvSpPr txBox="1"/>
          <p:nvPr/>
        </p:nvSpPr>
        <p:spPr>
          <a:xfrm>
            <a:off x="168133" y="211968"/>
            <a:ext cx="11408000" cy="984845"/>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Параметри методів</a:t>
            </a:r>
            <a:endParaRPr sz="4800" b="1">
              <a:solidFill>
                <a:schemeClr val="dk1"/>
              </a:solidFill>
              <a:latin typeface="Times New Roman"/>
              <a:ea typeface="Times New Roman"/>
              <a:cs typeface="Times New Roman"/>
              <a:sym typeface="Times New Roman"/>
            </a:endParaRPr>
          </a:p>
        </p:txBody>
      </p:sp>
      <p:sp>
        <p:nvSpPr>
          <p:cNvPr id="142" name="Google Shape;142;p23"/>
          <p:cNvSpPr txBox="1"/>
          <p:nvPr/>
        </p:nvSpPr>
        <p:spPr>
          <a:xfrm>
            <a:off x="271867" y="1192667"/>
            <a:ext cx="11408000" cy="1506013"/>
          </a:xfrm>
          <a:prstGeom prst="rect">
            <a:avLst/>
          </a:prstGeom>
          <a:noFill/>
          <a:ln>
            <a:noFill/>
          </a:ln>
        </p:spPr>
        <p:txBody>
          <a:bodyPr spcFirstLastPara="1" wrap="square" lIns="121900" tIns="121900" rIns="121900" bIns="121900" anchor="t" anchorCtr="0">
            <a:spAutoFit/>
          </a:bodyPr>
          <a:lstStyle/>
          <a:p>
            <a:pPr>
              <a:lnSpc>
                <a:spcPct val="115000"/>
              </a:lnSpc>
              <a:spcBef>
                <a:spcPts val="1600"/>
              </a:spcBef>
              <a:spcAft>
                <a:spcPts val="1600"/>
              </a:spcAft>
            </a:pPr>
            <a:r>
              <a:rPr lang="uk" sz="1600">
                <a:solidFill>
                  <a:schemeClr val="dk1"/>
                </a:solidFill>
              </a:rPr>
              <a:t>Але мінусом подібного методу є те, що він виводить те саме повідомлення. І було б непогано, якби ми могли б динамічно визначати, яке повідомлення буде виводити метод на екран, тобто передати з-за методу це повідомлення. Для цього в C# ми можемо використовувати параметри.</a:t>
            </a:r>
            <a:endParaRPr sz="1600">
              <a:solidFill>
                <a:schemeClr val="dk1"/>
              </a:solidFill>
            </a:endParaRPr>
          </a:p>
        </p:txBody>
      </p:sp>
      <p:sp>
        <p:nvSpPr>
          <p:cNvPr id="143" name="Google Shape;143;p23"/>
          <p:cNvSpPr txBox="1"/>
          <p:nvPr/>
        </p:nvSpPr>
        <p:spPr>
          <a:xfrm>
            <a:off x="271867" y="2306467"/>
            <a:ext cx="9199600" cy="1237221"/>
          </a:xfrm>
          <a:prstGeom prst="rect">
            <a:avLst/>
          </a:prstGeom>
          <a:noFill/>
          <a:ln>
            <a:noFill/>
          </a:ln>
        </p:spPr>
        <p:txBody>
          <a:bodyPr spcFirstLastPara="1" wrap="square" lIns="121900" tIns="121900" rIns="121900" bIns="121900" anchor="t" anchorCtr="0">
            <a:spAutoFit/>
          </a:bodyPr>
          <a:lstStyle/>
          <a:p>
            <a:pPr marL="84665" marR="84665">
              <a:lnSpc>
                <a:spcPct val="115000"/>
              </a:lnSpc>
            </a:pPr>
            <a:r>
              <a:rPr lang="uk" sz="1400">
                <a:solidFill>
                  <a:srgbClr val="188038"/>
                </a:solidFill>
                <a:latin typeface="Courier New"/>
                <a:ea typeface="Courier New"/>
                <a:cs typeface="Courier New"/>
                <a:sym typeface="Courier New"/>
              </a:rPr>
              <a:t>тип_методу імя_методу (тип_параметра1 параметр1, тип_параметра2 параметр2, ...)</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    </a:t>
            </a:r>
            <a:r>
              <a:rPr lang="uk" sz="1400">
                <a:solidFill>
                  <a:srgbClr val="008200"/>
                </a:solidFill>
                <a:latin typeface="Courier New"/>
                <a:ea typeface="Courier New"/>
                <a:cs typeface="Courier New"/>
                <a:sym typeface="Courier New"/>
              </a:rPr>
              <a:t>// дії методу</a:t>
            </a:r>
            <a:endParaRPr sz="1400">
              <a:solidFill>
                <a:srgbClr val="008200"/>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p:txBody>
      </p:sp>
      <p:sp>
        <p:nvSpPr>
          <p:cNvPr id="144" name="Google Shape;144;p23"/>
          <p:cNvSpPr txBox="1"/>
          <p:nvPr/>
        </p:nvSpPr>
        <p:spPr>
          <a:xfrm>
            <a:off x="271867" y="3511668"/>
            <a:ext cx="12084800" cy="1222858"/>
          </a:xfrm>
          <a:prstGeom prst="rect">
            <a:avLst/>
          </a:prstGeom>
          <a:noFill/>
          <a:ln>
            <a:noFill/>
          </a:ln>
        </p:spPr>
        <p:txBody>
          <a:bodyPr spcFirstLastPara="1" wrap="square" lIns="121900" tIns="121900" rIns="121900" bIns="121900" anchor="t" anchorCtr="0">
            <a:spAutoFit/>
          </a:bodyPr>
          <a:lstStyle/>
          <a:p>
            <a:pPr>
              <a:lnSpc>
                <a:spcPct val="115000"/>
              </a:lnSpc>
              <a:spcBef>
                <a:spcPts val="1600"/>
              </a:spcBef>
              <a:spcAft>
                <a:spcPts val="1600"/>
              </a:spcAft>
            </a:pPr>
            <a:r>
              <a:rPr lang="uk" sz="1600">
                <a:solidFill>
                  <a:schemeClr val="dk1"/>
                </a:solidFill>
              </a:rPr>
              <a:t>Визначення параметра складається з двох частин: спочатку йде тип параметра, а потім його ім'я. Наприклад, визначимо метод PrintMessage, який отримує повідомлення, що виводиться ззовні:</a:t>
            </a:r>
            <a:endParaRPr sz="1600">
              <a:solidFill>
                <a:schemeClr val="dk1"/>
              </a:solidFill>
            </a:endParaRPr>
          </a:p>
        </p:txBody>
      </p:sp>
      <p:sp>
        <p:nvSpPr>
          <p:cNvPr id="145" name="Google Shape;145;p23"/>
          <p:cNvSpPr txBox="1"/>
          <p:nvPr/>
        </p:nvSpPr>
        <p:spPr>
          <a:xfrm>
            <a:off x="168133" y="4287267"/>
            <a:ext cx="9918800" cy="2228262"/>
          </a:xfrm>
          <a:prstGeom prst="rect">
            <a:avLst/>
          </a:prstGeom>
          <a:noFill/>
          <a:ln>
            <a:noFill/>
          </a:ln>
        </p:spPr>
        <p:txBody>
          <a:bodyPr spcFirstLastPara="1" wrap="square" lIns="121900" tIns="121900" rIns="121900" bIns="121900" anchor="t" anchorCtr="0">
            <a:spAutoFit/>
          </a:bodyPr>
          <a:lstStyle/>
          <a:p>
            <a:pPr marL="84665" marR="84665">
              <a:lnSpc>
                <a:spcPct val="115000"/>
              </a:lnSpc>
            </a:pPr>
            <a:r>
              <a:rPr lang="uk" sz="1400">
                <a:solidFill>
                  <a:srgbClr val="006699"/>
                </a:solidFill>
                <a:latin typeface="Courier New"/>
                <a:ea typeface="Courier New"/>
                <a:cs typeface="Courier New"/>
                <a:sym typeface="Courier New"/>
              </a:rPr>
              <a:t>void</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PrintMessage(</a:t>
            </a:r>
            <a:r>
              <a:rPr lang="uk" sz="1400">
                <a:solidFill>
                  <a:srgbClr val="006699"/>
                </a:solidFill>
                <a:latin typeface="Courier New"/>
                <a:ea typeface="Courier New"/>
                <a:cs typeface="Courier New"/>
                <a:sym typeface="Courier New"/>
              </a:rPr>
              <a:t>string</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message)</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    Console.WriteLine(message);</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chemeClr val="dk1"/>
                </a:solidFill>
                <a:latin typeface="Courier New"/>
                <a:ea typeface="Courier New"/>
                <a:cs typeface="Courier New"/>
                <a:sym typeface="Courier New"/>
              </a:rPr>
              <a:t> </a:t>
            </a:r>
            <a:endParaRPr sz="1400">
              <a:solidFill>
                <a:schemeClr val="dk1"/>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PrintMessage(</a:t>
            </a:r>
            <a:r>
              <a:rPr lang="uk" sz="1400">
                <a:solidFill>
                  <a:srgbClr val="DB003E"/>
                </a:solidFill>
                <a:latin typeface="Courier New"/>
                <a:ea typeface="Courier New"/>
                <a:cs typeface="Courier New"/>
                <a:sym typeface="Courier New"/>
              </a:rPr>
              <a:t>"Hello work"</a:t>
            </a:r>
            <a:r>
              <a:rPr lang="uk" sz="1400">
                <a:solidFill>
                  <a:srgbClr val="188038"/>
                </a:solidFill>
                <a:latin typeface="Courier New"/>
                <a:ea typeface="Courier New"/>
                <a:cs typeface="Courier New"/>
                <a:sym typeface="Courier New"/>
              </a:rPr>
              <a:t>);       	</a:t>
            </a:r>
            <a:r>
              <a:rPr lang="uk" sz="1400">
                <a:solidFill>
                  <a:srgbClr val="008200"/>
                </a:solidFill>
                <a:latin typeface="Courier New"/>
                <a:ea typeface="Courier New"/>
                <a:cs typeface="Courier New"/>
                <a:sym typeface="Courier New"/>
              </a:rPr>
              <a:t>// Hello work</a:t>
            </a:r>
            <a:endParaRPr sz="1400">
              <a:solidFill>
                <a:srgbClr val="008200"/>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PrintMessage(</a:t>
            </a:r>
            <a:r>
              <a:rPr lang="uk" sz="1400">
                <a:solidFill>
                  <a:srgbClr val="DB003E"/>
                </a:solidFill>
                <a:latin typeface="Courier New"/>
                <a:ea typeface="Courier New"/>
                <a:cs typeface="Courier New"/>
                <a:sym typeface="Courier New"/>
              </a:rPr>
              <a:t>"Hello METANIT.COM"</a:t>
            </a:r>
            <a:r>
              <a:rPr lang="uk" sz="1400">
                <a:solidFill>
                  <a:srgbClr val="188038"/>
                </a:solidFill>
                <a:latin typeface="Courier New"/>
                <a:ea typeface="Courier New"/>
                <a:cs typeface="Courier New"/>
                <a:sym typeface="Courier New"/>
              </a:rPr>
              <a:t>);	</a:t>
            </a:r>
            <a:r>
              <a:rPr lang="uk" sz="1400">
                <a:solidFill>
                  <a:srgbClr val="008200"/>
                </a:solidFill>
                <a:latin typeface="Courier New"/>
                <a:ea typeface="Courier New"/>
                <a:cs typeface="Courier New"/>
                <a:sym typeface="Courier New"/>
              </a:rPr>
              <a:t>// Hello METANIT.COM</a:t>
            </a:r>
            <a:endParaRPr sz="1400">
              <a:solidFill>
                <a:srgbClr val="008200"/>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PrintMessage(</a:t>
            </a:r>
            <a:r>
              <a:rPr lang="uk" sz="1400">
                <a:solidFill>
                  <a:srgbClr val="DB003E"/>
                </a:solidFill>
                <a:latin typeface="Courier New"/>
                <a:ea typeface="Courier New"/>
                <a:cs typeface="Courier New"/>
                <a:sym typeface="Courier New"/>
              </a:rPr>
              <a:t>"Hello C#"</a:t>
            </a:r>
            <a:r>
              <a:rPr lang="uk" sz="1400">
                <a:solidFill>
                  <a:srgbClr val="188038"/>
                </a:solidFill>
                <a:latin typeface="Courier New"/>
                <a:ea typeface="Courier New"/>
                <a:cs typeface="Courier New"/>
                <a:sym typeface="Courier New"/>
              </a:rPr>
              <a:t>);         	</a:t>
            </a:r>
            <a:r>
              <a:rPr lang="uk" sz="1400">
                <a:solidFill>
                  <a:srgbClr val="008200"/>
                </a:solidFill>
                <a:latin typeface="Courier New"/>
                <a:ea typeface="Courier New"/>
                <a:cs typeface="Courier New"/>
                <a:sym typeface="Courier New"/>
              </a:rPr>
              <a:t>// Hello C#</a:t>
            </a:r>
            <a:endParaRPr sz="1400">
              <a:solidFill>
                <a:srgbClr val="008200"/>
              </a:solidFill>
              <a:latin typeface="Courier New"/>
              <a:ea typeface="Courier New"/>
              <a:cs typeface="Courier New"/>
              <a:sym typeface="Courier New"/>
            </a:endParaRPr>
          </a:p>
        </p:txBody>
      </p:sp>
      <p:sp>
        <p:nvSpPr>
          <p:cNvPr id="146" name="Google Shape;146;p23"/>
          <p:cNvSpPr txBox="1"/>
          <p:nvPr/>
        </p:nvSpPr>
        <p:spPr>
          <a:xfrm>
            <a:off x="271867" y="6365600"/>
            <a:ext cx="10444800" cy="492402"/>
          </a:xfrm>
          <a:prstGeom prst="rect">
            <a:avLst/>
          </a:prstGeom>
          <a:noFill/>
          <a:ln>
            <a:noFill/>
          </a:ln>
        </p:spPr>
        <p:txBody>
          <a:bodyPr spcFirstLastPara="1" wrap="square" lIns="121900" tIns="121900" rIns="121900" bIns="121900" anchor="t" anchorCtr="0">
            <a:spAutoFit/>
          </a:bodyPr>
          <a:lstStyle/>
          <a:p>
            <a:r>
              <a:rPr lang="uk" sz="1600">
                <a:solidFill>
                  <a:schemeClr val="dk1"/>
                </a:solidFill>
              </a:rPr>
              <a:t>Тут метод </a:t>
            </a:r>
            <a:r>
              <a:rPr lang="uk" sz="1600">
                <a:solidFill>
                  <a:srgbClr val="188038"/>
                </a:solidFill>
                <a:latin typeface="Roboto Mono"/>
                <a:ea typeface="Roboto Mono"/>
                <a:cs typeface="Roboto Mono"/>
                <a:sym typeface="Roboto Mono"/>
              </a:rPr>
              <a:t>PrintMessage()</a:t>
            </a:r>
            <a:r>
              <a:rPr lang="uk" sz="1600">
                <a:solidFill>
                  <a:schemeClr val="dk1"/>
                </a:solidFill>
              </a:rPr>
              <a:t>приймає один параметр, який називається </a:t>
            </a:r>
            <a:r>
              <a:rPr lang="uk" sz="1600">
                <a:solidFill>
                  <a:srgbClr val="188038"/>
                </a:solidFill>
                <a:latin typeface="Roboto Mono"/>
                <a:ea typeface="Roboto Mono"/>
                <a:cs typeface="Roboto Mono"/>
                <a:sym typeface="Roboto Mono"/>
              </a:rPr>
              <a:t>message</a:t>
            </a:r>
            <a:r>
              <a:rPr lang="uk" sz="1600">
                <a:solidFill>
                  <a:schemeClr val="dk1"/>
                </a:solidFill>
              </a:rPr>
              <a:t>та має тип </a:t>
            </a:r>
            <a:r>
              <a:rPr lang="uk" sz="1600">
                <a:solidFill>
                  <a:srgbClr val="188038"/>
                </a:solidFill>
                <a:latin typeface="Roboto Mono"/>
                <a:ea typeface="Roboto Mono"/>
                <a:cs typeface="Roboto Mono"/>
                <a:sym typeface="Roboto Mono"/>
              </a:rPr>
              <a:t>string</a:t>
            </a:r>
            <a:r>
              <a:rPr lang="uk" sz="1600">
                <a:solidFill>
                  <a:schemeClr val="dk1"/>
                </a:solidFill>
              </a:rPr>
              <a:t>.</a:t>
            </a:r>
            <a:endParaRPr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4"/>
          <p:cNvSpPr txBox="1"/>
          <p:nvPr/>
        </p:nvSpPr>
        <p:spPr>
          <a:xfrm>
            <a:off x="168133" y="211968"/>
            <a:ext cx="11408000" cy="984845"/>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Параметри методів</a:t>
            </a:r>
            <a:endParaRPr sz="4800" b="1">
              <a:solidFill>
                <a:schemeClr val="dk1"/>
              </a:solidFill>
              <a:latin typeface="Times New Roman"/>
              <a:ea typeface="Times New Roman"/>
              <a:cs typeface="Times New Roman"/>
              <a:sym typeface="Times New Roman"/>
            </a:endParaRPr>
          </a:p>
        </p:txBody>
      </p:sp>
      <p:sp>
        <p:nvSpPr>
          <p:cNvPr id="152" name="Google Shape;152;p24"/>
          <p:cNvSpPr txBox="1"/>
          <p:nvPr/>
        </p:nvSpPr>
        <p:spPr>
          <a:xfrm>
            <a:off x="168133" y="1197167"/>
            <a:ext cx="11802800" cy="738623"/>
          </a:xfrm>
          <a:prstGeom prst="rect">
            <a:avLst/>
          </a:prstGeom>
          <a:noFill/>
          <a:ln>
            <a:noFill/>
          </a:ln>
        </p:spPr>
        <p:txBody>
          <a:bodyPr spcFirstLastPara="1" wrap="square" lIns="121900" tIns="121900" rIns="121900" bIns="121900" anchor="t" anchorCtr="0">
            <a:spAutoFit/>
          </a:bodyPr>
          <a:lstStyle/>
          <a:p>
            <a:r>
              <a:rPr lang="uk" sz="1600">
                <a:solidFill>
                  <a:schemeClr val="dk1"/>
                </a:solidFill>
              </a:rPr>
              <a:t>Щоб виконати метод, який має параметри, під час виклику після імені методу в дужках йому передаються значення для його параметрів, наприклад:</a:t>
            </a:r>
            <a:endParaRPr sz="2400"/>
          </a:p>
        </p:txBody>
      </p:sp>
      <p:sp>
        <p:nvSpPr>
          <p:cNvPr id="153" name="Google Shape;153;p24"/>
          <p:cNvSpPr txBox="1"/>
          <p:nvPr/>
        </p:nvSpPr>
        <p:spPr>
          <a:xfrm>
            <a:off x="168133" y="1885501"/>
            <a:ext cx="4000000" cy="461624"/>
          </a:xfrm>
          <a:prstGeom prst="rect">
            <a:avLst/>
          </a:prstGeom>
          <a:noFill/>
          <a:ln>
            <a:noFill/>
          </a:ln>
        </p:spPr>
        <p:txBody>
          <a:bodyPr spcFirstLastPara="1" wrap="square" lIns="121900" tIns="121900" rIns="121900" bIns="121900" anchor="t" anchorCtr="0">
            <a:spAutoFit/>
          </a:bodyPr>
          <a:lstStyle/>
          <a:p>
            <a:r>
              <a:rPr lang="uk" sz="1400">
                <a:solidFill>
                  <a:srgbClr val="188038"/>
                </a:solidFill>
                <a:latin typeface="Courier New"/>
                <a:ea typeface="Courier New"/>
                <a:cs typeface="Courier New"/>
                <a:sym typeface="Courier New"/>
              </a:rPr>
              <a:t>PrintMessage(</a:t>
            </a:r>
            <a:r>
              <a:rPr lang="uk" sz="1400">
                <a:solidFill>
                  <a:srgbClr val="DB003E"/>
                </a:solidFill>
                <a:latin typeface="Courier New"/>
                <a:ea typeface="Courier New"/>
                <a:cs typeface="Courier New"/>
                <a:sym typeface="Courier New"/>
              </a:rPr>
              <a:t>"Hello work"</a:t>
            </a:r>
            <a:r>
              <a:rPr lang="uk" sz="1400">
                <a:solidFill>
                  <a:srgbClr val="188038"/>
                </a:solidFill>
                <a:latin typeface="Courier New"/>
                <a:ea typeface="Courier New"/>
                <a:cs typeface="Courier New"/>
                <a:sym typeface="Courier New"/>
              </a:rPr>
              <a:t>);</a:t>
            </a:r>
            <a:endParaRPr sz="2400"/>
          </a:p>
        </p:txBody>
      </p:sp>
      <p:sp>
        <p:nvSpPr>
          <p:cNvPr id="154" name="Google Shape;154;p24"/>
          <p:cNvSpPr txBox="1"/>
          <p:nvPr/>
        </p:nvSpPr>
        <p:spPr>
          <a:xfrm>
            <a:off x="168133" y="2347101"/>
            <a:ext cx="10839600" cy="1661953"/>
          </a:xfrm>
          <a:prstGeom prst="rect">
            <a:avLst/>
          </a:prstGeom>
          <a:noFill/>
          <a:ln>
            <a:noFill/>
          </a:ln>
        </p:spPr>
        <p:txBody>
          <a:bodyPr spcFirstLastPara="1" wrap="square" lIns="121900" tIns="121900" rIns="121900" bIns="121900" anchor="t" anchorCtr="0">
            <a:spAutoFit/>
          </a:bodyPr>
          <a:lstStyle/>
          <a:p>
            <a:pPr>
              <a:lnSpc>
                <a:spcPct val="115000"/>
              </a:lnSpc>
            </a:pPr>
            <a:r>
              <a:rPr lang="uk" sz="1600">
                <a:solidFill>
                  <a:schemeClr val="dk1"/>
                </a:solidFill>
              </a:rPr>
              <a:t>Тут параметр </a:t>
            </a:r>
            <a:r>
              <a:rPr lang="uk" sz="1600">
                <a:solidFill>
                  <a:srgbClr val="188038"/>
                </a:solidFill>
                <a:latin typeface="Roboto Mono"/>
                <a:ea typeface="Roboto Mono"/>
                <a:cs typeface="Roboto Mono"/>
                <a:sym typeface="Roboto Mono"/>
              </a:rPr>
              <a:t>message </a:t>
            </a:r>
            <a:r>
              <a:rPr lang="uk" sz="1600">
                <a:solidFill>
                  <a:schemeClr val="dk1"/>
                </a:solidFill>
              </a:rPr>
              <a:t>передається рядок "Hello work". Значення, що передаються параметрам, ще називають </a:t>
            </a:r>
            <a:r>
              <a:rPr lang="uk" sz="1600" b="1">
                <a:solidFill>
                  <a:schemeClr val="dk1"/>
                </a:solidFill>
              </a:rPr>
              <a:t>аргументами</a:t>
            </a:r>
            <a:r>
              <a:rPr lang="uk" sz="1600">
                <a:solidFill>
                  <a:schemeClr val="dk1"/>
                </a:solidFill>
              </a:rPr>
              <a:t> . Тобто рядок "Hello work", що передається, в даному випадку є аргументом.</a:t>
            </a:r>
            <a:endParaRPr sz="1600">
              <a:solidFill>
                <a:schemeClr val="dk1"/>
              </a:solidFill>
            </a:endParaRPr>
          </a:p>
          <a:p>
            <a:pPr>
              <a:lnSpc>
                <a:spcPct val="115000"/>
              </a:lnSpc>
            </a:pPr>
            <a:r>
              <a:rPr lang="uk" sz="1600">
                <a:solidFill>
                  <a:schemeClr val="dk1"/>
                </a:solidFill>
              </a:rPr>
              <a:t>Іноді можна зустріти такі визначення як </a:t>
            </a:r>
            <a:r>
              <a:rPr lang="uk" sz="1600" b="1">
                <a:solidFill>
                  <a:schemeClr val="dk1"/>
                </a:solidFill>
              </a:rPr>
              <a:t>формальні параметри</a:t>
            </a:r>
            <a:r>
              <a:rPr lang="uk" sz="1600">
                <a:solidFill>
                  <a:schemeClr val="dk1"/>
                </a:solidFill>
              </a:rPr>
              <a:t> та </a:t>
            </a:r>
            <a:r>
              <a:rPr lang="uk" sz="1600" b="1">
                <a:solidFill>
                  <a:schemeClr val="dk1"/>
                </a:solidFill>
              </a:rPr>
              <a:t>фактичні параметри</a:t>
            </a:r>
            <a:r>
              <a:rPr lang="uk" sz="1600">
                <a:solidFill>
                  <a:schemeClr val="dk1"/>
                </a:solidFill>
              </a:rPr>
              <a:t> . Формальні параметри - це власне параметри методу (у разі message), а фактичні параметри - значення, які передаються формальним параметрам. Тобто фактичні параметри – це є аргументи методу.</a:t>
            </a:r>
            <a:endParaRPr sz="1600">
              <a:solidFill>
                <a:schemeClr val="dk1"/>
              </a:solidFill>
            </a:endParaRPr>
          </a:p>
        </p:txBody>
      </p:sp>
      <p:sp>
        <p:nvSpPr>
          <p:cNvPr id="155" name="Google Shape;155;p24"/>
          <p:cNvSpPr txBox="1"/>
          <p:nvPr/>
        </p:nvSpPr>
        <p:spPr>
          <a:xfrm>
            <a:off x="228033" y="3972301"/>
            <a:ext cx="10138000" cy="492402"/>
          </a:xfrm>
          <a:prstGeom prst="rect">
            <a:avLst/>
          </a:prstGeom>
          <a:noFill/>
          <a:ln>
            <a:noFill/>
          </a:ln>
        </p:spPr>
        <p:txBody>
          <a:bodyPr spcFirstLastPara="1" wrap="square" lIns="121900" tIns="121900" rIns="121900" bIns="121900" anchor="t" anchorCtr="0">
            <a:spAutoFit/>
          </a:bodyPr>
          <a:lstStyle/>
          <a:p>
            <a:r>
              <a:rPr lang="uk" sz="1600">
                <a:solidFill>
                  <a:schemeClr val="dk1"/>
                </a:solidFill>
              </a:rPr>
              <a:t>Визначимо ще один метод, який складає два числа:</a:t>
            </a:r>
            <a:endParaRPr sz="2400"/>
          </a:p>
        </p:txBody>
      </p:sp>
      <p:sp>
        <p:nvSpPr>
          <p:cNvPr id="156" name="Google Shape;156;p24"/>
          <p:cNvSpPr txBox="1"/>
          <p:nvPr/>
        </p:nvSpPr>
        <p:spPr>
          <a:xfrm>
            <a:off x="228033" y="4383434"/>
            <a:ext cx="7007200" cy="2402862"/>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latin typeface="Courier New"/>
                <a:ea typeface="Courier New"/>
                <a:cs typeface="Courier New"/>
                <a:sym typeface="Courier New"/>
              </a:rPr>
              <a:t>void</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Sum(</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x, </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y)</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    </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result = x + y;</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    Console.WriteLine($</a:t>
            </a:r>
            <a:r>
              <a:rPr lang="uk" sz="1400">
                <a:solidFill>
                  <a:srgbClr val="DB003E"/>
                </a:solidFill>
                <a:latin typeface="Courier New"/>
                <a:ea typeface="Courier New"/>
                <a:cs typeface="Courier New"/>
                <a:sym typeface="Courier New"/>
              </a:rPr>
              <a:t>"{x} + {y} = {result}"</a:t>
            </a: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chemeClr val="dk1"/>
                </a:solidFill>
                <a:latin typeface="Courier New"/>
                <a:ea typeface="Courier New"/>
                <a:cs typeface="Courier New"/>
                <a:sym typeface="Courier New"/>
              </a:rPr>
              <a:t> </a:t>
            </a:r>
            <a:endParaRPr sz="1400">
              <a:solidFill>
                <a:schemeClr val="dk1"/>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Sum(10, 15);	</a:t>
            </a:r>
            <a:r>
              <a:rPr lang="uk" sz="1400">
                <a:solidFill>
                  <a:srgbClr val="008200"/>
                </a:solidFill>
                <a:latin typeface="Courier New"/>
                <a:ea typeface="Courier New"/>
                <a:cs typeface="Courier New"/>
                <a:sym typeface="Courier New"/>
              </a:rPr>
              <a:t>// 10 + 15 = 25</a:t>
            </a:r>
            <a:endParaRPr sz="1400">
              <a:solidFill>
                <a:srgbClr val="008200"/>
              </a:solidFill>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5"/>
          <p:cNvSpPr txBox="1"/>
          <p:nvPr/>
        </p:nvSpPr>
        <p:spPr>
          <a:xfrm>
            <a:off x="168133" y="211968"/>
            <a:ext cx="11408000" cy="984845"/>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Параметри методів</a:t>
            </a:r>
            <a:endParaRPr sz="4800" b="1">
              <a:solidFill>
                <a:schemeClr val="dk1"/>
              </a:solidFill>
              <a:latin typeface="Times New Roman"/>
              <a:ea typeface="Times New Roman"/>
              <a:cs typeface="Times New Roman"/>
              <a:sym typeface="Times New Roman"/>
            </a:endParaRPr>
          </a:p>
        </p:txBody>
      </p:sp>
      <p:sp>
        <p:nvSpPr>
          <p:cNvPr id="162" name="Google Shape;162;p25"/>
          <p:cNvSpPr txBox="1"/>
          <p:nvPr/>
        </p:nvSpPr>
        <p:spPr>
          <a:xfrm>
            <a:off x="177200" y="1122533"/>
            <a:ext cx="11837600" cy="1661953"/>
          </a:xfrm>
          <a:prstGeom prst="rect">
            <a:avLst/>
          </a:prstGeom>
          <a:noFill/>
          <a:ln>
            <a:noFill/>
          </a:ln>
        </p:spPr>
        <p:txBody>
          <a:bodyPr spcFirstLastPara="1" wrap="square" lIns="121900" tIns="121900" rIns="121900" bIns="121900" anchor="t" anchorCtr="0">
            <a:spAutoFit/>
          </a:bodyPr>
          <a:lstStyle/>
          <a:p>
            <a:pPr>
              <a:lnSpc>
                <a:spcPct val="115000"/>
              </a:lnSpc>
            </a:pPr>
            <a:r>
              <a:rPr lang="uk" sz="1600">
                <a:solidFill>
                  <a:schemeClr val="dk1"/>
                </a:solidFill>
              </a:rPr>
              <a:t>Метод Sum має два параметри: x та y. Обидва параметри є тип int. Тому при виклику цього методу нам обов'язково треба передати на місце цих параметрів два числа. Усередині методу обчислюється сума переданих чисел та виводиться на консоль.</a:t>
            </a:r>
            <a:endParaRPr sz="1600">
              <a:solidFill>
                <a:schemeClr val="dk1"/>
              </a:solidFill>
            </a:endParaRPr>
          </a:p>
          <a:p>
            <a:pPr>
              <a:lnSpc>
                <a:spcPct val="115000"/>
              </a:lnSpc>
            </a:pPr>
            <a:r>
              <a:rPr lang="uk" sz="1600">
                <a:solidFill>
                  <a:schemeClr val="dk1"/>
                </a:solidFill>
              </a:rPr>
              <a:t>При викликі методу Sum значення передаються параметрам за позицією. Наприклад, у дзвінку </a:t>
            </a:r>
            <a:r>
              <a:rPr lang="uk" sz="1600">
                <a:solidFill>
                  <a:srgbClr val="188038"/>
                </a:solidFill>
                <a:latin typeface="Roboto Mono"/>
                <a:ea typeface="Roboto Mono"/>
                <a:cs typeface="Roboto Mono"/>
                <a:sym typeface="Roboto Mono"/>
              </a:rPr>
              <a:t>Sum(10, 15)</a:t>
            </a:r>
            <a:r>
              <a:rPr lang="uk" sz="1600">
                <a:solidFill>
                  <a:schemeClr val="dk1"/>
                </a:solidFill>
              </a:rPr>
              <a:t>число 10 передається параметру x, а число 15 - параметру y.</a:t>
            </a:r>
            <a:endParaRPr sz="1600">
              <a:solidFill>
                <a:schemeClr val="dk1"/>
              </a:solidFill>
            </a:endParaRPr>
          </a:p>
          <a:p>
            <a:pPr>
              <a:lnSpc>
                <a:spcPct val="115000"/>
              </a:lnSpc>
            </a:pPr>
            <a:r>
              <a:rPr lang="uk" sz="1600">
                <a:solidFill>
                  <a:schemeClr val="dk1"/>
                </a:solidFill>
              </a:rPr>
              <a:t>Також параметри можуть використовуватися у скороченій версії методу:</a:t>
            </a:r>
            <a:endParaRPr sz="1600">
              <a:solidFill>
                <a:schemeClr val="dk1"/>
              </a:solidFill>
            </a:endParaRPr>
          </a:p>
        </p:txBody>
      </p:sp>
      <p:sp>
        <p:nvSpPr>
          <p:cNvPr id="163" name="Google Shape;163;p25"/>
          <p:cNvSpPr txBox="1"/>
          <p:nvPr/>
        </p:nvSpPr>
        <p:spPr>
          <a:xfrm>
            <a:off x="271867" y="3130834"/>
            <a:ext cx="9304800" cy="1170473"/>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latin typeface="Courier New"/>
                <a:ea typeface="Courier New"/>
                <a:cs typeface="Courier New"/>
                <a:sym typeface="Courier New"/>
              </a:rPr>
              <a:t>void</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Sum(</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x, </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y) =&gt; Console.WriteLine($</a:t>
            </a:r>
            <a:r>
              <a:rPr lang="uk" sz="1400">
                <a:solidFill>
                  <a:srgbClr val="DB003E"/>
                </a:solidFill>
                <a:latin typeface="Courier New"/>
                <a:ea typeface="Courier New"/>
                <a:cs typeface="Courier New"/>
                <a:sym typeface="Courier New"/>
              </a:rPr>
              <a:t>"{x} + {y} = { x + y }"</a:t>
            </a: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chemeClr val="dk1"/>
                </a:solidFill>
                <a:latin typeface="Courier New"/>
                <a:ea typeface="Courier New"/>
                <a:cs typeface="Courier New"/>
                <a:sym typeface="Courier New"/>
              </a:rPr>
              <a:t> </a:t>
            </a:r>
            <a:endParaRPr sz="1400">
              <a:solidFill>
                <a:schemeClr val="dk1"/>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Sum(10, 15);	</a:t>
            </a:r>
            <a:r>
              <a:rPr lang="uk" sz="1400">
                <a:solidFill>
                  <a:srgbClr val="008200"/>
                </a:solidFill>
                <a:latin typeface="Courier New"/>
                <a:ea typeface="Courier New"/>
                <a:cs typeface="Courier New"/>
                <a:sym typeface="Courier New"/>
              </a:rPr>
              <a:t>// 10 + 15 = 25</a:t>
            </a:r>
            <a:endParaRPr sz="1400">
              <a:solidFill>
                <a:srgbClr val="008200"/>
              </a:solidFill>
              <a:latin typeface="Courier New"/>
              <a:ea typeface="Courier New"/>
              <a:cs typeface="Courier New"/>
              <a:sym typeface="Courier New"/>
            </a:endParaRPr>
          </a:p>
        </p:txBody>
      </p:sp>
      <p:sp>
        <p:nvSpPr>
          <p:cNvPr id="164" name="Google Shape;164;p25"/>
          <p:cNvSpPr txBox="1"/>
          <p:nvPr/>
        </p:nvSpPr>
        <p:spPr>
          <a:xfrm>
            <a:off x="271867" y="4172300"/>
            <a:ext cx="11742800" cy="738623"/>
          </a:xfrm>
          <a:prstGeom prst="rect">
            <a:avLst/>
          </a:prstGeom>
          <a:noFill/>
          <a:ln>
            <a:noFill/>
          </a:ln>
        </p:spPr>
        <p:txBody>
          <a:bodyPr spcFirstLastPara="1" wrap="square" lIns="121900" tIns="121900" rIns="121900" bIns="121900" anchor="t" anchorCtr="0">
            <a:spAutoFit/>
          </a:bodyPr>
          <a:lstStyle/>
          <a:p>
            <a:r>
              <a:rPr lang="uk" sz="1600">
                <a:solidFill>
                  <a:schemeClr val="dk1"/>
                </a:solidFill>
              </a:rPr>
              <a:t>Значення, що передаються параметру, можуть представляти значення змінних або результат роботи складних виразів, які повертають деяке значення:</a:t>
            </a:r>
            <a:endParaRPr sz="2400"/>
          </a:p>
        </p:txBody>
      </p:sp>
      <p:sp>
        <p:nvSpPr>
          <p:cNvPr id="165" name="Google Shape;165;p25"/>
          <p:cNvSpPr txBox="1"/>
          <p:nvPr/>
        </p:nvSpPr>
        <p:spPr>
          <a:xfrm>
            <a:off x="271867" y="4911100"/>
            <a:ext cx="8594400" cy="2094764"/>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latin typeface="Courier New"/>
                <a:ea typeface="Courier New"/>
                <a:cs typeface="Courier New"/>
                <a:sym typeface="Courier New"/>
              </a:rPr>
              <a:t>void</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Sum(</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x, </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y) =&gt; Console.WriteLine($</a:t>
            </a:r>
            <a:r>
              <a:rPr lang="uk" sz="1400">
                <a:solidFill>
                  <a:srgbClr val="DB003E"/>
                </a:solidFill>
                <a:latin typeface="Courier New"/>
                <a:ea typeface="Courier New"/>
                <a:cs typeface="Courier New"/>
                <a:sym typeface="Courier New"/>
              </a:rPr>
              <a:t>"{x} + {y} = { x + y }"</a:t>
            </a: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chemeClr val="dk1"/>
                </a:solidFill>
                <a:latin typeface="Courier New"/>
                <a:ea typeface="Courier New"/>
                <a:cs typeface="Courier New"/>
                <a:sym typeface="Courier New"/>
              </a:rPr>
              <a:t> </a:t>
            </a:r>
            <a:endParaRPr sz="1400">
              <a:solidFill>
                <a:schemeClr val="dk1"/>
              </a:solidFill>
              <a:latin typeface="Courier New"/>
              <a:ea typeface="Courier New"/>
              <a:cs typeface="Courier New"/>
              <a:sym typeface="Courier New"/>
            </a:endParaRPr>
          </a:p>
          <a:p>
            <a:pPr marL="84665" marR="84665">
              <a:lnSpc>
                <a:spcPct val="143181"/>
              </a:lnSpc>
            </a:pP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a = 10, b = 15, c = 6;</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Sum(a, b);              	</a:t>
            </a:r>
            <a:r>
              <a:rPr lang="uk" sz="1400">
                <a:solidFill>
                  <a:srgbClr val="008200"/>
                </a:solidFill>
                <a:latin typeface="Courier New"/>
                <a:ea typeface="Courier New"/>
                <a:cs typeface="Courier New"/>
                <a:sym typeface="Courier New"/>
              </a:rPr>
              <a:t>// 10 + 15 = 25</a:t>
            </a:r>
            <a:endParaRPr sz="1400">
              <a:solidFill>
                <a:srgbClr val="008200"/>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Sum(3, c);              	</a:t>
            </a:r>
            <a:r>
              <a:rPr lang="uk" sz="1400">
                <a:solidFill>
                  <a:srgbClr val="008200"/>
                </a:solidFill>
                <a:latin typeface="Courier New"/>
                <a:ea typeface="Courier New"/>
                <a:cs typeface="Courier New"/>
                <a:sym typeface="Courier New"/>
              </a:rPr>
              <a:t>// 3 + 6 = 9</a:t>
            </a:r>
            <a:endParaRPr sz="1400">
              <a:solidFill>
                <a:srgbClr val="008200"/>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Sum(14, 4 + c);         	</a:t>
            </a:r>
            <a:r>
              <a:rPr lang="uk" sz="1400">
                <a:solidFill>
                  <a:srgbClr val="008200"/>
                </a:solidFill>
                <a:latin typeface="Courier New"/>
                <a:ea typeface="Courier New"/>
                <a:cs typeface="Courier New"/>
                <a:sym typeface="Courier New"/>
              </a:rPr>
              <a:t>// 14 + 10 = 24</a:t>
            </a:r>
            <a:endParaRPr sz="1400">
              <a:solidFill>
                <a:srgbClr val="008200"/>
              </a:solidFill>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6"/>
          <p:cNvSpPr txBox="1"/>
          <p:nvPr/>
        </p:nvSpPr>
        <p:spPr>
          <a:xfrm>
            <a:off x="168133" y="211968"/>
            <a:ext cx="11408000" cy="984845"/>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Параметри методів</a:t>
            </a:r>
            <a:endParaRPr sz="4800" b="1">
              <a:solidFill>
                <a:schemeClr val="dk1"/>
              </a:solidFill>
              <a:latin typeface="Times New Roman"/>
              <a:ea typeface="Times New Roman"/>
              <a:cs typeface="Times New Roman"/>
              <a:sym typeface="Times New Roman"/>
            </a:endParaRPr>
          </a:p>
        </p:txBody>
      </p:sp>
      <p:sp>
        <p:nvSpPr>
          <p:cNvPr id="171" name="Google Shape;171;p26"/>
          <p:cNvSpPr txBox="1"/>
          <p:nvPr/>
        </p:nvSpPr>
        <p:spPr>
          <a:xfrm>
            <a:off x="229000" y="1091933"/>
            <a:ext cx="11734000" cy="738623"/>
          </a:xfrm>
          <a:prstGeom prst="rect">
            <a:avLst/>
          </a:prstGeom>
          <a:noFill/>
          <a:ln>
            <a:noFill/>
          </a:ln>
        </p:spPr>
        <p:txBody>
          <a:bodyPr spcFirstLastPara="1" wrap="square" lIns="121900" tIns="121900" rIns="121900" bIns="121900" anchor="t" anchorCtr="0">
            <a:spAutoFit/>
          </a:bodyPr>
          <a:lstStyle/>
          <a:p>
            <a:r>
              <a:rPr lang="uk" sz="1600">
                <a:solidFill>
                  <a:schemeClr val="dk1"/>
                </a:solidFill>
              </a:rPr>
              <a:t>Якщо параметрами методу передаються значення змінних, то змінним має бути присвоєно значення. Наприклад, наступна програма не скомпілюється:</a:t>
            </a:r>
            <a:endParaRPr sz="2400"/>
          </a:p>
        </p:txBody>
      </p:sp>
      <p:sp>
        <p:nvSpPr>
          <p:cNvPr id="172" name="Google Shape;172;p26"/>
          <p:cNvSpPr txBox="1"/>
          <p:nvPr/>
        </p:nvSpPr>
        <p:spPr>
          <a:xfrm>
            <a:off x="229000" y="1830734"/>
            <a:ext cx="7550000" cy="2710958"/>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latin typeface="Courier New"/>
                <a:ea typeface="Courier New"/>
                <a:cs typeface="Courier New"/>
                <a:sym typeface="Courier New"/>
              </a:rPr>
              <a:t>void</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Sum(</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x, </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y)</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    Console.WriteLine($</a:t>
            </a:r>
            <a:r>
              <a:rPr lang="uk" sz="1400">
                <a:solidFill>
                  <a:srgbClr val="DB003E"/>
                </a:solidFill>
                <a:latin typeface="Courier New"/>
                <a:ea typeface="Courier New"/>
                <a:cs typeface="Courier New"/>
                <a:sym typeface="Courier New"/>
              </a:rPr>
              <a:t>"{x} + {y} = { x + y }"</a:t>
            </a: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chemeClr val="dk1"/>
                </a:solidFill>
                <a:latin typeface="Courier New"/>
                <a:ea typeface="Courier New"/>
                <a:cs typeface="Courier New"/>
                <a:sym typeface="Courier New"/>
              </a:rPr>
              <a:t> </a:t>
            </a:r>
            <a:endParaRPr sz="1400">
              <a:solidFill>
                <a:schemeClr val="dk1"/>
              </a:solidFill>
              <a:latin typeface="Courier New"/>
              <a:ea typeface="Courier New"/>
              <a:cs typeface="Courier New"/>
              <a:sym typeface="Courier New"/>
            </a:endParaRPr>
          </a:p>
          <a:p>
            <a:pPr marL="84665" marR="84665">
              <a:lnSpc>
                <a:spcPct val="143181"/>
              </a:lnSpc>
            </a:pP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a;</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b = 15;</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Sum(a, b);  </a:t>
            </a:r>
            <a:r>
              <a:rPr lang="uk" sz="1400">
                <a:solidFill>
                  <a:srgbClr val="008200"/>
                </a:solidFill>
                <a:latin typeface="Courier New"/>
                <a:ea typeface="Courier New"/>
                <a:cs typeface="Courier New"/>
                <a:sym typeface="Courier New"/>
              </a:rPr>
              <a:t>// ! Ошибка</a:t>
            </a:r>
            <a:endParaRPr sz="1400">
              <a:solidFill>
                <a:srgbClr val="008200"/>
              </a:solidFill>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7"/>
          <p:cNvSpPr txBox="1"/>
          <p:nvPr/>
        </p:nvSpPr>
        <p:spPr>
          <a:xfrm>
            <a:off x="168133" y="211967"/>
            <a:ext cx="11785200" cy="2462172"/>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Відповідність параметрів та аргументів за типом даних</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178" name="Google Shape;178;p27"/>
          <p:cNvSpPr txBox="1"/>
          <p:nvPr/>
        </p:nvSpPr>
        <p:spPr>
          <a:xfrm>
            <a:off x="236800" y="1783801"/>
            <a:ext cx="11637600" cy="1222858"/>
          </a:xfrm>
          <a:prstGeom prst="rect">
            <a:avLst/>
          </a:prstGeom>
          <a:noFill/>
          <a:ln>
            <a:noFill/>
          </a:ln>
        </p:spPr>
        <p:txBody>
          <a:bodyPr spcFirstLastPara="1" wrap="square" lIns="121900" tIns="121900" rIns="121900" bIns="121900" anchor="t" anchorCtr="0">
            <a:spAutoFit/>
          </a:bodyPr>
          <a:lstStyle/>
          <a:p>
            <a:pPr>
              <a:lnSpc>
                <a:spcPct val="115000"/>
              </a:lnSpc>
              <a:spcBef>
                <a:spcPts val="1600"/>
              </a:spcBef>
              <a:spcAft>
                <a:spcPts val="1600"/>
              </a:spcAft>
            </a:pPr>
            <a:r>
              <a:rPr lang="uk" sz="1600">
                <a:solidFill>
                  <a:schemeClr val="dk1"/>
                </a:solidFill>
              </a:rPr>
              <a:t>При передачі значень параметрам важливо враховувати тип параметрів: між аргументами та параметрами має бути відповідність типу.</a:t>
            </a:r>
            <a:endParaRPr sz="1600">
              <a:solidFill>
                <a:schemeClr val="dk1"/>
              </a:solidFill>
            </a:endParaRPr>
          </a:p>
        </p:txBody>
      </p:sp>
      <p:sp>
        <p:nvSpPr>
          <p:cNvPr id="179" name="Google Shape;179;p27"/>
          <p:cNvSpPr txBox="1"/>
          <p:nvPr/>
        </p:nvSpPr>
        <p:spPr>
          <a:xfrm>
            <a:off x="236800" y="2516934"/>
            <a:ext cx="8296400" cy="2094764"/>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latin typeface="Courier New"/>
                <a:ea typeface="Courier New"/>
                <a:cs typeface="Courier New"/>
                <a:sym typeface="Courier New"/>
              </a:rPr>
              <a:t>void</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PrintPerson(</a:t>
            </a:r>
            <a:r>
              <a:rPr lang="uk" sz="1400">
                <a:solidFill>
                  <a:srgbClr val="006699"/>
                </a:solidFill>
                <a:latin typeface="Courier New"/>
                <a:ea typeface="Courier New"/>
                <a:cs typeface="Courier New"/>
                <a:sym typeface="Courier New"/>
              </a:rPr>
              <a:t>string</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name, </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age)</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    Console.WriteLine($</a:t>
            </a:r>
            <a:r>
              <a:rPr lang="uk" sz="1400">
                <a:solidFill>
                  <a:srgbClr val="DB003E"/>
                </a:solidFill>
                <a:latin typeface="Courier New"/>
                <a:ea typeface="Courier New"/>
                <a:cs typeface="Courier New"/>
                <a:sym typeface="Courier New"/>
              </a:rPr>
              <a:t>"Name: {name}  Age: {age}"</a:t>
            </a: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chemeClr val="dk1"/>
                </a:solidFill>
                <a:latin typeface="Courier New"/>
                <a:ea typeface="Courier New"/>
                <a:cs typeface="Courier New"/>
                <a:sym typeface="Courier New"/>
              </a:rPr>
              <a:t> </a:t>
            </a:r>
            <a:endParaRPr sz="1400">
              <a:solidFill>
                <a:schemeClr val="dk1"/>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PrintPerson(</a:t>
            </a:r>
            <a:r>
              <a:rPr lang="uk" sz="1400">
                <a:solidFill>
                  <a:srgbClr val="DB003E"/>
                </a:solidFill>
                <a:latin typeface="Courier New"/>
                <a:ea typeface="Courier New"/>
                <a:cs typeface="Courier New"/>
                <a:sym typeface="Courier New"/>
              </a:rPr>
              <a:t>"Tom"</a:t>
            </a:r>
            <a:r>
              <a:rPr lang="uk" sz="1400">
                <a:solidFill>
                  <a:srgbClr val="188038"/>
                </a:solidFill>
                <a:latin typeface="Courier New"/>
                <a:ea typeface="Courier New"/>
                <a:cs typeface="Courier New"/>
                <a:sym typeface="Courier New"/>
              </a:rPr>
              <a:t>, 24); </a:t>
            </a:r>
            <a:r>
              <a:rPr lang="uk" sz="1400">
                <a:solidFill>
                  <a:srgbClr val="008200"/>
                </a:solidFill>
                <a:latin typeface="Courier New"/>
                <a:ea typeface="Courier New"/>
                <a:cs typeface="Courier New"/>
                <a:sym typeface="Courier New"/>
              </a:rPr>
              <a:t>// Name: Tom  Age: 24</a:t>
            </a:r>
            <a:endParaRPr sz="1400">
              <a:solidFill>
                <a:srgbClr val="008200"/>
              </a:solidFill>
              <a:latin typeface="Courier New"/>
              <a:ea typeface="Courier New"/>
              <a:cs typeface="Courier New"/>
              <a:sym typeface="Courier New"/>
            </a:endParaRPr>
          </a:p>
        </p:txBody>
      </p:sp>
      <p:sp>
        <p:nvSpPr>
          <p:cNvPr id="180" name="Google Shape;180;p27"/>
          <p:cNvSpPr txBox="1"/>
          <p:nvPr/>
        </p:nvSpPr>
        <p:spPr>
          <a:xfrm>
            <a:off x="236800" y="4595400"/>
            <a:ext cx="11716400" cy="738623"/>
          </a:xfrm>
          <a:prstGeom prst="rect">
            <a:avLst/>
          </a:prstGeom>
          <a:noFill/>
          <a:ln>
            <a:noFill/>
          </a:ln>
        </p:spPr>
        <p:txBody>
          <a:bodyPr spcFirstLastPara="1" wrap="square" lIns="121900" tIns="121900" rIns="121900" bIns="121900" anchor="t" anchorCtr="0">
            <a:spAutoFit/>
          </a:bodyPr>
          <a:lstStyle/>
          <a:p>
            <a:r>
              <a:rPr lang="uk" sz="1600">
                <a:solidFill>
                  <a:schemeClr val="dk1"/>
                </a:solidFill>
              </a:rPr>
              <a:t>У разі перший параметр методу </a:t>
            </a:r>
            <a:r>
              <a:rPr lang="uk" sz="1600">
                <a:solidFill>
                  <a:srgbClr val="188038"/>
                </a:solidFill>
                <a:latin typeface="Roboto Mono"/>
                <a:ea typeface="Roboto Mono"/>
                <a:cs typeface="Roboto Mono"/>
                <a:sym typeface="Roboto Mono"/>
              </a:rPr>
              <a:t>PrintPerson()</a:t>
            </a:r>
            <a:r>
              <a:rPr lang="uk" sz="1600">
                <a:solidFill>
                  <a:schemeClr val="dk1"/>
                </a:solidFill>
              </a:rPr>
              <a:t>представляє тип </a:t>
            </a:r>
            <a:r>
              <a:rPr lang="uk" sz="1600">
                <a:solidFill>
                  <a:srgbClr val="188038"/>
                </a:solidFill>
                <a:latin typeface="Roboto Mono"/>
                <a:ea typeface="Roboto Mono"/>
                <a:cs typeface="Roboto Mono"/>
                <a:sym typeface="Roboto Mono"/>
              </a:rPr>
              <a:t>string</a:t>
            </a:r>
            <a:r>
              <a:rPr lang="uk" sz="1600">
                <a:solidFill>
                  <a:schemeClr val="dk1"/>
                </a:solidFill>
              </a:rPr>
              <a:t>, тому за виклику методу ми маємо передати цьому параметру значення типу </a:t>
            </a:r>
            <a:r>
              <a:rPr lang="uk" sz="1600">
                <a:solidFill>
                  <a:srgbClr val="188038"/>
                </a:solidFill>
                <a:latin typeface="Roboto Mono"/>
                <a:ea typeface="Roboto Mono"/>
                <a:cs typeface="Roboto Mono"/>
                <a:sym typeface="Roboto Mono"/>
              </a:rPr>
              <a:t>string</a:t>
            </a:r>
            <a:endParaRPr sz="2400"/>
          </a:p>
        </p:txBody>
      </p:sp>
      <p:sp>
        <p:nvSpPr>
          <p:cNvPr id="181" name="Google Shape;181;p27"/>
          <p:cNvSpPr txBox="1"/>
          <p:nvPr/>
        </p:nvSpPr>
        <p:spPr>
          <a:xfrm>
            <a:off x="236800" y="5408267"/>
            <a:ext cx="4000000" cy="461624"/>
          </a:xfrm>
          <a:prstGeom prst="rect">
            <a:avLst/>
          </a:prstGeom>
          <a:noFill/>
          <a:ln>
            <a:noFill/>
          </a:ln>
        </p:spPr>
        <p:txBody>
          <a:bodyPr spcFirstLastPara="1" wrap="square" lIns="121900" tIns="121900" rIns="121900" bIns="121900" anchor="t" anchorCtr="0">
            <a:spAutoFit/>
          </a:bodyPr>
          <a:lstStyle/>
          <a:p>
            <a:r>
              <a:rPr lang="uk" sz="1400">
                <a:solidFill>
                  <a:srgbClr val="188038"/>
                </a:solidFill>
                <a:latin typeface="Courier New"/>
                <a:ea typeface="Courier New"/>
                <a:cs typeface="Courier New"/>
                <a:sym typeface="Courier New"/>
              </a:rPr>
              <a:t>PrintPerson(</a:t>
            </a:r>
            <a:r>
              <a:rPr lang="uk" sz="1400">
                <a:solidFill>
                  <a:srgbClr val="DB003E"/>
                </a:solidFill>
                <a:latin typeface="Courier New"/>
                <a:ea typeface="Courier New"/>
                <a:cs typeface="Courier New"/>
                <a:sym typeface="Courier New"/>
              </a:rPr>
              <a:t>"Tom"</a:t>
            </a:r>
            <a:r>
              <a:rPr lang="uk" sz="1400">
                <a:solidFill>
                  <a:srgbClr val="188038"/>
                </a:solidFill>
                <a:latin typeface="Courier New"/>
                <a:ea typeface="Courier New"/>
                <a:cs typeface="Courier New"/>
                <a:sym typeface="Courier New"/>
              </a:rPr>
              <a:t>, 24);</a:t>
            </a: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8"/>
          <p:cNvSpPr txBox="1"/>
          <p:nvPr/>
        </p:nvSpPr>
        <p:spPr>
          <a:xfrm>
            <a:off x="168133" y="211967"/>
            <a:ext cx="11785200" cy="2462172"/>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Відповідність параметрів та аргументів за типом даних</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187" name="Google Shape;187;p28"/>
          <p:cNvSpPr txBox="1"/>
          <p:nvPr/>
        </p:nvSpPr>
        <p:spPr>
          <a:xfrm>
            <a:off x="168133" y="1899168"/>
            <a:ext cx="11637600" cy="1222858"/>
          </a:xfrm>
          <a:prstGeom prst="rect">
            <a:avLst/>
          </a:prstGeom>
          <a:noFill/>
          <a:ln>
            <a:noFill/>
          </a:ln>
        </p:spPr>
        <p:txBody>
          <a:bodyPr spcFirstLastPara="1" wrap="square" lIns="121900" tIns="121900" rIns="121900" bIns="121900" anchor="t" anchorCtr="0">
            <a:spAutoFit/>
          </a:bodyPr>
          <a:lstStyle/>
          <a:p>
            <a:pPr>
              <a:lnSpc>
                <a:spcPct val="115000"/>
              </a:lnSpc>
              <a:spcBef>
                <a:spcPts val="1600"/>
              </a:spcBef>
              <a:spcAft>
                <a:spcPts val="1600"/>
              </a:spcAft>
            </a:pPr>
            <a:r>
              <a:rPr lang="uk" sz="1600">
                <a:solidFill>
                  <a:schemeClr val="dk1"/>
                </a:solidFill>
              </a:rPr>
              <a:t>Також ми можемо передати параметри значення тих типів, які автоматично можуть бути перетворені на тип параметрів. Наприклад:</a:t>
            </a:r>
            <a:endParaRPr sz="1600">
              <a:solidFill>
                <a:schemeClr val="dk1"/>
              </a:solidFill>
            </a:endParaRPr>
          </a:p>
        </p:txBody>
      </p:sp>
      <p:sp>
        <p:nvSpPr>
          <p:cNvPr id="188" name="Google Shape;188;p28"/>
          <p:cNvSpPr txBox="1"/>
          <p:nvPr/>
        </p:nvSpPr>
        <p:spPr>
          <a:xfrm>
            <a:off x="263100" y="2604633"/>
            <a:ext cx="11365600" cy="2402862"/>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latin typeface="Courier New"/>
                <a:ea typeface="Courier New"/>
                <a:cs typeface="Courier New"/>
                <a:sym typeface="Courier New"/>
              </a:rPr>
              <a:t>void</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PrintPerson(</a:t>
            </a:r>
            <a:r>
              <a:rPr lang="uk" sz="1400">
                <a:solidFill>
                  <a:srgbClr val="006699"/>
                </a:solidFill>
                <a:latin typeface="Courier New"/>
                <a:ea typeface="Courier New"/>
                <a:cs typeface="Courier New"/>
                <a:sym typeface="Courier New"/>
              </a:rPr>
              <a:t>string</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name, </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age)</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    Console.WriteLine($</a:t>
            </a:r>
            <a:r>
              <a:rPr lang="uk" sz="1400">
                <a:solidFill>
                  <a:srgbClr val="DB003E"/>
                </a:solidFill>
                <a:latin typeface="Courier New"/>
                <a:ea typeface="Courier New"/>
                <a:cs typeface="Courier New"/>
                <a:sym typeface="Courier New"/>
              </a:rPr>
              <a:t>"Name: {name}  Age: {age}"</a:t>
            </a: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chemeClr val="dk1"/>
                </a:solidFill>
                <a:latin typeface="Courier New"/>
                <a:ea typeface="Courier New"/>
                <a:cs typeface="Courier New"/>
                <a:sym typeface="Courier New"/>
              </a:rPr>
              <a:t> </a:t>
            </a:r>
            <a:endParaRPr sz="1400">
              <a:solidFill>
                <a:schemeClr val="dk1"/>
              </a:solidFill>
              <a:latin typeface="Courier New"/>
              <a:ea typeface="Courier New"/>
              <a:cs typeface="Courier New"/>
              <a:sym typeface="Courier New"/>
            </a:endParaRPr>
          </a:p>
          <a:p>
            <a:pPr marL="84665" marR="84665">
              <a:lnSpc>
                <a:spcPct val="143181"/>
              </a:lnSpc>
            </a:pPr>
            <a:r>
              <a:rPr lang="uk" sz="1400">
                <a:solidFill>
                  <a:srgbClr val="006699"/>
                </a:solidFill>
                <a:latin typeface="Courier New"/>
                <a:ea typeface="Courier New"/>
                <a:cs typeface="Courier New"/>
                <a:sym typeface="Courier New"/>
              </a:rPr>
              <a:t>byte</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b = 37;</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PrintPerson(</a:t>
            </a:r>
            <a:r>
              <a:rPr lang="uk" sz="1400">
                <a:solidFill>
                  <a:srgbClr val="DB003E"/>
                </a:solidFill>
                <a:latin typeface="Courier New"/>
                <a:ea typeface="Courier New"/>
                <a:cs typeface="Courier New"/>
                <a:sym typeface="Courier New"/>
              </a:rPr>
              <a:t>"Tom"</a:t>
            </a:r>
            <a:r>
              <a:rPr lang="uk" sz="1400">
                <a:solidFill>
                  <a:srgbClr val="188038"/>
                </a:solidFill>
                <a:latin typeface="Courier New"/>
                <a:ea typeface="Courier New"/>
                <a:cs typeface="Courier New"/>
                <a:sym typeface="Courier New"/>
              </a:rPr>
              <a:t>, b); </a:t>
            </a:r>
            <a:r>
              <a:rPr lang="uk" sz="1400">
                <a:solidFill>
                  <a:srgbClr val="008200"/>
                </a:solidFill>
                <a:latin typeface="Courier New"/>
                <a:ea typeface="Courier New"/>
                <a:cs typeface="Courier New"/>
                <a:sym typeface="Courier New"/>
              </a:rPr>
              <a:t>// Name: Tom  Age: 37</a:t>
            </a:r>
            <a:endParaRPr sz="1400">
              <a:solidFill>
                <a:srgbClr val="008200"/>
              </a:solidFill>
              <a:latin typeface="Courier New"/>
              <a:ea typeface="Courier New"/>
              <a:cs typeface="Courier New"/>
              <a:sym typeface="Courier New"/>
            </a:endParaRPr>
          </a:p>
        </p:txBody>
      </p:sp>
      <p:sp>
        <p:nvSpPr>
          <p:cNvPr id="189" name="Google Shape;189;p28"/>
          <p:cNvSpPr txBox="1"/>
          <p:nvPr/>
        </p:nvSpPr>
        <p:spPr>
          <a:xfrm>
            <a:off x="350800" y="5086500"/>
            <a:ext cx="11225200" cy="738623"/>
          </a:xfrm>
          <a:prstGeom prst="rect">
            <a:avLst/>
          </a:prstGeom>
          <a:noFill/>
          <a:ln>
            <a:noFill/>
          </a:ln>
        </p:spPr>
        <p:txBody>
          <a:bodyPr spcFirstLastPara="1" wrap="square" lIns="121900" tIns="121900" rIns="121900" bIns="121900" anchor="t" anchorCtr="0">
            <a:spAutoFit/>
          </a:bodyPr>
          <a:lstStyle/>
          <a:p>
            <a:r>
              <a:rPr lang="uk" sz="1600">
                <a:solidFill>
                  <a:schemeClr val="dk1"/>
                </a:solidFill>
              </a:rPr>
              <a:t>Тут параметр типу </a:t>
            </a:r>
            <a:r>
              <a:rPr lang="uk" sz="1600">
                <a:solidFill>
                  <a:srgbClr val="188038"/>
                </a:solidFill>
                <a:latin typeface="Roboto Mono"/>
                <a:ea typeface="Roboto Mono"/>
                <a:cs typeface="Roboto Mono"/>
                <a:sym typeface="Roboto Mono"/>
              </a:rPr>
              <a:t>int</a:t>
            </a:r>
            <a:r>
              <a:rPr lang="uk" sz="1600">
                <a:solidFill>
                  <a:schemeClr val="dk1"/>
                </a:solidFill>
              </a:rPr>
              <a:t>передається значення типу </a:t>
            </a:r>
            <a:r>
              <a:rPr lang="uk" sz="1600">
                <a:solidFill>
                  <a:srgbClr val="188038"/>
                </a:solidFill>
                <a:latin typeface="Roboto Mono"/>
                <a:ea typeface="Roboto Mono"/>
                <a:cs typeface="Roboto Mono"/>
                <a:sym typeface="Roboto Mono"/>
              </a:rPr>
              <a:t>byte</a:t>
            </a:r>
            <a:r>
              <a:rPr lang="uk" sz="1600">
                <a:solidFill>
                  <a:schemeClr val="dk1"/>
                </a:solidFill>
              </a:rPr>
              <a:t>, але комілятор може автоматично перетворити значення типу byte до тіу int. Тому тут помилок не виникне. </a:t>
            </a:r>
            <a:endParaRPr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9"/>
          <p:cNvSpPr txBox="1"/>
          <p:nvPr/>
        </p:nvSpPr>
        <p:spPr>
          <a:xfrm>
            <a:off x="168133" y="211968"/>
            <a:ext cx="11785200" cy="984845"/>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Необов'язкові параметри</a:t>
            </a:r>
            <a:endParaRPr sz="4800" b="1">
              <a:solidFill>
                <a:schemeClr val="dk1"/>
              </a:solidFill>
              <a:latin typeface="Times New Roman"/>
              <a:ea typeface="Times New Roman"/>
              <a:cs typeface="Times New Roman"/>
              <a:sym typeface="Times New Roman"/>
            </a:endParaRPr>
          </a:p>
        </p:txBody>
      </p:sp>
      <p:sp>
        <p:nvSpPr>
          <p:cNvPr id="195" name="Google Shape;195;p29"/>
          <p:cNvSpPr txBox="1"/>
          <p:nvPr/>
        </p:nvSpPr>
        <p:spPr>
          <a:xfrm>
            <a:off x="263100" y="1197168"/>
            <a:ext cx="11567200" cy="984845"/>
          </a:xfrm>
          <a:prstGeom prst="rect">
            <a:avLst/>
          </a:prstGeom>
          <a:noFill/>
          <a:ln>
            <a:noFill/>
          </a:ln>
        </p:spPr>
        <p:txBody>
          <a:bodyPr spcFirstLastPara="1" wrap="square" lIns="121900" tIns="121900" rIns="121900" bIns="121900" anchor="t" anchorCtr="0">
            <a:spAutoFit/>
          </a:bodyPr>
          <a:lstStyle/>
          <a:p>
            <a:r>
              <a:rPr lang="uk" sz="1600">
                <a:solidFill>
                  <a:schemeClr val="dk1"/>
                </a:solidFill>
              </a:rPr>
              <a:t>За промовчанням під час виклику методу необхідно надати значення для всіх його параметрів. Але C# дозволяє використовувати необов'язкові параметри. Для таких параметрів нам необхідно оголосити значення за промовчанням. Також слід враховувати, що після необов'язкових параметрів усі наступні параметри також мають бути необов'язковими:</a:t>
            </a:r>
            <a:endParaRPr sz="2400"/>
          </a:p>
        </p:txBody>
      </p:sp>
      <p:sp>
        <p:nvSpPr>
          <p:cNvPr id="196" name="Google Shape;196;p29"/>
          <p:cNvSpPr txBox="1"/>
          <p:nvPr/>
        </p:nvSpPr>
        <p:spPr>
          <a:xfrm>
            <a:off x="263100" y="2428367"/>
            <a:ext cx="11041200" cy="1478570"/>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latin typeface="Courier New"/>
                <a:ea typeface="Courier New"/>
                <a:cs typeface="Courier New"/>
                <a:sym typeface="Courier New"/>
              </a:rPr>
              <a:t>void</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PrintPerson(</a:t>
            </a:r>
            <a:r>
              <a:rPr lang="uk" sz="1400">
                <a:solidFill>
                  <a:srgbClr val="006699"/>
                </a:solidFill>
                <a:latin typeface="Courier New"/>
                <a:ea typeface="Courier New"/>
                <a:cs typeface="Courier New"/>
                <a:sym typeface="Courier New"/>
              </a:rPr>
              <a:t>string</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name, </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age = 1, </a:t>
            </a:r>
            <a:r>
              <a:rPr lang="uk" sz="1400">
                <a:solidFill>
                  <a:srgbClr val="006699"/>
                </a:solidFill>
                <a:latin typeface="Courier New"/>
                <a:ea typeface="Courier New"/>
                <a:cs typeface="Courier New"/>
                <a:sym typeface="Courier New"/>
              </a:rPr>
              <a:t>string</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company = </a:t>
            </a:r>
            <a:r>
              <a:rPr lang="uk" sz="1400">
                <a:solidFill>
                  <a:srgbClr val="DB003E"/>
                </a:solidFill>
                <a:latin typeface="Courier New"/>
                <a:ea typeface="Courier New"/>
                <a:cs typeface="Courier New"/>
                <a:sym typeface="Courier New"/>
              </a:rPr>
              <a:t>"Undefined"</a:t>
            </a: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    Console.WriteLine($</a:t>
            </a:r>
            <a:r>
              <a:rPr lang="uk" sz="1400">
                <a:solidFill>
                  <a:srgbClr val="DB003E"/>
                </a:solidFill>
                <a:latin typeface="Courier New"/>
                <a:ea typeface="Courier New"/>
                <a:cs typeface="Courier New"/>
                <a:sym typeface="Courier New"/>
              </a:rPr>
              <a:t>"Name: {name}  Age: {age}  Company: {company}"</a:t>
            </a: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p:txBody>
      </p:sp>
      <p:sp>
        <p:nvSpPr>
          <p:cNvPr id="197" name="Google Shape;197;p29"/>
          <p:cNvSpPr txBox="1"/>
          <p:nvPr/>
        </p:nvSpPr>
        <p:spPr>
          <a:xfrm>
            <a:off x="263100" y="3692768"/>
            <a:ext cx="11567200" cy="1222858"/>
          </a:xfrm>
          <a:prstGeom prst="rect">
            <a:avLst/>
          </a:prstGeom>
          <a:noFill/>
          <a:ln>
            <a:noFill/>
          </a:ln>
        </p:spPr>
        <p:txBody>
          <a:bodyPr spcFirstLastPara="1" wrap="square" lIns="121900" tIns="121900" rIns="121900" bIns="121900" anchor="t" anchorCtr="0">
            <a:spAutoFit/>
          </a:bodyPr>
          <a:lstStyle/>
          <a:p>
            <a:pPr>
              <a:lnSpc>
                <a:spcPct val="115000"/>
              </a:lnSpc>
              <a:spcBef>
                <a:spcPts val="1600"/>
              </a:spcBef>
              <a:spcAft>
                <a:spcPts val="1600"/>
              </a:spcAft>
            </a:pPr>
            <a:r>
              <a:rPr lang="uk" sz="1600">
                <a:solidFill>
                  <a:schemeClr val="dk1"/>
                </a:solidFill>
              </a:rPr>
              <a:t>Тут параметри age та company є необов'язковими, оскільки їм надано значення. Тому при виклику методу ми можемо не передавати їм дані:</a:t>
            </a:r>
            <a:endParaRPr sz="1600">
              <a:solidFill>
                <a:schemeClr val="dk1"/>
              </a:solidFill>
            </a:endParaRPr>
          </a:p>
        </p:txBody>
      </p:sp>
      <p:sp>
        <p:nvSpPr>
          <p:cNvPr id="198" name="Google Shape;198;p29"/>
          <p:cNvSpPr txBox="1"/>
          <p:nvPr/>
        </p:nvSpPr>
        <p:spPr>
          <a:xfrm>
            <a:off x="206100" y="4289034"/>
            <a:ext cx="11155200" cy="2710958"/>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latin typeface="Courier New"/>
                <a:ea typeface="Courier New"/>
                <a:cs typeface="Courier New"/>
                <a:sym typeface="Courier New"/>
              </a:rPr>
              <a:t>void</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PrintPerson(</a:t>
            </a:r>
            <a:r>
              <a:rPr lang="uk" sz="1400">
                <a:solidFill>
                  <a:srgbClr val="006699"/>
                </a:solidFill>
                <a:latin typeface="Courier New"/>
                <a:ea typeface="Courier New"/>
                <a:cs typeface="Courier New"/>
                <a:sym typeface="Courier New"/>
              </a:rPr>
              <a:t>string</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name, </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age = 1, </a:t>
            </a:r>
            <a:r>
              <a:rPr lang="uk" sz="1400">
                <a:solidFill>
                  <a:srgbClr val="006699"/>
                </a:solidFill>
                <a:latin typeface="Courier New"/>
                <a:ea typeface="Courier New"/>
                <a:cs typeface="Courier New"/>
                <a:sym typeface="Courier New"/>
              </a:rPr>
              <a:t>string</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company = </a:t>
            </a:r>
            <a:r>
              <a:rPr lang="uk" sz="1400">
                <a:solidFill>
                  <a:srgbClr val="DB003E"/>
                </a:solidFill>
                <a:latin typeface="Courier New"/>
                <a:ea typeface="Courier New"/>
                <a:cs typeface="Courier New"/>
                <a:sym typeface="Courier New"/>
              </a:rPr>
              <a:t>"Undefined"</a:t>
            </a: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    Console.WriteLine($</a:t>
            </a:r>
            <a:r>
              <a:rPr lang="uk" sz="1400">
                <a:solidFill>
                  <a:srgbClr val="DB003E"/>
                </a:solidFill>
                <a:latin typeface="Courier New"/>
                <a:ea typeface="Courier New"/>
                <a:cs typeface="Courier New"/>
                <a:sym typeface="Courier New"/>
              </a:rPr>
              <a:t>"Name: {name}  Age: {age}  Company: {company}"</a:t>
            </a: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chemeClr val="dk1"/>
                </a:solidFill>
                <a:latin typeface="Courier New"/>
                <a:ea typeface="Courier New"/>
                <a:cs typeface="Courier New"/>
                <a:sym typeface="Courier New"/>
              </a:rPr>
              <a:t> </a:t>
            </a:r>
            <a:endParaRPr sz="1400">
              <a:solidFill>
                <a:schemeClr val="dk1"/>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PrintPerson(</a:t>
            </a:r>
            <a:r>
              <a:rPr lang="uk" sz="1400">
                <a:solidFill>
                  <a:srgbClr val="DB003E"/>
                </a:solidFill>
                <a:latin typeface="Courier New"/>
                <a:ea typeface="Courier New"/>
                <a:cs typeface="Courier New"/>
                <a:sym typeface="Courier New"/>
              </a:rPr>
              <a:t>"Tom"</a:t>
            </a:r>
            <a:r>
              <a:rPr lang="uk" sz="1400">
                <a:solidFill>
                  <a:srgbClr val="188038"/>
                </a:solidFill>
                <a:latin typeface="Courier New"/>
                <a:ea typeface="Courier New"/>
                <a:cs typeface="Courier New"/>
                <a:sym typeface="Courier New"/>
              </a:rPr>
              <a:t>, 37, </a:t>
            </a:r>
            <a:r>
              <a:rPr lang="uk" sz="1400">
                <a:solidFill>
                  <a:srgbClr val="DB003E"/>
                </a:solidFill>
                <a:latin typeface="Courier New"/>
                <a:ea typeface="Courier New"/>
                <a:cs typeface="Courier New"/>
                <a:sym typeface="Courier New"/>
              </a:rPr>
              <a:t>"Microsoft"</a:t>
            </a:r>
            <a:r>
              <a:rPr lang="uk" sz="1400">
                <a:solidFill>
                  <a:srgbClr val="188038"/>
                </a:solidFill>
                <a:latin typeface="Courier New"/>
                <a:ea typeface="Courier New"/>
                <a:cs typeface="Courier New"/>
                <a:sym typeface="Courier New"/>
              </a:rPr>
              <a:t>);  </a:t>
            </a:r>
            <a:r>
              <a:rPr lang="uk" sz="1400">
                <a:solidFill>
                  <a:srgbClr val="008200"/>
                </a:solidFill>
                <a:latin typeface="Courier New"/>
                <a:ea typeface="Courier New"/>
                <a:cs typeface="Courier New"/>
                <a:sym typeface="Courier New"/>
              </a:rPr>
              <a:t>// Name: Tom  Age: 37  Company: Microsoft</a:t>
            </a:r>
            <a:endParaRPr sz="1400">
              <a:solidFill>
                <a:srgbClr val="008200"/>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PrintPerson(</a:t>
            </a:r>
            <a:r>
              <a:rPr lang="uk" sz="1400">
                <a:solidFill>
                  <a:srgbClr val="DB003E"/>
                </a:solidFill>
                <a:latin typeface="Courier New"/>
                <a:ea typeface="Courier New"/>
                <a:cs typeface="Courier New"/>
                <a:sym typeface="Courier New"/>
              </a:rPr>
              <a:t>"Tom"</a:t>
            </a:r>
            <a:r>
              <a:rPr lang="uk" sz="1400">
                <a:solidFill>
                  <a:srgbClr val="188038"/>
                </a:solidFill>
                <a:latin typeface="Courier New"/>
                <a:ea typeface="Courier New"/>
                <a:cs typeface="Courier New"/>
                <a:sym typeface="Courier New"/>
              </a:rPr>
              <a:t>, 37);           	</a:t>
            </a:r>
            <a:r>
              <a:rPr lang="uk" sz="1400">
                <a:solidFill>
                  <a:srgbClr val="008200"/>
                </a:solidFill>
                <a:latin typeface="Courier New"/>
                <a:ea typeface="Courier New"/>
                <a:cs typeface="Courier New"/>
                <a:sym typeface="Courier New"/>
              </a:rPr>
              <a:t>// Name: Tom  Age: 37  Company: Undefined</a:t>
            </a:r>
            <a:endParaRPr sz="1400">
              <a:solidFill>
                <a:srgbClr val="008200"/>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PrintPerson(</a:t>
            </a:r>
            <a:r>
              <a:rPr lang="uk" sz="1400">
                <a:solidFill>
                  <a:srgbClr val="DB003E"/>
                </a:solidFill>
                <a:latin typeface="Courier New"/>
                <a:ea typeface="Courier New"/>
                <a:cs typeface="Courier New"/>
                <a:sym typeface="Courier New"/>
              </a:rPr>
              <a:t>"Tom"</a:t>
            </a:r>
            <a:r>
              <a:rPr lang="uk" sz="1400">
                <a:solidFill>
                  <a:srgbClr val="188038"/>
                </a:solidFill>
                <a:latin typeface="Courier New"/>
                <a:ea typeface="Courier New"/>
                <a:cs typeface="Courier New"/>
                <a:sym typeface="Courier New"/>
              </a:rPr>
              <a:t>);               	</a:t>
            </a:r>
            <a:r>
              <a:rPr lang="uk" sz="1400">
                <a:solidFill>
                  <a:srgbClr val="008200"/>
                </a:solidFill>
                <a:latin typeface="Courier New"/>
                <a:ea typeface="Courier New"/>
                <a:cs typeface="Courier New"/>
                <a:sym typeface="Courier New"/>
              </a:rPr>
              <a:t>// Name: Tom  Age: 1   Company: Undefined</a:t>
            </a:r>
            <a:endParaRPr sz="1400">
              <a:solidFill>
                <a:srgbClr val="008200"/>
              </a:solidFill>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0"/>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Іменовані параметри</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204" name="Google Shape;204;p30"/>
          <p:cNvSpPr txBox="1"/>
          <p:nvPr/>
        </p:nvSpPr>
        <p:spPr>
          <a:xfrm>
            <a:off x="263100" y="1197167"/>
            <a:ext cx="11567200" cy="1789167"/>
          </a:xfrm>
          <a:prstGeom prst="rect">
            <a:avLst/>
          </a:prstGeom>
          <a:noFill/>
          <a:ln>
            <a:noFill/>
          </a:ln>
        </p:spPr>
        <p:txBody>
          <a:bodyPr spcFirstLastPara="1" wrap="square" lIns="121900" tIns="121900" rIns="121900" bIns="121900" anchor="t" anchorCtr="0">
            <a:spAutoFit/>
          </a:bodyPr>
          <a:lstStyle/>
          <a:p>
            <a:pPr>
              <a:lnSpc>
                <a:spcPct val="115000"/>
              </a:lnSpc>
              <a:spcBef>
                <a:spcPts val="1600"/>
              </a:spcBef>
              <a:buClr>
                <a:schemeClr val="dk1"/>
              </a:buClr>
              <a:buSzPts val="1100"/>
            </a:pPr>
            <a:r>
              <a:rPr lang="uk" sz="1600">
                <a:solidFill>
                  <a:schemeClr val="dk1"/>
                </a:solidFill>
              </a:rPr>
              <a:t>У попередніх прикладах при викликі методів значення параметрів передавалися в порядку оголошення цих параметрів у методі. Тобто аргументи передавалися параметрам </a:t>
            </a:r>
            <a:r>
              <a:rPr lang="uk" sz="1600" b="1">
                <a:solidFill>
                  <a:schemeClr val="dk1"/>
                </a:solidFill>
              </a:rPr>
              <a:t>за позицією</a:t>
            </a:r>
            <a:r>
              <a:rPr lang="uk" sz="1600">
                <a:solidFill>
                  <a:schemeClr val="dk1"/>
                </a:solidFill>
              </a:rPr>
              <a:t> . Але ми можемо порушити такий порядок, використовуючи іменовані параметри:</a:t>
            </a:r>
            <a:endParaRPr sz="1600">
              <a:solidFill>
                <a:schemeClr val="dk1"/>
              </a:solidFill>
            </a:endParaRPr>
          </a:p>
          <a:p>
            <a:pPr>
              <a:lnSpc>
                <a:spcPct val="115000"/>
              </a:lnSpc>
              <a:spcBef>
                <a:spcPts val="1600"/>
              </a:spcBef>
            </a:pPr>
            <a:endParaRPr sz="1600">
              <a:solidFill>
                <a:schemeClr val="dk1"/>
              </a:solidFill>
            </a:endParaRPr>
          </a:p>
        </p:txBody>
      </p:sp>
      <p:sp>
        <p:nvSpPr>
          <p:cNvPr id="205" name="Google Shape;205;p30"/>
          <p:cNvSpPr txBox="1"/>
          <p:nvPr/>
        </p:nvSpPr>
        <p:spPr>
          <a:xfrm>
            <a:off x="-30700" y="2245101"/>
            <a:ext cx="12154800" cy="2710958"/>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latin typeface="Courier New"/>
                <a:ea typeface="Courier New"/>
                <a:cs typeface="Courier New"/>
                <a:sym typeface="Courier New"/>
              </a:rPr>
              <a:t>void</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PrintPerson(</a:t>
            </a:r>
            <a:r>
              <a:rPr lang="uk" sz="1400">
                <a:solidFill>
                  <a:srgbClr val="006699"/>
                </a:solidFill>
                <a:latin typeface="Courier New"/>
                <a:ea typeface="Courier New"/>
                <a:cs typeface="Courier New"/>
                <a:sym typeface="Courier New"/>
              </a:rPr>
              <a:t>string</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name, </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age = 1, </a:t>
            </a:r>
            <a:r>
              <a:rPr lang="uk" sz="1400">
                <a:solidFill>
                  <a:srgbClr val="006699"/>
                </a:solidFill>
                <a:latin typeface="Courier New"/>
                <a:ea typeface="Courier New"/>
                <a:cs typeface="Courier New"/>
                <a:sym typeface="Courier New"/>
              </a:rPr>
              <a:t>string</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company = </a:t>
            </a:r>
            <a:r>
              <a:rPr lang="uk" sz="1400">
                <a:solidFill>
                  <a:srgbClr val="DB003E"/>
                </a:solidFill>
                <a:latin typeface="Courier New"/>
                <a:ea typeface="Courier New"/>
                <a:cs typeface="Courier New"/>
                <a:sym typeface="Courier New"/>
              </a:rPr>
              <a:t>"Undefined"</a:t>
            </a: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    Console.WriteLine($</a:t>
            </a:r>
            <a:r>
              <a:rPr lang="uk" sz="1400">
                <a:solidFill>
                  <a:srgbClr val="DB003E"/>
                </a:solidFill>
                <a:latin typeface="Courier New"/>
                <a:ea typeface="Courier New"/>
                <a:cs typeface="Courier New"/>
                <a:sym typeface="Courier New"/>
              </a:rPr>
              <a:t>"Name: {name}  Age: {age}  Company: {company}"</a:t>
            </a: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chemeClr val="dk1"/>
                </a:solidFill>
                <a:latin typeface="Courier New"/>
                <a:ea typeface="Courier New"/>
                <a:cs typeface="Courier New"/>
                <a:sym typeface="Courier New"/>
              </a:rPr>
              <a:t> </a:t>
            </a:r>
            <a:endParaRPr sz="1400">
              <a:solidFill>
                <a:schemeClr val="dk1"/>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PrintPerson(</a:t>
            </a:r>
            <a:r>
              <a:rPr lang="uk" sz="1400">
                <a:solidFill>
                  <a:srgbClr val="DB003E"/>
                </a:solidFill>
                <a:latin typeface="Courier New"/>
                <a:ea typeface="Courier New"/>
                <a:cs typeface="Courier New"/>
                <a:sym typeface="Courier New"/>
              </a:rPr>
              <a:t>"Tom"</a:t>
            </a:r>
            <a:r>
              <a:rPr lang="uk" sz="1400">
                <a:solidFill>
                  <a:srgbClr val="188038"/>
                </a:solidFill>
                <a:latin typeface="Courier New"/>
                <a:ea typeface="Courier New"/>
                <a:cs typeface="Courier New"/>
                <a:sym typeface="Courier New"/>
              </a:rPr>
              <a:t>, company:</a:t>
            </a:r>
            <a:r>
              <a:rPr lang="uk" sz="1400">
                <a:solidFill>
                  <a:srgbClr val="DB003E"/>
                </a:solidFill>
                <a:latin typeface="Courier New"/>
                <a:ea typeface="Courier New"/>
                <a:cs typeface="Courier New"/>
                <a:sym typeface="Courier New"/>
              </a:rPr>
              <a:t>"Microsoft"</a:t>
            </a:r>
            <a:r>
              <a:rPr lang="uk" sz="1400">
                <a:solidFill>
                  <a:srgbClr val="188038"/>
                </a:solidFill>
                <a:latin typeface="Courier New"/>
                <a:ea typeface="Courier New"/>
                <a:cs typeface="Courier New"/>
                <a:sym typeface="Courier New"/>
              </a:rPr>
              <a:t>, age: 37);  </a:t>
            </a:r>
            <a:r>
              <a:rPr lang="uk" sz="1400">
                <a:solidFill>
                  <a:srgbClr val="008200"/>
                </a:solidFill>
                <a:latin typeface="Courier New"/>
                <a:ea typeface="Courier New"/>
                <a:cs typeface="Courier New"/>
                <a:sym typeface="Courier New"/>
              </a:rPr>
              <a:t>// Name: Tom  Age: 37  Company: Microsoft</a:t>
            </a:r>
            <a:endParaRPr sz="1400">
              <a:solidFill>
                <a:srgbClr val="008200"/>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PrintPerson(age:41, name: </a:t>
            </a:r>
            <a:r>
              <a:rPr lang="uk" sz="1400">
                <a:solidFill>
                  <a:srgbClr val="DB003E"/>
                </a:solidFill>
                <a:latin typeface="Courier New"/>
                <a:ea typeface="Courier New"/>
                <a:cs typeface="Courier New"/>
                <a:sym typeface="Courier New"/>
              </a:rPr>
              <a:t>"Bob"</a:t>
            </a:r>
            <a:r>
              <a:rPr lang="uk" sz="1400">
                <a:solidFill>
                  <a:srgbClr val="188038"/>
                </a:solidFill>
                <a:latin typeface="Courier New"/>
                <a:ea typeface="Courier New"/>
                <a:cs typeface="Courier New"/>
                <a:sym typeface="Courier New"/>
              </a:rPr>
              <a:t>);      	</a:t>
            </a:r>
            <a:r>
              <a:rPr lang="uk" sz="1400">
                <a:solidFill>
                  <a:srgbClr val="008200"/>
                </a:solidFill>
                <a:latin typeface="Courier New"/>
                <a:ea typeface="Courier New"/>
                <a:cs typeface="Courier New"/>
                <a:sym typeface="Courier New"/>
              </a:rPr>
              <a:t>// Name: Bob  Age: 41  Company: Undefined</a:t>
            </a:r>
            <a:endParaRPr sz="1400">
              <a:solidFill>
                <a:srgbClr val="008200"/>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PrintPerson(company:</a:t>
            </a:r>
            <a:r>
              <a:rPr lang="uk" sz="1400">
                <a:solidFill>
                  <a:srgbClr val="DB003E"/>
                </a:solidFill>
                <a:latin typeface="Courier New"/>
                <a:ea typeface="Courier New"/>
                <a:cs typeface="Courier New"/>
                <a:sym typeface="Courier New"/>
              </a:rPr>
              <a:t>"Google"</a:t>
            </a:r>
            <a:r>
              <a:rPr lang="uk" sz="1400">
                <a:solidFill>
                  <a:srgbClr val="188038"/>
                </a:solidFill>
                <a:latin typeface="Courier New"/>
                <a:ea typeface="Courier New"/>
                <a:cs typeface="Courier New"/>
                <a:sym typeface="Courier New"/>
              </a:rPr>
              <a:t>, name:</a:t>
            </a:r>
            <a:r>
              <a:rPr lang="uk" sz="1400">
                <a:solidFill>
                  <a:srgbClr val="DB003E"/>
                </a:solidFill>
                <a:latin typeface="Courier New"/>
                <a:ea typeface="Courier New"/>
                <a:cs typeface="Courier New"/>
                <a:sym typeface="Courier New"/>
              </a:rPr>
              <a:t>"Sam"</a:t>
            </a:r>
            <a:r>
              <a:rPr lang="uk" sz="1400">
                <a:solidFill>
                  <a:srgbClr val="188038"/>
                </a:solidFill>
                <a:latin typeface="Courier New"/>
                <a:ea typeface="Courier New"/>
                <a:cs typeface="Courier New"/>
                <a:sym typeface="Courier New"/>
              </a:rPr>
              <a:t>); </a:t>
            </a:r>
            <a:r>
              <a:rPr lang="uk" sz="1400">
                <a:solidFill>
                  <a:srgbClr val="008200"/>
                </a:solidFill>
                <a:latin typeface="Courier New"/>
                <a:ea typeface="Courier New"/>
                <a:cs typeface="Courier New"/>
                <a:sym typeface="Courier New"/>
              </a:rPr>
              <a:t>// Name: Sam  Age: 1   Company: Google</a:t>
            </a:r>
            <a:endParaRPr sz="1400">
              <a:solidFill>
                <a:srgbClr val="008200"/>
              </a:solidFill>
              <a:latin typeface="Courier New"/>
              <a:ea typeface="Courier New"/>
              <a:cs typeface="Courier New"/>
              <a:sym typeface="Courier New"/>
            </a:endParaRPr>
          </a:p>
        </p:txBody>
      </p:sp>
      <p:sp>
        <p:nvSpPr>
          <p:cNvPr id="206" name="Google Shape;206;p30"/>
          <p:cNvSpPr txBox="1"/>
          <p:nvPr/>
        </p:nvSpPr>
        <p:spPr>
          <a:xfrm>
            <a:off x="168133" y="4866700"/>
            <a:ext cx="11662000" cy="2590284"/>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pPr>
            <a:r>
              <a:rPr lang="uk" sz="2400">
                <a:solidFill>
                  <a:schemeClr val="dk1"/>
                </a:solidFill>
                <a:latin typeface="Times New Roman"/>
                <a:ea typeface="Times New Roman"/>
                <a:cs typeface="Times New Roman"/>
                <a:sym typeface="Times New Roman"/>
              </a:rPr>
              <a:t>Для передачі значень параметрам імені при викликі методу вказується ім'я параметра і через двокрапку його значення: </a:t>
            </a:r>
            <a:r>
              <a:rPr lang="uk" sz="2400">
                <a:solidFill>
                  <a:srgbClr val="188038"/>
                </a:solidFill>
                <a:latin typeface="Times New Roman"/>
                <a:ea typeface="Times New Roman"/>
                <a:cs typeface="Times New Roman"/>
                <a:sym typeface="Times New Roman"/>
              </a:rPr>
              <a:t>name:"Tom"</a:t>
            </a:r>
            <a:endParaRPr sz="2400">
              <a:solidFill>
                <a:srgbClr val="188038"/>
              </a:solidFill>
              <a:latin typeface="Times New Roman"/>
              <a:ea typeface="Times New Roman"/>
              <a:cs typeface="Times New Roman"/>
              <a:sym typeface="Times New Roman"/>
            </a:endParaRPr>
          </a:p>
          <a:p>
            <a:pPr>
              <a:lnSpc>
                <a:spcPct val="156000"/>
              </a:lnSpc>
              <a:spcBef>
                <a:spcPts val="1600"/>
              </a:spcBef>
              <a:spcAft>
                <a:spcPts val="1600"/>
              </a:spcAft>
            </a:pPr>
            <a:r>
              <a:rPr lang="uk" sz="2400">
                <a:solidFill>
                  <a:schemeClr val="dk1"/>
                </a:solidFill>
                <a:latin typeface="Times New Roman"/>
                <a:ea typeface="Times New Roman"/>
                <a:cs typeface="Times New Roman"/>
                <a:sym typeface="Times New Roman"/>
              </a:rPr>
              <a:t>Консольний висновок програми:</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1"/>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Повернення значення та оператор return</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212" name="Google Shape;212;p31"/>
          <p:cNvSpPr txBox="1"/>
          <p:nvPr/>
        </p:nvSpPr>
        <p:spPr>
          <a:xfrm>
            <a:off x="289400" y="1210234"/>
            <a:ext cx="11867200" cy="1378799"/>
          </a:xfrm>
          <a:prstGeom prst="rect">
            <a:avLst/>
          </a:prstGeom>
          <a:noFill/>
          <a:ln>
            <a:noFill/>
          </a:ln>
        </p:spPr>
        <p:txBody>
          <a:bodyPr spcFirstLastPara="1" wrap="square" lIns="121900" tIns="121900" rIns="121900" bIns="121900" anchor="t" anchorCtr="0">
            <a:spAutoFit/>
          </a:bodyPr>
          <a:lstStyle/>
          <a:p>
            <a:pPr>
              <a:lnSpc>
                <a:spcPct val="115000"/>
              </a:lnSpc>
            </a:pPr>
            <a:r>
              <a:rPr lang="uk" sz="1600">
                <a:solidFill>
                  <a:schemeClr val="dk1"/>
                </a:solidFill>
              </a:rPr>
              <a:t>Метод може повертати значення будь-якого результату. У прикладі вище було визначено два методи, які мали тип </a:t>
            </a:r>
            <a:r>
              <a:rPr lang="uk" sz="1600" b="1">
                <a:solidFill>
                  <a:schemeClr val="dk1"/>
                </a:solidFill>
              </a:rPr>
              <a:t>void</a:t>
            </a:r>
            <a:r>
              <a:rPr lang="uk" sz="1600">
                <a:solidFill>
                  <a:schemeClr val="dk1"/>
                </a:solidFill>
              </a:rPr>
              <a:t> . Методи з таким типом не повертають жодного значення. Вони просто виконують деякі дії.</a:t>
            </a:r>
            <a:endParaRPr sz="1600">
              <a:solidFill>
                <a:schemeClr val="dk1"/>
              </a:solidFill>
            </a:endParaRPr>
          </a:p>
          <a:p>
            <a:pPr>
              <a:lnSpc>
                <a:spcPct val="115000"/>
              </a:lnSpc>
            </a:pPr>
            <a:r>
              <a:rPr lang="uk" sz="1600">
                <a:solidFill>
                  <a:schemeClr val="dk1"/>
                </a:solidFill>
              </a:rPr>
              <a:t>Але методи можуть повертати деяке значення. Для цього застосовується оператор </a:t>
            </a:r>
            <a:r>
              <a:rPr lang="uk" sz="1600" b="1">
                <a:solidFill>
                  <a:schemeClr val="dk1"/>
                </a:solidFill>
              </a:rPr>
              <a:t>return</a:t>
            </a:r>
            <a:r>
              <a:rPr lang="uk" sz="1600">
                <a:solidFill>
                  <a:schemeClr val="dk1"/>
                </a:solidFill>
              </a:rPr>
              <a:t> , після якого йде значення, що повертається:</a:t>
            </a:r>
            <a:endParaRPr sz="1600">
              <a:solidFill>
                <a:schemeClr val="dk1"/>
              </a:solidFill>
            </a:endParaRPr>
          </a:p>
        </p:txBody>
      </p:sp>
      <p:sp>
        <p:nvSpPr>
          <p:cNvPr id="213" name="Google Shape;213;p31"/>
          <p:cNvSpPr txBox="1"/>
          <p:nvPr/>
        </p:nvSpPr>
        <p:spPr>
          <a:xfrm>
            <a:off x="289400" y="2552234"/>
            <a:ext cx="4000000" cy="984845"/>
          </a:xfrm>
          <a:prstGeom prst="rect">
            <a:avLst/>
          </a:prstGeom>
          <a:noFill/>
          <a:ln>
            <a:noFill/>
          </a:ln>
        </p:spPr>
        <p:txBody>
          <a:bodyPr spcFirstLastPara="1" wrap="square" lIns="121900" tIns="121900" rIns="121900" bIns="121900" anchor="t" anchorCtr="0">
            <a:spAutoFit/>
          </a:bodyPr>
          <a:lstStyle/>
          <a:p>
            <a:r>
              <a:rPr lang="uk" sz="2400"/>
              <a:t>return повертаєме_значення;</a:t>
            </a:r>
            <a:endParaRPr sz="2400"/>
          </a:p>
        </p:txBody>
      </p:sp>
      <p:sp>
        <p:nvSpPr>
          <p:cNvPr id="214" name="Google Shape;214;p31"/>
          <p:cNvSpPr txBox="1"/>
          <p:nvPr/>
        </p:nvSpPr>
        <p:spPr>
          <a:xfrm>
            <a:off x="289400" y="3085834"/>
            <a:ext cx="7463200" cy="104062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spcAft>
                <a:spcPts val="1600"/>
              </a:spcAft>
            </a:pPr>
            <a:r>
              <a:rPr lang="uk" sz="1600">
                <a:solidFill>
                  <a:schemeClr val="dk1"/>
                </a:solidFill>
              </a:rPr>
              <a:t>Наприклад, визначимо метод, який повертає значення типу </a:t>
            </a:r>
            <a:r>
              <a:rPr lang="uk" sz="1600">
                <a:solidFill>
                  <a:srgbClr val="188038"/>
                </a:solidFill>
                <a:latin typeface="Roboto Mono"/>
                <a:ea typeface="Roboto Mono"/>
                <a:cs typeface="Roboto Mono"/>
                <a:sym typeface="Roboto Mono"/>
              </a:rPr>
              <a:t>string</a:t>
            </a:r>
            <a:r>
              <a:rPr lang="uk" sz="1600">
                <a:solidFill>
                  <a:schemeClr val="dk1"/>
                </a:solidFill>
              </a:rPr>
              <a:t>:</a:t>
            </a:r>
            <a:endParaRPr sz="1600">
              <a:solidFill>
                <a:schemeClr val="dk1"/>
              </a:solidFill>
            </a:endParaRPr>
          </a:p>
        </p:txBody>
      </p:sp>
      <p:sp>
        <p:nvSpPr>
          <p:cNvPr id="215" name="Google Shape;215;p31"/>
          <p:cNvSpPr txBox="1"/>
          <p:nvPr/>
        </p:nvSpPr>
        <p:spPr>
          <a:xfrm>
            <a:off x="168133" y="3578234"/>
            <a:ext cx="4000000" cy="1478570"/>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latin typeface="Courier New"/>
                <a:ea typeface="Courier New"/>
                <a:cs typeface="Courier New"/>
                <a:sym typeface="Courier New"/>
              </a:rPr>
              <a:t>string</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GetMessage()</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    </a:t>
            </a:r>
            <a:r>
              <a:rPr lang="uk" sz="1400">
                <a:solidFill>
                  <a:srgbClr val="006699"/>
                </a:solidFill>
                <a:latin typeface="Courier New"/>
                <a:ea typeface="Courier New"/>
                <a:cs typeface="Courier New"/>
                <a:sym typeface="Courier New"/>
              </a:rPr>
              <a:t>return</a:t>
            </a:r>
            <a:r>
              <a:rPr lang="uk" sz="1400">
                <a:solidFill>
                  <a:schemeClr val="dk1"/>
                </a:solidFill>
                <a:latin typeface="Courier New"/>
                <a:ea typeface="Courier New"/>
                <a:cs typeface="Courier New"/>
                <a:sym typeface="Courier New"/>
              </a:rPr>
              <a:t> </a:t>
            </a:r>
            <a:r>
              <a:rPr lang="uk" sz="1400">
                <a:solidFill>
                  <a:srgbClr val="DB003E"/>
                </a:solidFill>
                <a:latin typeface="Courier New"/>
                <a:ea typeface="Courier New"/>
                <a:cs typeface="Courier New"/>
                <a:sym typeface="Courier New"/>
              </a:rPr>
              <a:t>"Hello"</a:t>
            </a: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p:txBody>
      </p:sp>
      <p:sp>
        <p:nvSpPr>
          <p:cNvPr id="216" name="Google Shape;216;p31"/>
          <p:cNvSpPr txBox="1"/>
          <p:nvPr/>
        </p:nvSpPr>
        <p:spPr>
          <a:xfrm>
            <a:off x="162400" y="4877733"/>
            <a:ext cx="11867200" cy="2398052"/>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pPr>
            <a:r>
              <a:rPr lang="uk" sz="1600">
                <a:solidFill>
                  <a:schemeClr val="dk1"/>
                </a:solidFill>
              </a:rPr>
              <a:t>Метод </a:t>
            </a:r>
            <a:r>
              <a:rPr lang="uk" sz="1600">
                <a:solidFill>
                  <a:srgbClr val="188038"/>
                </a:solidFill>
                <a:latin typeface="Roboto Mono"/>
                <a:ea typeface="Roboto Mono"/>
                <a:cs typeface="Roboto Mono"/>
                <a:sym typeface="Roboto Mono"/>
              </a:rPr>
              <a:t>GetMessage </a:t>
            </a:r>
            <a:r>
              <a:rPr lang="uk" sz="1600">
                <a:solidFill>
                  <a:schemeClr val="dk1"/>
                </a:solidFill>
              </a:rPr>
              <a:t>має тип </a:t>
            </a:r>
            <a:r>
              <a:rPr lang="uk" sz="1600">
                <a:solidFill>
                  <a:srgbClr val="188038"/>
                </a:solidFill>
                <a:latin typeface="Roboto Mono"/>
                <a:ea typeface="Roboto Mono"/>
                <a:cs typeface="Roboto Mono"/>
                <a:sym typeface="Roboto Mono"/>
              </a:rPr>
              <a:t>string</a:t>
            </a:r>
            <a:r>
              <a:rPr lang="uk" sz="1600">
                <a:solidFill>
                  <a:schemeClr val="dk1"/>
                </a:solidFill>
              </a:rPr>
              <a:t>, отже він повинен повернути рядок. Тому в тілі методу використовується оператор </a:t>
            </a:r>
            <a:r>
              <a:rPr lang="uk" sz="1600" b="1">
                <a:solidFill>
                  <a:schemeClr val="dk1"/>
                </a:solidFill>
              </a:rPr>
              <a:t>return</a:t>
            </a:r>
            <a:r>
              <a:rPr lang="uk" sz="1600">
                <a:solidFill>
                  <a:schemeClr val="dk1"/>
                </a:solidFill>
              </a:rPr>
              <a:t> , після якого вказаний рядок, що повертається.</a:t>
            </a:r>
            <a:endParaRPr sz="1600">
              <a:solidFill>
                <a:schemeClr val="dk1"/>
              </a:solidFill>
            </a:endParaRPr>
          </a:p>
          <a:p>
            <a:pPr>
              <a:lnSpc>
                <a:spcPct val="156000"/>
              </a:lnSpc>
              <a:spcBef>
                <a:spcPts val="1600"/>
              </a:spcBef>
              <a:spcAft>
                <a:spcPts val="1600"/>
              </a:spcAft>
            </a:pPr>
            <a:r>
              <a:rPr lang="uk" sz="1600">
                <a:solidFill>
                  <a:schemeClr val="dk1"/>
                </a:solidFill>
              </a:rPr>
              <a:t>При цьому методи, які як тип, що повертається, мають будь-який тип, крім </a:t>
            </a:r>
            <a:r>
              <a:rPr lang="uk" sz="1600" b="1">
                <a:solidFill>
                  <a:schemeClr val="dk1"/>
                </a:solidFill>
              </a:rPr>
              <a:t>void</a:t>
            </a:r>
            <a:r>
              <a:rPr lang="uk" sz="1600">
                <a:solidFill>
                  <a:schemeClr val="dk1"/>
                </a:solidFill>
              </a:rPr>
              <a:t> , обов'язково повинні використовувати оператор return для повернення значення. Наприклад, таке визначення методу некоректне:</a:t>
            </a:r>
            <a:endParaRPr sz="16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2"/>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Повернення значення та оператор return</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222" name="Google Shape;222;p32"/>
          <p:cNvSpPr txBox="1"/>
          <p:nvPr/>
        </p:nvSpPr>
        <p:spPr>
          <a:xfrm>
            <a:off x="315700" y="1078667"/>
            <a:ext cx="4000000" cy="1478570"/>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highlight>
                  <a:srgbClr val="F5F5FA"/>
                </a:highlight>
                <a:latin typeface="Courier New"/>
                <a:ea typeface="Courier New"/>
                <a:cs typeface="Courier New"/>
                <a:sym typeface="Courier New"/>
              </a:rPr>
              <a:t>string</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GetMessage()</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Console.WriteLine(</a:t>
            </a:r>
            <a:r>
              <a:rPr lang="uk" sz="1400">
                <a:solidFill>
                  <a:srgbClr val="DB003E"/>
                </a:solidFill>
                <a:highlight>
                  <a:srgbClr val="F5F5FA"/>
                </a:highlight>
                <a:latin typeface="Courier New"/>
                <a:ea typeface="Courier New"/>
                <a:cs typeface="Courier New"/>
                <a:sym typeface="Courier New"/>
              </a:rPr>
              <a:t>"Hello"</a:t>
            </a: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p:txBody>
      </p:sp>
      <p:sp>
        <p:nvSpPr>
          <p:cNvPr id="223" name="Google Shape;223;p32"/>
          <p:cNvSpPr txBox="1"/>
          <p:nvPr/>
        </p:nvSpPr>
        <p:spPr>
          <a:xfrm>
            <a:off x="210467" y="2552034"/>
            <a:ext cx="11742800" cy="984845"/>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rPr>
              <a:t>Також між типом методу, що повертається, і повертається значенням після оператора return повинна бути відповідність. Наприклад, в наступному випадку тип, що повертається - </a:t>
            </a:r>
            <a:r>
              <a:rPr lang="uk" sz="1600">
                <a:solidFill>
                  <a:srgbClr val="188038"/>
                </a:solidFill>
                <a:highlight>
                  <a:srgbClr val="F7F7FA"/>
                </a:highlight>
                <a:latin typeface="Roboto Mono"/>
                <a:ea typeface="Roboto Mono"/>
                <a:cs typeface="Roboto Mono"/>
                <a:sym typeface="Roboto Mono"/>
              </a:rPr>
              <a:t>string</a:t>
            </a:r>
            <a:r>
              <a:rPr lang="uk" sz="1600">
                <a:solidFill>
                  <a:schemeClr val="dk1"/>
                </a:solidFill>
                <a:highlight>
                  <a:srgbClr val="F7F7FA"/>
                </a:highlight>
              </a:rPr>
              <a:t>, але метод повертає число (тип int), тому таке визначення методу некоректно:</a:t>
            </a:r>
            <a:endParaRPr sz="2400"/>
          </a:p>
        </p:txBody>
      </p:sp>
      <p:sp>
        <p:nvSpPr>
          <p:cNvPr id="224" name="Google Shape;224;p32"/>
          <p:cNvSpPr txBox="1"/>
          <p:nvPr/>
        </p:nvSpPr>
        <p:spPr>
          <a:xfrm>
            <a:off x="210467" y="3623400"/>
            <a:ext cx="9568000" cy="1478570"/>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highlight>
                  <a:srgbClr val="F5F5FA"/>
                </a:highlight>
                <a:latin typeface="Courier New"/>
                <a:ea typeface="Courier New"/>
                <a:cs typeface="Courier New"/>
                <a:sym typeface="Courier New"/>
              </a:rPr>
              <a:t>string</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GetMessage()</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return</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3;   </a:t>
            </a:r>
            <a:r>
              <a:rPr lang="uk" sz="1400">
                <a:solidFill>
                  <a:srgbClr val="008200"/>
                </a:solidFill>
                <a:highlight>
                  <a:srgbClr val="F5F5FA"/>
                </a:highlight>
                <a:latin typeface="Courier New"/>
                <a:ea typeface="Courier New"/>
                <a:cs typeface="Courier New"/>
                <a:sym typeface="Courier New"/>
              </a:rPr>
              <a:t>// Помилка! Метод повинен отримувати строку, а не число</a:t>
            </a:r>
            <a:endParaRPr sz="1400">
              <a:solidFill>
                <a:srgbClr val="008200"/>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3"/>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Повернення значення та оператор return</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230" name="Google Shape;230;p33"/>
          <p:cNvSpPr txBox="1"/>
          <p:nvPr/>
        </p:nvSpPr>
        <p:spPr>
          <a:xfrm>
            <a:off x="241933" y="1115267"/>
            <a:ext cx="11637600" cy="104062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spcAft>
                <a:spcPts val="1600"/>
              </a:spcAft>
            </a:pPr>
            <a:r>
              <a:rPr lang="uk" sz="1600">
                <a:solidFill>
                  <a:schemeClr val="dk1"/>
                </a:solidFill>
              </a:rPr>
              <a:t>Результати методів, які повертають значення, ми можемо присвоїти змінним або використовувати іншим чином у програмі:</a:t>
            </a:r>
            <a:endParaRPr sz="1600">
              <a:solidFill>
                <a:schemeClr val="dk1"/>
              </a:solidFill>
            </a:endParaRPr>
          </a:p>
        </p:txBody>
      </p:sp>
      <p:sp>
        <p:nvSpPr>
          <p:cNvPr id="231" name="Google Shape;231;p33"/>
          <p:cNvSpPr txBox="1"/>
          <p:nvPr/>
        </p:nvSpPr>
        <p:spPr>
          <a:xfrm>
            <a:off x="333267" y="1992067"/>
            <a:ext cx="9392400" cy="2402862"/>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highlight>
                  <a:srgbClr val="F5F5FA"/>
                </a:highlight>
                <a:latin typeface="Courier New"/>
                <a:ea typeface="Courier New"/>
                <a:cs typeface="Courier New"/>
                <a:sym typeface="Courier New"/>
              </a:rPr>
              <a:t>string</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GetMessage()</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return</a:t>
            </a:r>
            <a:r>
              <a:rPr lang="uk" sz="1400">
                <a:solidFill>
                  <a:schemeClr val="dk1"/>
                </a:solidFill>
                <a:highlight>
                  <a:srgbClr val="F5F5FA"/>
                </a:highlight>
                <a:latin typeface="Courier New"/>
                <a:ea typeface="Courier New"/>
                <a:cs typeface="Courier New"/>
                <a:sym typeface="Courier New"/>
              </a:rPr>
              <a:t> </a:t>
            </a:r>
            <a:r>
              <a:rPr lang="uk" sz="1400">
                <a:solidFill>
                  <a:srgbClr val="DB003E"/>
                </a:solidFill>
                <a:highlight>
                  <a:srgbClr val="F5F5FA"/>
                </a:highlight>
                <a:latin typeface="Courier New"/>
                <a:ea typeface="Courier New"/>
                <a:cs typeface="Courier New"/>
                <a:sym typeface="Courier New"/>
              </a:rPr>
              <a:t>"Hello"</a:t>
            </a: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43181"/>
              </a:lnSpc>
            </a:pPr>
            <a:r>
              <a:rPr lang="uk" sz="1400">
                <a:solidFill>
                  <a:srgbClr val="006699"/>
                </a:solidFill>
                <a:highlight>
                  <a:srgbClr val="F5F5FA"/>
                </a:highlight>
                <a:latin typeface="Courier New"/>
                <a:ea typeface="Courier New"/>
                <a:cs typeface="Courier New"/>
                <a:sym typeface="Courier New"/>
              </a:rPr>
              <a:t>string</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message = GetMessage();  </a:t>
            </a:r>
            <a:r>
              <a:rPr lang="uk" sz="1400">
                <a:solidFill>
                  <a:srgbClr val="008200"/>
                </a:solidFill>
                <a:highlight>
                  <a:srgbClr val="F5F5FA"/>
                </a:highlight>
                <a:latin typeface="Courier New"/>
                <a:ea typeface="Courier New"/>
                <a:cs typeface="Courier New"/>
                <a:sym typeface="Courier New"/>
              </a:rPr>
              <a:t>// отримуємо результат методу в змінну message</a:t>
            </a:r>
            <a:endParaRPr sz="1400">
              <a:solidFill>
                <a:srgbClr val="008200"/>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Console.WriteLine(message); 	</a:t>
            </a:r>
            <a:r>
              <a:rPr lang="uk" sz="1400">
                <a:solidFill>
                  <a:srgbClr val="008200"/>
                </a:solidFill>
                <a:highlight>
                  <a:srgbClr val="F5F5FA"/>
                </a:highlight>
                <a:latin typeface="Courier New"/>
                <a:ea typeface="Courier New"/>
                <a:cs typeface="Courier New"/>
                <a:sym typeface="Courier New"/>
              </a:rPr>
              <a:t>// Hello</a:t>
            </a:r>
            <a:endParaRPr sz="1400">
              <a:solidFill>
                <a:srgbClr val="008200"/>
              </a:solidFill>
              <a:highlight>
                <a:srgbClr val="F5F5FA"/>
              </a:highlight>
              <a:latin typeface="Courier New"/>
              <a:ea typeface="Courier New"/>
              <a:cs typeface="Courier New"/>
              <a:sym typeface="Courier New"/>
            </a:endParaRPr>
          </a:p>
        </p:txBody>
      </p:sp>
      <p:sp>
        <p:nvSpPr>
          <p:cNvPr id="232" name="Google Shape;232;p33"/>
          <p:cNvSpPr txBox="1"/>
          <p:nvPr/>
        </p:nvSpPr>
        <p:spPr>
          <a:xfrm>
            <a:off x="0" y="4361367"/>
            <a:ext cx="12192000" cy="2013972"/>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pPr>
            <a:r>
              <a:rPr lang="uk" sz="1600">
                <a:solidFill>
                  <a:schemeClr val="dk1"/>
                </a:solidFill>
              </a:rPr>
              <a:t>Метод </a:t>
            </a:r>
            <a:r>
              <a:rPr lang="uk" sz="1600">
                <a:solidFill>
                  <a:srgbClr val="188038"/>
                </a:solidFill>
                <a:latin typeface="Roboto Mono"/>
                <a:ea typeface="Roboto Mono"/>
                <a:cs typeface="Roboto Mono"/>
                <a:sym typeface="Roboto Mono"/>
              </a:rPr>
              <a:t>GetMessage()</a:t>
            </a:r>
            <a:r>
              <a:rPr lang="uk" sz="1600">
                <a:solidFill>
                  <a:schemeClr val="dk1"/>
                </a:solidFill>
              </a:rPr>
              <a:t>повертає значення типу </a:t>
            </a:r>
            <a:r>
              <a:rPr lang="uk" sz="1600">
                <a:solidFill>
                  <a:srgbClr val="188038"/>
                </a:solidFill>
                <a:latin typeface="Roboto Mono"/>
                <a:ea typeface="Roboto Mono"/>
                <a:cs typeface="Roboto Mono"/>
                <a:sym typeface="Roboto Mono"/>
              </a:rPr>
              <a:t>string</a:t>
            </a:r>
            <a:r>
              <a:rPr lang="uk" sz="1600">
                <a:solidFill>
                  <a:schemeClr val="dk1"/>
                </a:solidFill>
              </a:rPr>
              <a:t>. Тому ми можемо привласнити це значення будь-якої змінної типу string:</a:t>
            </a:r>
            <a:r>
              <a:rPr lang="uk" sz="1600">
                <a:solidFill>
                  <a:srgbClr val="188038"/>
                </a:solidFill>
                <a:latin typeface="Roboto Mono"/>
                <a:ea typeface="Roboto Mono"/>
                <a:cs typeface="Roboto Mono"/>
                <a:sym typeface="Roboto Mono"/>
              </a:rPr>
              <a:t>string message = GetMessage();</a:t>
            </a:r>
            <a:endParaRPr sz="1600">
              <a:solidFill>
                <a:srgbClr val="188038"/>
              </a:solidFill>
              <a:latin typeface="Roboto Mono"/>
              <a:ea typeface="Roboto Mono"/>
              <a:cs typeface="Roboto Mono"/>
              <a:sym typeface="Roboto Mono"/>
            </a:endParaRPr>
          </a:p>
          <a:p>
            <a:pPr>
              <a:lnSpc>
                <a:spcPct val="156000"/>
              </a:lnSpc>
              <a:spcBef>
                <a:spcPts val="1600"/>
              </a:spcBef>
              <a:spcAft>
                <a:spcPts val="1600"/>
              </a:spcAft>
            </a:pPr>
            <a:r>
              <a:rPr lang="uk" sz="1600">
                <a:solidFill>
                  <a:schemeClr val="dk1"/>
                </a:solidFill>
              </a:rPr>
              <a:t>Або навіть передати значення параметру іншого методу</a:t>
            </a:r>
            <a:endParaRPr sz="16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4"/>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Повернення значення та оператор return</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238" name="Google Shape;238;p34"/>
          <p:cNvSpPr txBox="1"/>
          <p:nvPr/>
        </p:nvSpPr>
        <p:spPr>
          <a:xfrm>
            <a:off x="280633" y="1236534"/>
            <a:ext cx="11672800" cy="3019056"/>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highlight>
                  <a:srgbClr val="F5F5FA"/>
                </a:highlight>
                <a:latin typeface="Courier New"/>
                <a:ea typeface="Courier New"/>
                <a:cs typeface="Courier New"/>
                <a:sym typeface="Courier New"/>
              </a:rPr>
              <a:t>string</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GetMessage()</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return</a:t>
            </a:r>
            <a:r>
              <a:rPr lang="uk" sz="1400">
                <a:solidFill>
                  <a:schemeClr val="dk1"/>
                </a:solidFill>
                <a:highlight>
                  <a:srgbClr val="F5F5FA"/>
                </a:highlight>
                <a:latin typeface="Courier New"/>
                <a:ea typeface="Courier New"/>
                <a:cs typeface="Courier New"/>
                <a:sym typeface="Courier New"/>
              </a:rPr>
              <a:t> </a:t>
            </a:r>
            <a:r>
              <a:rPr lang="uk" sz="1400">
                <a:solidFill>
                  <a:srgbClr val="DB003E"/>
                </a:solidFill>
                <a:highlight>
                  <a:srgbClr val="F5F5FA"/>
                </a:highlight>
                <a:latin typeface="Courier New"/>
                <a:ea typeface="Courier New"/>
                <a:cs typeface="Courier New"/>
                <a:sym typeface="Courier New"/>
              </a:rPr>
              <a:t>"Hello"</a:t>
            </a: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006699"/>
                </a:solidFill>
                <a:highlight>
                  <a:srgbClr val="F5F5FA"/>
                </a:highlight>
                <a:latin typeface="Courier New"/>
                <a:ea typeface="Courier New"/>
                <a:cs typeface="Courier New"/>
                <a:sym typeface="Courier New"/>
              </a:rPr>
              <a:t>void</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PrintMessage(</a:t>
            </a:r>
            <a:r>
              <a:rPr lang="uk" sz="1400">
                <a:solidFill>
                  <a:srgbClr val="006699"/>
                </a:solidFill>
                <a:highlight>
                  <a:srgbClr val="F5F5FA"/>
                </a:highlight>
                <a:latin typeface="Courier New"/>
                <a:ea typeface="Courier New"/>
                <a:cs typeface="Courier New"/>
                <a:sym typeface="Courier New"/>
              </a:rPr>
              <a:t>string</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message)</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Console.WriteLine(message);</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PrintMessage(GetMessage());</a:t>
            </a:r>
            <a:endParaRPr sz="1400">
              <a:solidFill>
                <a:srgbClr val="188038"/>
              </a:solidFill>
              <a:highlight>
                <a:srgbClr val="F5F5FA"/>
              </a:highlight>
              <a:latin typeface="Courier New"/>
              <a:ea typeface="Courier New"/>
              <a:cs typeface="Courier New"/>
              <a:sym typeface="Courier New"/>
            </a:endParaRPr>
          </a:p>
        </p:txBody>
      </p:sp>
      <p:sp>
        <p:nvSpPr>
          <p:cNvPr id="239" name="Google Shape;239;p34"/>
          <p:cNvSpPr txBox="1"/>
          <p:nvPr/>
        </p:nvSpPr>
        <p:spPr>
          <a:xfrm>
            <a:off x="307033" y="4402467"/>
            <a:ext cx="11620000" cy="2398052"/>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pPr>
            <a:r>
              <a:rPr lang="uk" sz="1600">
                <a:solidFill>
                  <a:schemeClr val="dk1"/>
                </a:solidFill>
              </a:rPr>
              <a:t>У виклику спочатку </a:t>
            </a:r>
            <a:r>
              <a:rPr lang="uk" sz="1600">
                <a:solidFill>
                  <a:srgbClr val="188038"/>
                </a:solidFill>
                <a:latin typeface="Roboto Mono"/>
                <a:ea typeface="Roboto Mono"/>
                <a:cs typeface="Roboto Mono"/>
                <a:sym typeface="Roboto Mono"/>
              </a:rPr>
              <a:t>PrintMessage(GetMessage())</a:t>
            </a:r>
            <a:r>
              <a:rPr lang="uk" sz="1600">
                <a:solidFill>
                  <a:schemeClr val="dk1"/>
                </a:solidFill>
              </a:rPr>
              <a:t>викликається метод </a:t>
            </a:r>
            <a:r>
              <a:rPr lang="uk" sz="1600">
                <a:solidFill>
                  <a:srgbClr val="188038"/>
                </a:solidFill>
                <a:latin typeface="Roboto Mono"/>
                <a:ea typeface="Roboto Mono"/>
                <a:cs typeface="Roboto Mono"/>
                <a:sym typeface="Roboto Mono"/>
              </a:rPr>
              <a:t>GetMessage()</a:t>
            </a:r>
            <a:r>
              <a:rPr lang="uk" sz="1600">
                <a:solidFill>
                  <a:schemeClr val="dk1"/>
                </a:solidFill>
              </a:rPr>
              <a:t>і його результат передається параметру message методу PrintMessage</a:t>
            </a:r>
            <a:endParaRPr sz="1600">
              <a:solidFill>
                <a:schemeClr val="dk1"/>
              </a:solidFill>
            </a:endParaRPr>
          </a:p>
          <a:p>
            <a:pPr>
              <a:lnSpc>
                <a:spcPct val="156000"/>
              </a:lnSpc>
              <a:spcBef>
                <a:spcPts val="1600"/>
              </a:spcBef>
              <a:spcAft>
                <a:spcPts val="1600"/>
              </a:spcAft>
            </a:pPr>
            <a:r>
              <a:rPr lang="uk" sz="1600">
                <a:solidFill>
                  <a:schemeClr val="dk1"/>
                </a:solidFill>
              </a:rPr>
              <a:t>Після оператора return можна також вказувати складні вирази або виклики інших методів, які повертають певний результат. Наприклад, визначимо метод, який повертає суму чисел:</a:t>
            </a:r>
            <a:endParaRPr sz="16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5"/>
          <p:cNvSpPr txBox="1"/>
          <p:nvPr/>
        </p:nvSpPr>
        <p:spPr>
          <a:xfrm>
            <a:off x="245567" y="1157633"/>
            <a:ext cx="4000000" cy="3635250"/>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Sum(</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x,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y)</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return</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x + y;</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43181"/>
              </a:lnSpc>
            </a:pP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result = Sum(10, 15);   </a:t>
            </a:r>
            <a:r>
              <a:rPr lang="uk" sz="1400">
                <a:solidFill>
                  <a:srgbClr val="008200"/>
                </a:solidFill>
                <a:highlight>
                  <a:srgbClr val="F5F5FA"/>
                </a:highlight>
                <a:latin typeface="Courier New"/>
                <a:ea typeface="Courier New"/>
                <a:cs typeface="Courier New"/>
                <a:sym typeface="Courier New"/>
              </a:rPr>
              <a:t>// 25</a:t>
            </a:r>
            <a:endParaRPr sz="1400">
              <a:solidFill>
                <a:srgbClr val="008200"/>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Console.WriteLine(result);   </a:t>
            </a:r>
            <a:r>
              <a:rPr lang="uk" sz="1400">
                <a:solidFill>
                  <a:srgbClr val="008200"/>
                </a:solidFill>
                <a:highlight>
                  <a:srgbClr val="F5F5FA"/>
                </a:highlight>
                <a:latin typeface="Courier New"/>
                <a:ea typeface="Courier New"/>
                <a:cs typeface="Courier New"/>
                <a:sym typeface="Courier New"/>
              </a:rPr>
              <a:t>// 25</a:t>
            </a:r>
            <a:endParaRPr sz="1400">
              <a:solidFill>
                <a:srgbClr val="008200"/>
              </a:solidFill>
              <a:highlight>
                <a:srgbClr val="F5F5FA"/>
              </a:highlight>
              <a:latin typeface="Courier New"/>
              <a:ea typeface="Courier New"/>
              <a:cs typeface="Courier New"/>
              <a:sym typeface="Courier New"/>
            </a:endParaRPr>
          </a:p>
          <a:p>
            <a:pPr marL="84665" marR="84665">
              <a:lnSpc>
                <a:spcPct val="143181"/>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Console.WriteLine(Sum(5, 6));   </a:t>
            </a:r>
            <a:r>
              <a:rPr lang="uk" sz="1400">
                <a:solidFill>
                  <a:srgbClr val="008200"/>
                </a:solidFill>
                <a:highlight>
                  <a:srgbClr val="F5F5FA"/>
                </a:highlight>
                <a:latin typeface="Courier New"/>
                <a:ea typeface="Courier New"/>
                <a:cs typeface="Courier New"/>
                <a:sym typeface="Courier New"/>
              </a:rPr>
              <a:t>// 11</a:t>
            </a:r>
            <a:endParaRPr sz="1400">
              <a:solidFill>
                <a:srgbClr val="008200"/>
              </a:solidFill>
              <a:highlight>
                <a:srgbClr val="F5F5FA"/>
              </a:highlight>
              <a:latin typeface="Courier New"/>
              <a:ea typeface="Courier New"/>
              <a:cs typeface="Courier New"/>
              <a:sym typeface="Courier New"/>
            </a:endParaRPr>
          </a:p>
        </p:txBody>
      </p:sp>
      <p:sp>
        <p:nvSpPr>
          <p:cNvPr id="245" name="Google Shape;245;p35"/>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Повернення значення та оператор return</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246" name="Google Shape;246;p35"/>
          <p:cNvSpPr txBox="1"/>
          <p:nvPr/>
        </p:nvSpPr>
        <p:spPr>
          <a:xfrm>
            <a:off x="245567" y="4704834"/>
            <a:ext cx="11707600" cy="1300252"/>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pPr>
            <a:r>
              <a:rPr lang="uk" sz="1600">
                <a:solidFill>
                  <a:schemeClr val="dk1"/>
                </a:solidFill>
              </a:rPr>
              <a:t>Метод </a:t>
            </a:r>
            <a:r>
              <a:rPr lang="uk" sz="1600">
                <a:solidFill>
                  <a:srgbClr val="188038"/>
                </a:solidFill>
                <a:latin typeface="Roboto Mono"/>
                <a:ea typeface="Roboto Mono"/>
                <a:cs typeface="Roboto Mono"/>
                <a:sym typeface="Roboto Mono"/>
              </a:rPr>
              <a:t>Sum()</a:t>
            </a:r>
            <a:r>
              <a:rPr lang="uk" sz="1600">
                <a:solidFill>
                  <a:schemeClr val="dk1"/>
                </a:solidFill>
              </a:rPr>
              <a:t>має тип , отже , </a:t>
            </a:r>
            <a:r>
              <a:rPr lang="uk" sz="1600" b="1">
                <a:solidFill>
                  <a:schemeClr val="dk1"/>
                </a:solidFill>
              </a:rPr>
              <a:t>він</a:t>
            </a:r>
            <a:r>
              <a:rPr lang="uk" sz="1600">
                <a:solidFill>
                  <a:srgbClr val="188038"/>
                </a:solidFill>
                <a:latin typeface="Roboto Mono"/>
                <a:ea typeface="Roboto Mono"/>
                <a:cs typeface="Roboto Mono"/>
                <a:sym typeface="Roboto Mono"/>
              </a:rPr>
              <a:t>int</a:t>
            </a:r>
            <a:r>
              <a:rPr lang="uk" sz="1600">
                <a:solidFill>
                  <a:schemeClr val="dk1"/>
                </a:solidFill>
              </a:rPr>
              <a:t> повинен повернути значення типу int - ціле число.</a:t>
            </a:r>
            <a:endParaRPr sz="1600">
              <a:solidFill>
                <a:schemeClr val="dk1"/>
              </a:solidFill>
            </a:endParaRPr>
          </a:p>
          <a:p>
            <a:pPr>
              <a:lnSpc>
                <a:spcPct val="115000"/>
              </a:lnSpc>
              <a:spcBef>
                <a:spcPts val="1600"/>
              </a:spcBef>
            </a:pPr>
            <a:endParaRPr sz="1467">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6"/>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Скорочена версія методів із результатом</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252" name="Google Shape;252;p36"/>
          <p:cNvSpPr txBox="1"/>
          <p:nvPr/>
        </p:nvSpPr>
        <p:spPr>
          <a:xfrm>
            <a:off x="168133" y="1157634"/>
            <a:ext cx="9917200" cy="1095644"/>
          </a:xfrm>
          <a:prstGeom prst="rect">
            <a:avLst/>
          </a:prstGeom>
          <a:noFill/>
          <a:ln>
            <a:noFill/>
          </a:ln>
        </p:spPr>
        <p:txBody>
          <a:bodyPr spcFirstLastPara="1" wrap="square" lIns="121900" tIns="121900" rIns="121900" bIns="121900" anchor="t" anchorCtr="0">
            <a:spAutoFit/>
          </a:bodyPr>
          <a:lstStyle/>
          <a:p>
            <a:pPr>
              <a:lnSpc>
                <a:spcPct val="115000"/>
              </a:lnSpc>
            </a:pPr>
            <a:r>
              <a:rPr lang="uk" sz="2400"/>
              <a:t>Також ми можемо скорочувати методи, що повертають значення:</a:t>
            </a:r>
            <a:endParaRPr sz="2400"/>
          </a:p>
          <a:p>
            <a:pPr>
              <a:lnSpc>
                <a:spcPct val="115000"/>
              </a:lnSpc>
            </a:pPr>
            <a:endParaRPr sz="2400"/>
          </a:p>
        </p:txBody>
      </p:sp>
      <p:sp>
        <p:nvSpPr>
          <p:cNvPr id="253" name="Google Shape;253;p36"/>
          <p:cNvSpPr txBox="1"/>
          <p:nvPr/>
        </p:nvSpPr>
        <p:spPr>
          <a:xfrm>
            <a:off x="168133" y="1578600"/>
            <a:ext cx="4000000" cy="1237221"/>
          </a:xfrm>
          <a:prstGeom prst="rect">
            <a:avLst/>
          </a:prstGeom>
          <a:noFill/>
          <a:ln>
            <a:noFill/>
          </a:ln>
        </p:spPr>
        <p:txBody>
          <a:bodyPr spcFirstLastPara="1" wrap="square" lIns="121900" tIns="121900" rIns="121900" bIns="121900" anchor="t" anchorCtr="0">
            <a:spAutoFit/>
          </a:bodyPr>
          <a:lstStyle/>
          <a:p>
            <a:pPr marL="84665" marR="84665">
              <a:lnSpc>
                <a:spcPct val="115000"/>
              </a:lnSpc>
            </a:pPr>
            <a:r>
              <a:rPr lang="uk" sz="1400">
                <a:solidFill>
                  <a:srgbClr val="006699"/>
                </a:solidFill>
                <a:highlight>
                  <a:srgbClr val="F5F5FA"/>
                </a:highlight>
                <a:latin typeface="Courier New"/>
                <a:ea typeface="Courier New"/>
                <a:cs typeface="Courier New"/>
                <a:sym typeface="Courier New"/>
              </a:rPr>
              <a:t>string</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GetMessage()</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return</a:t>
            </a:r>
            <a:r>
              <a:rPr lang="uk" sz="1400">
                <a:solidFill>
                  <a:schemeClr val="dk1"/>
                </a:solidFill>
                <a:highlight>
                  <a:srgbClr val="F5F5FA"/>
                </a:highlight>
                <a:latin typeface="Courier New"/>
                <a:ea typeface="Courier New"/>
                <a:cs typeface="Courier New"/>
                <a:sym typeface="Courier New"/>
              </a:rPr>
              <a:t> </a:t>
            </a:r>
            <a:r>
              <a:rPr lang="uk" sz="1400">
                <a:solidFill>
                  <a:srgbClr val="DB003E"/>
                </a:solidFill>
                <a:highlight>
                  <a:srgbClr val="F5F5FA"/>
                </a:highlight>
                <a:latin typeface="Courier New"/>
                <a:ea typeface="Courier New"/>
                <a:cs typeface="Courier New"/>
                <a:sym typeface="Courier New"/>
              </a:rPr>
              <a:t>"hello"</a:t>
            </a: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p:txBody>
      </p:sp>
      <p:sp>
        <p:nvSpPr>
          <p:cNvPr id="254" name="Google Shape;254;p36"/>
          <p:cNvSpPr txBox="1"/>
          <p:nvPr/>
        </p:nvSpPr>
        <p:spPr>
          <a:xfrm>
            <a:off x="168133" y="2783801"/>
            <a:ext cx="4000000" cy="529335"/>
          </a:xfrm>
          <a:prstGeom prst="rect">
            <a:avLst/>
          </a:prstGeom>
          <a:noFill/>
          <a:ln>
            <a:noFill/>
          </a:ln>
        </p:spPr>
        <p:txBody>
          <a:bodyPr spcFirstLastPara="1" wrap="square" lIns="121900" tIns="121900" rIns="121900" bIns="121900" anchor="t" anchorCtr="0">
            <a:spAutoFit/>
          </a:bodyPr>
          <a:lstStyle/>
          <a:p>
            <a:pPr>
              <a:lnSpc>
                <a:spcPct val="115000"/>
              </a:lnSpc>
            </a:pPr>
            <a:r>
              <a:rPr lang="uk" sz="1600">
                <a:solidFill>
                  <a:schemeClr val="dk1"/>
                </a:solidFill>
              </a:rPr>
              <a:t>аналогічний наступному методу:</a:t>
            </a:r>
            <a:endParaRPr sz="1600">
              <a:solidFill>
                <a:schemeClr val="dk1"/>
              </a:solidFill>
            </a:endParaRPr>
          </a:p>
        </p:txBody>
      </p:sp>
      <p:sp>
        <p:nvSpPr>
          <p:cNvPr id="255" name="Google Shape;255;p36"/>
          <p:cNvSpPr txBox="1"/>
          <p:nvPr/>
        </p:nvSpPr>
        <p:spPr>
          <a:xfrm>
            <a:off x="168133" y="3191818"/>
            <a:ext cx="4000000" cy="1095644"/>
          </a:xfrm>
          <a:prstGeom prst="rect">
            <a:avLst/>
          </a:prstGeom>
          <a:noFill/>
          <a:ln>
            <a:noFill/>
          </a:ln>
        </p:spPr>
        <p:txBody>
          <a:bodyPr spcFirstLastPara="1" wrap="square" lIns="121900" tIns="121900" rIns="121900" bIns="121900" anchor="t" anchorCtr="0">
            <a:spAutoFit/>
          </a:bodyPr>
          <a:lstStyle/>
          <a:p>
            <a:pPr>
              <a:lnSpc>
                <a:spcPct val="115000"/>
              </a:lnSpc>
            </a:pPr>
            <a:r>
              <a:rPr lang="uk" sz="2400"/>
              <a:t>string GetMessage() =&gt; "hello";</a:t>
            </a:r>
            <a:endParaRPr sz="2400"/>
          </a:p>
        </p:txBody>
      </p:sp>
      <p:sp>
        <p:nvSpPr>
          <p:cNvPr id="256" name="Google Shape;256;p36"/>
          <p:cNvSpPr txBox="1"/>
          <p:nvPr/>
        </p:nvSpPr>
        <p:spPr>
          <a:xfrm>
            <a:off x="168133" y="3725433"/>
            <a:ext cx="3956000" cy="529335"/>
          </a:xfrm>
          <a:prstGeom prst="rect">
            <a:avLst/>
          </a:prstGeom>
          <a:noFill/>
          <a:ln>
            <a:noFill/>
          </a:ln>
        </p:spPr>
        <p:txBody>
          <a:bodyPr spcFirstLastPara="1" wrap="square" lIns="121900" tIns="121900" rIns="121900" bIns="121900" anchor="t" anchorCtr="0">
            <a:spAutoFit/>
          </a:bodyPr>
          <a:lstStyle/>
          <a:p>
            <a:pPr>
              <a:lnSpc>
                <a:spcPct val="115000"/>
              </a:lnSpc>
            </a:pPr>
            <a:r>
              <a:rPr lang="uk" sz="1600">
                <a:solidFill>
                  <a:schemeClr val="dk1"/>
                </a:solidFill>
                <a:highlight>
                  <a:srgbClr val="F7F7FA"/>
                </a:highlight>
              </a:rPr>
              <a:t>А метод</a:t>
            </a:r>
            <a:endParaRPr sz="2400"/>
          </a:p>
        </p:txBody>
      </p:sp>
      <p:sp>
        <p:nvSpPr>
          <p:cNvPr id="257" name="Google Shape;257;p36"/>
          <p:cNvSpPr txBox="1"/>
          <p:nvPr/>
        </p:nvSpPr>
        <p:spPr>
          <a:xfrm>
            <a:off x="168133" y="4217833"/>
            <a:ext cx="4000000" cy="1237221"/>
          </a:xfrm>
          <a:prstGeom prst="rect">
            <a:avLst/>
          </a:prstGeom>
          <a:noFill/>
          <a:ln>
            <a:noFill/>
          </a:ln>
        </p:spPr>
        <p:txBody>
          <a:bodyPr spcFirstLastPara="1" wrap="square" lIns="121900" tIns="121900" rIns="121900" bIns="121900" anchor="t" anchorCtr="0">
            <a:spAutoFit/>
          </a:bodyPr>
          <a:lstStyle/>
          <a:p>
            <a:pPr marL="84665" marR="84665">
              <a:lnSpc>
                <a:spcPct val="115000"/>
              </a:lnSpc>
            </a:pP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Sum(</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x,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y)</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return</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x + y;</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p:txBody>
      </p:sp>
      <p:sp>
        <p:nvSpPr>
          <p:cNvPr id="258" name="Google Shape;258;p36"/>
          <p:cNvSpPr txBox="1"/>
          <p:nvPr/>
        </p:nvSpPr>
        <p:spPr>
          <a:xfrm>
            <a:off x="168133" y="5423033"/>
            <a:ext cx="4000000" cy="492402"/>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rPr>
              <a:t>аналогічний наступному методу:</a:t>
            </a:r>
            <a:endParaRPr sz="2400"/>
          </a:p>
        </p:txBody>
      </p:sp>
      <p:sp>
        <p:nvSpPr>
          <p:cNvPr id="259" name="Google Shape;259;p36"/>
          <p:cNvSpPr txBox="1"/>
          <p:nvPr/>
        </p:nvSpPr>
        <p:spPr>
          <a:xfrm>
            <a:off x="168133" y="5921634"/>
            <a:ext cx="4000000" cy="615513"/>
          </a:xfrm>
          <a:prstGeom prst="rect">
            <a:avLst/>
          </a:prstGeom>
          <a:noFill/>
          <a:ln>
            <a:noFill/>
          </a:ln>
        </p:spPr>
        <p:txBody>
          <a:bodyPr spcFirstLastPara="1" wrap="square" lIns="121900" tIns="121900" rIns="121900" bIns="121900" anchor="t" anchorCtr="0">
            <a:spAutoFit/>
          </a:bodyPr>
          <a:lstStyle/>
          <a:p>
            <a:r>
              <a:rPr lang="uk" sz="2400"/>
              <a:t>int Sum(int x, int y) =&gt; x + y;</a:t>
            </a:r>
            <a:endParaRPr sz="2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7"/>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Вихід із методу</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265" name="Google Shape;265;p37"/>
          <p:cNvSpPr txBox="1"/>
          <p:nvPr/>
        </p:nvSpPr>
        <p:spPr>
          <a:xfrm>
            <a:off x="122767" y="1087467"/>
            <a:ext cx="11830400" cy="529335"/>
          </a:xfrm>
          <a:prstGeom prst="rect">
            <a:avLst/>
          </a:prstGeom>
          <a:noFill/>
          <a:ln>
            <a:noFill/>
          </a:ln>
        </p:spPr>
        <p:txBody>
          <a:bodyPr spcFirstLastPara="1" wrap="square" lIns="121900" tIns="121900" rIns="121900" bIns="121900" anchor="t" anchorCtr="0">
            <a:spAutoFit/>
          </a:bodyPr>
          <a:lstStyle/>
          <a:p>
            <a:pPr>
              <a:lnSpc>
                <a:spcPct val="115000"/>
              </a:lnSpc>
            </a:pPr>
            <a:r>
              <a:rPr lang="uk" sz="1600">
                <a:solidFill>
                  <a:schemeClr val="dk1"/>
                </a:solidFill>
              </a:rPr>
              <a:t>Оператор return як повертає значення, а й виробляє вихід із методу. Тому він має визначатися після решти інструкцій. Наприклад:</a:t>
            </a:r>
            <a:endParaRPr sz="1600">
              <a:solidFill>
                <a:schemeClr val="dk1"/>
              </a:solidFill>
            </a:endParaRPr>
          </a:p>
        </p:txBody>
      </p:sp>
      <p:sp>
        <p:nvSpPr>
          <p:cNvPr id="266" name="Google Shape;266;p37"/>
          <p:cNvSpPr txBox="1"/>
          <p:nvPr/>
        </p:nvSpPr>
        <p:spPr>
          <a:xfrm>
            <a:off x="219233" y="1863067"/>
            <a:ext cx="6682800" cy="1786667"/>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highlight>
                  <a:srgbClr val="F5F5FA"/>
                </a:highlight>
                <a:latin typeface="Courier New"/>
                <a:ea typeface="Courier New"/>
                <a:cs typeface="Courier New"/>
                <a:sym typeface="Courier New"/>
              </a:rPr>
              <a:t>string</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GetHello()</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return</a:t>
            </a:r>
            <a:r>
              <a:rPr lang="uk" sz="1400">
                <a:solidFill>
                  <a:schemeClr val="dk1"/>
                </a:solidFill>
                <a:highlight>
                  <a:srgbClr val="F5F5FA"/>
                </a:highlight>
                <a:latin typeface="Courier New"/>
                <a:ea typeface="Courier New"/>
                <a:cs typeface="Courier New"/>
                <a:sym typeface="Courier New"/>
              </a:rPr>
              <a:t> </a:t>
            </a:r>
            <a:r>
              <a:rPr lang="uk" sz="1400">
                <a:solidFill>
                  <a:srgbClr val="DB003E"/>
                </a:solidFill>
                <a:highlight>
                  <a:srgbClr val="F5F5FA"/>
                </a:highlight>
                <a:latin typeface="Courier New"/>
                <a:ea typeface="Courier New"/>
                <a:cs typeface="Courier New"/>
                <a:sym typeface="Courier New"/>
              </a:rPr>
              <a:t>"Hello"</a:t>
            </a: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Console.WriteLine(</a:t>
            </a:r>
            <a:r>
              <a:rPr lang="uk" sz="1400">
                <a:solidFill>
                  <a:srgbClr val="DB003E"/>
                </a:solidFill>
                <a:highlight>
                  <a:srgbClr val="F5F5FA"/>
                </a:highlight>
                <a:latin typeface="Courier New"/>
                <a:ea typeface="Courier New"/>
                <a:cs typeface="Courier New"/>
                <a:sym typeface="Courier New"/>
              </a:rPr>
              <a:t>"After return"</a:t>
            </a: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p:txBody>
      </p:sp>
      <p:sp>
        <p:nvSpPr>
          <p:cNvPr id="267" name="Google Shape;267;p37"/>
          <p:cNvSpPr txBox="1"/>
          <p:nvPr/>
        </p:nvSpPr>
        <p:spPr>
          <a:xfrm>
            <a:off x="145600" y="3559067"/>
            <a:ext cx="11900800" cy="2782131"/>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pPr>
            <a:r>
              <a:rPr lang="uk" sz="1600">
                <a:solidFill>
                  <a:schemeClr val="dk1"/>
                </a:solidFill>
              </a:rPr>
              <a:t>З погляду синтаксису даний метод коректний, проте його інструкція </a:t>
            </a:r>
            <a:r>
              <a:rPr lang="uk" sz="1600">
                <a:solidFill>
                  <a:srgbClr val="188038"/>
                </a:solidFill>
                <a:latin typeface="Roboto Mono"/>
                <a:ea typeface="Roboto Mono"/>
                <a:cs typeface="Roboto Mono"/>
                <a:sym typeface="Roboto Mono"/>
              </a:rPr>
              <a:t>Console.WriteLine("After return")</a:t>
            </a:r>
            <a:r>
              <a:rPr lang="uk" sz="1600">
                <a:solidFill>
                  <a:schemeClr val="dk1"/>
                </a:solidFill>
              </a:rPr>
              <a:t>не має сенсу - вона ніколи не виконається, тому що до її виконання оператор </a:t>
            </a:r>
            <a:r>
              <a:rPr lang="uk" sz="1600" b="1">
                <a:solidFill>
                  <a:schemeClr val="dk1"/>
                </a:solidFill>
              </a:rPr>
              <a:t>return</a:t>
            </a:r>
            <a:r>
              <a:rPr lang="uk" sz="1600">
                <a:solidFill>
                  <a:schemeClr val="dk1"/>
                </a:solidFill>
              </a:rPr>
              <a:t> поверне значення та здійснить вихід із методу.</a:t>
            </a:r>
            <a:endParaRPr sz="1600">
              <a:solidFill>
                <a:schemeClr val="dk1"/>
              </a:solidFill>
            </a:endParaRPr>
          </a:p>
          <a:p>
            <a:pPr>
              <a:lnSpc>
                <a:spcPct val="156000"/>
              </a:lnSpc>
              <a:spcBef>
                <a:spcPts val="1600"/>
              </a:spcBef>
              <a:spcAft>
                <a:spcPts val="1600"/>
              </a:spcAft>
            </a:pPr>
            <a:r>
              <a:rPr lang="uk" sz="1600">
                <a:solidFill>
                  <a:schemeClr val="dk1"/>
                </a:solidFill>
              </a:rPr>
              <a:t>Однак ми можемо використовувати оператор </a:t>
            </a:r>
            <a:r>
              <a:rPr lang="uk" sz="1600" b="1">
                <a:solidFill>
                  <a:schemeClr val="dk1"/>
                </a:solidFill>
              </a:rPr>
              <a:t>return</a:t>
            </a:r>
            <a:r>
              <a:rPr lang="uk" sz="1600">
                <a:solidFill>
                  <a:schemeClr val="dk1"/>
                </a:solidFill>
              </a:rPr>
              <a:t> і в методах типу </a:t>
            </a:r>
            <a:r>
              <a:rPr lang="uk" sz="1600">
                <a:solidFill>
                  <a:srgbClr val="188038"/>
                </a:solidFill>
                <a:latin typeface="Roboto Mono"/>
                <a:ea typeface="Roboto Mono"/>
                <a:cs typeface="Roboto Mono"/>
                <a:sym typeface="Roboto Mono"/>
              </a:rPr>
              <a:t>void</a:t>
            </a:r>
            <a:r>
              <a:rPr lang="uk" sz="1600">
                <a:solidFill>
                  <a:schemeClr val="dk1"/>
                </a:solidFill>
              </a:rPr>
              <a:t>. У цьому випадку після оператора return не ставиться ніякого значення, що повертається (адже метод нічого не повертає). Типова ситуація - залежно від випереджених умов зробити вихід із методу:</a:t>
            </a:r>
            <a:endParaRPr sz="16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8"/>
          <p:cNvSpPr txBox="1"/>
          <p:nvPr/>
        </p:nvSpPr>
        <p:spPr>
          <a:xfrm>
            <a:off x="0" y="1008500"/>
            <a:ext cx="11190400" cy="3943347"/>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highlight>
                  <a:srgbClr val="F5F5FA"/>
                </a:highlight>
                <a:latin typeface="Courier New"/>
                <a:ea typeface="Courier New"/>
                <a:cs typeface="Courier New"/>
                <a:sym typeface="Courier New"/>
              </a:rPr>
              <a:t>void</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PrintPerson(</a:t>
            </a:r>
            <a:r>
              <a:rPr lang="uk" sz="1400">
                <a:solidFill>
                  <a:srgbClr val="006699"/>
                </a:solidFill>
                <a:highlight>
                  <a:srgbClr val="F5F5FA"/>
                </a:highlight>
                <a:latin typeface="Courier New"/>
                <a:ea typeface="Courier New"/>
                <a:cs typeface="Courier New"/>
                <a:sym typeface="Courier New"/>
              </a:rPr>
              <a:t>string</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name,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age)</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if</a:t>
            </a:r>
            <a:r>
              <a:rPr lang="uk" sz="1400">
                <a:solidFill>
                  <a:srgbClr val="188038"/>
                </a:solidFill>
                <a:highlight>
                  <a:srgbClr val="F5F5FA"/>
                </a:highlight>
                <a:latin typeface="Courier New"/>
                <a:ea typeface="Courier New"/>
                <a:cs typeface="Courier New"/>
                <a:sym typeface="Courier New"/>
              </a:rPr>
              <a:t>(age &gt; 120 || age &lt; 1)</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Console.WriteLine(</a:t>
            </a:r>
            <a:r>
              <a:rPr lang="uk" sz="1400">
                <a:solidFill>
                  <a:srgbClr val="DB003E"/>
                </a:solidFill>
                <a:highlight>
                  <a:srgbClr val="F5F5FA"/>
                </a:highlight>
                <a:latin typeface="Courier New"/>
                <a:ea typeface="Courier New"/>
                <a:cs typeface="Courier New"/>
                <a:sym typeface="Courier New"/>
              </a:rPr>
              <a:t>"Недопустимый возраст"</a:t>
            </a: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return</a:t>
            </a: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Console.WriteLine($</a:t>
            </a:r>
            <a:r>
              <a:rPr lang="uk" sz="1400">
                <a:solidFill>
                  <a:srgbClr val="DB003E"/>
                </a:solidFill>
                <a:highlight>
                  <a:srgbClr val="F5F5FA"/>
                </a:highlight>
                <a:latin typeface="Courier New"/>
                <a:ea typeface="Courier New"/>
                <a:cs typeface="Courier New"/>
                <a:sym typeface="Courier New"/>
              </a:rPr>
              <a:t>"Имя: {name}  Возраст: {age}"</a:t>
            </a: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PrintPerson(</a:t>
            </a:r>
            <a:r>
              <a:rPr lang="uk" sz="1400">
                <a:solidFill>
                  <a:srgbClr val="DB003E"/>
                </a:solidFill>
                <a:highlight>
                  <a:srgbClr val="F5F5FA"/>
                </a:highlight>
                <a:latin typeface="Courier New"/>
                <a:ea typeface="Courier New"/>
                <a:cs typeface="Courier New"/>
                <a:sym typeface="Courier New"/>
              </a:rPr>
              <a:t>"Tom"</a:t>
            </a:r>
            <a:r>
              <a:rPr lang="uk" sz="1400">
                <a:solidFill>
                  <a:srgbClr val="188038"/>
                </a:solidFill>
                <a:highlight>
                  <a:srgbClr val="F5F5FA"/>
                </a:highlight>
                <a:latin typeface="Courier New"/>
                <a:ea typeface="Courier New"/>
                <a:cs typeface="Courier New"/>
                <a:sym typeface="Courier New"/>
              </a:rPr>
              <a:t>, 37);     	</a:t>
            </a:r>
            <a:r>
              <a:rPr lang="uk" sz="1400">
                <a:solidFill>
                  <a:srgbClr val="008200"/>
                </a:solidFill>
                <a:highlight>
                  <a:srgbClr val="F5F5FA"/>
                </a:highlight>
                <a:latin typeface="Courier New"/>
                <a:ea typeface="Courier New"/>
                <a:cs typeface="Courier New"/>
                <a:sym typeface="Courier New"/>
              </a:rPr>
              <a:t>// Имя: Tom  Возраст: 37</a:t>
            </a:r>
            <a:endParaRPr sz="1400">
              <a:solidFill>
                <a:srgbClr val="008200"/>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PrintPerson(</a:t>
            </a:r>
            <a:r>
              <a:rPr lang="uk" sz="1400">
                <a:solidFill>
                  <a:srgbClr val="DB003E"/>
                </a:solidFill>
                <a:highlight>
                  <a:srgbClr val="F5F5FA"/>
                </a:highlight>
                <a:latin typeface="Courier New"/>
                <a:ea typeface="Courier New"/>
                <a:cs typeface="Courier New"/>
                <a:sym typeface="Courier New"/>
              </a:rPr>
              <a:t>"Dunkan"</a:t>
            </a:r>
            <a:r>
              <a:rPr lang="uk" sz="1400">
                <a:solidFill>
                  <a:srgbClr val="188038"/>
                </a:solidFill>
                <a:highlight>
                  <a:srgbClr val="F5F5FA"/>
                </a:highlight>
                <a:latin typeface="Courier New"/>
                <a:ea typeface="Courier New"/>
                <a:cs typeface="Courier New"/>
                <a:sym typeface="Courier New"/>
              </a:rPr>
              <a:t>, 1234);	</a:t>
            </a:r>
            <a:r>
              <a:rPr lang="uk" sz="1400">
                <a:solidFill>
                  <a:srgbClr val="008200"/>
                </a:solidFill>
                <a:highlight>
                  <a:srgbClr val="F5F5FA"/>
                </a:highlight>
                <a:latin typeface="Courier New"/>
                <a:ea typeface="Courier New"/>
                <a:cs typeface="Courier New"/>
                <a:sym typeface="Courier New"/>
              </a:rPr>
              <a:t>// Недопустимый возраст</a:t>
            </a:r>
            <a:endParaRPr sz="1400">
              <a:solidFill>
                <a:srgbClr val="008200"/>
              </a:solidFill>
              <a:highlight>
                <a:srgbClr val="F5F5FA"/>
              </a:highlight>
              <a:latin typeface="Courier New"/>
              <a:ea typeface="Courier New"/>
              <a:cs typeface="Courier New"/>
              <a:sym typeface="Courier New"/>
            </a:endParaRPr>
          </a:p>
        </p:txBody>
      </p:sp>
      <p:sp>
        <p:nvSpPr>
          <p:cNvPr id="273" name="Google Shape;273;p38"/>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Вихід із методу</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274" name="Google Shape;274;p38"/>
          <p:cNvSpPr txBox="1"/>
          <p:nvPr/>
        </p:nvSpPr>
        <p:spPr>
          <a:xfrm>
            <a:off x="0" y="4864100"/>
            <a:ext cx="12192000" cy="2398052"/>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pPr>
            <a:r>
              <a:rPr lang="uk" sz="1600">
                <a:solidFill>
                  <a:schemeClr val="dk1"/>
                </a:solidFill>
              </a:rPr>
              <a:t>Тут метод </a:t>
            </a:r>
            <a:r>
              <a:rPr lang="uk" sz="1600">
                <a:solidFill>
                  <a:srgbClr val="188038"/>
                </a:solidFill>
                <a:latin typeface="Roboto Mono"/>
                <a:ea typeface="Roboto Mono"/>
                <a:cs typeface="Roboto Mono"/>
                <a:sym typeface="Roboto Mono"/>
              </a:rPr>
              <a:t>PrintPerson()</a:t>
            </a:r>
            <a:r>
              <a:rPr lang="uk" sz="1600">
                <a:solidFill>
                  <a:schemeClr val="dk1"/>
                </a:solidFill>
              </a:rPr>
              <a:t>як параметри приймає ім'я та вік користувача. Однак у методі спочатку ми перевіряємо, чи вік відповідає деякому діапазону (менше 120 і більше 0). Якщо вік знаходиться поза цим діапазоном, то виводимо повідомлення про неприпустимий вік і за допомогою оператора </a:t>
            </a:r>
            <a:r>
              <a:rPr lang="uk" sz="1600" b="1">
                <a:solidFill>
                  <a:schemeClr val="dk1"/>
                </a:solidFill>
              </a:rPr>
              <a:t>return</a:t>
            </a:r>
            <a:r>
              <a:rPr lang="uk" sz="1600">
                <a:solidFill>
                  <a:schemeClr val="dk1"/>
                </a:solidFill>
              </a:rPr>
              <a:t> виходимо з методу. Після цього метод закінчує свою роботу.</a:t>
            </a:r>
            <a:endParaRPr sz="1600">
              <a:solidFill>
                <a:schemeClr val="dk1"/>
              </a:solidFill>
            </a:endParaRPr>
          </a:p>
          <a:p>
            <a:pPr>
              <a:lnSpc>
                <a:spcPct val="156000"/>
              </a:lnSpc>
              <a:spcBef>
                <a:spcPts val="1600"/>
              </a:spcBef>
              <a:spcAft>
                <a:spcPts val="1600"/>
              </a:spcAft>
            </a:pPr>
            <a:r>
              <a:rPr lang="uk" sz="1600">
                <a:solidFill>
                  <a:schemeClr val="dk1"/>
                </a:solidFill>
              </a:rPr>
              <a:t>Однак якщо вік коректний, виводимо інформацію про користувача на консоль. </a:t>
            </a:r>
            <a:endParaRPr sz="16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9"/>
          <p:cNvSpPr txBox="1"/>
          <p:nvPr/>
        </p:nvSpPr>
        <p:spPr>
          <a:xfrm>
            <a:off x="168133" y="211967"/>
            <a:ext cx="11785200" cy="984845"/>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Передача параметрів за значенням</a:t>
            </a:r>
            <a:endParaRPr sz="4800" b="1">
              <a:solidFill>
                <a:schemeClr val="dk1"/>
              </a:solidFill>
              <a:latin typeface="Times New Roman"/>
              <a:ea typeface="Times New Roman"/>
              <a:cs typeface="Times New Roman"/>
              <a:sym typeface="Times New Roman"/>
            </a:endParaRPr>
          </a:p>
        </p:txBody>
      </p:sp>
      <p:sp>
        <p:nvSpPr>
          <p:cNvPr id="280" name="Google Shape;280;p39"/>
          <p:cNvSpPr txBox="1"/>
          <p:nvPr/>
        </p:nvSpPr>
        <p:spPr>
          <a:xfrm>
            <a:off x="203400" y="1121168"/>
            <a:ext cx="11785200" cy="1482481"/>
          </a:xfrm>
          <a:prstGeom prst="rect">
            <a:avLst/>
          </a:prstGeom>
          <a:noFill/>
          <a:ln>
            <a:noFill/>
          </a:ln>
        </p:spPr>
        <p:txBody>
          <a:bodyPr spcFirstLastPara="1" wrap="square" lIns="121900" tIns="121900" rIns="121900" bIns="121900" anchor="t" anchorCtr="0">
            <a:spAutoFit/>
          </a:bodyPr>
          <a:lstStyle/>
          <a:p>
            <a:pPr>
              <a:lnSpc>
                <a:spcPct val="115000"/>
              </a:lnSpc>
              <a:spcBef>
                <a:spcPts val="1600"/>
              </a:spcBef>
            </a:pPr>
            <a:r>
              <a:rPr lang="uk" sz="1600">
                <a:solidFill>
                  <a:schemeClr val="dk1"/>
                </a:solidFill>
                <a:latin typeface="Times New Roman"/>
                <a:ea typeface="Times New Roman"/>
                <a:cs typeface="Times New Roman"/>
                <a:sym typeface="Times New Roman"/>
              </a:rPr>
              <a:t>Існує два способи передачі параметрів метод у мові C#: </a:t>
            </a:r>
            <a:r>
              <a:rPr lang="uk" sz="1600" b="1">
                <a:solidFill>
                  <a:schemeClr val="dk1"/>
                </a:solidFill>
                <a:latin typeface="Times New Roman"/>
                <a:ea typeface="Times New Roman"/>
                <a:cs typeface="Times New Roman"/>
                <a:sym typeface="Times New Roman"/>
              </a:rPr>
              <a:t>за значенням</a:t>
            </a:r>
            <a:r>
              <a:rPr lang="uk" sz="1600">
                <a:solidFill>
                  <a:schemeClr val="dk1"/>
                </a:solidFill>
                <a:latin typeface="Times New Roman"/>
                <a:ea typeface="Times New Roman"/>
                <a:cs typeface="Times New Roman"/>
                <a:sym typeface="Times New Roman"/>
              </a:rPr>
              <a:t> і </a:t>
            </a:r>
            <a:r>
              <a:rPr lang="uk" sz="1600" b="1">
                <a:solidFill>
                  <a:schemeClr val="dk1"/>
                </a:solidFill>
                <a:latin typeface="Times New Roman"/>
                <a:ea typeface="Times New Roman"/>
                <a:cs typeface="Times New Roman"/>
                <a:sym typeface="Times New Roman"/>
              </a:rPr>
              <a:t>за посиланням</a:t>
            </a:r>
            <a:r>
              <a:rPr lang="uk" sz="1600">
                <a:solidFill>
                  <a:schemeClr val="dk1"/>
                </a:solidFill>
                <a:latin typeface="Times New Roman"/>
                <a:ea typeface="Times New Roman"/>
                <a:cs typeface="Times New Roman"/>
                <a:sym typeface="Times New Roman"/>
              </a:rPr>
              <a:t> . </a:t>
            </a:r>
            <a:r>
              <a:rPr lang="uk" sz="1600">
                <a:solidFill>
                  <a:schemeClr val="dk1"/>
                </a:solidFill>
              </a:rPr>
              <a:t>Найбільш простий спосіб передачі параметрів представляє передача за значенням, по суті, це звичайний спосіб передачі параметрів:</a:t>
            </a:r>
            <a:endParaRPr sz="1600">
              <a:solidFill>
                <a:schemeClr val="dk1"/>
              </a:solidFill>
              <a:latin typeface="Times New Roman"/>
              <a:ea typeface="Times New Roman"/>
              <a:cs typeface="Times New Roman"/>
              <a:sym typeface="Times New Roman"/>
            </a:endParaRPr>
          </a:p>
          <a:p>
            <a:pPr>
              <a:lnSpc>
                <a:spcPct val="115000"/>
              </a:lnSpc>
              <a:spcBef>
                <a:spcPts val="1600"/>
              </a:spcBef>
            </a:pPr>
            <a:endParaRPr sz="1467">
              <a:solidFill>
                <a:schemeClr val="dk1"/>
              </a:solidFill>
              <a:latin typeface="Times New Roman"/>
              <a:ea typeface="Times New Roman"/>
              <a:cs typeface="Times New Roman"/>
              <a:sym typeface="Times New Roman"/>
            </a:endParaRPr>
          </a:p>
        </p:txBody>
      </p:sp>
      <p:sp>
        <p:nvSpPr>
          <p:cNvPr id="281" name="Google Shape;281;p39"/>
          <p:cNvSpPr txBox="1"/>
          <p:nvPr/>
        </p:nvSpPr>
        <p:spPr>
          <a:xfrm>
            <a:off x="168133" y="1708768"/>
            <a:ext cx="9927600" cy="2723782"/>
          </a:xfrm>
          <a:prstGeom prst="rect">
            <a:avLst/>
          </a:prstGeom>
          <a:noFill/>
          <a:ln>
            <a:noFill/>
          </a:ln>
        </p:spPr>
        <p:txBody>
          <a:bodyPr spcFirstLastPara="1" wrap="square" lIns="121900" tIns="121900" rIns="121900" bIns="121900" anchor="t" anchorCtr="0">
            <a:spAutoFit/>
          </a:bodyPr>
          <a:lstStyle/>
          <a:p>
            <a:pPr marL="84665" marR="84665">
              <a:lnSpc>
                <a:spcPct val="115000"/>
              </a:lnSpc>
            </a:pPr>
            <a:r>
              <a:rPr lang="uk" sz="1400">
                <a:solidFill>
                  <a:srgbClr val="006699"/>
                </a:solidFill>
                <a:latin typeface="Courier New"/>
                <a:ea typeface="Courier New"/>
                <a:cs typeface="Courier New"/>
                <a:sym typeface="Courier New"/>
              </a:rPr>
              <a:t>void</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Increment(</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n)</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    n++;</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    Console.WriteLine($</a:t>
            </a:r>
            <a:r>
              <a:rPr lang="uk" sz="1400">
                <a:solidFill>
                  <a:srgbClr val="DB003E"/>
                </a:solidFill>
                <a:latin typeface="Courier New"/>
                <a:ea typeface="Courier New"/>
                <a:cs typeface="Courier New"/>
                <a:sym typeface="Courier New"/>
              </a:rPr>
              <a:t>"Число в методе Increment: {n}"</a:t>
            </a: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chemeClr val="dk1"/>
                </a:solidFill>
                <a:latin typeface="Courier New"/>
                <a:ea typeface="Courier New"/>
                <a:cs typeface="Courier New"/>
                <a:sym typeface="Courier New"/>
              </a:rPr>
              <a:t> </a:t>
            </a:r>
            <a:endParaRPr sz="1400">
              <a:solidFill>
                <a:schemeClr val="dk1"/>
              </a:solidFill>
              <a:latin typeface="Courier New"/>
              <a:ea typeface="Courier New"/>
              <a:cs typeface="Courier New"/>
              <a:sym typeface="Courier New"/>
            </a:endParaRPr>
          </a:p>
          <a:p>
            <a:pPr marL="84665" marR="84665">
              <a:lnSpc>
                <a:spcPct val="115000"/>
              </a:lnSpc>
            </a:pP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number = 5;</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Console.WriteLine($</a:t>
            </a:r>
            <a:r>
              <a:rPr lang="uk" sz="1400">
                <a:solidFill>
                  <a:srgbClr val="DB003E"/>
                </a:solidFill>
                <a:latin typeface="Courier New"/>
                <a:ea typeface="Courier New"/>
                <a:cs typeface="Courier New"/>
                <a:sym typeface="Courier New"/>
              </a:rPr>
              <a:t>"Число до метода Increment: {number}"</a:t>
            </a: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Increment(number);</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Console.WriteLine($</a:t>
            </a:r>
            <a:r>
              <a:rPr lang="uk" sz="1400">
                <a:solidFill>
                  <a:srgbClr val="DB003E"/>
                </a:solidFill>
                <a:latin typeface="Courier New"/>
                <a:ea typeface="Courier New"/>
                <a:cs typeface="Courier New"/>
                <a:sym typeface="Courier New"/>
              </a:rPr>
              <a:t>"Число после метода Increment: {number}"</a:t>
            </a: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p:txBody>
      </p:sp>
      <p:sp>
        <p:nvSpPr>
          <p:cNvPr id="282" name="Google Shape;282;p39"/>
          <p:cNvSpPr txBox="1"/>
          <p:nvPr/>
        </p:nvSpPr>
        <p:spPr>
          <a:xfrm>
            <a:off x="168133" y="4400768"/>
            <a:ext cx="11820400" cy="2277506"/>
          </a:xfrm>
          <a:prstGeom prst="rect">
            <a:avLst/>
          </a:prstGeom>
          <a:noFill/>
          <a:ln>
            <a:noFill/>
          </a:ln>
        </p:spPr>
        <p:txBody>
          <a:bodyPr spcFirstLastPara="1" wrap="square" lIns="121900" tIns="121900" rIns="121900" bIns="121900" anchor="t" anchorCtr="0">
            <a:spAutoFit/>
          </a:bodyPr>
          <a:lstStyle/>
          <a:p>
            <a:pPr>
              <a:lnSpc>
                <a:spcPct val="115000"/>
              </a:lnSpc>
              <a:spcBef>
                <a:spcPts val="1600"/>
              </a:spcBef>
            </a:pPr>
            <a:r>
              <a:rPr lang="uk" sz="1600">
                <a:solidFill>
                  <a:schemeClr val="dk1"/>
                </a:solidFill>
              </a:rPr>
              <a:t>При передачі аргументів параметрам за значенням параметр методу отримує саму змінну, та її копію і далі працює із цією копією незалежно від самої змінної.</a:t>
            </a:r>
            <a:endParaRPr sz="1600">
              <a:solidFill>
                <a:schemeClr val="dk1"/>
              </a:solidFill>
            </a:endParaRPr>
          </a:p>
          <a:p>
            <a:pPr>
              <a:lnSpc>
                <a:spcPct val="115000"/>
              </a:lnSpc>
              <a:spcBef>
                <a:spcPts val="1600"/>
              </a:spcBef>
              <a:spcAft>
                <a:spcPts val="1600"/>
              </a:spcAft>
            </a:pPr>
            <a:r>
              <a:rPr lang="uk" sz="1600">
                <a:solidFill>
                  <a:schemeClr val="dk1"/>
                </a:solidFill>
              </a:rPr>
              <a:t>Так, вище за виклик метод Increment отримує копію змінної number і збільшує значення цієї копії. Тому в самому методі Increment бачимо, що значення параметра n збільшилося на 1, але після виконання методу змінна number має колишнє значення - 5. Тобто змінюється копія, а сама змінна не змінюється.</a:t>
            </a:r>
            <a:endParaRPr sz="16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40"/>
          <p:cNvSpPr txBox="1"/>
          <p:nvPr/>
        </p:nvSpPr>
        <p:spPr>
          <a:xfrm>
            <a:off x="168133" y="211968"/>
            <a:ext cx="11785200" cy="2462172"/>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Передача параметрів за посиланням та модифікатор ref</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288" name="Google Shape;288;p40"/>
          <p:cNvSpPr txBox="1"/>
          <p:nvPr/>
        </p:nvSpPr>
        <p:spPr>
          <a:xfrm>
            <a:off x="168133" y="1850434"/>
            <a:ext cx="11785200" cy="104062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spcAft>
                <a:spcPts val="1600"/>
              </a:spcAft>
            </a:pPr>
            <a:r>
              <a:rPr lang="uk" sz="1600">
                <a:solidFill>
                  <a:schemeClr val="dk1"/>
                </a:solidFill>
              </a:rPr>
              <a:t>При надсиланні параметрів за посиланням перед параметрами використовується модифікатор </a:t>
            </a:r>
            <a:r>
              <a:rPr lang="uk" sz="1600" b="1">
                <a:solidFill>
                  <a:schemeClr val="dk1"/>
                </a:solidFill>
              </a:rPr>
              <a:t>ref</a:t>
            </a:r>
            <a:r>
              <a:rPr lang="uk" sz="1600">
                <a:solidFill>
                  <a:schemeClr val="dk1"/>
                </a:solidFill>
              </a:rPr>
              <a:t> :</a:t>
            </a:r>
            <a:endParaRPr sz="1600">
              <a:solidFill>
                <a:schemeClr val="dk1"/>
              </a:solidFill>
            </a:endParaRPr>
          </a:p>
        </p:txBody>
      </p:sp>
      <p:sp>
        <p:nvSpPr>
          <p:cNvPr id="289" name="Google Shape;289;p40"/>
          <p:cNvSpPr txBox="1"/>
          <p:nvPr/>
        </p:nvSpPr>
        <p:spPr>
          <a:xfrm>
            <a:off x="168133" y="2087234"/>
            <a:ext cx="11785200" cy="3327152"/>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latin typeface="Courier New"/>
                <a:ea typeface="Courier New"/>
                <a:cs typeface="Courier New"/>
                <a:sym typeface="Courier New"/>
              </a:rPr>
              <a:t>void</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Increment(</a:t>
            </a:r>
            <a:r>
              <a:rPr lang="uk" sz="1400">
                <a:solidFill>
                  <a:srgbClr val="006699"/>
                </a:solidFill>
                <a:latin typeface="Courier New"/>
                <a:ea typeface="Courier New"/>
                <a:cs typeface="Courier New"/>
                <a:sym typeface="Courier New"/>
              </a:rPr>
              <a:t>ref</a:t>
            </a:r>
            <a:r>
              <a:rPr lang="uk" sz="1400">
                <a:solidFill>
                  <a:schemeClr val="dk1"/>
                </a:solidFill>
                <a:latin typeface="Courier New"/>
                <a:ea typeface="Courier New"/>
                <a:cs typeface="Courier New"/>
                <a:sym typeface="Courier New"/>
              </a:rPr>
              <a:t> </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n)</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    n++;</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    Console.WriteLine($</a:t>
            </a:r>
            <a:r>
              <a:rPr lang="uk" sz="1400">
                <a:solidFill>
                  <a:srgbClr val="DB003E"/>
                </a:solidFill>
                <a:latin typeface="Courier New"/>
                <a:ea typeface="Courier New"/>
                <a:cs typeface="Courier New"/>
                <a:sym typeface="Courier New"/>
              </a:rPr>
              <a:t>"Число в методе Increment: {n}"</a:t>
            </a: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chemeClr val="dk1"/>
                </a:solidFill>
                <a:latin typeface="Courier New"/>
                <a:ea typeface="Courier New"/>
                <a:cs typeface="Courier New"/>
                <a:sym typeface="Courier New"/>
              </a:rPr>
              <a:t> </a:t>
            </a:r>
            <a:endParaRPr sz="1400">
              <a:solidFill>
                <a:schemeClr val="dk1"/>
              </a:solidFill>
              <a:latin typeface="Courier New"/>
              <a:ea typeface="Courier New"/>
              <a:cs typeface="Courier New"/>
              <a:sym typeface="Courier New"/>
            </a:endParaRPr>
          </a:p>
          <a:p>
            <a:pPr marL="84665" marR="84665">
              <a:lnSpc>
                <a:spcPct val="143181"/>
              </a:lnSpc>
            </a:pP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number = 5;</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Console.WriteLine($</a:t>
            </a:r>
            <a:r>
              <a:rPr lang="uk" sz="1400">
                <a:solidFill>
                  <a:srgbClr val="DB003E"/>
                </a:solidFill>
                <a:latin typeface="Courier New"/>
                <a:ea typeface="Courier New"/>
                <a:cs typeface="Courier New"/>
                <a:sym typeface="Courier New"/>
              </a:rPr>
              <a:t>"Число до метода Increment: {number}"</a:t>
            </a: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Increment(</a:t>
            </a:r>
            <a:r>
              <a:rPr lang="uk" sz="1400">
                <a:solidFill>
                  <a:srgbClr val="006699"/>
                </a:solidFill>
                <a:latin typeface="Courier New"/>
                <a:ea typeface="Courier New"/>
                <a:cs typeface="Courier New"/>
                <a:sym typeface="Courier New"/>
              </a:rPr>
              <a:t>ref</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number);</a:t>
            </a:r>
            <a:endParaRPr sz="1400">
              <a:solidFill>
                <a:srgbClr val="188038"/>
              </a:solidFill>
              <a:latin typeface="Courier New"/>
              <a:ea typeface="Courier New"/>
              <a:cs typeface="Courier New"/>
              <a:sym typeface="Courier New"/>
            </a:endParaRPr>
          </a:p>
          <a:p>
            <a:pPr marL="84665" marR="84665">
              <a:lnSpc>
                <a:spcPct val="143181"/>
              </a:lnSpc>
            </a:pPr>
            <a:r>
              <a:rPr lang="uk" sz="1400">
                <a:solidFill>
                  <a:srgbClr val="188038"/>
                </a:solidFill>
                <a:latin typeface="Courier New"/>
                <a:ea typeface="Courier New"/>
                <a:cs typeface="Courier New"/>
                <a:sym typeface="Courier New"/>
              </a:rPr>
              <a:t>Console.WriteLine($</a:t>
            </a:r>
            <a:r>
              <a:rPr lang="uk" sz="1400">
                <a:solidFill>
                  <a:srgbClr val="DB003E"/>
                </a:solidFill>
                <a:latin typeface="Courier New"/>
                <a:ea typeface="Courier New"/>
                <a:cs typeface="Courier New"/>
                <a:sym typeface="Courier New"/>
              </a:rPr>
              <a:t>"Число после метода Increment: {number}"</a:t>
            </a: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p:txBody>
      </p:sp>
      <p:sp>
        <p:nvSpPr>
          <p:cNvPr id="290" name="Google Shape;290;p40"/>
          <p:cNvSpPr txBox="1"/>
          <p:nvPr/>
        </p:nvSpPr>
        <p:spPr>
          <a:xfrm>
            <a:off x="7217567" y="3367601"/>
            <a:ext cx="4000000" cy="196395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pPr>
            <a:r>
              <a:rPr lang="uk" sz="1600">
                <a:solidFill>
                  <a:schemeClr val="dk1"/>
                </a:solidFill>
              </a:rPr>
              <a:t>Консольний висновок:</a:t>
            </a:r>
            <a:endParaRPr sz="1600">
              <a:solidFill>
                <a:schemeClr val="dk1"/>
              </a:solidFill>
            </a:endParaRPr>
          </a:p>
          <a:p>
            <a:pPr>
              <a:spcBef>
                <a:spcPts val="1600"/>
              </a:spcBef>
            </a:pPr>
            <a:r>
              <a:rPr lang="uk" sz="1600">
                <a:solidFill>
                  <a:srgbClr val="EEEEEE"/>
                </a:solidFill>
                <a:highlight>
                  <a:srgbClr val="333333"/>
                </a:highlight>
              </a:rPr>
              <a:t>Число до методу Increment: 5</a:t>
            </a:r>
            <a:endParaRPr sz="1600">
              <a:solidFill>
                <a:srgbClr val="EEEEEE"/>
              </a:solidFill>
              <a:highlight>
                <a:srgbClr val="333333"/>
              </a:highlight>
            </a:endParaRPr>
          </a:p>
          <a:p>
            <a:r>
              <a:rPr lang="uk" sz="1600">
                <a:solidFill>
                  <a:srgbClr val="EEEEEE"/>
                </a:solidFill>
                <a:highlight>
                  <a:srgbClr val="333333"/>
                </a:highlight>
              </a:rPr>
              <a:t>Число в методі Increment: 6</a:t>
            </a:r>
            <a:endParaRPr sz="1600">
              <a:solidFill>
                <a:srgbClr val="EEEEEE"/>
              </a:solidFill>
              <a:highlight>
                <a:srgbClr val="333333"/>
              </a:highlight>
            </a:endParaRPr>
          </a:p>
          <a:p>
            <a:pPr marR="101597">
              <a:lnSpc>
                <a:spcPct val="174545"/>
              </a:lnSpc>
            </a:pPr>
            <a:r>
              <a:rPr lang="uk" sz="1600">
                <a:solidFill>
                  <a:srgbClr val="EEEEEE"/>
                </a:solidFill>
                <a:highlight>
                  <a:srgbClr val="333333"/>
                </a:highlight>
              </a:rPr>
              <a:t>Число після методу Increment: 6</a:t>
            </a:r>
            <a:endParaRPr sz="1600">
              <a:solidFill>
                <a:srgbClr val="EEEEEE"/>
              </a:solidFill>
              <a:highlight>
                <a:srgbClr val="333333"/>
              </a:high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41"/>
          <p:cNvSpPr txBox="1"/>
          <p:nvPr/>
        </p:nvSpPr>
        <p:spPr>
          <a:xfrm>
            <a:off x="168133" y="211968"/>
            <a:ext cx="11785200" cy="2462172"/>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Передача параметрів за посиланням та модифікатор ref</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296" name="Google Shape;296;p41"/>
          <p:cNvSpPr txBox="1"/>
          <p:nvPr/>
        </p:nvSpPr>
        <p:spPr>
          <a:xfrm>
            <a:off x="84200" y="2052134"/>
            <a:ext cx="12023600" cy="3371395"/>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pPr>
            <a:r>
              <a:rPr lang="uk" sz="1600">
                <a:solidFill>
                  <a:schemeClr val="dk1"/>
                </a:solidFill>
              </a:rPr>
              <a:t>При передачі значень параметрів посилання метод отримує адресу змінної в пам'яті. І, таким чином, якщо в методі змінюється значення параметра, що передається за посиланням, то також змінюється значення змінної, яка передається на його місце.</a:t>
            </a:r>
            <a:endParaRPr sz="1600">
              <a:solidFill>
                <a:schemeClr val="dk1"/>
              </a:solidFill>
            </a:endParaRPr>
          </a:p>
          <a:p>
            <a:pPr>
              <a:lnSpc>
                <a:spcPct val="156000"/>
              </a:lnSpc>
              <a:spcBef>
                <a:spcPts val="1600"/>
              </a:spcBef>
            </a:pPr>
            <a:r>
              <a:rPr lang="uk" sz="1600">
                <a:solidFill>
                  <a:schemeClr val="dk1"/>
                </a:solidFill>
              </a:rPr>
              <a:t>Так, у метод Increment передається посилання на саму змінну number у пам'яті. І якщо значення параметра n в Increment змінюється, то це призводить і до зміни змінної number, так як і параметр n і змінна number вказують на ту саму адресу в пам'яті.</a:t>
            </a:r>
            <a:endParaRPr sz="1600">
              <a:solidFill>
                <a:schemeClr val="dk1"/>
              </a:solidFill>
            </a:endParaRPr>
          </a:p>
          <a:p>
            <a:pPr>
              <a:lnSpc>
                <a:spcPct val="156000"/>
              </a:lnSpc>
              <a:spcBef>
                <a:spcPts val="1600"/>
              </a:spcBef>
              <a:spcAft>
                <a:spcPts val="1600"/>
              </a:spcAft>
            </a:pPr>
            <a:r>
              <a:rPr lang="uk" sz="1600">
                <a:solidFill>
                  <a:schemeClr val="dk1"/>
                </a:solidFill>
              </a:rPr>
              <a:t>Зверніть увагу, що модифікатор </a:t>
            </a:r>
            <a:r>
              <a:rPr lang="uk" sz="1600">
                <a:solidFill>
                  <a:srgbClr val="188038"/>
                </a:solidFill>
                <a:latin typeface="Roboto Mono"/>
                <a:ea typeface="Roboto Mono"/>
                <a:cs typeface="Roboto Mono"/>
                <a:sym typeface="Roboto Mono"/>
              </a:rPr>
              <a:t>ref </a:t>
            </a:r>
            <a:r>
              <a:rPr lang="uk" sz="1600">
                <a:solidFill>
                  <a:schemeClr val="dk1"/>
                </a:solidFill>
              </a:rPr>
              <a:t>вказується як перед параметром під час оголошення методу, так і під час виклику методу перед аргументом, який передається параметру.</a:t>
            </a:r>
            <a:endParaRPr sz="16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2"/>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Вихідні параметри. Модифікатор out</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302" name="Google Shape;302;p42"/>
          <p:cNvSpPr txBox="1"/>
          <p:nvPr/>
        </p:nvSpPr>
        <p:spPr>
          <a:xfrm>
            <a:off x="48933" y="1157601"/>
            <a:ext cx="12023600" cy="142470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spcAft>
                <a:spcPts val="1600"/>
              </a:spcAft>
            </a:pPr>
            <a:r>
              <a:rPr lang="uk" sz="1600">
                <a:solidFill>
                  <a:schemeClr val="dk1"/>
                </a:solidFill>
              </a:rPr>
              <a:t>Вище ми використали вхідні параметри. Але параметри можуть бути вихідними. Щоб зробити параметр вихідним, перед ним ставиться модифікатор </a:t>
            </a:r>
            <a:r>
              <a:rPr lang="uk" sz="1600" b="1">
                <a:solidFill>
                  <a:schemeClr val="dk1"/>
                </a:solidFill>
              </a:rPr>
              <a:t>out</a:t>
            </a:r>
            <a:r>
              <a:rPr lang="uk" sz="1600">
                <a:solidFill>
                  <a:schemeClr val="dk1"/>
                </a:solidFill>
              </a:rPr>
              <a:t> :</a:t>
            </a:r>
            <a:endParaRPr sz="1600">
              <a:solidFill>
                <a:schemeClr val="dk1"/>
              </a:solidFill>
            </a:endParaRPr>
          </a:p>
        </p:txBody>
      </p:sp>
      <p:sp>
        <p:nvSpPr>
          <p:cNvPr id="303" name="Google Shape;303;p42"/>
          <p:cNvSpPr txBox="1"/>
          <p:nvPr/>
        </p:nvSpPr>
        <p:spPr>
          <a:xfrm>
            <a:off x="168133" y="2174900"/>
            <a:ext cx="4000000" cy="1484982"/>
          </a:xfrm>
          <a:prstGeom prst="rect">
            <a:avLst/>
          </a:prstGeom>
          <a:noFill/>
          <a:ln>
            <a:noFill/>
          </a:ln>
        </p:spPr>
        <p:txBody>
          <a:bodyPr spcFirstLastPara="1" wrap="square" lIns="121900" tIns="121900" rIns="121900" bIns="121900" anchor="t" anchorCtr="0">
            <a:spAutoFit/>
          </a:bodyPr>
          <a:lstStyle/>
          <a:p>
            <a:pPr marL="84665" marR="84665">
              <a:lnSpc>
                <a:spcPct val="115000"/>
              </a:lnSpc>
            </a:pPr>
            <a:r>
              <a:rPr lang="uk" sz="1400">
                <a:solidFill>
                  <a:srgbClr val="006699"/>
                </a:solidFill>
                <a:highlight>
                  <a:srgbClr val="F5F5FA"/>
                </a:highlight>
                <a:latin typeface="Courier New"/>
                <a:ea typeface="Courier New"/>
                <a:cs typeface="Courier New"/>
                <a:sym typeface="Courier New"/>
              </a:rPr>
              <a:t>void</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Sum(</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x,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y, </a:t>
            </a:r>
            <a:r>
              <a:rPr lang="uk" sz="1400">
                <a:solidFill>
                  <a:srgbClr val="006699"/>
                </a:solidFill>
                <a:highlight>
                  <a:srgbClr val="F5F5FA"/>
                </a:highlight>
                <a:latin typeface="Courier New"/>
                <a:ea typeface="Courier New"/>
                <a:cs typeface="Courier New"/>
                <a:sym typeface="Courier New"/>
              </a:rPr>
              <a:t>out</a:t>
            </a:r>
            <a:r>
              <a:rPr lang="uk" sz="1400">
                <a:solidFill>
                  <a:schemeClr val="dk1"/>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result)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result = x + y;</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p:txBody>
      </p:sp>
      <p:sp>
        <p:nvSpPr>
          <p:cNvPr id="304" name="Google Shape;304;p42"/>
          <p:cNvSpPr txBox="1"/>
          <p:nvPr/>
        </p:nvSpPr>
        <p:spPr>
          <a:xfrm>
            <a:off x="168133" y="3683334"/>
            <a:ext cx="11785200" cy="104062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spcAft>
                <a:spcPts val="1600"/>
              </a:spcAft>
            </a:pPr>
            <a:r>
              <a:rPr lang="uk" sz="1600">
                <a:solidFill>
                  <a:schemeClr val="dk1"/>
                </a:solidFill>
              </a:rPr>
              <a:t>Тут результат повертається через оператор </a:t>
            </a:r>
            <a:r>
              <a:rPr lang="uk" sz="1600">
                <a:solidFill>
                  <a:srgbClr val="188038"/>
                </a:solidFill>
                <a:latin typeface="Roboto Mono"/>
                <a:ea typeface="Roboto Mono"/>
                <a:cs typeface="Roboto Mono"/>
                <a:sym typeface="Roboto Mono"/>
              </a:rPr>
              <a:t>return</a:t>
            </a:r>
            <a:r>
              <a:rPr lang="uk" sz="1600">
                <a:solidFill>
                  <a:schemeClr val="dk1"/>
                </a:solidFill>
              </a:rPr>
              <a:t>, а через вихідний параметр result. Використання у програмі:</a:t>
            </a:r>
            <a:endParaRPr sz="1600">
              <a:solidFill>
                <a:schemeClr val="dk1"/>
              </a:solidFill>
            </a:endParaRPr>
          </a:p>
        </p:txBody>
      </p:sp>
      <p:sp>
        <p:nvSpPr>
          <p:cNvPr id="305" name="Google Shape;305;p42"/>
          <p:cNvSpPr txBox="1"/>
          <p:nvPr/>
        </p:nvSpPr>
        <p:spPr>
          <a:xfrm>
            <a:off x="146333" y="4086734"/>
            <a:ext cx="11828800" cy="2723782"/>
          </a:xfrm>
          <a:prstGeom prst="rect">
            <a:avLst/>
          </a:prstGeom>
          <a:noFill/>
          <a:ln>
            <a:noFill/>
          </a:ln>
        </p:spPr>
        <p:txBody>
          <a:bodyPr spcFirstLastPara="1" wrap="square" lIns="121900" tIns="121900" rIns="121900" bIns="121900" anchor="t" anchorCtr="0">
            <a:spAutoFit/>
          </a:bodyPr>
          <a:lstStyle/>
          <a:p>
            <a:pPr marL="84665" marR="84665">
              <a:lnSpc>
                <a:spcPct val="115000"/>
              </a:lnSpc>
            </a:pPr>
            <a:r>
              <a:rPr lang="uk" sz="1400">
                <a:solidFill>
                  <a:srgbClr val="006699"/>
                </a:solidFill>
                <a:highlight>
                  <a:srgbClr val="F5F5FA"/>
                </a:highlight>
                <a:latin typeface="Courier New"/>
                <a:ea typeface="Courier New"/>
                <a:cs typeface="Courier New"/>
                <a:sym typeface="Courier New"/>
              </a:rPr>
              <a:t>void</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Sum(</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x,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y, </a:t>
            </a:r>
            <a:r>
              <a:rPr lang="uk" sz="1400">
                <a:solidFill>
                  <a:srgbClr val="006699"/>
                </a:solidFill>
                <a:highlight>
                  <a:srgbClr val="F5F5FA"/>
                </a:highlight>
                <a:latin typeface="Courier New"/>
                <a:ea typeface="Courier New"/>
                <a:cs typeface="Courier New"/>
                <a:sym typeface="Courier New"/>
              </a:rPr>
              <a:t>out</a:t>
            </a:r>
            <a:r>
              <a:rPr lang="uk" sz="1400">
                <a:solidFill>
                  <a:schemeClr val="dk1"/>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result)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result = x + y;</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15000"/>
              </a:lnSpc>
            </a:pP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number;</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Sum(10, 15, </a:t>
            </a:r>
            <a:r>
              <a:rPr lang="uk" sz="1400">
                <a:solidFill>
                  <a:srgbClr val="006699"/>
                </a:solidFill>
                <a:highlight>
                  <a:srgbClr val="F5F5FA"/>
                </a:highlight>
                <a:latin typeface="Courier New"/>
                <a:ea typeface="Courier New"/>
                <a:cs typeface="Courier New"/>
                <a:sym typeface="Courier New"/>
              </a:rPr>
              <a:t>out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number);</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Console.WriteLine(number);   </a:t>
            </a:r>
            <a:r>
              <a:rPr lang="uk" sz="1400">
                <a:solidFill>
                  <a:srgbClr val="008200"/>
                </a:solidFill>
                <a:highlight>
                  <a:srgbClr val="F5F5FA"/>
                </a:highlight>
                <a:latin typeface="Courier New"/>
                <a:ea typeface="Courier New"/>
                <a:cs typeface="Courier New"/>
                <a:sym typeface="Courier New"/>
              </a:rPr>
              <a:t>// 25</a:t>
            </a:r>
            <a:endParaRPr sz="1400">
              <a:solidFill>
                <a:srgbClr val="008200"/>
              </a:solidFill>
              <a:highlight>
                <a:srgbClr val="F5F5FA"/>
              </a:highlight>
              <a:latin typeface="Courier New"/>
              <a:ea typeface="Courier New"/>
              <a:cs typeface="Courier New"/>
              <a:sym typeface="Courier New"/>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43"/>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Вихідні параметри. Модифікатор out</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311" name="Google Shape;311;p43"/>
          <p:cNvSpPr txBox="1"/>
          <p:nvPr/>
        </p:nvSpPr>
        <p:spPr>
          <a:xfrm>
            <a:off x="43833" y="1069933"/>
            <a:ext cx="12192000" cy="2013972"/>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pPr>
            <a:r>
              <a:rPr lang="uk" sz="1600">
                <a:solidFill>
                  <a:schemeClr val="dk1"/>
                </a:solidFill>
              </a:rPr>
              <a:t>Причому, як і у випадку з </a:t>
            </a:r>
            <a:r>
              <a:rPr lang="uk" sz="1600" b="1">
                <a:solidFill>
                  <a:schemeClr val="dk1"/>
                </a:solidFill>
              </a:rPr>
              <a:t>ref,</a:t>
            </a:r>
            <a:r>
              <a:rPr lang="uk" sz="1600">
                <a:solidFill>
                  <a:schemeClr val="dk1"/>
                </a:solidFill>
              </a:rPr>
              <a:t> ключове слово </a:t>
            </a:r>
            <a:r>
              <a:rPr lang="uk" sz="1600" b="1">
                <a:solidFill>
                  <a:schemeClr val="dk1"/>
                </a:solidFill>
              </a:rPr>
              <a:t>out</a:t>
            </a:r>
            <a:r>
              <a:rPr lang="uk" sz="1600">
                <a:solidFill>
                  <a:schemeClr val="dk1"/>
                </a:solidFill>
              </a:rPr>
              <a:t> використовується як при визначенні методу, так і при його виклику.</a:t>
            </a:r>
            <a:endParaRPr sz="1600">
              <a:solidFill>
                <a:schemeClr val="dk1"/>
              </a:solidFill>
            </a:endParaRPr>
          </a:p>
          <a:p>
            <a:pPr>
              <a:lnSpc>
                <a:spcPct val="156000"/>
              </a:lnSpc>
              <a:spcBef>
                <a:spcPts val="1600"/>
              </a:spcBef>
              <a:spcAft>
                <a:spcPts val="1600"/>
              </a:spcAft>
            </a:pPr>
            <a:r>
              <a:rPr lang="uk" sz="1600">
                <a:solidFill>
                  <a:schemeClr val="dk1"/>
                </a:solidFill>
              </a:rPr>
              <a:t>Також зверніть увагу, що методи, які використовують такі параметри, обов'язково повинні надавати їм певне значення. Тобто наступний код буде неприпустимим, тому що в ньому для out-параметра не вказано жодного значення:</a:t>
            </a:r>
            <a:endParaRPr sz="1600">
              <a:solidFill>
                <a:schemeClr val="dk1"/>
              </a:solidFill>
            </a:endParaRPr>
          </a:p>
        </p:txBody>
      </p:sp>
      <p:sp>
        <p:nvSpPr>
          <p:cNvPr id="312" name="Google Shape;312;p43"/>
          <p:cNvSpPr txBox="1"/>
          <p:nvPr/>
        </p:nvSpPr>
        <p:spPr>
          <a:xfrm>
            <a:off x="210467" y="2581001"/>
            <a:ext cx="4000000" cy="1786667"/>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highlight>
                  <a:srgbClr val="F5F5FA"/>
                </a:highlight>
                <a:latin typeface="Courier New"/>
                <a:ea typeface="Courier New"/>
                <a:cs typeface="Courier New"/>
                <a:sym typeface="Courier New"/>
              </a:rPr>
              <a:t>void</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Sum(</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x,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y, </a:t>
            </a:r>
            <a:r>
              <a:rPr lang="uk" sz="1400">
                <a:solidFill>
                  <a:srgbClr val="006699"/>
                </a:solidFill>
                <a:highlight>
                  <a:srgbClr val="F5F5FA"/>
                </a:highlight>
                <a:latin typeface="Courier New"/>
                <a:ea typeface="Courier New"/>
                <a:cs typeface="Courier New"/>
                <a:sym typeface="Courier New"/>
              </a:rPr>
              <a:t>out</a:t>
            </a:r>
            <a:r>
              <a:rPr lang="uk" sz="1400">
                <a:solidFill>
                  <a:schemeClr val="dk1"/>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result)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Console.WriteLine(x + y);</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p:txBody>
      </p:sp>
      <p:sp>
        <p:nvSpPr>
          <p:cNvPr id="313" name="Google Shape;313;p43"/>
          <p:cNvSpPr txBox="1"/>
          <p:nvPr/>
        </p:nvSpPr>
        <p:spPr>
          <a:xfrm>
            <a:off x="210467" y="4277001"/>
            <a:ext cx="11785200" cy="104062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spcAft>
                <a:spcPts val="1600"/>
              </a:spcAft>
            </a:pPr>
            <a:r>
              <a:rPr lang="uk" sz="1600">
                <a:solidFill>
                  <a:schemeClr val="dk1"/>
                </a:solidFill>
              </a:rPr>
              <a:t>Принадність використання подібних параметрів полягає в тому, що ми можемо повернути з методу не одне значення, а кілька.</a:t>
            </a:r>
            <a:endParaRPr sz="16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4"/>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Вихідні параметри. Модифікатор out</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319" name="Google Shape;319;p44"/>
          <p:cNvSpPr txBox="1"/>
          <p:nvPr/>
        </p:nvSpPr>
        <p:spPr>
          <a:xfrm>
            <a:off x="124800" y="1069900"/>
            <a:ext cx="12067200" cy="3467063"/>
          </a:xfrm>
          <a:prstGeom prst="rect">
            <a:avLst/>
          </a:prstGeom>
          <a:noFill/>
          <a:ln>
            <a:noFill/>
          </a:ln>
        </p:spPr>
        <p:txBody>
          <a:bodyPr spcFirstLastPara="1" wrap="square" lIns="121900" tIns="121900" rIns="121900" bIns="121900" anchor="t" anchorCtr="0">
            <a:spAutoFit/>
          </a:bodyPr>
          <a:lstStyle/>
          <a:p>
            <a:pPr marL="84665" marR="84665">
              <a:lnSpc>
                <a:spcPct val="115000"/>
              </a:lnSpc>
            </a:pPr>
            <a:r>
              <a:rPr lang="uk" sz="1400">
                <a:solidFill>
                  <a:srgbClr val="006699"/>
                </a:solidFill>
                <a:highlight>
                  <a:srgbClr val="F5F5FA"/>
                </a:highlight>
                <a:latin typeface="Courier New"/>
                <a:ea typeface="Courier New"/>
                <a:cs typeface="Courier New"/>
                <a:sym typeface="Courier New"/>
              </a:rPr>
              <a:t>void</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GetRectangleData(</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width,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height, </a:t>
            </a:r>
            <a:r>
              <a:rPr lang="uk" sz="1400">
                <a:solidFill>
                  <a:srgbClr val="006699"/>
                </a:solidFill>
                <a:highlight>
                  <a:srgbClr val="F5F5FA"/>
                </a:highlight>
                <a:latin typeface="Courier New"/>
                <a:ea typeface="Courier New"/>
                <a:cs typeface="Courier New"/>
                <a:sym typeface="Courier New"/>
              </a:rPr>
              <a:t>out</a:t>
            </a:r>
            <a:r>
              <a:rPr lang="uk" sz="1400">
                <a:solidFill>
                  <a:schemeClr val="dk1"/>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rectArea, </a:t>
            </a:r>
            <a:r>
              <a:rPr lang="uk" sz="1400">
                <a:solidFill>
                  <a:srgbClr val="006699"/>
                </a:solidFill>
                <a:highlight>
                  <a:srgbClr val="F5F5FA"/>
                </a:highlight>
                <a:latin typeface="Courier New"/>
                <a:ea typeface="Courier New"/>
                <a:cs typeface="Courier New"/>
                <a:sym typeface="Courier New"/>
              </a:rPr>
              <a:t>out</a:t>
            </a:r>
            <a:r>
              <a:rPr lang="uk" sz="1400">
                <a:solidFill>
                  <a:schemeClr val="dk1"/>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rectPerimetr)</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rectArea = width * height;   	</a:t>
            </a:r>
            <a:r>
              <a:rPr lang="uk" sz="1400">
                <a:solidFill>
                  <a:srgbClr val="008200"/>
                </a:solidFill>
                <a:highlight>
                  <a:srgbClr val="F5F5FA"/>
                </a:highlight>
                <a:latin typeface="Courier New"/>
                <a:ea typeface="Courier New"/>
                <a:cs typeface="Courier New"/>
                <a:sym typeface="Courier New"/>
              </a:rPr>
              <a:t>// площадь прямоугольника - произведение ширины на высоту</a:t>
            </a:r>
            <a:endParaRPr sz="1400">
              <a:solidFill>
                <a:srgbClr val="008200"/>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rectPerimetr = (width + height) * 2; </a:t>
            </a:r>
            <a:r>
              <a:rPr lang="uk" sz="1400">
                <a:solidFill>
                  <a:srgbClr val="008200"/>
                </a:solidFill>
                <a:highlight>
                  <a:srgbClr val="F5F5FA"/>
                </a:highlight>
                <a:latin typeface="Courier New"/>
                <a:ea typeface="Courier New"/>
                <a:cs typeface="Courier New"/>
                <a:sym typeface="Courier New"/>
              </a:rPr>
              <a:t>// периметр прямоугольника - сумма длин всех сторон </a:t>
            </a:r>
            <a:endParaRPr sz="1400">
              <a:solidFill>
                <a:srgbClr val="008200"/>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15000"/>
              </a:lnSpc>
            </a:pP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area;</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perimetr;</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GetRectangleData(10, 20, </a:t>
            </a:r>
            <a:r>
              <a:rPr lang="uk" sz="1400">
                <a:solidFill>
                  <a:srgbClr val="006699"/>
                </a:solidFill>
                <a:highlight>
                  <a:srgbClr val="F5F5FA"/>
                </a:highlight>
                <a:latin typeface="Courier New"/>
                <a:ea typeface="Courier New"/>
                <a:cs typeface="Courier New"/>
                <a:sym typeface="Courier New"/>
              </a:rPr>
              <a:t>out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area, </a:t>
            </a:r>
            <a:r>
              <a:rPr lang="uk" sz="1400">
                <a:solidFill>
                  <a:srgbClr val="006699"/>
                </a:solidFill>
                <a:highlight>
                  <a:srgbClr val="F5F5FA"/>
                </a:highlight>
                <a:latin typeface="Courier New"/>
                <a:ea typeface="Courier New"/>
                <a:cs typeface="Courier New"/>
                <a:sym typeface="Courier New"/>
              </a:rPr>
              <a:t>out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perimetr);</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Console.WriteLine($</a:t>
            </a:r>
            <a:r>
              <a:rPr lang="uk" sz="1400">
                <a:solidFill>
                  <a:srgbClr val="DB003E"/>
                </a:solidFill>
                <a:highlight>
                  <a:srgbClr val="F5F5FA"/>
                </a:highlight>
                <a:latin typeface="Courier New"/>
                <a:ea typeface="Courier New"/>
                <a:cs typeface="Courier New"/>
                <a:sym typeface="Courier New"/>
              </a:rPr>
              <a:t>"Площадь прямоугольника: {area}"</a:t>
            </a:r>
            <a:r>
              <a:rPr lang="uk" sz="1400">
                <a:solidFill>
                  <a:srgbClr val="188038"/>
                </a:solidFill>
                <a:highlight>
                  <a:srgbClr val="F5F5FA"/>
                </a:highlight>
                <a:latin typeface="Courier New"/>
                <a:ea typeface="Courier New"/>
                <a:cs typeface="Courier New"/>
                <a:sym typeface="Courier New"/>
              </a:rPr>
              <a:t>);   	</a:t>
            </a:r>
            <a:r>
              <a:rPr lang="uk" sz="1400">
                <a:solidFill>
                  <a:srgbClr val="008200"/>
                </a:solidFill>
                <a:highlight>
                  <a:srgbClr val="F5F5FA"/>
                </a:highlight>
                <a:latin typeface="Courier New"/>
                <a:ea typeface="Courier New"/>
                <a:cs typeface="Courier New"/>
                <a:sym typeface="Courier New"/>
              </a:rPr>
              <a:t>// 200</a:t>
            </a:r>
            <a:endParaRPr sz="1400">
              <a:solidFill>
                <a:srgbClr val="008200"/>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Console.WriteLine($</a:t>
            </a:r>
            <a:r>
              <a:rPr lang="uk" sz="1400">
                <a:solidFill>
                  <a:srgbClr val="DB003E"/>
                </a:solidFill>
                <a:highlight>
                  <a:srgbClr val="F5F5FA"/>
                </a:highlight>
                <a:latin typeface="Courier New"/>
                <a:ea typeface="Courier New"/>
                <a:cs typeface="Courier New"/>
                <a:sym typeface="Courier New"/>
              </a:rPr>
              <a:t>"Периметр прямоугольника: {perimetr}"</a:t>
            </a:r>
            <a:r>
              <a:rPr lang="uk" sz="1400">
                <a:solidFill>
                  <a:srgbClr val="188038"/>
                </a:solidFill>
                <a:highlight>
                  <a:srgbClr val="F5F5FA"/>
                </a:highlight>
                <a:latin typeface="Courier New"/>
                <a:ea typeface="Courier New"/>
                <a:cs typeface="Courier New"/>
                <a:sym typeface="Courier New"/>
              </a:rPr>
              <a:t>);   </a:t>
            </a:r>
            <a:r>
              <a:rPr lang="uk" sz="1400">
                <a:solidFill>
                  <a:srgbClr val="008200"/>
                </a:solidFill>
                <a:highlight>
                  <a:srgbClr val="F5F5FA"/>
                </a:highlight>
                <a:latin typeface="Courier New"/>
                <a:ea typeface="Courier New"/>
                <a:cs typeface="Courier New"/>
                <a:sym typeface="Courier New"/>
              </a:rPr>
              <a:t>// 60</a:t>
            </a:r>
            <a:endParaRPr sz="1400">
              <a:solidFill>
                <a:srgbClr val="008200"/>
              </a:solidFill>
              <a:highlight>
                <a:srgbClr val="F5F5FA"/>
              </a:highlight>
              <a:latin typeface="Courier New"/>
              <a:ea typeface="Courier New"/>
              <a:cs typeface="Courier New"/>
              <a:sym typeface="Courier New"/>
            </a:endParaRPr>
          </a:p>
        </p:txBody>
      </p:sp>
      <p:sp>
        <p:nvSpPr>
          <p:cNvPr id="320" name="Google Shape;320;p44"/>
          <p:cNvSpPr txBox="1"/>
          <p:nvPr/>
        </p:nvSpPr>
        <p:spPr>
          <a:xfrm>
            <a:off x="168133" y="4621701"/>
            <a:ext cx="12192000" cy="1994352"/>
          </a:xfrm>
          <a:prstGeom prst="rect">
            <a:avLst/>
          </a:prstGeom>
          <a:noFill/>
          <a:ln>
            <a:noFill/>
          </a:ln>
        </p:spPr>
        <p:txBody>
          <a:bodyPr spcFirstLastPara="1" wrap="square" lIns="121900" tIns="121900" rIns="121900" bIns="121900" anchor="t" anchorCtr="0">
            <a:spAutoFit/>
          </a:bodyPr>
          <a:lstStyle/>
          <a:p>
            <a:pPr>
              <a:lnSpc>
                <a:spcPct val="115000"/>
              </a:lnSpc>
              <a:spcBef>
                <a:spcPts val="1600"/>
              </a:spcBef>
            </a:pPr>
            <a:r>
              <a:rPr lang="uk" sz="1600">
                <a:solidFill>
                  <a:schemeClr val="dk1"/>
                </a:solidFill>
              </a:rPr>
              <a:t>Тут ми маємо метод GetRectangleData, який отримує ширину і висоту прямокутника (параметри width і height). А два вихідні параметри ми використовуємо для підрахунку площі та периметра прямокутника.</a:t>
            </a:r>
            <a:endParaRPr sz="1600">
              <a:solidFill>
                <a:schemeClr val="dk1"/>
              </a:solidFill>
            </a:endParaRPr>
          </a:p>
          <a:p>
            <a:pPr>
              <a:lnSpc>
                <a:spcPct val="115000"/>
              </a:lnSpc>
              <a:spcBef>
                <a:spcPts val="1600"/>
              </a:spcBef>
              <a:spcAft>
                <a:spcPts val="1600"/>
              </a:spcAft>
            </a:pPr>
            <a:r>
              <a:rPr lang="uk" sz="1600">
                <a:solidFill>
                  <a:schemeClr val="dk1"/>
                </a:solidFill>
              </a:rPr>
              <a:t>При цьому можна визначати змінні, які передаються </a:t>
            </a:r>
            <a:r>
              <a:rPr lang="uk" sz="1600" b="1">
                <a:solidFill>
                  <a:schemeClr val="dk1"/>
                </a:solidFill>
              </a:rPr>
              <a:t>out</a:t>
            </a:r>
            <a:r>
              <a:rPr lang="uk" sz="1600">
                <a:solidFill>
                  <a:schemeClr val="dk1"/>
                </a:solidFill>
              </a:rPr>
              <a:t> -параметрам безпосередньо при виклику методу. Тобто ми можемо скоротити попередній приклад так:</a:t>
            </a:r>
            <a:endParaRPr sz="16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45"/>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Вихідні параметри. Модифікатор out</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326" name="Google Shape;326;p45"/>
          <p:cNvSpPr txBox="1"/>
          <p:nvPr/>
        </p:nvSpPr>
        <p:spPr>
          <a:xfrm>
            <a:off x="0" y="1262867"/>
            <a:ext cx="12192000" cy="2723782"/>
          </a:xfrm>
          <a:prstGeom prst="rect">
            <a:avLst/>
          </a:prstGeom>
          <a:noFill/>
          <a:ln>
            <a:noFill/>
          </a:ln>
        </p:spPr>
        <p:txBody>
          <a:bodyPr spcFirstLastPara="1" wrap="square" lIns="121900" tIns="121900" rIns="121900" bIns="121900" anchor="t" anchorCtr="0">
            <a:spAutoFit/>
          </a:bodyPr>
          <a:lstStyle/>
          <a:p>
            <a:pPr marL="84665" marR="84665">
              <a:lnSpc>
                <a:spcPct val="115000"/>
              </a:lnSpc>
            </a:pPr>
            <a:r>
              <a:rPr lang="uk" sz="1400">
                <a:solidFill>
                  <a:srgbClr val="006699"/>
                </a:solidFill>
                <a:latin typeface="Courier New"/>
                <a:ea typeface="Courier New"/>
                <a:cs typeface="Courier New"/>
                <a:sym typeface="Courier New"/>
              </a:rPr>
              <a:t>void</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GetRectangleData(</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width, </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height, </a:t>
            </a:r>
            <a:r>
              <a:rPr lang="uk" sz="1400">
                <a:solidFill>
                  <a:srgbClr val="006699"/>
                </a:solidFill>
                <a:latin typeface="Courier New"/>
                <a:ea typeface="Courier New"/>
                <a:cs typeface="Courier New"/>
                <a:sym typeface="Courier New"/>
              </a:rPr>
              <a:t>out</a:t>
            </a:r>
            <a:r>
              <a:rPr lang="uk" sz="1400">
                <a:solidFill>
                  <a:schemeClr val="dk1"/>
                </a:solidFill>
                <a:latin typeface="Courier New"/>
                <a:ea typeface="Courier New"/>
                <a:cs typeface="Courier New"/>
                <a:sym typeface="Courier New"/>
              </a:rPr>
              <a:t> </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rectArea, </a:t>
            </a:r>
            <a:r>
              <a:rPr lang="uk" sz="1400">
                <a:solidFill>
                  <a:srgbClr val="006699"/>
                </a:solidFill>
                <a:latin typeface="Courier New"/>
                <a:ea typeface="Courier New"/>
                <a:cs typeface="Courier New"/>
                <a:sym typeface="Courier New"/>
              </a:rPr>
              <a:t>out</a:t>
            </a:r>
            <a:r>
              <a:rPr lang="uk" sz="1400">
                <a:solidFill>
                  <a:schemeClr val="dk1"/>
                </a:solidFill>
                <a:latin typeface="Courier New"/>
                <a:ea typeface="Courier New"/>
                <a:cs typeface="Courier New"/>
                <a:sym typeface="Courier New"/>
              </a:rPr>
              <a:t> </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rectPerimetr)</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    rectArea = width * height; </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    rectPerimetr = (width + height) * 2;</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chemeClr val="dk1"/>
                </a:solidFill>
                <a:latin typeface="Courier New"/>
                <a:ea typeface="Courier New"/>
                <a:cs typeface="Courier New"/>
                <a:sym typeface="Courier New"/>
              </a:rPr>
              <a:t> </a:t>
            </a:r>
            <a:endParaRPr sz="1400">
              <a:solidFill>
                <a:schemeClr val="dk1"/>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GetRectangleData(10, 20, </a:t>
            </a:r>
            <a:r>
              <a:rPr lang="uk" sz="1400">
                <a:solidFill>
                  <a:srgbClr val="006699"/>
                </a:solidFill>
                <a:latin typeface="Courier New"/>
                <a:ea typeface="Courier New"/>
                <a:cs typeface="Courier New"/>
                <a:sym typeface="Courier New"/>
              </a:rPr>
              <a:t>out</a:t>
            </a:r>
            <a:r>
              <a:rPr lang="uk" sz="1400">
                <a:solidFill>
                  <a:schemeClr val="dk1"/>
                </a:solidFill>
                <a:latin typeface="Courier New"/>
                <a:ea typeface="Courier New"/>
                <a:cs typeface="Courier New"/>
                <a:sym typeface="Courier New"/>
              </a:rPr>
              <a:t> </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area, </a:t>
            </a:r>
            <a:r>
              <a:rPr lang="uk" sz="1400">
                <a:solidFill>
                  <a:srgbClr val="006699"/>
                </a:solidFill>
                <a:latin typeface="Courier New"/>
                <a:ea typeface="Courier New"/>
                <a:cs typeface="Courier New"/>
                <a:sym typeface="Courier New"/>
              </a:rPr>
              <a:t>out</a:t>
            </a:r>
            <a:r>
              <a:rPr lang="uk" sz="1400">
                <a:solidFill>
                  <a:schemeClr val="dk1"/>
                </a:solidFill>
                <a:latin typeface="Courier New"/>
                <a:ea typeface="Courier New"/>
                <a:cs typeface="Courier New"/>
                <a:sym typeface="Courier New"/>
              </a:rPr>
              <a:t> </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perimetr);</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chemeClr val="dk1"/>
                </a:solidFill>
                <a:latin typeface="Courier New"/>
                <a:ea typeface="Courier New"/>
                <a:cs typeface="Courier New"/>
                <a:sym typeface="Courier New"/>
              </a:rPr>
              <a:t> </a:t>
            </a:r>
            <a:endParaRPr sz="1400">
              <a:solidFill>
                <a:schemeClr val="dk1"/>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Console.WriteLine($</a:t>
            </a:r>
            <a:r>
              <a:rPr lang="uk" sz="1400">
                <a:solidFill>
                  <a:srgbClr val="DB003E"/>
                </a:solidFill>
                <a:latin typeface="Courier New"/>
                <a:ea typeface="Courier New"/>
                <a:cs typeface="Courier New"/>
                <a:sym typeface="Courier New"/>
              </a:rPr>
              <a:t>"Площадь прямоугольника: {area}"</a:t>
            </a:r>
            <a:r>
              <a:rPr lang="uk" sz="1400">
                <a:solidFill>
                  <a:srgbClr val="188038"/>
                </a:solidFill>
                <a:latin typeface="Courier New"/>
                <a:ea typeface="Courier New"/>
                <a:cs typeface="Courier New"/>
                <a:sym typeface="Courier New"/>
              </a:rPr>
              <a:t>);   	</a:t>
            </a:r>
            <a:r>
              <a:rPr lang="uk" sz="1400">
                <a:solidFill>
                  <a:srgbClr val="008200"/>
                </a:solidFill>
                <a:latin typeface="Courier New"/>
                <a:ea typeface="Courier New"/>
                <a:cs typeface="Courier New"/>
                <a:sym typeface="Courier New"/>
              </a:rPr>
              <a:t>// 200</a:t>
            </a:r>
            <a:endParaRPr sz="1400">
              <a:solidFill>
                <a:srgbClr val="008200"/>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Console.WriteLine($</a:t>
            </a:r>
            <a:r>
              <a:rPr lang="uk" sz="1400">
                <a:solidFill>
                  <a:srgbClr val="DB003E"/>
                </a:solidFill>
                <a:latin typeface="Courier New"/>
                <a:ea typeface="Courier New"/>
                <a:cs typeface="Courier New"/>
                <a:sym typeface="Courier New"/>
              </a:rPr>
              <a:t>"Периметр прямоугольника: {perimetr}"</a:t>
            </a:r>
            <a:r>
              <a:rPr lang="uk" sz="1400">
                <a:solidFill>
                  <a:srgbClr val="188038"/>
                </a:solidFill>
                <a:latin typeface="Courier New"/>
                <a:ea typeface="Courier New"/>
                <a:cs typeface="Courier New"/>
                <a:sym typeface="Courier New"/>
              </a:rPr>
              <a:t>);   </a:t>
            </a:r>
            <a:r>
              <a:rPr lang="uk" sz="1400">
                <a:solidFill>
                  <a:srgbClr val="008200"/>
                </a:solidFill>
                <a:latin typeface="Courier New"/>
                <a:ea typeface="Courier New"/>
                <a:cs typeface="Courier New"/>
                <a:sym typeface="Courier New"/>
              </a:rPr>
              <a:t>// 60</a:t>
            </a:r>
            <a:endParaRPr sz="1400">
              <a:solidFill>
                <a:srgbClr val="008200"/>
              </a:solidFill>
              <a:latin typeface="Courier New"/>
              <a:ea typeface="Courier New"/>
              <a:cs typeface="Courier New"/>
              <a:sym typeface="Courier New"/>
            </a:endParaRPr>
          </a:p>
        </p:txBody>
      </p:sp>
      <p:sp>
        <p:nvSpPr>
          <p:cNvPr id="327" name="Google Shape;327;p45"/>
          <p:cNvSpPr txBox="1"/>
          <p:nvPr/>
        </p:nvSpPr>
        <p:spPr>
          <a:xfrm>
            <a:off x="0" y="4025334"/>
            <a:ext cx="12192000" cy="142470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spcAft>
                <a:spcPts val="1600"/>
              </a:spcAft>
            </a:pPr>
            <a:r>
              <a:rPr lang="uk" sz="1600">
                <a:solidFill>
                  <a:schemeClr val="dk1"/>
                </a:solidFill>
              </a:rPr>
              <a:t>При цьому, якщо нам невідомий тип значень, які будуть присвоєні параметрам, ми можемо для їх визначення використовувати оператор </a:t>
            </a:r>
            <a:r>
              <a:rPr lang="uk" sz="1600" b="1">
                <a:solidFill>
                  <a:schemeClr val="dk1"/>
                </a:solidFill>
              </a:rPr>
              <a:t>var</a:t>
            </a:r>
            <a:r>
              <a:rPr lang="uk" sz="1600">
                <a:solidFill>
                  <a:schemeClr val="dk1"/>
                </a:solidFill>
              </a:rPr>
              <a:t> :</a:t>
            </a:r>
            <a:endParaRPr sz="1600">
              <a:solidFill>
                <a:schemeClr val="dk1"/>
              </a:solidFill>
            </a:endParaRPr>
          </a:p>
        </p:txBody>
      </p:sp>
      <p:sp>
        <p:nvSpPr>
          <p:cNvPr id="328" name="Google Shape;328;p45"/>
          <p:cNvSpPr txBox="1"/>
          <p:nvPr/>
        </p:nvSpPr>
        <p:spPr>
          <a:xfrm>
            <a:off x="168133" y="4972600"/>
            <a:ext cx="10190400" cy="1478570"/>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188038"/>
                </a:solidFill>
                <a:highlight>
                  <a:srgbClr val="F5F5FA"/>
                </a:highlight>
                <a:latin typeface="Courier New"/>
                <a:ea typeface="Courier New"/>
                <a:cs typeface="Courier New"/>
                <a:sym typeface="Courier New"/>
              </a:rPr>
              <a:t>GetRectangleData(10, 20, </a:t>
            </a:r>
            <a:r>
              <a:rPr lang="uk" sz="1400">
                <a:solidFill>
                  <a:srgbClr val="006699"/>
                </a:solidFill>
                <a:highlight>
                  <a:srgbClr val="F5F5FA"/>
                </a:highlight>
                <a:latin typeface="Courier New"/>
                <a:ea typeface="Courier New"/>
                <a:cs typeface="Courier New"/>
                <a:sym typeface="Courier New"/>
              </a:rPr>
              <a:t>out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var area, </a:t>
            </a:r>
            <a:r>
              <a:rPr lang="uk" sz="1400">
                <a:solidFill>
                  <a:srgbClr val="006699"/>
                </a:solidFill>
                <a:highlight>
                  <a:srgbClr val="F5F5FA"/>
                </a:highlight>
                <a:latin typeface="Courier New"/>
                <a:ea typeface="Courier New"/>
                <a:cs typeface="Courier New"/>
                <a:sym typeface="Courier New"/>
              </a:rPr>
              <a:t>out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var perimetr);</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Console.WriteLine($</a:t>
            </a:r>
            <a:r>
              <a:rPr lang="uk" sz="1400">
                <a:solidFill>
                  <a:srgbClr val="DB003E"/>
                </a:solidFill>
                <a:highlight>
                  <a:srgbClr val="F5F5FA"/>
                </a:highlight>
                <a:latin typeface="Courier New"/>
                <a:ea typeface="Courier New"/>
                <a:cs typeface="Courier New"/>
                <a:sym typeface="Courier New"/>
              </a:rPr>
              <a:t>"Площадь прямоугольника: {area}"</a:t>
            </a:r>
            <a:r>
              <a:rPr lang="uk" sz="1400">
                <a:solidFill>
                  <a:srgbClr val="188038"/>
                </a:solidFill>
                <a:highlight>
                  <a:srgbClr val="F5F5FA"/>
                </a:highlight>
                <a:latin typeface="Courier New"/>
                <a:ea typeface="Courier New"/>
                <a:cs typeface="Courier New"/>
                <a:sym typeface="Courier New"/>
              </a:rPr>
              <a:t>);   	</a:t>
            </a:r>
            <a:r>
              <a:rPr lang="uk" sz="1400">
                <a:solidFill>
                  <a:srgbClr val="008200"/>
                </a:solidFill>
                <a:highlight>
                  <a:srgbClr val="F5F5FA"/>
                </a:highlight>
                <a:latin typeface="Courier New"/>
                <a:ea typeface="Courier New"/>
                <a:cs typeface="Courier New"/>
                <a:sym typeface="Courier New"/>
              </a:rPr>
              <a:t>// 200</a:t>
            </a:r>
            <a:endParaRPr sz="1400">
              <a:solidFill>
                <a:srgbClr val="008200"/>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Console.WriteLine($</a:t>
            </a:r>
            <a:r>
              <a:rPr lang="uk" sz="1400">
                <a:solidFill>
                  <a:srgbClr val="DB003E"/>
                </a:solidFill>
                <a:highlight>
                  <a:srgbClr val="F5F5FA"/>
                </a:highlight>
                <a:latin typeface="Courier New"/>
                <a:ea typeface="Courier New"/>
                <a:cs typeface="Courier New"/>
                <a:sym typeface="Courier New"/>
              </a:rPr>
              <a:t>"Периметр прямоугольника: {perimetr}"</a:t>
            </a:r>
            <a:r>
              <a:rPr lang="uk" sz="1400">
                <a:solidFill>
                  <a:srgbClr val="188038"/>
                </a:solidFill>
                <a:highlight>
                  <a:srgbClr val="F5F5FA"/>
                </a:highlight>
                <a:latin typeface="Courier New"/>
                <a:ea typeface="Courier New"/>
                <a:cs typeface="Courier New"/>
                <a:sym typeface="Courier New"/>
              </a:rPr>
              <a:t>);   </a:t>
            </a:r>
            <a:r>
              <a:rPr lang="uk" sz="1400">
                <a:solidFill>
                  <a:srgbClr val="008200"/>
                </a:solidFill>
                <a:highlight>
                  <a:srgbClr val="F5F5FA"/>
                </a:highlight>
                <a:latin typeface="Courier New"/>
                <a:ea typeface="Courier New"/>
                <a:cs typeface="Courier New"/>
                <a:sym typeface="Courier New"/>
              </a:rPr>
              <a:t>// 60</a:t>
            </a:r>
            <a:endParaRPr sz="1400">
              <a:solidFill>
                <a:srgbClr val="008200"/>
              </a:solidFill>
              <a:highlight>
                <a:srgbClr val="F5F5FA"/>
              </a:highlight>
              <a:latin typeface="Courier New"/>
              <a:ea typeface="Courier New"/>
              <a:cs typeface="Courier New"/>
              <a:sym typeface="Courier New"/>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6"/>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Вхідні параметри</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334" name="Google Shape;334;p46"/>
          <p:cNvSpPr txBox="1"/>
          <p:nvPr/>
        </p:nvSpPr>
        <p:spPr>
          <a:xfrm>
            <a:off x="52600" y="1175168"/>
            <a:ext cx="11900800" cy="984845"/>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rPr>
              <a:t>Крім вихідних параметрів з модифікатором out, метод може використовувати вхідні параметри з модифікатором </a:t>
            </a:r>
            <a:r>
              <a:rPr lang="uk" sz="1600" b="1">
                <a:solidFill>
                  <a:schemeClr val="dk1"/>
                </a:solidFill>
                <a:highlight>
                  <a:srgbClr val="F7F7FA"/>
                </a:highlight>
              </a:rPr>
              <a:t>in</a:t>
            </a:r>
            <a:r>
              <a:rPr lang="uk" sz="1600">
                <a:solidFill>
                  <a:schemeClr val="dk1"/>
                </a:solidFill>
                <a:highlight>
                  <a:srgbClr val="F7F7FA"/>
                </a:highlight>
              </a:rPr>
              <a:t> . Модифікатор </a:t>
            </a:r>
            <a:r>
              <a:rPr lang="uk" sz="1600" b="1">
                <a:solidFill>
                  <a:schemeClr val="dk1"/>
                </a:solidFill>
                <a:highlight>
                  <a:srgbClr val="F7F7FA"/>
                </a:highlight>
              </a:rPr>
              <a:t>in</a:t>
            </a:r>
            <a:r>
              <a:rPr lang="uk" sz="1600">
                <a:solidFill>
                  <a:schemeClr val="dk1"/>
                </a:solidFill>
                <a:highlight>
                  <a:srgbClr val="F7F7FA"/>
                </a:highlight>
              </a:rPr>
              <a:t> вказує, що цей параметр передаватиметься у метод за посиланням, проте всередині методу його значення параметра не можна буде змінити. Наприклад, візьмемо наступний метод:</a:t>
            </a:r>
            <a:endParaRPr sz="2400"/>
          </a:p>
        </p:txBody>
      </p:sp>
      <p:sp>
        <p:nvSpPr>
          <p:cNvPr id="335" name="Google Shape;335;p46"/>
          <p:cNvSpPr txBox="1"/>
          <p:nvPr/>
        </p:nvSpPr>
        <p:spPr>
          <a:xfrm>
            <a:off x="0" y="2160367"/>
            <a:ext cx="11997200" cy="3467063"/>
          </a:xfrm>
          <a:prstGeom prst="rect">
            <a:avLst/>
          </a:prstGeom>
          <a:noFill/>
          <a:ln>
            <a:noFill/>
          </a:ln>
        </p:spPr>
        <p:txBody>
          <a:bodyPr spcFirstLastPara="1" wrap="square" lIns="121900" tIns="121900" rIns="121900" bIns="121900" anchor="t" anchorCtr="0">
            <a:spAutoFit/>
          </a:bodyPr>
          <a:lstStyle/>
          <a:p>
            <a:pPr marL="84665" marR="84665">
              <a:lnSpc>
                <a:spcPct val="115000"/>
              </a:lnSpc>
            </a:pPr>
            <a:r>
              <a:rPr lang="uk" sz="1400">
                <a:solidFill>
                  <a:srgbClr val="006699"/>
                </a:solidFill>
                <a:latin typeface="Courier New"/>
                <a:ea typeface="Courier New"/>
                <a:cs typeface="Courier New"/>
                <a:sym typeface="Courier New"/>
              </a:rPr>
              <a:t>void</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GetRectangleData(</a:t>
            </a:r>
            <a:r>
              <a:rPr lang="uk" sz="1400">
                <a:solidFill>
                  <a:srgbClr val="006699"/>
                </a:solidFill>
                <a:latin typeface="Courier New"/>
                <a:ea typeface="Courier New"/>
                <a:cs typeface="Courier New"/>
                <a:sym typeface="Courier New"/>
              </a:rPr>
              <a:t>in</a:t>
            </a:r>
            <a:r>
              <a:rPr lang="uk" sz="1400">
                <a:solidFill>
                  <a:schemeClr val="dk1"/>
                </a:solidFill>
                <a:latin typeface="Courier New"/>
                <a:ea typeface="Courier New"/>
                <a:cs typeface="Courier New"/>
                <a:sym typeface="Courier New"/>
              </a:rPr>
              <a:t> </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width, </a:t>
            </a:r>
            <a:r>
              <a:rPr lang="uk" sz="1400">
                <a:solidFill>
                  <a:srgbClr val="006699"/>
                </a:solidFill>
                <a:latin typeface="Courier New"/>
                <a:ea typeface="Courier New"/>
                <a:cs typeface="Courier New"/>
                <a:sym typeface="Courier New"/>
              </a:rPr>
              <a:t>in</a:t>
            </a:r>
            <a:r>
              <a:rPr lang="uk" sz="1400">
                <a:solidFill>
                  <a:schemeClr val="dk1"/>
                </a:solidFill>
                <a:latin typeface="Courier New"/>
                <a:ea typeface="Courier New"/>
                <a:cs typeface="Courier New"/>
                <a:sym typeface="Courier New"/>
              </a:rPr>
              <a:t> </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height, </a:t>
            </a:r>
            <a:r>
              <a:rPr lang="uk" sz="1400">
                <a:solidFill>
                  <a:srgbClr val="006699"/>
                </a:solidFill>
                <a:latin typeface="Courier New"/>
                <a:ea typeface="Courier New"/>
                <a:cs typeface="Courier New"/>
                <a:sym typeface="Courier New"/>
              </a:rPr>
              <a:t>out</a:t>
            </a:r>
            <a:r>
              <a:rPr lang="uk" sz="1400">
                <a:solidFill>
                  <a:schemeClr val="dk1"/>
                </a:solidFill>
                <a:latin typeface="Courier New"/>
                <a:ea typeface="Courier New"/>
                <a:cs typeface="Courier New"/>
                <a:sym typeface="Courier New"/>
              </a:rPr>
              <a:t> </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rectArea, </a:t>
            </a:r>
            <a:r>
              <a:rPr lang="uk" sz="1400">
                <a:solidFill>
                  <a:srgbClr val="006699"/>
                </a:solidFill>
                <a:latin typeface="Courier New"/>
                <a:ea typeface="Courier New"/>
                <a:cs typeface="Courier New"/>
                <a:sym typeface="Courier New"/>
              </a:rPr>
              <a:t>out</a:t>
            </a:r>
            <a:r>
              <a:rPr lang="uk" sz="1400">
                <a:solidFill>
                  <a:schemeClr val="dk1"/>
                </a:solidFill>
                <a:latin typeface="Courier New"/>
                <a:ea typeface="Courier New"/>
                <a:cs typeface="Courier New"/>
                <a:sym typeface="Courier New"/>
              </a:rPr>
              <a:t> </a:t>
            </a: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rectPerimetr)</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    </a:t>
            </a:r>
            <a:r>
              <a:rPr lang="uk" sz="1400">
                <a:solidFill>
                  <a:srgbClr val="008200"/>
                </a:solidFill>
                <a:latin typeface="Courier New"/>
                <a:ea typeface="Courier New"/>
                <a:cs typeface="Courier New"/>
                <a:sym typeface="Courier New"/>
              </a:rPr>
              <a:t>//width = 25; // нельзя изменить, так как width - входной параметр</a:t>
            </a:r>
            <a:endParaRPr sz="1400">
              <a:solidFill>
                <a:srgbClr val="008200"/>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    rectArea = width * height;  	</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    rectPerimetr = (width + height) * 2;</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chemeClr val="dk1"/>
                </a:solidFill>
                <a:latin typeface="Courier New"/>
                <a:ea typeface="Courier New"/>
                <a:cs typeface="Courier New"/>
                <a:sym typeface="Courier New"/>
              </a:rPr>
              <a:t> </a:t>
            </a:r>
            <a:endParaRPr sz="1400">
              <a:solidFill>
                <a:schemeClr val="dk1"/>
              </a:solidFill>
              <a:latin typeface="Courier New"/>
              <a:ea typeface="Courier New"/>
              <a:cs typeface="Courier New"/>
              <a:sym typeface="Courier New"/>
            </a:endParaRPr>
          </a:p>
          <a:p>
            <a:pPr marL="84665" marR="84665">
              <a:lnSpc>
                <a:spcPct val="115000"/>
              </a:lnSpc>
            </a:pP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w = 10;</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rgbClr val="006699"/>
                </a:solidFill>
                <a:latin typeface="Courier New"/>
                <a:ea typeface="Courier New"/>
                <a:cs typeface="Courier New"/>
                <a:sym typeface="Courier New"/>
              </a:rPr>
              <a:t>int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h = 20;</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GetRectangleData(w, h, </a:t>
            </a:r>
            <a:r>
              <a:rPr lang="uk" sz="1400">
                <a:solidFill>
                  <a:srgbClr val="006699"/>
                </a:solidFill>
                <a:latin typeface="Courier New"/>
                <a:ea typeface="Courier New"/>
                <a:cs typeface="Courier New"/>
                <a:sym typeface="Courier New"/>
              </a:rPr>
              <a:t>out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var area, </a:t>
            </a:r>
            <a:r>
              <a:rPr lang="uk" sz="1400">
                <a:solidFill>
                  <a:srgbClr val="006699"/>
                </a:solidFill>
                <a:latin typeface="Courier New"/>
                <a:ea typeface="Courier New"/>
                <a:cs typeface="Courier New"/>
                <a:sym typeface="Courier New"/>
              </a:rPr>
              <a:t>out</a:t>
            </a:r>
            <a:r>
              <a:rPr lang="uk" sz="1400">
                <a:solidFill>
                  <a:schemeClr val="dk1"/>
                </a:solidFill>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var perimetr);</a:t>
            </a:r>
            <a:endParaRPr sz="1400">
              <a:solidFill>
                <a:srgbClr val="188038"/>
              </a:solidFill>
              <a:latin typeface="Courier New"/>
              <a:ea typeface="Courier New"/>
              <a:cs typeface="Courier New"/>
              <a:sym typeface="Courier New"/>
            </a:endParaRPr>
          </a:p>
          <a:p>
            <a:pPr marL="84665" marR="84665">
              <a:lnSpc>
                <a:spcPct val="115000"/>
              </a:lnSpc>
            </a:pPr>
            <a:r>
              <a:rPr lang="uk" sz="1400">
                <a:solidFill>
                  <a:schemeClr val="dk1"/>
                </a:solidFill>
                <a:latin typeface="Courier New"/>
                <a:ea typeface="Courier New"/>
                <a:cs typeface="Courier New"/>
                <a:sym typeface="Courier New"/>
              </a:rPr>
              <a:t> </a:t>
            </a:r>
            <a:endParaRPr sz="1400">
              <a:solidFill>
                <a:schemeClr val="dk1"/>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Console.WriteLine($</a:t>
            </a:r>
            <a:r>
              <a:rPr lang="uk" sz="1400">
                <a:solidFill>
                  <a:srgbClr val="DB003E"/>
                </a:solidFill>
                <a:latin typeface="Courier New"/>
                <a:ea typeface="Courier New"/>
                <a:cs typeface="Courier New"/>
                <a:sym typeface="Courier New"/>
              </a:rPr>
              <a:t>"Площадь прямоугольника: {area}"</a:t>
            </a:r>
            <a:r>
              <a:rPr lang="uk" sz="1400">
                <a:solidFill>
                  <a:srgbClr val="188038"/>
                </a:solidFill>
                <a:latin typeface="Courier New"/>
                <a:ea typeface="Courier New"/>
                <a:cs typeface="Courier New"/>
                <a:sym typeface="Courier New"/>
              </a:rPr>
              <a:t>);   	</a:t>
            </a:r>
            <a:r>
              <a:rPr lang="uk" sz="1400">
                <a:solidFill>
                  <a:srgbClr val="008200"/>
                </a:solidFill>
                <a:latin typeface="Courier New"/>
                <a:ea typeface="Courier New"/>
                <a:cs typeface="Courier New"/>
                <a:sym typeface="Courier New"/>
              </a:rPr>
              <a:t>// 200</a:t>
            </a:r>
            <a:endParaRPr sz="1400">
              <a:solidFill>
                <a:srgbClr val="008200"/>
              </a:solidFill>
              <a:latin typeface="Courier New"/>
              <a:ea typeface="Courier New"/>
              <a:cs typeface="Courier New"/>
              <a:sym typeface="Courier New"/>
            </a:endParaRPr>
          </a:p>
          <a:p>
            <a:pPr marL="84665" marR="84665">
              <a:lnSpc>
                <a:spcPct val="115000"/>
              </a:lnSpc>
            </a:pPr>
            <a:r>
              <a:rPr lang="uk" sz="1400">
                <a:solidFill>
                  <a:srgbClr val="188038"/>
                </a:solidFill>
                <a:latin typeface="Courier New"/>
                <a:ea typeface="Courier New"/>
                <a:cs typeface="Courier New"/>
                <a:sym typeface="Courier New"/>
              </a:rPr>
              <a:t>Console.WriteLine($</a:t>
            </a:r>
            <a:r>
              <a:rPr lang="uk" sz="1400">
                <a:solidFill>
                  <a:srgbClr val="DB003E"/>
                </a:solidFill>
                <a:latin typeface="Courier New"/>
                <a:ea typeface="Courier New"/>
                <a:cs typeface="Courier New"/>
                <a:sym typeface="Courier New"/>
              </a:rPr>
              <a:t>"Периметр прямоугольника: {perimetr}"</a:t>
            </a:r>
            <a:r>
              <a:rPr lang="uk" sz="1400">
                <a:solidFill>
                  <a:srgbClr val="188038"/>
                </a:solidFill>
                <a:latin typeface="Courier New"/>
                <a:ea typeface="Courier New"/>
                <a:cs typeface="Courier New"/>
                <a:sym typeface="Courier New"/>
              </a:rPr>
              <a:t>);   </a:t>
            </a:r>
            <a:r>
              <a:rPr lang="uk" sz="1400">
                <a:solidFill>
                  <a:srgbClr val="008200"/>
                </a:solidFill>
                <a:latin typeface="Courier New"/>
                <a:ea typeface="Courier New"/>
                <a:cs typeface="Courier New"/>
                <a:sym typeface="Courier New"/>
              </a:rPr>
              <a:t>// 60</a:t>
            </a:r>
            <a:endParaRPr sz="1400">
              <a:solidFill>
                <a:srgbClr val="008200"/>
              </a:solidFill>
              <a:latin typeface="Courier New"/>
              <a:ea typeface="Courier New"/>
              <a:cs typeface="Courier New"/>
              <a:sym typeface="Courier New"/>
            </a:endParaRPr>
          </a:p>
        </p:txBody>
      </p:sp>
      <p:sp>
        <p:nvSpPr>
          <p:cNvPr id="336" name="Google Shape;336;p46"/>
          <p:cNvSpPr txBox="1"/>
          <p:nvPr/>
        </p:nvSpPr>
        <p:spPr>
          <a:xfrm>
            <a:off x="52600" y="5367134"/>
            <a:ext cx="12192000" cy="1994352"/>
          </a:xfrm>
          <a:prstGeom prst="rect">
            <a:avLst/>
          </a:prstGeom>
          <a:noFill/>
          <a:ln>
            <a:noFill/>
          </a:ln>
        </p:spPr>
        <p:txBody>
          <a:bodyPr spcFirstLastPara="1" wrap="square" lIns="121900" tIns="121900" rIns="121900" bIns="121900" anchor="t" anchorCtr="0">
            <a:spAutoFit/>
          </a:bodyPr>
          <a:lstStyle/>
          <a:p>
            <a:pPr>
              <a:lnSpc>
                <a:spcPct val="115000"/>
              </a:lnSpc>
              <a:spcBef>
                <a:spcPts val="1600"/>
              </a:spcBef>
            </a:pPr>
            <a:r>
              <a:rPr lang="uk" sz="1600">
                <a:solidFill>
                  <a:schemeClr val="dk1"/>
                </a:solidFill>
              </a:rPr>
              <a:t>В даному випадку через вхідні параметри </a:t>
            </a:r>
            <a:r>
              <a:rPr lang="uk" sz="1600">
                <a:solidFill>
                  <a:srgbClr val="188038"/>
                </a:solidFill>
                <a:latin typeface="Roboto Mono"/>
                <a:ea typeface="Roboto Mono"/>
                <a:cs typeface="Roboto Mono"/>
                <a:sym typeface="Roboto Mono"/>
              </a:rPr>
              <a:t>width </a:t>
            </a:r>
            <a:r>
              <a:rPr lang="uk" sz="1600">
                <a:solidFill>
                  <a:schemeClr val="dk1"/>
                </a:solidFill>
              </a:rPr>
              <a:t>і  </a:t>
            </a:r>
            <a:r>
              <a:rPr lang="uk" sz="1600">
                <a:solidFill>
                  <a:srgbClr val="188038"/>
                </a:solidFill>
                <a:latin typeface="Roboto Mono"/>
                <a:ea typeface="Roboto Mono"/>
                <a:cs typeface="Roboto Mono"/>
                <a:sym typeface="Roboto Mono"/>
              </a:rPr>
              <a:t>height </a:t>
            </a:r>
            <a:r>
              <a:rPr lang="uk" sz="1600">
                <a:solidFill>
                  <a:schemeClr val="dk1"/>
                </a:solidFill>
              </a:rPr>
              <a:t>метод передаються значення, але в самому методі ми не можемо змінити значення цих параметрів, так як вони визначені з модифікатором </a:t>
            </a:r>
            <a:r>
              <a:rPr lang="uk" sz="1600" b="1">
                <a:solidFill>
                  <a:schemeClr val="dk1"/>
                </a:solidFill>
              </a:rPr>
              <a:t>in</a:t>
            </a:r>
            <a:r>
              <a:rPr lang="uk" sz="1600">
                <a:solidFill>
                  <a:schemeClr val="dk1"/>
                </a:solidFill>
              </a:rPr>
              <a:t> .</a:t>
            </a:r>
            <a:endParaRPr sz="1600">
              <a:solidFill>
                <a:schemeClr val="dk1"/>
              </a:solidFill>
            </a:endParaRPr>
          </a:p>
          <a:p>
            <a:pPr>
              <a:lnSpc>
                <a:spcPct val="115000"/>
              </a:lnSpc>
              <a:spcBef>
                <a:spcPts val="1600"/>
              </a:spcBef>
              <a:spcAft>
                <a:spcPts val="1600"/>
              </a:spcAft>
            </a:pPr>
            <a:r>
              <a:rPr lang="uk" sz="1600">
                <a:solidFill>
                  <a:schemeClr val="dk1"/>
                </a:solidFill>
              </a:rPr>
              <a:t>Передача посилання в деяких випадках може збільшити продуктивність, а використання оператора </a:t>
            </a:r>
            <a:r>
              <a:rPr lang="uk" sz="1600" b="1">
                <a:solidFill>
                  <a:schemeClr val="dk1"/>
                </a:solidFill>
              </a:rPr>
              <a:t>in</a:t>
            </a:r>
            <a:r>
              <a:rPr lang="uk" sz="1600">
                <a:solidFill>
                  <a:schemeClr val="dk1"/>
                </a:solidFill>
              </a:rPr>
              <a:t> гарантує, що значення змінних, які передаються параметрам, не можна буде змінити в цьому методі.</a:t>
            </a:r>
            <a:endParaRPr sz="16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7"/>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ref-параметри тільки для читання</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342" name="Google Shape;342;p47"/>
          <p:cNvSpPr txBox="1"/>
          <p:nvPr/>
        </p:nvSpPr>
        <p:spPr>
          <a:xfrm>
            <a:off x="168133" y="1166401"/>
            <a:ext cx="11785200" cy="984845"/>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rPr>
              <a:t>У прикладах вище можна було змінювати значення </a:t>
            </a:r>
            <a:r>
              <a:rPr lang="uk" sz="1600" b="1">
                <a:solidFill>
                  <a:schemeClr val="dk1"/>
                </a:solidFill>
                <a:highlight>
                  <a:srgbClr val="F7F7FA"/>
                </a:highlight>
              </a:rPr>
              <a:t>ref-</a:t>
            </a:r>
            <a:r>
              <a:rPr lang="uk" sz="1600">
                <a:solidFill>
                  <a:schemeClr val="dk1"/>
                </a:solidFill>
                <a:highlight>
                  <a:srgbClr val="F7F7FA"/>
                </a:highlight>
              </a:rPr>
              <a:t> параметра. Однак іноді це може бути небажаним. І щоб гарантувати, що </a:t>
            </a:r>
            <a:r>
              <a:rPr lang="uk" sz="1600" b="1">
                <a:solidFill>
                  <a:schemeClr val="dk1"/>
                </a:solidFill>
                <a:highlight>
                  <a:srgbClr val="F7F7FA"/>
                </a:highlight>
              </a:rPr>
              <a:t>ref</a:t>
            </a:r>
            <a:r>
              <a:rPr lang="uk" sz="1600">
                <a:solidFill>
                  <a:schemeClr val="dk1"/>
                </a:solidFill>
                <a:highlight>
                  <a:srgbClr val="F7F7FA"/>
                </a:highlight>
              </a:rPr>
              <a:t> -параметр не змінить свого значення, починаючи з версії C# 12 можна застосовувати </a:t>
            </a:r>
            <a:r>
              <a:rPr lang="uk" sz="1600" b="1">
                <a:solidFill>
                  <a:schemeClr val="dk1"/>
                </a:solidFill>
                <a:highlight>
                  <a:srgbClr val="F7F7FA"/>
                </a:highlight>
              </a:rPr>
              <a:t>ref</a:t>
            </a:r>
            <a:r>
              <a:rPr lang="uk" sz="1600">
                <a:solidFill>
                  <a:schemeClr val="dk1"/>
                </a:solidFill>
                <a:highlight>
                  <a:srgbClr val="F7F7FA"/>
                </a:highlight>
              </a:rPr>
              <a:t> -параметри лише для читання. Такі параметри випереджаються ключовим словом </a:t>
            </a:r>
            <a:r>
              <a:rPr lang="uk" sz="1600" b="1">
                <a:solidFill>
                  <a:schemeClr val="dk1"/>
                </a:solidFill>
                <a:highlight>
                  <a:srgbClr val="F7F7FA"/>
                </a:highlight>
              </a:rPr>
              <a:t>readonly</a:t>
            </a:r>
            <a:r>
              <a:rPr lang="uk" sz="1600">
                <a:solidFill>
                  <a:schemeClr val="dk1"/>
                </a:solidFill>
                <a:highlight>
                  <a:srgbClr val="F7F7FA"/>
                </a:highlight>
              </a:rPr>
              <a:t> :</a:t>
            </a:r>
            <a:endParaRPr sz="2400"/>
          </a:p>
        </p:txBody>
      </p:sp>
      <p:sp>
        <p:nvSpPr>
          <p:cNvPr id="343" name="Google Shape;343;p47"/>
          <p:cNvSpPr txBox="1"/>
          <p:nvPr/>
        </p:nvSpPr>
        <p:spPr>
          <a:xfrm>
            <a:off x="202533" y="2151601"/>
            <a:ext cx="11716400" cy="3019056"/>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highlight>
                  <a:srgbClr val="F5F5FA"/>
                </a:highlight>
                <a:latin typeface="Courier New"/>
                <a:ea typeface="Courier New"/>
                <a:cs typeface="Courier New"/>
                <a:sym typeface="Courier New"/>
              </a:rPr>
              <a:t>void</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Increment(</a:t>
            </a:r>
            <a:r>
              <a:rPr lang="uk" sz="1400">
                <a:solidFill>
                  <a:srgbClr val="006699"/>
                </a:solidFill>
                <a:highlight>
                  <a:srgbClr val="F5F5FA"/>
                </a:highlight>
                <a:latin typeface="Courier New"/>
                <a:ea typeface="Courier New"/>
                <a:cs typeface="Courier New"/>
                <a:sym typeface="Courier New"/>
              </a:rPr>
              <a:t>ref</a:t>
            </a:r>
            <a:r>
              <a:rPr lang="uk" sz="1400">
                <a:solidFill>
                  <a:schemeClr val="dk1"/>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readonly</a:t>
            </a:r>
            <a:r>
              <a:rPr lang="uk" sz="1400">
                <a:solidFill>
                  <a:schemeClr val="dk1"/>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a:t>
            </a:r>
            <a:r>
              <a:rPr lang="uk" sz="1400">
                <a:solidFill>
                  <a:srgbClr val="008200"/>
                </a:solidFill>
                <a:highlight>
                  <a:srgbClr val="F5F5FA"/>
                </a:highlight>
                <a:latin typeface="Courier New"/>
                <a:ea typeface="Courier New"/>
                <a:cs typeface="Courier New"/>
                <a:sym typeface="Courier New"/>
              </a:rPr>
              <a:t>// n++; // нельзя, иначе будет очишка компиляции</a:t>
            </a:r>
            <a:endParaRPr sz="1400">
              <a:solidFill>
                <a:srgbClr val="008200"/>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Console.WriteLine($</a:t>
            </a:r>
            <a:r>
              <a:rPr lang="uk" sz="1400">
                <a:solidFill>
                  <a:srgbClr val="DB003E"/>
                </a:solidFill>
                <a:highlight>
                  <a:srgbClr val="F5F5FA"/>
                </a:highlight>
                <a:latin typeface="Courier New"/>
                <a:ea typeface="Courier New"/>
                <a:cs typeface="Courier New"/>
                <a:sym typeface="Courier New"/>
              </a:rPr>
              <a:t>"Число в методе Increment: {n}"</a:t>
            </a: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a:t>
            </a: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43181"/>
              </a:lnSpc>
            </a:pP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number = 5;</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Increment(</a:t>
            </a:r>
            <a:r>
              <a:rPr lang="uk" sz="1400">
                <a:solidFill>
                  <a:srgbClr val="006699"/>
                </a:solidFill>
                <a:highlight>
                  <a:srgbClr val="F5F5FA"/>
                </a:highlight>
                <a:latin typeface="Courier New"/>
                <a:ea typeface="Courier New"/>
                <a:cs typeface="Courier New"/>
                <a:sym typeface="Courier New"/>
              </a:rPr>
              <a:t>ref</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number);</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Console.WriteLine($</a:t>
            </a:r>
            <a:r>
              <a:rPr lang="uk" sz="1400">
                <a:solidFill>
                  <a:srgbClr val="DB003E"/>
                </a:solidFill>
                <a:highlight>
                  <a:srgbClr val="F5F5FA"/>
                </a:highlight>
                <a:latin typeface="Courier New"/>
                <a:ea typeface="Courier New"/>
                <a:cs typeface="Courier New"/>
                <a:sym typeface="Courier New"/>
              </a:rPr>
              <a:t>"Число после метода Increment: {number}"</a:t>
            </a: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p:txBody>
      </p:sp>
      <p:sp>
        <p:nvSpPr>
          <p:cNvPr id="344" name="Google Shape;344;p47"/>
          <p:cNvSpPr txBox="1"/>
          <p:nvPr/>
        </p:nvSpPr>
        <p:spPr>
          <a:xfrm>
            <a:off x="-35267" y="5156667"/>
            <a:ext cx="12192000" cy="738623"/>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rPr>
              <a:t>В даному випадку метод Increment параметр n передається за посиланням і при цьому він доступний тільки для читання. При спробі змінити його значення ми отримаємо помилку на етапі компіляції.</a:t>
            </a:r>
            <a:endParaRPr sz="2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48"/>
          <p:cNvSpPr txBox="1"/>
          <p:nvPr/>
        </p:nvSpPr>
        <p:spPr>
          <a:xfrm>
            <a:off x="168133" y="211967"/>
            <a:ext cx="11785200" cy="2462172"/>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Масив параметрів та ключове слово params</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350" name="Google Shape;350;p48"/>
          <p:cNvSpPr txBox="1"/>
          <p:nvPr/>
        </p:nvSpPr>
        <p:spPr>
          <a:xfrm>
            <a:off x="0" y="1850433"/>
            <a:ext cx="12192000" cy="738623"/>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rPr>
              <a:t>У попередніх прикладах ми використовували постійне число параметрів. Але, використовуючи ключове слово </a:t>
            </a:r>
            <a:r>
              <a:rPr lang="uk" sz="1600" b="1">
                <a:solidFill>
                  <a:schemeClr val="dk1"/>
                </a:solidFill>
                <a:highlight>
                  <a:srgbClr val="F7F7FA"/>
                </a:highlight>
              </a:rPr>
              <a:t>params</a:t>
            </a:r>
            <a:r>
              <a:rPr lang="uk" sz="1600">
                <a:solidFill>
                  <a:schemeClr val="dk1"/>
                </a:solidFill>
                <a:highlight>
                  <a:srgbClr val="F7F7FA"/>
                </a:highlight>
              </a:rPr>
              <a:t> , ми можемо передавати невизначену кількість параметрів:</a:t>
            </a:r>
            <a:endParaRPr sz="2400"/>
          </a:p>
        </p:txBody>
      </p:sp>
      <p:sp>
        <p:nvSpPr>
          <p:cNvPr id="351" name="Google Shape;351;p48"/>
          <p:cNvSpPr txBox="1"/>
          <p:nvPr/>
        </p:nvSpPr>
        <p:spPr>
          <a:xfrm>
            <a:off x="0" y="2589233"/>
            <a:ext cx="10743200" cy="3962583"/>
          </a:xfrm>
          <a:prstGeom prst="rect">
            <a:avLst/>
          </a:prstGeom>
          <a:noFill/>
          <a:ln>
            <a:noFill/>
          </a:ln>
        </p:spPr>
        <p:txBody>
          <a:bodyPr spcFirstLastPara="1" wrap="square" lIns="121900" tIns="121900" rIns="121900" bIns="121900" anchor="t" anchorCtr="0">
            <a:spAutoFit/>
          </a:bodyPr>
          <a:lstStyle/>
          <a:p>
            <a:pPr marL="84665" marR="84665">
              <a:lnSpc>
                <a:spcPct val="115000"/>
              </a:lnSpc>
            </a:pPr>
            <a:r>
              <a:rPr lang="uk" sz="1400">
                <a:solidFill>
                  <a:srgbClr val="006699"/>
                </a:solidFill>
                <a:highlight>
                  <a:srgbClr val="F5F5FA"/>
                </a:highlight>
                <a:latin typeface="Courier New"/>
                <a:ea typeface="Courier New"/>
                <a:cs typeface="Courier New"/>
                <a:sym typeface="Courier New"/>
              </a:rPr>
              <a:t>void</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Sum(</a:t>
            </a:r>
            <a:r>
              <a:rPr lang="uk" sz="1400">
                <a:solidFill>
                  <a:srgbClr val="006699"/>
                </a:solidFill>
                <a:highlight>
                  <a:srgbClr val="F5F5FA"/>
                </a:highlight>
                <a:latin typeface="Courier New"/>
                <a:ea typeface="Courier New"/>
                <a:cs typeface="Courier New"/>
                <a:sym typeface="Courier New"/>
              </a:rPr>
              <a:t>params</a:t>
            </a:r>
            <a:r>
              <a:rPr lang="uk" sz="1400">
                <a:solidFill>
                  <a:schemeClr val="dk1"/>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int</a:t>
            </a:r>
            <a:r>
              <a:rPr lang="uk" sz="1400">
                <a:solidFill>
                  <a:srgbClr val="188038"/>
                </a:solidFill>
                <a:highlight>
                  <a:srgbClr val="F5F5FA"/>
                </a:highlight>
                <a:latin typeface="Courier New"/>
                <a:ea typeface="Courier New"/>
                <a:cs typeface="Courier New"/>
                <a:sym typeface="Courier New"/>
              </a:rPr>
              <a:t>[]  numbers)</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result = 0;</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foreach</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(var n </a:t>
            </a:r>
            <a:r>
              <a:rPr lang="uk" sz="1400">
                <a:solidFill>
                  <a:srgbClr val="006699"/>
                </a:solidFill>
                <a:highlight>
                  <a:srgbClr val="F5F5FA"/>
                </a:highlight>
                <a:latin typeface="Courier New"/>
                <a:ea typeface="Courier New"/>
                <a:cs typeface="Courier New"/>
                <a:sym typeface="Courier New"/>
              </a:rPr>
              <a:t>in</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numbers)</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result += n;</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Console.WriteLine(result);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15000"/>
              </a:lnSpc>
            </a:pPr>
            <a:r>
              <a:rPr lang="uk" sz="1400">
                <a:solidFill>
                  <a:srgbClr val="006699"/>
                </a:solidFill>
                <a:highlight>
                  <a:srgbClr val="F5F5FA"/>
                </a:highlight>
                <a:latin typeface="Courier New"/>
                <a:ea typeface="Courier New"/>
                <a:cs typeface="Courier New"/>
                <a:sym typeface="Courier New"/>
              </a:rPr>
              <a:t>int</a:t>
            </a:r>
            <a:r>
              <a:rPr lang="uk" sz="1400">
                <a:solidFill>
                  <a:srgbClr val="188038"/>
                </a:solidFill>
                <a:highlight>
                  <a:srgbClr val="F5F5FA"/>
                </a:highlight>
                <a:latin typeface="Courier New"/>
                <a:ea typeface="Courier New"/>
                <a:cs typeface="Courier New"/>
                <a:sym typeface="Courier New"/>
              </a:rPr>
              <a:t>[] nums = { 1, 2, 3, 4, 5};</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Sum(nums);</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Sum(1, 2, 3, 4);</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Sum(1, 2, 3);</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Sum();</a:t>
            </a:r>
            <a:endParaRPr sz="1400">
              <a:solidFill>
                <a:srgbClr val="188038"/>
              </a:solidFill>
              <a:highlight>
                <a:srgbClr val="F5F5FA"/>
              </a:highlight>
              <a:latin typeface="Courier New"/>
              <a:ea typeface="Courier New"/>
              <a:cs typeface="Courier New"/>
              <a:sym typeface="Courier New"/>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49"/>
          <p:cNvSpPr txBox="1"/>
          <p:nvPr/>
        </p:nvSpPr>
        <p:spPr>
          <a:xfrm>
            <a:off x="168133" y="211967"/>
            <a:ext cx="11785200" cy="2462172"/>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Масив параметрів та ключове слово params</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357" name="Google Shape;357;p49"/>
          <p:cNvSpPr txBox="1"/>
          <p:nvPr/>
        </p:nvSpPr>
        <p:spPr>
          <a:xfrm>
            <a:off x="-35267" y="1964467"/>
            <a:ext cx="3622000" cy="3447057"/>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rPr>
              <a:t>Сам параметр із ключовим словом </a:t>
            </a:r>
            <a:r>
              <a:rPr lang="uk" sz="1600" b="1">
                <a:solidFill>
                  <a:schemeClr val="dk1"/>
                </a:solidFill>
                <a:highlight>
                  <a:srgbClr val="F7F7FA"/>
                </a:highlight>
              </a:rPr>
              <a:t>params</a:t>
            </a:r>
            <a:r>
              <a:rPr lang="uk" sz="1600">
                <a:solidFill>
                  <a:schemeClr val="dk1"/>
                </a:solidFill>
                <a:highlight>
                  <a:srgbClr val="F7F7FA"/>
                </a:highlight>
              </a:rPr>
              <a:t> щодо методу повинен представляти одномірний масив того типу, дані якого ми збираємося використовувати. При виклику методу місце параметра з модифікатором </a:t>
            </a:r>
            <a:r>
              <a:rPr lang="uk" sz="1600" b="1">
                <a:solidFill>
                  <a:schemeClr val="dk1"/>
                </a:solidFill>
                <a:highlight>
                  <a:srgbClr val="F7F7FA"/>
                </a:highlight>
              </a:rPr>
              <a:t>params</a:t>
            </a:r>
            <a:r>
              <a:rPr lang="uk" sz="1600">
                <a:solidFill>
                  <a:schemeClr val="dk1"/>
                </a:solidFill>
                <a:highlight>
                  <a:srgbClr val="F7F7FA"/>
                </a:highlight>
              </a:rPr>
              <a:t> ми можемо передати як окремі значення, і масив значень, або взагалі передавати параметри. Кількість переданих значень метод невизначена, проте всі ці значення повинні відповідати типу параметра з </a:t>
            </a:r>
            <a:r>
              <a:rPr lang="uk" sz="1600" b="1">
                <a:solidFill>
                  <a:schemeClr val="dk1"/>
                </a:solidFill>
                <a:highlight>
                  <a:srgbClr val="F7F7FA"/>
                </a:highlight>
              </a:rPr>
              <a:t>params</a:t>
            </a:r>
            <a:r>
              <a:rPr lang="uk" sz="1600">
                <a:solidFill>
                  <a:schemeClr val="dk1"/>
                </a:solidFill>
                <a:highlight>
                  <a:srgbClr val="F7F7FA"/>
                </a:highlight>
              </a:rPr>
              <a:t> .</a:t>
            </a:r>
            <a:endParaRPr sz="2400"/>
          </a:p>
        </p:txBody>
      </p:sp>
      <p:sp>
        <p:nvSpPr>
          <p:cNvPr id="358" name="Google Shape;358;p49"/>
          <p:cNvSpPr txBox="1"/>
          <p:nvPr/>
        </p:nvSpPr>
        <p:spPr>
          <a:xfrm>
            <a:off x="3700867" y="1964467"/>
            <a:ext cx="4104400" cy="1506013"/>
          </a:xfrm>
          <a:prstGeom prst="rect">
            <a:avLst/>
          </a:prstGeom>
          <a:noFill/>
          <a:ln>
            <a:noFill/>
          </a:ln>
        </p:spPr>
        <p:txBody>
          <a:bodyPr spcFirstLastPara="1" wrap="square" lIns="121900" tIns="121900" rIns="121900" bIns="121900" anchor="t" anchorCtr="0">
            <a:spAutoFit/>
          </a:bodyPr>
          <a:lstStyle/>
          <a:p>
            <a:pPr>
              <a:lnSpc>
                <a:spcPct val="115000"/>
              </a:lnSpc>
              <a:spcBef>
                <a:spcPts val="1600"/>
              </a:spcBef>
              <a:spcAft>
                <a:spcPts val="1600"/>
              </a:spcAft>
            </a:pPr>
            <a:r>
              <a:rPr lang="uk" sz="1600">
                <a:solidFill>
                  <a:schemeClr val="dk1"/>
                </a:solidFill>
              </a:rPr>
              <a:t>Якщо нам треба передати якісь інші параметри, то вони повинні вказуватися до параметра з ключовим словом params:</a:t>
            </a:r>
            <a:endParaRPr sz="1600">
              <a:solidFill>
                <a:schemeClr val="dk1"/>
              </a:solidFill>
            </a:endParaRPr>
          </a:p>
        </p:txBody>
      </p:sp>
      <p:sp>
        <p:nvSpPr>
          <p:cNvPr id="359" name="Google Shape;359;p49"/>
          <p:cNvSpPr txBox="1"/>
          <p:nvPr/>
        </p:nvSpPr>
        <p:spPr>
          <a:xfrm>
            <a:off x="7682367" y="2192468"/>
            <a:ext cx="4000000" cy="4458103"/>
          </a:xfrm>
          <a:prstGeom prst="rect">
            <a:avLst/>
          </a:prstGeom>
          <a:noFill/>
          <a:ln>
            <a:noFill/>
          </a:ln>
        </p:spPr>
        <p:txBody>
          <a:bodyPr spcFirstLastPara="1" wrap="square" lIns="121900" tIns="121900" rIns="121900" bIns="121900" anchor="t" anchorCtr="0">
            <a:spAutoFit/>
          </a:bodyPr>
          <a:lstStyle/>
          <a:p>
            <a:pPr marL="84665" marR="84665">
              <a:lnSpc>
                <a:spcPct val="115000"/>
              </a:lnSpc>
            </a:pPr>
            <a:r>
              <a:rPr lang="uk" sz="1400">
                <a:solidFill>
                  <a:srgbClr val="006699"/>
                </a:solidFill>
                <a:highlight>
                  <a:srgbClr val="F5F5FA"/>
                </a:highlight>
                <a:latin typeface="Courier New"/>
                <a:ea typeface="Courier New"/>
                <a:cs typeface="Courier New"/>
                <a:sym typeface="Courier New"/>
              </a:rPr>
              <a:t>void</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Sum(</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initialValue, </a:t>
            </a:r>
            <a:r>
              <a:rPr lang="uk" sz="1400">
                <a:solidFill>
                  <a:srgbClr val="006699"/>
                </a:solidFill>
                <a:highlight>
                  <a:srgbClr val="F5F5FA"/>
                </a:highlight>
                <a:latin typeface="Courier New"/>
                <a:ea typeface="Courier New"/>
                <a:cs typeface="Courier New"/>
                <a:sym typeface="Courier New"/>
              </a:rPr>
              <a:t>params</a:t>
            </a:r>
            <a:r>
              <a:rPr lang="uk" sz="1400">
                <a:solidFill>
                  <a:schemeClr val="dk1"/>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int</a:t>
            </a:r>
            <a:r>
              <a:rPr lang="uk" sz="1400">
                <a:solidFill>
                  <a:srgbClr val="188038"/>
                </a:solidFill>
                <a:highlight>
                  <a:srgbClr val="F5F5FA"/>
                </a:highlight>
                <a:latin typeface="Courier New"/>
                <a:ea typeface="Courier New"/>
                <a:cs typeface="Courier New"/>
                <a:sym typeface="Courier New"/>
              </a:rPr>
              <a:t>[]  numbers)</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result = initialValue;</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foreach</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(var n </a:t>
            </a:r>
            <a:r>
              <a:rPr lang="uk" sz="1400">
                <a:solidFill>
                  <a:srgbClr val="006699"/>
                </a:solidFill>
                <a:highlight>
                  <a:srgbClr val="F5F5FA"/>
                </a:highlight>
                <a:latin typeface="Courier New"/>
                <a:ea typeface="Courier New"/>
                <a:cs typeface="Courier New"/>
                <a:sym typeface="Courier New"/>
              </a:rPr>
              <a:t>in</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numbers)</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result += n;</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Console.WriteLine(result);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15000"/>
              </a:lnSpc>
            </a:pPr>
            <a:r>
              <a:rPr lang="uk" sz="1400">
                <a:solidFill>
                  <a:srgbClr val="006699"/>
                </a:solidFill>
                <a:highlight>
                  <a:srgbClr val="F5F5FA"/>
                </a:highlight>
                <a:latin typeface="Courier New"/>
                <a:ea typeface="Courier New"/>
                <a:cs typeface="Courier New"/>
                <a:sym typeface="Courier New"/>
              </a:rPr>
              <a:t>int</a:t>
            </a:r>
            <a:r>
              <a:rPr lang="uk" sz="1400">
                <a:solidFill>
                  <a:srgbClr val="188038"/>
                </a:solidFill>
                <a:highlight>
                  <a:srgbClr val="F5F5FA"/>
                </a:highlight>
                <a:latin typeface="Courier New"/>
                <a:ea typeface="Courier New"/>
                <a:cs typeface="Courier New"/>
                <a:sym typeface="Courier New"/>
              </a:rPr>
              <a:t>[] nums = { 1, 2, 3, 4, 5};</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Sum(10, nums);  </a:t>
            </a:r>
            <a:r>
              <a:rPr lang="uk" sz="1400">
                <a:solidFill>
                  <a:srgbClr val="008200"/>
                </a:solidFill>
                <a:highlight>
                  <a:srgbClr val="F5F5FA"/>
                </a:highlight>
                <a:latin typeface="Courier New"/>
                <a:ea typeface="Courier New"/>
                <a:cs typeface="Courier New"/>
                <a:sym typeface="Courier New"/>
              </a:rPr>
              <a:t>// число 10 - передается параметру initialValue</a:t>
            </a:r>
            <a:endParaRPr sz="1400">
              <a:solidFill>
                <a:srgbClr val="008200"/>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Sum(1, 2, 3, 4);</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Sum(1, 2, 3);</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Sum(20);</a:t>
            </a:r>
            <a:endParaRPr sz="1400">
              <a:solidFill>
                <a:srgbClr val="188038"/>
              </a:solidFill>
              <a:highlight>
                <a:srgbClr val="F5F5FA"/>
              </a:highlight>
              <a:latin typeface="Courier New"/>
              <a:ea typeface="Courier New"/>
              <a:cs typeface="Courier New"/>
              <a:sym typeface="Courier New"/>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50"/>
          <p:cNvSpPr txBox="1"/>
          <p:nvPr/>
        </p:nvSpPr>
        <p:spPr>
          <a:xfrm>
            <a:off x="168133" y="211967"/>
            <a:ext cx="11785200" cy="2462172"/>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Масив параметрів та ключове слово params</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365" name="Google Shape;365;p50"/>
          <p:cNvSpPr txBox="1"/>
          <p:nvPr/>
        </p:nvSpPr>
        <p:spPr>
          <a:xfrm>
            <a:off x="-35267" y="1946901"/>
            <a:ext cx="12192000" cy="1711197"/>
          </a:xfrm>
          <a:prstGeom prst="rect">
            <a:avLst/>
          </a:prstGeom>
          <a:noFill/>
          <a:ln>
            <a:noFill/>
          </a:ln>
        </p:spPr>
        <p:txBody>
          <a:bodyPr spcFirstLastPara="1" wrap="square" lIns="121900" tIns="121900" rIns="121900" bIns="121900" anchor="t" anchorCtr="0">
            <a:spAutoFit/>
          </a:bodyPr>
          <a:lstStyle/>
          <a:p>
            <a:pPr>
              <a:lnSpc>
                <a:spcPct val="115000"/>
              </a:lnSpc>
              <a:spcBef>
                <a:spcPts val="1600"/>
              </a:spcBef>
            </a:pPr>
            <a:r>
              <a:rPr lang="uk" sz="1600">
                <a:solidFill>
                  <a:schemeClr val="dk1"/>
                </a:solidFill>
              </a:rPr>
              <a:t>Тут метод Sum має обов'язковий параметр initialValue, тому при виклику методу йому потрібно обов'язково передати значення. Тому перше значення під час виклику методу передаватиметься цьому параметру.</a:t>
            </a:r>
            <a:endParaRPr sz="1600">
              <a:solidFill>
                <a:schemeClr val="dk1"/>
              </a:solidFill>
            </a:endParaRPr>
          </a:p>
          <a:p>
            <a:pPr>
              <a:lnSpc>
                <a:spcPct val="115000"/>
              </a:lnSpc>
              <a:spcBef>
                <a:spcPts val="1600"/>
              </a:spcBef>
              <a:spcAft>
                <a:spcPts val="1600"/>
              </a:spcAft>
            </a:pPr>
            <a:r>
              <a:rPr lang="uk" sz="1600">
                <a:solidFill>
                  <a:schemeClr val="dk1"/>
                </a:solidFill>
              </a:rPr>
              <a:t>Однак, після параметра з модифікатором </a:t>
            </a:r>
            <a:r>
              <a:rPr lang="uk" sz="1600" b="1">
                <a:solidFill>
                  <a:schemeClr val="dk1"/>
                </a:solidFill>
              </a:rPr>
              <a:t>params</a:t>
            </a:r>
            <a:r>
              <a:rPr lang="uk" sz="1600">
                <a:solidFill>
                  <a:schemeClr val="dk1"/>
                </a:solidFill>
              </a:rPr>
              <a:t> ми не можемо вказувати інші параметри. Тобто таке визначення методу неприпустимо:</a:t>
            </a:r>
            <a:endParaRPr sz="1600">
              <a:solidFill>
                <a:schemeClr val="dk1"/>
              </a:solidFill>
            </a:endParaRPr>
          </a:p>
        </p:txBody>
      </p:sp>
      <p:sp>
        <p:nvSpPr>
          <p:cNvPr id="366" name="Google Shape;366;p50"/>
          <p:cNvSpPr txBox="1"/>
          <p:nvPr/>
        </p:nvSpPr>
        <p:spPr>
          <a:xfrm>
            <a:off x="168133" y="3429000"/>
            <a:ext cx="9101600" cy="1170473"/>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8200"/>
                </a:solidFill>
                <a:highlight>
                  <a:srgbClr val="F5F5FA"/>
                </a:highlight>
                <a:latin typeface="Courier New"/>
                <a:ea typeface="Courier New"/>
                <a:cs typeface="Courier New"/>
                <a:sym typeface="Courier New"/>
              </a:rPr>
              <a:t>//Так НЕ работает</a:t>
            </a:r>
            <a:endParaRPr sz="1400">
              <a:solidFill>
                <a:srgbClr val="008200"/>
              </a:solidFill>
              <a:highlight>
                <a:srgbClr val="F5F5FA"/>
              </a:highlight>
              <a:latin typeface="Courier New"/>
              <a:ea typeface="Courier New"/>
              <a:cs typeface="Courier New"/>
              <a:sym typeface="Courier New"/>
            </a:endParaRPr>
          </a:p>
          <a:p>
            <a:pPr marL="84665" marR="84665">
              <a:lnSpc>
                <a:spcPct val="143181"/>
              </a:lnSpc>
            </a:pPr>
            <a:r>
              <a:rPr lang="uk" sz="1400">
                <a:solidFill>
                  <a:srgbClr val="006699"/>
                </a:solidFill>
                <a:highlight>
                  <a:srgbClr val="F5F5FA"/>
                </a:highlight>
                <a:latin typeface="Courier New"/>
                <a:ea typeface="Courier New"/>
                <a:cs typeface="Courier New"/>
                <a:sym typeface="Courier New"/>
              </a:rPr>
              <a:t>void</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Sum(</a:t>
            </a:r>
            <a:r>
              <a:rPr lang="uk" sz="1400">
                <a:solidFill>
                  <a:srgbClr val="006699"/>
                </a:solidFill>
                <a:highlight>
                  <a:srgbClr val="F5F5FA"/>
                </a:highlight>
                <a:latin typeface="Courier New"/>
                <a:ea typeface="Courier New"/>
                <a:cs typeface="Courier New"/>
                <a:sym typeface="Courier New"/>
              </a:rPr>
              <a:t>params</a:t>
            </a:r>
            <a:r>
              <a:rPr lang="uk" sz="1400">
                <a:solidFill>
                  <a:schemeClr val="dk1"/>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int</a:t>
            </a:r>
            <a:r>
              <a:rPr lang="uk" sz="1400">
                <a:solidFill>
                  <a:srgbClr val="188038"/>
                </a:solidFill>
                <a:highlight>
                  <a:srgbClr val="F5F5FA"/>
                </a:highlight>
                <a:latin typeface="Courier New"/>
                <a:ea typeface="Courier New"/>
                <a:cs typeface="Courier New"/>
                <a:sym typeface="Courier New"/>
              </a:rPr>
              <a:t>[] numbers,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initialValue)</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51"/>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Масив як параметр</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372" name="Google Shape;372;p51"/>
          <p:cNvSpPr txBox="1"/>
          <p:nvPr/>
        </p:nvSpPr>
        <p:spPr>
          <a:xfrm>
            <a:off x="87700" y="1157600"/>
            <a:ext cx="11865600" cy="104062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spcAft>
                <a:spcPts val="1600"/>
              </a:spcAft>
            </a:pPr>
            <a:r>
              <a:rPr lang="uk" sz="1600">
                <a:solidFill>
                  <a:schemeClr val="dk1"/>
                </a:solidFill>
              </a:rPr>
              <a:t>Також цей спосіб передачі параметрів треба відрізняти від передачі масиву як параметр:</a:t>
            </a:r>
            <a:endParaRPr sz="1600">
              <a:solidFill>
                <a:schemeClr val="dk1"/>
              </a:solidFill>
            </a:endParaRPr>
          </a:p>
        </p:txBody>
      </p:sp>
      <p:sp>
        <p:nvSpPr>
          <p:cNvPr id="373" name="Google Shape;373;p51"/>
          <p:cNvSpPr txBox="1"/>
          <p:nvPr/>
        </p:nvSpPr>
        <p:spPr>
          <a:xfrm>
            <a:off x="87700" y="1525934"/>
            <a:ext cx="10997200" cy="3714823"/>
          </a:xfrm>
          <a:prstGeom prst="rect">
            <a:avLst/>
          </a:prstGeom>
          <a:noFill/>
          <a:ln>
            <a:noFill/>
          </a:ln>
        </p:spPr>
        <p:txBody>
          <a:bodyPr spcFirstLastPara="1" wrap="square" lIns="121900" tIns="121900" rIns="121900" bIns="121900" anchor="t" anchorCtr="0">
            <a:spAutoFit/>
          </a:bodyPr>
          <a:lstStyle/>
          <a:p>
            <a:pPr marL="84665" marR="84665">
              <a:lnSpc>
                <a:spcPct val="115000"/>
              </a:lnSpc>
            </a:pPr>
            <a:r>
              <a:rPr lang="uk" sz="1400">
                <a:solidFill>
                  <a:srgbClr val="006699"/>
                </a:solidFill>
                <a:highlight>
                  <a:srgbClr val="F5F5FA"/>
                </a:highlight>
                <a:latin typeface="Courier New"/>
                <a:ea typeface="Courier New"/>
                <a:cs typeface="Courier New"/>
                <a:sym typeface="Courier New"/>
              </a:rPr>
              <a:t>void</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Sum(</a:t>
            </a:r>
            <a:r>
              <a:rPr lang="uk" sz="1400">
                <a:solidFill>
                  <a:srgbClr val="006699"/>
                </a:solidFill>
                <a:highlight>
                  <a:srgbClr val="F5F5FA"/>
                </a:highlight>
                <a:latin typeface="Courier New"/>
                <a:ea typeface="Courier New"/>
                <a:cs typeface="Courier New"/>
                <a:sym typeface="Courier New"/>
              </a:rPr>
              <a:t>int</a:t>
            </a:r>
            <a:r>
              <a:rPr lang="uk" sz="1400">
                <a:solidFill>
                  <a:srgbClr val="188038"/>
                </a:solidFill>
                <a:highlight>
                  <a:srgbClr val="F5F5FA"/>
                </a:highlight>
                <a:latin typeface="Courier New"/>
                <a:ea typeface="Courier New"/>
                <a:cs typeface="Courier New"/>
                <a:sym typeface="Courier New"/>
              </a:rPr>
              <a:t>[] numbers,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initialValue)</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result = initialValue;</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foreach</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(var n </a:t>
            </a:r>
            <a:r>
              <a:rPr lang="uk" sz="1400">
                <a:solidFill>
                  <a:srgbClr val="006699"/>
                </a:solidFill>
                <a:highlight>
                  <a:srgbClr val="F5F5FA"/>
                </a:highlight>
                <a:latin typeface="Courier New"/>
                <a:ea typeface="Courier New"/>
                <a:cs typeface="Courier New"/>
                <a:sym typeface="Courier New"/>
              </a:rPr>
              <a:t>in</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numbers)</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result += n;</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Console.WriteLine(result);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15000"/>
              </a:lnSpc>
            </a:pPr>
            <a:r>
              <a:rPr lang="uk" sz="1400">
                <a:solidFill>
                  <a:srgbClr val="006699"/>
                </a:solidFill>
                <a:highlight>
                  <a:srgbClr val="F5F5FA"/>
                </a:highlight>
                <a:latin typeface="Courier New"/>
                <a:ea typeface="Courier New"/>
                <a:cs typeface="Courier New"/>
                <a:sym typeface="Courier New"/>
              </a:rPr>
              <a:t>int</a:t>
            </a:r>
            <a:r>
              <a:rPr lang="uk" sz="1400">
                <a:solidFill>
                  <a:srgbClr val="188038"/>
                </a:solidFill>
                <a:highlight>
                  <a:srgbClr val="F5F5FA"/>
                </a:highlight>
                <a:latin typeface="Courier New"/>
                <a:ea typeface="Courier New"/>
                <a:cs typeface="Courier New"/>
                <a:sym typeface="Courier New"/>
              </a:rPr>
              <a:t>[] nums = { 1, 2, 3, 4, 5};</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Sum(nums, 10);</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15000"/>
              </a:lnSpc>
            </a:pPr>
            <a:r>
              <a:rPr lang="uk" sz="1400">
                <a:solidFill>
                  <a:srgbClr val="008200"/>
                </a:solidFill>
                <a:highlight>
                  <a:srgbClr val="F5F5FA"/>
                </a:highlight>
                <a:latin typeface="Courier New"/>
                <a:ea typeface="Courier New"/>
                <a:cs typeface="Courier New"/>
                <a:sym typeface="Courier New"/>
              </a:rPr>
              <a:t>// Sum(1, 2, 3, 4); 	// так нельзя - нам надо передать массив</a:t>
            </a:r>
            <a:endParaRPr sz="1400">
              <a:solidFill>
                <a:srgbClr val="008200"/>
              </a:solidFill>
              <a:highlight>
                <a:srgbClr val="F5F5FA"/>
              </a:highlight>
              <a:latin typeface="Courier New"/>
              <a:ea typeface="Courier New"/>
              <a:cs typeface="Courier New"/>
              <a:sym typeface="Courier New"/>
            </a:endParaRPr>
          </a:p>
        </p:txBody>
      </p:sp>
      <p:sp>
        <p:nvSpPr>
          <p:cNvPr id="374" name="Google Shape;374;p51"/>
          <p:cNvSpPr txBox="1"/>
          <p:nvPr/>
        </p:nvSpPr>
        <p:spPr>
          <a:xfrm>
            <a:off x="168133" y="5112834"/>
            <a:ext cx="11295600" cy="2068411"/>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pPr>
            <a:r>
              <a:rPr lang="uk" sz="1600">
                <a:solidFill>
                  <a:schemeClr val="dk1"/>
                </a:solidFill>
              </a:rPr>
              <a:t>Так як метод </a:t>
            </a:r>
            <a:r>
              <a:rPr lang="uk" sz="1600">
                <a:solidFill>
                  <a:srgbClr val="188038"/>
                </a:solidFill>
                <a:latin typeface="Roboto Mono"/>
                <a:ea typeface="Roboto Mono"/>
                <a:cs typeface="Roboto Mono"/>
                <a:sym typeface="Roboto Mono"/>
              </a:rPr>
              <a:t>Sum </a:t>
            </a:r>
            <a:r>
              <a:rPr lang="uk" sz="1600">
                <a:solidFill>
                  <a:schemeClr val="dk1"/>
                </a:solidFill>
              </a:rPr>
              <a:t>приймає як параметр масив без ключового слова </a:t>
            </a:r>
            <a:r>
              <a:rPr lang="uk" sz="1600">
                <a:solidFill>
                  <a:srgbClr val="188038"/>
                </a:solidFill>
                <a:latin typeface="Roboto Mono"/>
                <a:ea typeface="Roboto Mono"/>
                <a:cs typeface="Roboto Mono"/>
                <a:sym typeface="Roboto Mono"/>
              </a:rPr>
              <a:t>params</a:t>
            </a:r>
            <a:r>
              <a:rPr lang="uk" sz="1600">
                <a:solidFill>
                  <a:schemeClr val="dk1"/>
                </a:solidFill>
              </a:rPr>
              <a:t>, то при його виклику нам обов'язково треба передати як перший параметр масив. Крім того, на відміну від методу з параметром </a:t>
            </a:r>
            <a:r>
              <a:rPr lang="uk" sz="1600" b="1">
                <a:solidFill>
                  <a:schemeClr val="dk1"/>
                </a:solidFill>
              </a:rPr>
              <a:t>params</a:t>
            </a:r>
            <a:r>
              <a:rPr lang="uk" sz="1600">
                <a:solidFill>
                  <a:schemeClr val="dk1"/>
                </a:solidFill>
              </a:rPr>
              <a:t> після параметра масиву можуть розташовуватися інші параметри.</a:t>
            </a:r>
            <a:endParaRPr sz="1600">
              <a:solidFill>
                <a:schemeClr val="dk1"/>
              </a:solidFill>
            </a:endParaRPr>
          </a:p>
          <a:p>
            <a:pPr>
              <a:lnSpc>
                <a:spcPct val="115000"/>
              </a:lnSpc>
              <a:spcBef>
                <a:spcPts val="1600"/>
              </a:spcBef>
            </a:pPr>
            <a:endParaRPr sz="1467">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52"/>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Рекурсивна функція факторіалу</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380" name="Google Shape;380;p52"/>
          <p:cNvSpPr txBox="1"/>
          <p:nvPr/>
        </p:nvSpPr>
        <p:spPr>
          <a:xfrm>
            <a:off x="0" y="1166367"/>
            <a:ext cx="12192000" cy="1994352"/>
          </a:xfrm>
          <a:prstGeom prst="rect">
            <a:avLst/>
          </a:prstGeom>
          <a:noFill/>
          <a:ln>
            <a:noFill/>
          </a:ln>
        </p:spPr>
        <p:txBody>
          <a:bodyPr spcFirstLastPara="1" wrap="square" lIns="121900" tIns="121900" rIns="121900" bIns="121900" anchor="t" anchorCtr="0">
            <a:spAutoFit/>
          </a:bodyPr>
          <a:lstStyle/>
          <a:p>
            <a:pPr>
              <a:lnSpc>
                <a:spcPct val="115000"/>
              </a:lnSpc>
              <a:spcBef>
                <a:spcPts val="1600"/>
              </a:spcBef>
            </a:pPr>
            <a:r>
              <a:rPr lang="uk" sz="1600">
                <a:solidFill>
                  <a:schemeClr val="dk1"/>
                </a:solidFill>
                <a:latin typeface="Times New Roman"/>
                <a:ea typeface="Times New Roman"/>
                <a:cs typeface="Times New Roman"/>
                <a:sym typeface="Times New Roman"/>
              </a:rPr>
              <a:t>Візьмемо, наприклад, обчислення факторіалу, що використовує формулу </a:t>
            </a:r>
            <a:r>
              <a:rPr lang="uk" sz="1600" b="1">
                <a:solidFill>
                  <a:schemeClr val="dk1"/>
                </a:solidFill>
                <a:latin typeface="Times New Roman"/>
                <a:ea typeface="Times New Roman"/>
                <a:cs typeface="Times New Roman"/>
                <a:sym typeface="Times New Roman"/>
              </a:rPr>
              <a:t>n! = 1 * 2 * ... * n</a:t>
            </a:r>
            <a:r>
              <a:rPr lang="uk" sz="1600">
                <a:solidFill>
                  <a:schemeClr val="dk1"/>
                </a:solidFill>
                <a:latin typeface="Times New Roman"/>
                <a:ea typeface="Times New Roman"/>
                <a:cs typeface="Times New Roman"/>
                <a:sym typeface="Times New Roman"/>
              </a:rPr>
              <a:t> . Тобто, по суті, для знаходження факторіалу числа ми перемножуємо всі числа до цього числа. Наприклад, факторіал числа 4 дорівнює </a:t>
            </a:r>
            <a:r>
              <a:rPr lang="uk" sz="1600">
                <a:solidFill>
                  <a:srgbClr val="188038"/>
                </a:solidFill>
                <a:latin typeface="Times New Roman"/>
                <a:ea typeface="Times New Roman"/>
                <a:cs typeface="Times New Roman"/>
                <a:sym typeface="Times New Roman"/>
              </a:rPr>
              <a:t>24 = 1 * 2 * 3 * 4</a:t>
            </a:r>
            <a:r>
              <a:rPr lang="uk" sz="1600">
                <a:solidFill>
                  <a:schemeClr val="dk1"/>
                </a:solidFill>
                <a:latin typeface="Times New Roman"/>
                <a:ea typeface="Times New Roman"/>
                <a:cs typeface="Times New Roman"/>
                <a:sym typeface="Times New Roman"/>
              </a:rPr>
              <a:t>, а факторил числа 5 дорівнює </a:t>
            </a:r>
            <a:r>
              <a:rPr lang="uk" sz="1600">
                <a:solidFill>
                  <a:srgbClr val="188038"/>
                </a:solidFill>
                <a:latin typeface="Times New Roman"/>
                <a:ea typeface="Times New Roman"/>
                <a:cs typeface="Times New Roman"/>
                <a:sym typeface="Times New Roman"/>
              </a:rPr>
              <a:t>120 = 1 * 2 * 3 * 4 * 5</a:t>
            </a:r>
            <a:r>
              <a:rPr lang="uk" sz="1600">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a:lnSpc>
                <a:spcPct val="115000"/>
              </a:lnSpc>
              <a:spcBef>
                <a:spcPts val="1600"/>
              </a:spcBef>
              <a:spcAft>
                <a:spcPts val="1600"/>
              </a:spcAft>
            </a:pPr>
            <a:r>
              <a:rPr lang="uk" sz="1600">
                <a:solidFill>
                  <a:schemeClr val="dk1"/>
                </a:solidFill>
                <a:latin typeface="Times New Roman"/>
                <a:ea typeface="Times New Roman"/>
                <a:cs typeface="Times New Roman"/>
                <a:sym typeface="Times New Roman"/>
              </a:rPr>
              <a:t>Визначимо метод для знаходження факторіалу:</a:t>
            </a:r>
            <a:endParaRPr sz="1600">
              <a:solidFill>
                <a:schemeClr val="dk1"/>
              </a:solidFill>
              <a:latin typeface="Times New Roman"/>
              <a:ea typeface="Times New Roman"/>
              <a:cs typeface="Times New Roman"/>
              <a:sym typeface="Times New Roman"/>
            </a:endParaRPr>
          </a:p>
        </p:txBody>
      </p:sp>
      <p:sp>
        <p:nvSpPr>
          <p:cNvPr id="381" name="Google Shape;381;p52"/>
          <p:cNvSpPr txBox="1"/>
          <p:nvPr/>
        </p:nvSpPr>
        <p:spPr>
          <a:xfrm>
            <a:off x="52633" y="2630967"/>
            <a:ext cx="4000000" cy="2094764"/>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Factorial(</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if</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 == 1) </a:t>
            </a:r>
            <a:r>
              <a:rPr lang="uk" sz="1400">
                <a:solidFill>
                  <a:srgbClr val="006699"/>
                </a:solidFill>
                <a:highlight>
                  <a:srgbClr val="F5F5FA"/>
                </a:highlight>
                <a:latin typeface="Courier New"/>
                <a:ea typeface="Courier New"/>
                <a:cs typeface="Courier New"/>
                <a:sym typeface="Courier New"/>
              </a:rPr>
              <a:t>return</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1;</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return</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 * Factorial(n - 1);</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p:txBody>
      </p:sp>
      <p:sp>
        <p:nvSpPr>
          <p:cNvPr id="382" name="Google Shape;382;p52"/>
          <p:cNvSpPr txBox="1"/>
          <p:nvPr/>
        </p:nvSpPr>
        <p:spPr>
          <a:xfrm>
            <a:off x="168133" y="4635368"/>
            <a:ext cx="11785200" cy="984845"/>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rPr>
              <a:t>При створенні рекурсивної функції у ній обов'язково може бути певний </a:t>
            </a:r>
            <a:r>
              <a:rPr lang="uk" sz="1600" b="1">
                <a:solidFill>
                  <a:schemeClr val="dk1"/>
                </a:solidFill>
                <a:highlight>
                  <a:srgbClr val="F7F7FA"/>
                </a:highlight>
              </a:rPr>
              <a:t>базовий варіант</a:t>
            </a:r>
            <a:r>
              <a:rPr lang="uk" sz="1600">
                <a:solidFill>
                  <a:schemeClr val="dk1"/>
                </a:solidFill>
                <a:highlight>
                  <a:srgbClr val="F7F7FA"/>
                </a:highlight>
              </a:rPr>
              <a:t> , з якого починається обчислення функції. У випадку з факторіалом це факторіал числа 1, який дорівнює 1. Факторіали решти всіх позитивних чисел буде починатися з обчислення факторіалу числа 1, який дорівнює 1</a:t>
            </a:r>
            <a:endParaRPr sz="2400"/>
          </a:p>
        </p:txBody>
      </p:sp>
      <p:sp>
        <p:nvSpPr>
          <p:cNvPr id="383" name="Google Shape;383;p52"/>
          <p:cNvSpPr txBox="1"/>
          <p:nvPr/>
        </p:nvSpPr>
        <p:spPr>
          <a:xfrm>
            <a:off x="0" y="5620567"/>
            <a:ext cx="12192000" cy="104062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spcAft>
                <a:spcPts val="1600"/>
              </a:spcAft>
            </a:pPr>
            <a:r>
              <a:rPr lang="uk" sz="1600">
                <a:solidFill>
                  <a:schemeClr val="dk1"/>
                </a:solidFill>
              </a:rPr>
              <a:t>На рівні мови програмування для повернення базового варіанта застосовується оператор </a:t>
            </a:r>
            <a:r>
              <a:rPr lang="uk" sz="1600" b="1">
                <a:solidFill>
                  <a:schemeClr val="dk1"/>
                </a:solidFill>
              </a:rPr>
              <a:t>return</a:t>
            </a:r>
            <a:r>
              <a:rPr lang="uk" sz="1600">
                <a:solidFill>
                  <a:schemeClr val="dk1"/>
                </a:solidFill>
              </a:rPr>
              <a:t> :</a:t>
            </a:r>
            <a:endParaRPr sz="1600">
              <a:solidFill>
                <a:schemeClr val="dk1"/>
              </a:solidFill>
            </a:endParaRPr>
          </a:p>
        </p:txBody>
      </p:sp>
      <p:sp>
        <p:nvSpPr>
          <p:cNvPr id="384" name="Google Shape;384;p52"/>
          <p:cNvSpPr txBox="1"/>
          <p:nvPr/>
        </p:nvSpPr>
        <p:spPr>
          <a:xfrm>
            <a:off x="254300" y="6112967"/>
            <a:ext cx="4000000" cy="461624"/>
          </a:xfrm>
          <a:prstGeom prst="rect">
            <a:avLst/>
          </a:prstGeom>
          <a:noFill/>
          <a:ln>
            <a:noFill/>
          </a:ln>
        </p:spPr>
        <p:txBody>
          <a:bodyPr spcFirstLastPara="1" wrap="square" lIns="121900" tIns="121900" rIns="121900" bIns="121900" anchor="t" anchorCtr="0">
            <a:spAutoFit/>
          </a:bodyPr>
          <a:lstStyle/>
          <a:p>
            <a:r>
              <a:rPr lang="uk" sz="1400">
                <a:solidFill>
                  <a:srgbClr val="006699"/>
                </a:solidFill>
                <a:latin typeface="Courier New"/>
                <a:ea typeface="Courier New"/>
                <a:cs typeface="Courier New"/>
                <a:sym typeface="Courier New"/>
              </a:rPr>
              <a:t>if</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(n == 1) </a:t>
            </a:r>
            <a:r>
              <a:rPr lang="uk" sz="1400">
                <a:solidFill>
                  <a:srgbClr val="006699"/>
                </a:solidFill>
                <a:latin typeface="Courier New"/>
                <a:ea typeface="Courier New"/>
                <a:cs typeface="Courier New"/>
                <a:sym typeface="Courier New"/>
              </a:rPr>
              <a:t>return</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1;</a:t>
            </a:r>
            <a:endParaRPr sz="24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53"/>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Рекурсивна функція факторіалу</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390" name="Google Shape;390;p53"/>
          <p:cNvSpPr txBox="1"/>
          <p:nvPr/>
        </p:nvSpPr>
        <p:spPr>
          <a:xfrm>
            <a:off x="219267" y="1192701"/>
            <a:ext cx="11523600" cy="2013972"/>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pPr>
            <a:r>
              <a:rPr lang="uk" sz="1600">
                <a:solidFill>
                  <a:schemeClr val="dk1"/>
                </a:solidFill>
              </a:rPr>
              <a:t>Тобто, якщо число, що вводиться, дорівнює 1, то повертається 1</a:t>
            </a:r>
            <a:endParaRPr sz="1600">
              <a:solidFill>
                <a:schemeClr val="dk1"/>
              </a:solidFill>
            </a:endParaRPr>
          </a:p>
          <a:p>
            <a:pPr>
              <a:lnSpc>
                <a:spcPct val="156000"/>
              </a:lnSpc>
              <a:spcBef>
                <a:spcPts val="1600"/>
              </a:spcBef>
              <a:spcAft>
                <a:spcPts val="1600"/>
              </a:spcAft>
            </a:pPr>
            <a:r>
              <a:rPr lang="uk" sz="1600">
                <a:solidFill>
                  <a:schemeClr val="dk1"/>
                </a:solidFill>
              </a:rPr>
              <a:t>Інша особливість рекурсивних функцій: всі рекурсивні виклики повинні звертатися до підфункцій, які зрештою сходяться до базового варіанта:</a:t>
            </a:r>
            <a:endParaRPr sz="1600">
              <a:solidFill>
                <a:schemeClr val="dk1"/>
              </a:solidFill>
            </a:endParaRPr>
          </a:p>
        </p:txBody>
      </p:sp>
      <p:sp>
        <p:nvSpPr>
          <p:cNvPr id="391" name="Google Shape;391;p53"/>
          <p:cNvSpPr txBox="1"/>
          <p:nvPr/>
        </p:nvSpPr>
        <p:spPr>
          <a:xfrm>
            <a:off x="168133" y="2744934"/>
            <a:ext cx="4000000" cy="615513"/>
          </a:xfrm>
          <a:prstGeom prst="rect">
            <a:avLst/>
          </a:prstGeom>
          <a:noFill/>
          <a:ln>
            <a:noFill/>
          </a:ln>
        </p:spPr>
        <p:txBody>
          <a:bodyPr spcFirstLastPara="1" wrap="square" lIns="121900" tIns="121900" rIns="121900" bIns="121900" anchor="t" anchorCtr="0">
            <a:spAutoFit/>
          </a:bodyPr>
          <a:lstStyle/>
          <a:p>
            <a:r>
              <a:rPr lang="uk" sz="2400"/>
              <a:t>return n * Factorial(n - 1);</a:t>
            </a:r>
            <a:endParaRPr sz="2400"/>
          </a:p>
        </p:txBody>
      </p:sp>
      <p:sp>
        <p:nvSpPr>
          <p:cNvPr id="392" name="Google Shape;392;p53"/>
          <p:cNvSpPr txBox="1"/>
          <p:nvPr/>
        </p:nvSpPr>
        <p:spPr>
          <a:xfrm>
            <a:off x="0" y="3201000"/>
            <a:ext cx="12192000" cy="2398052"/>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pPr>
            <a:r>
              <a:rPr lang="uk" sz="1600">
                <a:solidFill>
                  <a:schemeClr val="dk1"/>
                </a:solidFill>
              </a:rPr>
              <a:t>Так, при передачі в функцію числа, яке не дорівнює 1, при подальших рекурсивних викликах підфункцій у них передаватиметься щоразу число, менше на одиницю. І зрештою ми дійдемо до ситуації, коли число дорівнюватиме 1, і буде використаний базовий варіант. Це так званий рекурсивний узвіз.</a:t>
            </a:r>
            <a:endParaRPr sz="1600">
              <a:solidFill>
                <a:schemeClr val="dk1"/>
              </a:solidFill>
            </a:endParaRPr>
          </a:p>
          <a:p>
            <a:pPr>
              <a:lnSpc>
                <a:spcPct val="156000"/>
              </a:lnSpc>
              <a:spcBef>
                <a:spcPts val="1600"/>
              </a:spcBef>
              <a:spcAft>
                <a:spcPts val="1600"/>
              </a:spcAft>
            </a:pPr>
            <a:endParaRPr sz="1600">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54"/>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Рекурсивна функція факторіалу</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398" name="Google Shape;398;p54"/>
          <p:cNvSpPr txBox="1"/>
          <p:nvPr/>
        </p:nvSpPr>
        <p:spPr>
          <a:xfrm>
            <a:off x="43867" y="1113767"/>
            <a:ext cx="4000000" cy="104062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spcAft>
                <a:spcPts val="1600"/>
              </a:spcAft>
            </a:pPr>
            <a:r>
              <a:rPr lang="uk" sz="1600">
                <a:solidFill>
                  <a:schemeClr val="dk1"/>
                </a:solidFill>
              </a:rPr>
              <a:t>Використовуємо цю функцію:</a:t>
            </a:r>
            <a:endParaRPr sz="2400"/>
          </a:p>
        </p:txBody>
      </p:sp>
      <p:sp>
        <p:nvSpPr>
          <p:cNvPr id="399" name="Google Shape;399;p54"/>
          <p:cNvSpPr txBox="1"/>
          <p:nvPr/>
        </p:nvSpPr>
        <p:spPr>
          <a:xfrm>
            <a:off x="115500" y="1587400"/>
            <a:ext cx="8050800" cy="3714823"/>
          </a:xfrm>
          <a:prstGeom prst="rect">
            <a:avLst/>
          </a:prstGeom>
          <a:noFill/>
          <a:ln>
            <a:noFill/>
          </a:ln>
        </p:spPr>
        <p:txBody>
          <a:bodyPr spcFirstLastPara="1" wrap="square" lIns="121900" tIns="121900" rIns="121900" bIns="121900" anchor="t" anchorCtr="0">
            <a:spAutoFit/>
          </a:bodyPr>
          <a:lstStyle/>
          <a:p>
            <a:pPr marL="84665" marR="84665">
              <a:lnSpc>
                <a:spcPct val="115000"/>
              </a:lnSpc>
            </a:pP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Factorial(</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if</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 == 1) </a:t>
            </a:r>
            <a:r>
              <a:rPr lang="uk" sz="1400">
                <a:solidFill>
                  <a:srgbClr val="006699"/>
                </a:solidFill>
                <a:highlight>
                  <a:srgbClr val="F5F5FA"/>
                </a:highlight>
                <a:latin typeface="Courier New"/>
                <a:ea typeface="Courier New"/>
                <a:cs typeface="Courier New"/>
                <a:sym typeface="Courier New"/>
              </a:rPr>
              <a:t>return</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1;</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return</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 * Factorial(n - 1);</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15000"/>
              </a:lnSpc>
            </a:pP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factorial4 = Factorial(4);  </a:t>
            </a:r>
            <a:r>
              <a:rPr lang="uk" sz="1400">
                <a:solidFill>
                  <a:srgbClr val="008200"/>
                </a:solidFill>
                <a:highlight>
                  <a:srgbClr val="F5F5FA"/>
                </a:highlight>
                <a:latin typeface="Courier New"/>
                <a:ea typeface="Courier New"/>
                <a:cs typeface="Courier New"/>
                <a:sym typeface="Courier New"/>
              </a:rPr>
              <a:t>// 24</a:t>
            </a:r>
            <a:endParaRPr sz="1400">
              <a:solidFill>
                <a:srgbClr val="008200"/>
              </a:solidFill>
              <a:highlight>
                <a:srgbClr val="F5F5FA"/>
              </a:highlight>
              <a:latin typeface="Courier New"/>
              <a:ea typeface="Courier New"/>
              <a:cs typeface="Courier New"/>
              <a:sym typeface="Courier New"/>
            </a:endParaRPr>
          </a:p>
          <a:p>
            <a:pPr marL="84665" marR="84665">
              <a:lnSpc>
                <a:spcPct val="115000"/>
              </a:lnSpc>
            </a:pP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factorial5 = Factorial(5);  </a:t>
            </a:r>
            <a:r>
              <a:rPr lang="uk" sz="1400">
                <a:solidFill>
                  <a:srgbClr val="008200"/>
                </a:solidFill>
                <a:highlight>
                  <a:srgbClr val="F5F5FA"/>
                </a:highlight>
                <a:latin typeface="Courier New"/>
                <a:ea typeface="Courier New"/>
                <a:cs typeface="Courier New"/>
                <a:sym typeface="Courier New"/>
              </a:rPr>
              <a:t>// 120</a:t>
            </a:r>
            <a:endParaRPr sz="1400">
              <a:solidFill>
                <a:srgbClr val="008200"/>
              </a:solidFill>
              <a:highlight>
                <a:srgbClr val="F5F5FA"/>
              </a:highlight>
              <a:latin typeface="Courier New"/>
              <a:ea typeface="Courier New"/>
              <a:cs typeface="Courier New"/>
              <a:sym typeface="Courier New"/>
            </a:endParaRPr>
          </a:p>
          <a:p>
            <a:pPr marL="84665" marR="84665">
              <a:lnSpc>
                <a:spcPct val="115000"/>
              </a:lnSpc>
            </a:pP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factorial6 = Factorial(6);  </a:t>
            </a:r>
            <a:r>
              <a:rPr lang="uk" sz="1400">
                <a:solidFill>
                  <a:srgbClr val="008200"/>
                </a:solidFill>
                <a:highlight>
                  <a:srgbClr val="F5F5FA"/>
                </a:highlight>
                <a:latin typeface="Courier New"/>
                <a:ea typeface="Courier New"/>
                <a:cs typeface="Courier New"/>
                <a:sym typeface="Courier New"/>
              </a:rPr>
              <a:t>// 720</a:t>
            </a:r>
            <a:endParaRPr sz="1400">
              <a:solidFill>
                <a:srgbClr val="008200"/>
              </a:solidFill>
              <a:highlight>
                <a:srgbClr val="F5F5FA"/>
              </a:highlight>
              <a:latin typeface="Courier New"/>
              <a:ea typeface="Courier New"/>
              <a:cs typeface="Courier New"/>
              <a:sym typeface="Courier New"/>
            </a:endParaRPr>
          </a:p>
          <a:p>
            <a:pPr marL="84665" marR="84665">
              <a:lnSpc>
                <a:spcPct val="115000"/>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Console.WriteLine($</a:t>
            </a:r>
            <a:r>
              <a:rPr lang="uk" sz="1400">
                <a:solidFill>
                  <a:srgbClr val="DB003E"/>
                </a:solidFill>
                <a:highlight>
                  <a:srgbClr val="F5F5FA"/>
                </a:highlight>
                <a:latin typeface="Courier New"/>
                <a:ea typeface="Courier New"/>
                <a:cs typeface="Courier New"/>
                <a:sym typeface="Courier New"/>
              </a:rPr>
              <a:t>"Факториал числа 4 = {factorial4}"</a:t>
            </a: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Console.WriteLine($</a:t>
            </a:r>
            <a:r>
              <a:rPr lang="uk" sz="1400">
                <a:solidFill>
                  <a:srgbClr val="DB003E"/>
                </a:solidFill>
                <a:highlight>
                  <a:srgbClr val="F5F5FA"/>
                </a:highlight>
                <a:latin typeface="Courier New"/>
                <a:ea typeface="Courier New"/>
                <a:cs typeface="Courier New"/>
                <a:sym typeface="Courier New"/>
              </a:rPr>
              <a:t>"Факториал числа 5 = {factorial5}"</a:t>
            </a: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Console.WriteLine($</a:t>
            </a:r>
            <a:r>
              <a:rPr lang="uk" sz="1400">
                <a:solidFill>
                  <a:srgbClr val="DB003E"/>
                </a:solidFill>
                <a:highlight>
                  <a:srgbClr val="F5F5FA"/>
                </a:highlight>
                <a:latin typeface="Courier New"/>
                <a:ea typeface="Courier New"/>
                <a:cs typeface="Courier New"/>
                <a:sym typeface="Courier New"/>
              </a:rPr>
              <a:t>"Факториал числа 6 = {factorial6}"</a:t>
            </a: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55"/>
          <p:cNvSpPr txBox="1"/>
          <p:nvPr/>
        </p:nvSpPr>
        <p:spPr>
          <a:xfrm>
            <a:off x="168133" y="211967"/>
            <a:ext cx="11785200" cy="2462172"/>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Рекурсивна функція факторіалу. Як працює</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405" name="Google Shape;405;p55"/>
          <p:cNvSpPr txBox="1"/>
          <p:nvPr/>
        </p:nvSpPr>
        <p:spPr>
          <a:xfrm>
            <a:off x="168133" y="1867967"/>
            <a:ext cx="5426800" cy="492402"/>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rPr>
              <a:t>Спочатку йде перевірка, чи дорівнює одиниці:</a:t>
            </a:r>
            <a:endParaRPr sz="2400"/>
          </a:p>
        </p:txBody>
      </p:sp>
      <p:sp>
        <p:nvSpPr>
          <p:cNvPr id="406" name="Google Shape;406;p55"/>
          <p:cNvSpPr txBox="1"/>
          <p:nvPr/>
        </p:nvSpPr>
        <p:spPr>
          <a:xfrm>
            <a:off x="168133" y="2280133"/>
            <a:ext cx="4000000" cy="615513"/>
          </a:xfrm>
          <a:prstGeom prst="rect">
            <a:avLst/>
          </a:prstGeom>
          <a:noFill/>
          <a:ln>
            <a:noFill/>
          </a:ln>
        </p:spPr>
        <p:txBody>
          <a:bodyPr spcFirstLastPara="1" wrap="square" lIns="121900" tIns="121900" rIns="121900" bIns="121900" anchor="t" anchorCtr="0">
            <a:spAutoFit/>
          </a:bodyPr>
          <a:lstStyle/>
          <a:p>
            <a:r>
              <a:rPr lang="uk" sz="2400"/>
              <a:t>if (n == 1) return 1;</a:t>
            </a:r>
            <a:endParaRPr sz="2400"/>
          </a:p>
        </p:txBody>
      </p:sp>
      <p:sp>
        <p:nvSpPr>
          <p:cNvPr id="407" name="Google Shape;407;p55"/>
          <p:cNvSpPr txBox="1"/>
          <p:nvPr/>
        </p:nvSpPr>
        <p:spPr>
          <a:xfrm>
            <a:off x="168133" y="2813734"/>
            <a:ext cx="4856800" cy="142470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spcAft>
                <a:spcPts val="1600"/>
              </a:spcAft>
            </a:pPr>
            <a:r>
              <a:rPr lang="uk" sz="1600">
                <a:solidFill>
                  <a:schemeClr val="dk1"/>
                </a:solidFill>
                <a:highlight>
                  <a:srgbClr val="F7F7FA"/>
                </a:highlight>
              </a:rPr>
              <a:t>Але спочатку </a:t>
            </a:r>
            <a:r>
              <a:rPr lang="uk" sz="1600">
                <a:solidFill>
                  <a:srgbClr val="188038"/>
                </a:solidFill>
                <a:highlight>
                  <a:srgbClr val="F7F7FA"/>
                </a:highlight>
                <a:latin typeface="Roboto Mono"/>
                <a:ea typeface="Roboto Mono"/>
                <a:cs typeface="Roboto Mono"/>
                <a:sym typeface="Roboto Mono"/>
              </a:rPr>
              <a:t>n</a:t>
            </a:r>
            <a:r>
              <a:rPr lang="uk" sz="1600">
                <a:solidFill>
                  <a:schemeClr val="dk1"/>
                </a:solidFill>
                <a:highlight>
                  <a:srgbClr val="F7F7FA"/>
                </a:highlight>
              </a:rPr>
              <a:t>дорівнює 4, тому ця умова хибна, і відповідно виконується код</a:t>
            </a:r>
            <a:endParaRPr sz="1600">
              <a:solidFill>
                <a:schemeClr val="dk1"/>
              </a:solidFill>
              <a:highlight>
                <a:srgbClr val="F7F7FA"/>
              </a:highlight>
            </a:endParaRPr>
          </a:p>
        </p:txBody>
      </p:sp>
      <p:sp>
        <p:nvSpPr>
          <p:cNvPr id="408" name="Google Shape;408;p55"/>
          <p:cNvSpPr txBox="1"/>
          <p:nvPr/>
        </p:nvSpPr>
        <p:spPr>
          <a:xfrm>
            <a:off x="236800" y="3690534"/>
            <a:ext cx="4000000" cy="615513"/>
          </a:xfrm>
          <a:prstGeom prst="rect">
            <a:avLst/>
          </a:prstGeom>
          <a:noFill/>
          <a:ln>
            <a:noFill/>
          </a:ln>
        </p:spPr>
        <p:txBody>
          <a:bodyPr spcFirstLastPara="1" wrap="square" lIns="121900" tIns="121900" rIns="121900" bIns="121900" anchor="t" anchorCtr="0">
            <a:spAutoFit/>
          </a:bodyPr>
          <a:lstStyle/>
          <a:p>
            <a:r>
              <a:rPr lang="uk" sz="2400"/>
              <a:t>return n * Factorial(n - 1);</a:t>
            </a:r>
            <a:endParaRPr sz="2400"/>
          </a:p>
        </p:txBody>
      </p:sp>
      <p:sp>
        <p:nvSpPr>
          <p:cNvPr id="409" name="Google Shape;409;p55"/>
          <p:cNvSpPr txBox="1"/>
          <p:nvPr/>
        </p:nvSpPr>
        <p:spPr>
          <a:xfrm>
            <a:off x="168133" y="4279667"/>
            <a:ext cx="4000000" cy="104062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spcAft>
                <a:spcPts val="1600"/>
              </a:spcAft>
            </a:pPr>
            <a:r>
              <a:rPr lang="uk" sz="1600">
                <a:solidFill>
                  <a:schemeClr val="dk1"/>
                </a:solidFill>
                <a:highlight>
                  <a:srgbClr val="F7F7FA"/>
                </a:highlight>
              </a:rPr>
              <a:t>Тобто фактично ми маємо:</a:t>
            </a:r>
            <a:endParaRPr sz="1600">
              <a:solidFill>
                <a:schemeClr val="dk1"/>
              </a:solidFill>
              <a:highlight>
                <a:srgbClr val="F7F7FA"/>
              </a:highlight>
            </a:endParaRPr>
          </a:p>
        </p:txBody>
      </p:sp>
      <p:sp>
        <p:nvSpPr>
          <p:cNvPr id="410" name="Google Shape;410;p55"/>
          <p:cNvSpPr txBox="1"/>
          <p:nvPr/>
        </p:nvSpPr>
        <p:spPr>
          <a:xfrm>
            <a:off x="168133" y="4674333"/>
            <a:ext cx="4000000" cy="615513"/>
          </a:xfrm>
          <a:prstGeom prst="rect">
            <a:avLst/>
          </a:prstGeom>
          <a:noFill/>
          <a:ln>
            <a:noFill/>
          </a:ln>
        </p:spPr>
        <p:txBody>
          <a:bodyPr spcFirstLastPara="1" wrap="square" lIns="121900" tIns="121900" rIns="121900" bIns="121900" anchor="t" anchorCtr="0">
            <a:spAutoFit/>
          </a:bodyPr>
          <a:lstStyle/>
          <a:p>
            <a:r>
              <a:rPr lang="uk" sz="2400"/>
              <a:t>return 4 * Factorial(3);</a:t>
            </a:r>
            <a:endParaRPr sz="2400"/>
          </a:p>
        </p:txBody>
      </p:sp>
      <p:sp>
        <p:nvSpPr>
          <p:cNvPr id="411" name="Google Shape;411;p55"/>
          <p:cNvSpPr txBox="1"/>
          <p:nvPr/>
        </p:nvSpPr>
        <p:spPr>
          <a:xfrm>
            <a:off x="5902067" y="1867967"/>
            <a:ext cx="4000000" cy="104062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spcAft>
                <a:spcPts val="1600"/>
              </a:spcAft>
            </a:pPr>
            <a:r>
              <a:rPr lang="uk" sz="1600">
                <a:solidFill>
                  <a:schemeClr val="dk1"/>
                </a:solidFill>
                <a:highlight>
                  <a:srgbClr val="F7F7FA"/>
                </a:highlight>
              </a:rPr>
              <a:t>Далі виконується вираз:</a:t>
            </a:r>
            <a:endParaRPr sz="1600">
              <a:solidFill>
                <a:schemeClr val="dk1"/>
              </a:solidFill>
              <a:highlight>
                <a:srgbClr val="F7F7FA"/>
              </a:highlight>
            </a:endParaRPr>
          </a:p>
        </p:txBody>
      </p:sp>
      <p:cxnSp>
        <p:nvCxnSpPr>
          <p:cNvPr id="412" name="Google Shape;412;p55"/>
          <p:cNvCxnSpPr/>
          <p:nvPr/>
        </p:nvCxnSpPr>
        <p:spPr>
          <a:xfrm>
            <a:off x="4963733" y="1999533"/>
            <a:ext cx="35200" cy="3244800"/>
          </a:xfrm>
          <a:prstGeom prst="straightConnector1">
            <a:avLst/>
          </a:prstGeom>
          <a:noFill/>
          <a:ln w="9525" cap="flat" cmpd="sng">
            <a:solidFill>
              <a:schemeClr val="dk2"/>
            </a:solidFill>
            <a:prstDash val="solid"/>
            <a:round/>
            <a:headEnd type="none" w="med" len="med"/>
            <a:tailEnd type="triangle" w="med" len="med"/>
          </a:ln>
        </p:spPr>
      </p:cxnSp>
      <p:cxnSp>
        <p:nvCxnSpPr>
          <p:cNvPr id="413" name="Google Shape;413;p55"/>
          <p:cNvCxnSpPr/>
          <p:nvPr/>
        </p:nvCxnSpPr>
        <p:spPr>
          <a:xfrm>
            <a:off x="11279133" y="1999533"/>
            <a:ext cx="35200" cy="3244800"/>
          </a:xfrm>
          <a:prstGeom prst="straightConnector1">
            <a:avLst/>
          </a:prstGeom>
          <a:noFill/>
          <a:ln w="9525" cap="flat" cmpd="sng">
            <a:solidFill>
              <a:schemeClr val="dk2"/>
            </a:solidFill>
            <a:prstDash val="solid"/>
            <a:round/>
            <a:headEnd type="none" w="med" len="med"/>
            <a:tailEnd type="triangle" w="med" len="med"/>
          </a:ln>
        </p:spPr>
      </p:cxnSp>
      <p:sp>
        <p:nvSpPr>
          <p:cNvPr id="414" name="Google Shape;414;p55"/>
          <p:cNvSpPr txBox="1"/>
          <p:nvPr/>
        </p:nvSpPr>
        <p:spPr>
          <a:xfrm>
            <a:off x="5723633" y="2360367"/>
            <a:ext cx="4000000" cy="615513"/>
          </a:xfrm>
          <a:prstGeom prst="rect">
            <a:avLst/>
          </a:prstGeom>
          <a:noFill/>
          <a:ln>
            <a:noFill/>
          </a:ln>
        </p:spPr>
        <p:txBody>
          <a:bodyPr spcFirstLastPara="1" wrap="square" lIns="121900" tIns="121900" rIns="121900" bIns="121900" anchor="t" anchorCtr="0">
            <a:spAutoFit/>
          </a:bodyPr>
          <a:lstStyle/>
          <a:p>
            <a:r>
              <a:rPr lang="uk" sz="2400"/>
              <a:t>Factorial(3)</a:t>
            </a:r>
            <a:endParaRPr sz="2400"/>
          </a:p>
        </p:txBody>
      </p:sp>
      <p:sp>
        <p:nvSpPr>
          <p:cNvPr id="415" name="Google Shape;415;p55"/>
          <p:cNvSpPr txBox="1"/>
          <p:nvPr/>
        </p:nvSpPr>
        <p:spPr>
          <a:xfrm>
            <a:off x="5814367" y="2874801"/>
            <a:ext cx="5086400" cy="1354176"/>
          </a:xfrm>
          <a:prstGeom prst="rect">
            <a:avLst/>
          </a:prstGeom>
          <a:noFill/>
          <a:ln>
            <a:noFill/>
          </a:ln>
        </p:spPr>
        <p:txBody>
          <a:bodyPr spcFirstLastPara="1" wrap="square" lIns="121900" tIns="121900" rIns="121900" bIns="121900" anchor="t" anchorCtr="0">
            <a:spAutoFit/>
          </a:bodyPr>
          <a:lstStyle/>
          <a:p>
            <a:r>
              <a:rPr lang="uk" sz="2400"/>
              <a:t>Знову ж таки nне дорівнює 1, тому виконується код</a:t>
            </a:r>
            <a:endParaRPr sz="2400"/>
          </a:p>
          <a:p>
            <a:endParaRPr sz="2400"/>
          </a:p>
        </p:txBody>
      </p:sp>
      <p:sp>
        <p:nvSpPr>
          <p:cNvPr id="416" name="Google Shape;416;p55"/>
          <p:cNvSpPr txBox="1"/>
          <p:nvPr/>
        </p:nvSpPr>
        <p:spPr>
          <a:xfrm>
            <a:off x="5757967" y="3746068"/>
            <a:ext cx="4000000" cy="615513"/>
          </a:xfrm>
          <a:prstGeom prst="rect">
            <a:avLst/>
          </a:prstGeom>
          <a:noFill/>
          <a:ln>
            <a:noFill/>
          </a:ln>
        </p:spPr>
        <p:txBody>
          <a:bodyPr spcFirstLastPara="1" wrap="square" lIns="121900" tIns="121900" rIns="121900" bIns="121900" anchor="t" anchorCtr="0">
            <a:spAutoFit/>
          </a:bodyPr>
          <a:lstStyle/>
          <a:p>
            <a:r>
              <a:rPr lang="uk" sz="2400"/>
              <a:t>return n * Factorial(n - 1)</a:t>
            </a:r>
            <a:endParaRPr sz="2400"/>
          </a:p>
        </p:txBody>
      </p:sp>
      <p:sp>
        <p:nvSpPr>
          <p:cNvPr id="417" name="Google Shape;417;p55"/>
          <p:cNvSpPr txBox="1"/>
          <p:nvPr/>
        </p:nvSpPr>
        <p:spPr>
          <a:xfrm>
            <a:off x="5594933" y="4279667"/>
            <a:ext cx="4000000" cy="104062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spcAft>
                <a:spcPts val="1600"/>
              </a:spcAft>
            </a:pPr>
            <a:r>
              <a:rPr lang="uk" sz="1600">
                <a:solidFill>
                  <a:schemeClr val="dk1"/>
                </a:solidFill>
                <a:highlight>
                  <a:srgbClr val="F7F7FA"/>
                </a:highlight>
              </a:rPr>
              <a:t>Тобто фактично:</a:t>
            </a:r>
            <a:endParaRPr sz="1600">
              <a:solidFill>
                <a:schemeClr val="dk1"/>
              </a:solidFill>
              <a:highlight>
                <a:srgbClr val="F7F7FA"/>
              </a:highlight>
            </a:endParaRPr>
          </a:p>
        </p:txBody>
      </p:sp>
      <p:sp>
        <p:nvSpPr>
          <p:cNvPr id="418" name="Google Shape;418;p55"/>
          <p:cNvSpPr txBox="1"/>
          <p:nvPr/>
        </p:nvSpPr>
        <p:spPr>
          <a:xfrm>
            <a:off x="5723633" y="4772067"/>
            <a:ext cx="4000000" cy="615513"/>
          </a:xfrm>
          <a:prstGeom prst="rect">
            <a:avLst/>
          </a:prstGeom>
          <a:noFill/>
          <a:ln>
            <a:noFill/>
          </a:ln>
        </p:spPr>
        <p:txBody>
          <a:bodyPr spcFirstLastPara="1" wrap="square" lIns="121900" tIns="121900" rIns="121900" bIns="121900" anchor="t" anchorCtr="0">
            <a:spAutoFit/>
          </a:bodyPr>
          <a:lstStyle/>
          <a:p>
            <a:r>
              <a:rPr lang="uk" sz="2400"/>
              <a:t>return 3 * Factorial(2);</a:t>
            </a:r>
            <a:endParaRPr sz="24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56"/>
          <p:cNvSpPr txBox="1"/>
          <p:nvPr/>
        </p:nvSpPr>
        <p:spPr>
          <a:xfrm>
            <a:off x="168133" y="211967"/>
            <a:ext cx="11785200" cy="2462172"/>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Рекурсивна функція факторіалу. Як працює</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424" name="Google Shape;424;p56"/>
          <p:cNvSpPr txBox="1"/>
          <p:nvPr/>
        </p:nvSpPr>
        <p:spPr>
          <a:xfrm>
            <a:off x="245567" y="1929367"/>
            <a:ext cx="4000000" cy="492402"/>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rPr>
              <a:t>Далі виконується вираз:</a:t>
            </a:r>
            <a:endParaRPr sz="2400"/>
          </a:p>
        </p:txBody>
      </p:sp>
      <p:sp>
        <p:nvSpPr>
          <p:cNvPr id="425" name="Google Shape;425;p56"/>
          <p:cNvSpPr txBox="1"/>
          <p:nvPr/>
        </p:nvSpPr>
        <p:spPr>
          <a:xfrm>
            <a:off x="168133" y="2421767"/>
            <a:ext cx="4000000" cy="461624"/>
          </a:xfrm>
          <a:prstGeom prst="rect">
            <a:avLst/>
          </a:prstGeom>
          <a:noFill/>
          <a:ln>
            <a:noFill/>
          </a:ln>
        </p:spPr>
        <p:txBody>
          <a:bodyPr spcFirstLastPara="1" wrap="square" lIns="121900" tIns="121900" rIns="121900" bIns="121900" anchor="t" anchorCtr="0">
            <a:spAutoFit/>
          </a:bodyPr>
          <a:lstStyle/>
          <a:p>
            <a:r>
              <a:rPr lang="uk" sz="1400">
                <a:solidFill>
                  <a:schemeClr val="dk1"/>
                </a:solidFill>
                <a:highlight>
                  <a:srgbClr val="F5F5FA"/>
                </a:highlight>
                <a:latin typeface="Courier New"/>
                <a:ea typeface="Courier New"/>
                <a:cs typeface="Courier New"/>
                <a:sym typeface="Courier New"/>
              </a:rPr>
              <a:t>Factorial(2)</a:t>
            </a:r>
            <a:endParaRPr sz="2400"/>
          </a:p>
        </p:txBody>
      </p:sp>
      <p:sp>
        <p:nvSpPr>
          <p:cNvPr id="426" name="Google Shape;426;p56"/>
          <p:cNvSpPr txBox="1"/>
          <p:nvPr/>
        </p:nvSpPr>
        <p:spPr>
          <a:xfrm>
            <a:off x="168133" y="2883367"/>
            <a:ext cx="4000000" cy="738623"/>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rPr>
              <a:t>Знову ж таки </a:t>
            </a:r>
            <a:r>
              <a:rPr lang="uk" sz="1600">
                <a:solidFill>
                  <a:srgbClr val="188038"/>
                </a:solidFill>
                <a:highlight>
                  <a:srgbClr val="F7F7FA"/>
                </a:highlight>
                <a:latin typeface="Roboto Mono"/>
                <a:ea typeface="Roboto Mono"/>
                <a:cs typeface="Roboto Mono"/>
                <a:sym typeface="Roboto Mono"/>
              </a:rPr>
              <a:t>n</a:t>
            </a:r>
            <a:r>
              <a:rPr lang="uk" sz="1600">
                <a:solidFill>
                  <a:schemeClr val="dk1"/>
                </a:solidFill>
                <a:highlight>
                  <a:srgbClr val="F7F7FA"/>
                </a:highlight>
              </a:rPr>
              <a:t>не дорівнює 1, тому виконується код</a:t>
            </a:r>
            <a:endParaRPr sz="2400"/>
          </a:p>
        </p:txBody>
      </p:sp>
      <p:sp>
        <p:nvSpPr>
          <p:cNvPr id="427" name="Google Shape;427;p56"/>
          <p:cNvSpPr txBox="1"/>
          <p:nvPr/>
        </p:nvSpPr>
        <p:spPr>
          <a:xfrm>
            <a:off x="168133" y="3622168"/>
            <a:ext cx="4000000" cy="461624"/>
          </a:xfrm>
          <a:prstGeom prst="rect">
            <a:avLst/>
          </a:prstGeom>
          <a:noFill/>
          <a:ln>
            <a:noFill/>
          </a:ln>
        </p:spPr>
        <p:txBody>
          <a:bodyPr spcFirstLastPara="1" wrap="square" lIns="121900" tIns="121900" rIns="121900" bIns="121900" anchor="t" anchorCtr="0">
            <a:spAutoFit/>
          </a:bodyPr>
          <a:lstStyle/>
          <a:p>
            <a:r>
              <a:rPr lang="uk" sz="1400">
                <a:solidFill>
                  <a:srgbClr val="006699"/>
                </a:solidFill>
                <a:latin typeface="Courier New"/>
                <a:ea typeface="Courier New"/>
                <a:cs typeface="Courier New"/>
                <a:sym typeface="Courier New"/>
              </a:rPr>
              <a:t>return</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n * Factorial(n - 1);</a:t>
            </a:r>
            <a:endParaRPr sz="2400"/>
          </a:p>
        </p:txBody>
      </p:sp>
      <p:sp>
        <p:nvSpPr>
          <p:cNvPr id="428" name="Google Shape;428;p56"/>
          <p:cNvSpPr txBox="1"/>
          <p:nvPr/>
        </p:nvSpPr>
        <p:spPr>
          <a:xfrm>
            <a:off x="245567" y="4165667"/>
            <a:ext cx="4000000" cy="492402"/>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rPr>
              <a:t>Тобто фактично:</a:t>
            </a:r>
            <a:endParaRPr sz="2400"/>
          </a:p>
        </p:txBody>
      </p:sp>
      <p:sp>
        <p:nvSpPr>
          <p:cNvPr id="429" name="Google Shape;429;p56"/>
          <p:cNvSpPr txBox="1"/>
          <p:nvPr/>
        </p:nvSpPr>
        <p:spPr>
          <a:xfrm>
            <a:off x="289400" y="4739967"/>
            <a:ext cx="4000000" cy="461624"/>
          </a:xfrm>
          <a:prstGeom prst="rect">
            <a:avLst/>
          </a:prstGeom>
          <a:noFill/>
          <a:ln>
            <a:noFill/>
          </a:ln>
        </p:spPr>
        <p:txBody>
          <a:bodyPr spcFirstLastPara="1" wrap="square" lIns="121900" tIns="121900" rIns="121900" bIns="121900" anchor="t" anchorCtr="0">
            <a:spAutoFit/>
          </a:bodyPr>
          <a:lstStyle/>
          <a:p>
            <a:r>
              <a:rPr lang="uk" sz="1400">
                <a:solidFill>
                  <a:srgbClr val="006699"/>
                </a:solidFill>
                <a:latin typeface="Courier New"/>
                <a:ea typeface="Courier New"/>
                <a:cs typeface="Courier New"/>
                <a:sym typeface="Courier New"/>
              </a:rPr>
              <a:t>return</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2 * Factorial(1);</a:t>
            </a:r>
            <a:endParaRPr sz="2400"/>
          </a:p>
        </p:txBody>
      </p:sp>
      <p:sp>
        <p:nvSpPr>
          <p:cNvPr id="430" name="Google Shape;430;p56"/>
          <p:cNvSpPr txBox="1"/>
          <p:nvPr/>
        </p:nvSpPr>
        <p:spPr>
          <a:xfrm>
            <a:off x="5998567" y="1929367"/>
            <a:ext cx="4000000" cy="492402"/>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rPr>
              <a:t>Далі виконується вираз:</a:t>
            </a:r>
            <a:endParaRPr sz="2400"/>
          </a:p>
        </p:txBody>
      </p:sp>
      <p:sp>
        <p:nvSpPr>
          <p:cNvPr id="431" name="Google Shape;431;p56"/>
          <p:cNvSpPr txBox="1"/>
          <p:nvPr/>
        </p:nvSpPr>
        <p:spPr>
          <a:xfrm>
            <a:off x="6059967" y="2421767"/>
            <a:ext cx="4000000" cy="461624"/>
          </a:xfrm>
          <a:prstGeom prst="rect">
            <a:avLst/>
          </a:prstGeom>
          <a:noFill/>
          <a:ln>
            <a:noFill/>
          </a:ln>
        </p:spPr>
        <p:txBody>
          <a:bodyPr spcFirstLastPara="1" wrap="square" lIns="121900" tIns="121900" rIns="121900" bIns="121900" anchor="t" anchorCtr="0">
            <a:spAutoFit/>
          </a:bodyPr>
          <a:lstStyle/>
          <a:p>
            <a:r>
              <a:rPr lang="uk" sz="1400">
                <a:solidFill>
                  <a:schemeClr val="dk1"/>
                </a:solidFill>
                <a:highlight>
                  <a:srgbClr val="F5F5FA"/>
                </a:highlight>
                <a:latin typeface="Courier New"/>
                <a:ea typeface="Courier New"/>
                <a:cs typeface="Courier New"/>
                <a:sym typeface="Courier New"/>
              </a:rPr>
              <a:t>Factorial(1)</a:t>
            </a:r>
            <a:endParaRPr sz="2400"/>
          </a:p>
        </p:txBody>
      </p:sp>
      <p:sp>
        <p:nvSpPr>
          <p:cNvPr id="432" name="Google Shape;432;p56"/>
          <p:cNvSpPr txBox="1"/>
          <p:nvPr/>
        </p:nvSpPr>
        <p:spPr>
          <a:xfrm>
            <a:off x="5998567" y="3006567"/>
            <a:ext cx="4000000" cy="492402"/>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rPr>
              <a:t>Тепер </a:t>
            </a:r>
            <a:r>
              <a:rPr lang="uk" sz="1600">
                <a:solidFill>
                  <a:srgbClr val="188038"/>
                </a:solidFill>
                <a:highlight>
                  <a:srgbClr val="F7F7FA"/>
                </a:highlight>
                <a:latin typeface="Roboto Mono"/>
                <a:ea typeface="Roboto Mono"/>
                <a:cs typeface="Roboto Mono"/>
                <a:sym typeface="Roboto Mono"/>
              </a:rPr>
              <a:t>n</a:t>
            </a:r>
            <a:r>
              <a:rPr lang="uk" sz="1600">
                <a:solidFill>
                  <a:schemeClr val="dk1"/>
                </a:solidFill>
                <a:highlight>
                  <a:srgbClr val="F7F7FA"/>
                </a:highlight>
              </a:rPr>
              <a:t>одно 1, тому виконується код</a:t>
            </a:r>
            <a:endParaRPr sz="2400"/>
          </a:p>
        </p:txBody>
      </p:sp>
      <p:sp>
        <p:nvSpPr>
          <p:cNvPr id="433" name="Google Shape;433;p56"/>
          <p:cNvSpPr txBox="1"/>
          <p:nvPr/>
        </p:nvSpPr>
        <p:spPr>
          <a:xfrm>
            <a:off x="5998567" y="3586867"/>
            <a:ext cx="4000000" cy="461624"/>
          </a:xfrm>
          <a:prstGeom prst="rect">
            <a:avLst/>
          </a:prstGeom>
          <a:noFill/>
          <a:ln>
            <a:noFill/>
          </a:ln>
        </p:spPr>
        <p:txBody>
          <a:bodyPr spcFirstLastPara="1" wrap="square" lIns="121900" tIns="121900" rIns="121900" bIns="121900" anchor="t" anchorCtr="0">
            <a:spAutoFit/>
          </a:bodyPr>
          <a:lstStyle/>
          <a:p>
            <a:r>
              <a:rPr lang="uk" sz="1400">
                <a:solidFill>
                  <a:srgbClr val="006699"/>
                </a:solidFill>
                <a:latin typeface="Courier New"/>
                <a:ea typeface="Courier New"/>
                <a:cs typeface="Courier New"/>
                <a:sym typeface="Courier New"/>
              </a:rPr>
              <a:t>if</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(n == 1) </a:t>
            </a:r>
            <a:r>
              <a:rPr lang="uk" sz="1400">
                <a:solidFill>
                  <a:srgbClr val="006699"/>
                </a:solidFill>
                <a:latin typeface="Courier New"/>
                <a:ea typeface="Courier New"/>
                <a:cs typeface="Courier New"/>
                <a:sym typeface="Courier New"/>
              </a:rPr>
              <a:t>return</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1;</a:t>
            </a:r>
            <a:endParaRPr sz="2400"/>
          </a:p>
        </p:txBody>
      </p:sp>
      <p:sp>
        <p:nvSpPr>
          <p:cNvPr id="434" name="Google Shape;434;p56"/>
          <p:cNvSpPr txBox="1"/>
          <p:nvPr/>
        </p:nvSpPr>
        <p:spPr>
          <a:xfrm>
            <a:off x="6059967" y="4136367"/>
            <a:ext cx="4000000" cy="492402"/>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rPr>
              <a:t>І вертається 1.</a:t>
            </a:r>
            <a:endParaRPr sz="2400"/>
          </a:p>
        </p:txBody>
      </p:sp>
      <p:sp>
        <p:nvSpPr>
          <p:cNvPr id="435" name="Google Shape;435;p56"/>
          <p:cNvSpPr txBox="1"/>
          <p:nvPr/>
        </p:nvSpPr>
        <p:spPr>
          <a:xfrm>
            <a:off x="289400" y="5902101"/>
            <a:ext cx="4000000" cy="492402"/>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rPr>
              <a:t>У результаті вираз</a:t>
            </a:r>
            <a:endParaRPr sz="2400"/>
          </a:p>
        </p:txBody>
      </p:sp>
      <p:sp>
        <p:nvSpPr>
          <p:cNvPr id="436" name="Google Shape;436;p56"/>
          <p:cNvSpPr txBox="1"/>
          <p:nvPr/>
        </p:nvSpPr>
        <p:spPr>
          <a:xfrm>
            <a:off x="2446800" y="5940367"/>
            <a:ext cx="4000000" cy="461624"/>
          </a:xfrm>
          <a:prstGeom prst="rect">
            <a:avLst/>
          </a:prstGeom>
          <a:noFill/>
          <a:ln>
            <a:noFill/>
          </a:ln>
        </p:spPr>
        <p:txBody>
          <a:bodyPr spcFirstLastPara="1" wrap="square" lIns="121900" tIns="121900" rIns="121900" bIns="121900" anchor="t" anchorCtr="0">
            <a:spAutoFit/>
          </a:bodyPr>
          <a:lstStyle/>
          <a:p>
            <a:r>
              <a:rPr lang="uk" sz="1400">
                <a:solidFill>
                  <a:schemeClr val="dk1"/>
                </a:solidFill>
                <a:highlight>
                  <a:srgbClr val="F5F5FA"/>
                </a:highlight>
                <a:latin typeface="Courier New"/>
                <a:ea typeface="Courier New"/>
                <a:cs typeface="Courier New"/>
                <a:sym typeface="Courier New"/>
              </a:rPr>
              <a:t>Factorial(4)</a:t>
            </a:r>
            <a:endParaRPr sz="2400"/>
          </a:p>
        </p:txBody>
      </p:sp>
      <p:sp>
        <p:nvSpPr>
          <p:cNvPr id="437" name="Google Shape;437;p56"/>
          <p:cNvSpPr txBox="1"/>
          <p:nvPr/>
        </p:nvSpPr>
        <p:spPr>
          <a:xfrm>
            <a:off x="4384900" y="5924967"/>
            <a:ext cx="4000000" cy="492402"/>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rPr>
              <a:t>Насправді виливається в</a:t>
            </a:r>
            <a:endParaRPr sz="2400"/>
          </a:p>
        </p:txBody>
      </p:sp>
      <p:sp>
        <p:nvSpPr>
          <p:cNvPr id="438" name="Google Shape;438;p56"/>
          <p:cNvSpPr txBox="1"/>
          <p:nvPr/>
        </p:nvSpPr>
        <p:spPr>
          <a:xfrm>
            <a:off x="7103567" y="5917501"/>
            <a:ext cx="4000000" cy="461624"/>
          </a:xfrm>
          <a:prstGeom prst="rect">
            <a:avLst/>
          </a:prstGeom>
          <a:noFill/>
          <a:ln>
            <a:noFill/>
          </a:ln>
        </p:spPr>
        <p:txBody>
          <a:bodyPr spcFirstLastPara="1" wrap="square" lIns="121900" tIns="121900" rIns="121900" bIns="121900" anchor="t" anchorCtr="0">
            <a:spAutoFit/>
          </a:bodyPr>
          <a:lstStyle/>
          <a:p>
            <a:r>
              <a:rPr lang="uk" sz="1400">
                <a:solidFill>
                  <a:schemeClr val="dk1"/>
                </a:solidFill>
                <a:highlight>
                  <a:srgbClr val="F5F5FA"/>
                </a:highlight>
                <a:latin typeface="Courier New"/>
                <a:ea typeface="Courier New"/>
                <a:cs typeface="Courier New"/>
                <a:sym typeface="Courier New"/>
              </a:rPr>
              <a:t>4 * 3 * 2 * Factorial(1)</a:t>
            </a:r>
            <a:endParaRPr sz="2400"/>
          </a:p>
        </p:txBody>
      </p:sp>
      <p:cxnSp>
        <p:nvCxnSpPr>
          <p:cNvPr id="439" name="Google Shape;439;p56"/>
          <p:cNvCxnSpPr/>
          <p:nvPr/>
        </p:nvCxnSpPr>
        <p:spPr>
          <a:xfrm>
            <a:off x="4963733" y="1999533"/>
            <a:ext cx="35200" cy="3244800"/>
          </a:xfrm>
          <a:prstGeom prst="straightConnector1">
            <a:avLst/>
          </a:prstGeom>
          <a:noFill/>
          <a:ln w="9525" cap="flat" cmpd="sng">
            <a:solidFill>
              <a:schemeClr val="dk2"/>
            </a:solidFill>
            <a:prstDash val="solid"/>
            <a:round/>
            <a:headEnd type="none" w="med" len="med"/>
            <a:tailEnd type="triangle" w="med" len="med"/>
          </a:ln>
        </p:spPr>
      </p:cxnSp>
      <p:cxnSp>
        <p:nvCxnSpPr>
          <p:cNvPr id="440" name="Google Shape;440;p56"/>
          <p:cNvCxnSpPr/>
          <p:nvPr/>
        </p:nvCxnSpPr>
        <p:spPr>
          <a:xfrm>
            <a:off x="10998200" y="1929367"/>
            <a:ext cx="35200" cy="32448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57"/>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Рекурсивна функція Фібоначчі</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446" name="Google Shape;446;p57"/>
          <p:cNvSpPr txBox="1"/>
          <p:nvPr/>
        </p:nvSpPr>
        <p:spPr>
          <a:xfrm>
            <a:off x="70167" y="1061134"/>
            <a:ext cx="4937600" cy="5416827"/>
          </a:xfrm>
          <a:prstGeom prst="rect">
            <a:avLst/>
          </a:prstGeom>
          <a:noFill/>
          <a:ln>
            <a:noFill/>
          </a:ln>
        </p:spPr>
        <p:txBody>
          <a:bodyPr spcFirstLastPara="1" wrap="square" lIns="121900" tIns="121900" rIns="121900" bIns="121900" anchor="t" anchorCtr="0">
            <a:spAutoFit/>
          </a:bodyPr>
          <a:lstStyle/>
          <a:p>
            <a:r>
              <a:rPr lang="uk" sz="2400"/>
              <a:t>Іншим поширеним показовим прикладом рекурсивної функції є функція, що обчислює числа Фібоначчі. n-й член послідовності Фібоначчі визначається за формулою: f(n)=f(n-1) + f(n-2), причому f(0)=0, а f(1)=1. Тобто послідовність Фібоначчі виглядатиме так 0 (0-й член), 1 (1-й член), 1, 2, 3, 5, 8, 13, 21, 34, 55, 89, 144, .... Для визначення чисел цієї послідовності визначимо наступний метод:</a:t>
            </a:r>
            <a:endParaRPr sz="2400"/>
          </a:p>
          <a:p>
            <a:endParaRPr sz="2400"/>
          </a:p>
        </p:txBody>
      </p:sp>
      <p:sp>
        <p:nvSpPr>
          <p:cNvPr id="447" name="Google Shape;447;p57"/>
          <p:cNvSpPr txBox="1"/>
          <p:nvPr/>
        </p:nvSpPr>
        <p:spPr>
          <a:xfrm>
            <a:off x="5244367" y="1254067"/>
            <a:ext cx="6182800" cy="3714823"/>
          </a:xfrm>
          <a:prstGeom prst="rect">
            <a:avLst/>
          </a:prstGeom>
          <a:noFill/>
          <a:ln>
            <a:noFill/>
          </a:ln>
        </p:spPr>
        <p:txBody>
          <a:bodyPr spcFirstLastPara="1" wrap="square" lIns="121900" tIns="121900" rIns="121900" bIns="121900" anchor="t" anchorCtr="0">
            <a:spAutoFit/>
          </a:bodyPr>
          <a:lstStyle/>
          <a:p>
            <a:pPr marL="84665" marR="84665">
              <a:lnSpc>
                <a:spcPct val="115000"/>
              </a:lnSpc>
            </a:pP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Fibonachi(</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if</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 == 0 || n == 1) </a:t>
            </a:r>
            <a:r>
              <a:rPr lang="uk" sz="1400">
                <a:solidFill>
                  <a:srgbClr val="006699"/>
                </a:solidFill>
                <a:highlight>
                  <a:srgbClr val="F5F5FA"/>
                </a:highlight>
                <a:latin typeface="Courier New"/>
                <a:ea typeface="Courier New"/>
                <a:cs typeface="Courier New"/>
                <a:sym typeface="Courier New"/>
              </a:rPr>
              <a:t>return</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a:t>
            </a: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return</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Fibonachi(n - 1) + Fibonachi(n - 2);</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15000"/>
              </a:lnSpc>
            </a:pP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fib4 = Fibonachi(4);</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fib5 = Fibonachi(5);</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fib6 = Fibonachi(6);</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Console.WriteLine($</a:t>
            </a:r>
            <a:r>
              <a:rPr lang="uk" sz="1400">
                <a:solidFill>
                  <a:srgbClr val="DB003E"/>
                </a:solidFill>
                <a:highlight>
                  <a:srgbClr val="F5F5FA"/>
                </a:highlight>
                <a:latin typeface="Courier New"/>
                <a:ea typeface="Courier New"/>
                <a:cs typeface="Courier New"/>
                <a:sym typeface="Courier New"/>
              </a:rPr>
              <a:t>"4 число Фибоначчи = {fib4}"</a:t>
            </a: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Console.WriteLine($</a:t>
            </a:r>
            <a:r>
              <a:rPr lang="uk" sz="1400">
                <a:solidFill>
                  <a:srgbClr val="DB003E"/>
                </a:solidFill>
                <a:highlight>
                  <a:srgbClr val="F5F5FA"/>
                </a:highlight>
                <a:latin typeface="Courier New"/>
                <a:ea typeface="Courier New"/>
                <a:cs typeface="Courier New"/>
                <a:sym typeface="Courier New"/>
              </a:rPr>
              <a:t>"5 число Фибоначчи = {fib5}"</a:t>
            </a: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400">
                <a:solidFill>
                  <a:srgbClr val="188038"/>
                </a:solidFill>
                <a:highlight>
                  <a:srgbClr val="F5F5FA"/>
                </a:highlight>
                <a:latin typeface="Courier New"/>
                <a:ea typeface="Courier New"/>
                <a:cs typeface="Courier New"/>
                <a:sym typeface="Courier New"/>
              </a:rPr>
              <a:t>Console.WriteLine($</a:t>
            </a:r>
            <a:r>
              <a:rPr lang="uk" sz="1400">
                <a:solidFill>
                  <a:srgbClr val="DB003E"/>
                </a:solidFill>
                <a:highlight>
                  <a:srgbClr val="F5F5FA"/>
                </a:highlight>
                <a:latin typeface="Courier New"/>
                <a:ea typeface="Courier New"/>
                <a:cs typeface="Courier New"/>
                <a:sym typeface="Courier New"/>
              </a:rPr>
              <a:t>"6 число Фибоначчи = {fib6}"</a:t>
            </a: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p:txBody>
      </p:sp>
      <p:sp>
        <p:nvSpPr>
          <p:cNvPr id="448" name="Google Shape;448;p57"/>
          <p:cNvSpPr txBox="1"/>
          <p:nvPr/>
        </p:nvSpPr>
        <p:spPr>
          <a:xfrm>
            <a:off x="168133" y="5621434"/>
            <a:ext cx="4000000" cy="104062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spcAft>
                <a:spcPts val="1600"/>
              </a:spcAft>
            </a:pPr>
            <a:r>
              <a:rPr lang="uk" sz="1600">
                <a:solidFill>
                  <a:schemeClr val="dk1"/>
                </a:solidFill>
              </a:rPr>
              <a:t>Тут базовий варіант виглядає так:</a:t>
            </a:r>
            <a:endParaRPr sz="1600">
              <a:solidFill>
                <a:schemeClr val="dk1"/>
              </a:solidFill>
            </a:endParaRPr>
          </a:p>
        </p:txBody>
      </p:sp>
      <p:sp>
        <p:nvSpPr>
          <p:cNvPr id="449" name="Google Shape;449;p57"/>
          <p:cNvSpPr txBox="1"/>
          <p:nvPr/>
        </p:nvSpPr>
        <p:spPr>
          <a:xfrm>
            <a:off x="3885033" y="5636834"/>
            <a:ext cx="4000000" cy="461624"/>
          </a:xfrm>
          <a:prstGeom prst="rect">
            <a:avLst/>
          </a:prstGeom>
          <a:noFill/>
          <a:ln>
            <a:noFill/>
          </a:ln>
        </p:spPr>
        <p:txBody>
          <a:bodyPr spcFirstLastPara="1" wrap="square" lIns="121900" tIns="121900" rIns="121900" bIns="121900" anchor="t" anchorCtr="0">
            <a:spAutoFit/>
          </a:bodyPr>
          <a:lstStyle/>
          <a:p>
            <a:r>
              <a:rPr lang="uk" sz="1400">
                <a:solidFill>
                  <a:srgbClr val="006699"/>
                </a:solidFill>
                <a:latin typeface="Courier New"/>
                <a:ea typeface="Courier New"/>
                <a:cs typeface="Courier New"/>
                <a:sym typeface="Courier New"/>
              </a:rPr>
              <a:t>if</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(n == 0 || n == 1) </a:t>
            </a:r>
            <a:r>
              <a:rPr lang="uk" sz="1400">
                <a:solidFill>
                  <a:srgbClr val="006699"/>
                </a:solidFill>
                <a:latin typeface="Courier New"/>
                <a:ea typeface="Courier New"/>
                <a:cs typeface="Courier New"/>
                <a:sym typeface="Courier New"/>
              </a:rPr>
              <a:t>return</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latin typeface="Courier New"/>
                <a:ea typeface="Courier New"/>
                <a:cs typeface="Courier New"/>
                <a:sym typeface="Courier New"/>
              </a:rPr>
              <a:t>n;</a:t>
            </a:r>
            <a:endParaRPr sz="2400"/>
          </a:p>
        </p:txBody>
      </p:sp>
      <p:sp>
        <p:nvSpPr>
          <p:cNvPr id="450" name="Google Shape;450;p57"/>
          <p:cNvSpPr txBox="1"/>
          <p:nvPr/>
        </p:nvSpPr>
        <p:spPr>
          <a:xfrm>
            <a:off x="168133" y="6098433"/>
            <a:ext cx="11725200" cy="738623"/>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rPr>
              <a:t>Тобто, якщо ми шукаємо нульовий або перший елемент послідовності, то повертається це число - 0 або 1. Інакше повертається результат виразу</a:t>
            </a:r>
            <a:r>
              <a:rPr lang="uk" sz="1600">
                <a:solidFill>
                  <a:srgbClr val="188038"/>
                </a:solidFill>
                <a:highlight>
                  <a:srgbClr val="F7F7FA"/>
                </a:highlight>
                <a:latin typeface="Roboto Mono"/>
                <a:ea typeface="Roboto Mono"/>
                <a:cs typeface="Roboto Mono"/>
                <a:sym typeface="Roboto Mono"/>
              </a:rPr>
              <a:t>Fibonachi(n - 1) + Fibonachi(n - 2);</a:t>
            </a:r>
            <a:endParaRPr sz="24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58"/>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Рекурсії та цикли</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456" name="Google Shape;456;p58"/>
          <p:cNvSpPr txBox="1"/>
          <p:nvPr/>
        </p:nvSpPr>
        <p:spPr>
          <a:xfrm>
            <a:off x="-78933" y="1175168"/>
            <a:ext cx="12192000" cy="984845"/>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rPr>
              <a:t>Це найпростіший приклад рекурсивних функцій, які мають дати розуміння роботи рекурсії. У той самий час для обох функцій замість рекурсій можна використовувати циклічні конструкції. І, як правило, альтернативи на основі циклів працюють швидше та ефективніші, ніж рекурсія. Наприклад, обчислення чисел Фібоначчі за допомогою циклів:</a:t>
            </a:r>
            <a:endParaRPr sz="2400"/>
          </a:p>
        </p:txBody>
      </p:sp>
      <p:sp>
        <p:nvSpPr>
          <p:cNvPr id="457" name="Google Shape;457;p58"/>
          <p:cNvSpPr txBox="1"/>
          <p:nvPr/>
        </p:nvSpPr>
        <p:spPr>
          <a:xfrm>
            <a:off x="96467" y="2034600"/>
            <a:ext cx="4000000" cy="4867639"/>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highlight>
                  <a:srgbClr val="F5F5FA"/>
                </a:highlight>
                <a:latin typeface="Courier New"/>
                <a:ea typeface="Courier New"/>
                <a:cs typeface="Courier New"/>
                <a:sym typeface="Courier New"/>
              </a:rPr>
              <a:t>static</a:t>
            </a:r>
            <a:r>
              <a:rPr lang="uk" sz="1400">
                <a:solidFill>
                  <a:schemeClr val="dk1"/>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Fibonachi2(</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result = 0;</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b = 1;</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tmp;</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for</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i = 0; i &lt; n; i++)</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tmp = result;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result = b;</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b += tmp;</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return</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result;</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p:txBody>
      </p:sp>
      <p:sp>
        <p:nvSpPr>
          <p:cNvPr id="458" name="Google Shape;458;p58"/>
          <p:cNvSpPr txBox="1"/>
          <p:nvPr/>
        </p:nvSpPr>
        <p:spPr>
          <a:xfrm>
            <a:off x="5367133" y="4349800"/>
            <a:ext cx="4000000" cy="1477287"/>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rPr>
              <a:t>У той самий час у деяких ситуаціях рекурсія надає елегантне рішення, наприклад, при обході різних деревоподібних уявлень, наприклад, дерева каталогів і файлів.</a:t>
            </a:r>
            <a:endParaRPr sz="24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59"/>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Локальні функції</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464" name="Google Shape;464;p59"/>
          <p:cNvSpPr txBox="1"/>
          <p:nvPr/>
        </p:nvSpPr>
        <p:spPr>
          <a:xfrm>
            <a:off x="5910867" y="1122567"/>
            <a:ext cx="6042400" cy="2782131"/>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pPr>
            <a:r>
              <a:rPr lang="uk" sz="1600">
                <a:solidFill>
                  <a:schemeClr val="dk1"/>
                </a:solidFill>
              </a:rPr>
              <a:t>Локальні функції є функціями, визначеними всередині інших методів. Локальна функція, як правило, містить дії, що застосовуються лише у межах її методу.</a:t>
            </a:r>
            <a:endParaRPr sz="1600">
              <a:solidFill>
                <a:schemeClr val="dk1"/>
              </a:solidFill>
            </a:endParaRPr>
          </a:p>
          <a:p>
            <a:pPr>
              <a:lnSpc>
                <a:spcPct val="156000"/>
              </a:lnSpc>
              <a:spcBef>
                <a:spcPts val="1600"/>
              </a:spcBef>
              <a:spcAft>
                <a:spcPts val="1600"/>
              </a:spcAft>
            </a:pPr>
            <a:r>
              <a:rPr lang="uk" sz="1600">
                <a:solidFill>
                  <a:schemeClr val="dk1"/>
                </a:solidFill>
              </a:rPr>
              <a:t>Наприклад, визначимо метод, який порівнюють суму чисел двох масивів:</a:t>
            </a:r>
            <a:endParaRPr sz="1600">
              <a:solidFill>
                <a:schemeClr val="dk1"/>
              </a:solidFill>
            </a:endParaRPr>
          </a:p>
        </p:txBody>
      </p:sp>
      <p:sp>
        <p:nvSpPr>
          <p:cNvPr id="465" name="Google Shape;465;p59"/>
          <p:cNvSpPr txBox="1"/>
          <p:nvPr/>
        </p:nvSpPr>
        <p:spPr>
          <a:xfrm>
            <a:off x="106733" y="1429467"/>
            <a:ext cx="9392400" cy="5307566"/>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000">
                <a:solidFill>
                  <a:srgbClr val="006699"/>
                </a:solidFill>
                <a:latin typeface="Courier New"/>
                <a:ea typeface="Courier New"/>
                <a:cs typeface="Courier New"/>
                <a:sym typeface="Courier New"/>
              </a:rPr>
              <a:t>void</a:t>
            </a:r>
            <a:r>
              <a:rPr lang="uk" sz="1000">
                <a:solidFill>
                  <a:schemeClr val="dk1"/>
                </a:solidFill>
                <a:latin typeface="Courier New"/>
                <a:ea typeface="Courier New"/>
                <a:cs typeface="Courier New"/>
                <a:sym typeface="Courier New"/>
              </a:rPr>
              <a:t> </a:t>
            </a:r>
            <a:r>
              <a:rPr lang="uk" sz="1000">
                <a:solidFill>
                  <a:srgbClr val="188038"/>
                </a:solidFill>
                <a:latin typeface="Courier New"/>
                <a:ea typeface="Courier New"/>
                <a:cs typeface="Courier New"/>
                <a:sym typeface="Courier New"/>
              </a:rPr>
              <a:t>Compare(</a:t>
            </a:r>
            <a:r>
              <a:rPr lang="uk" sz="1000">
                <a:solidFill>
                  <a:srgbClr val="006699"/>
                </a:solidFill>
                <a:latin typeface="Courier New"/>
                <a:ea typeface="Courier New"/>
                <a:cs typeface="Courier New"/>
                <a:sym typeface="Courier New"/>
              </a:rPr>
              <a:t>int</a:t>
            </a:r>
            <a:r>
              <a:rPr lang="uk" sz="1000">
                <a:solidFill>
                  <a:srgbClr val="188038"/>
                </a:solidFill>
                <a:latin typeface="Courier New"/>
                <a:ea typeface="Courier New"/>
                <a:cs typeface="Courier New"/>
                <a:sym typeface="Courier New"/>
              </a:rPr>
              <a:t>[] numbers1, </a:t>
            </a:r>
            <a:r>
              <a:rPr lang="uk" sz="1000">
                <a:solidFill>
                  <a:srgbClr val="006699"/>
                </a:solidFill>
                <a:latin typeface="Courier New"/>
                <a:ea typeface="Courier New"/>
                <a:cs typeface="Courier New"/>
                <a:sym typeface="Courier New"/>
              </a:rPr>
              <a:t>int</a:t>
            </a:r>
            <a:r>
              <a:rPr lang="uk" sz="1000">
                <a:solidFill>
                  <a:srgbClr val="188038"/>
                </a:solidFill>
                <a:latin typeface="Courier New"/>
                <a:ea typeface="Courier New"/>
                <a:cs typeface="Courier New"/>
                <a:sym typeface="Courier New"/>
              </a:rPr>
              <a:t>[] numbers2)</a:t>
            </a:r>
            <a:endParaRPr sz="1000">
              <a:solidFill>
                <a:srgbClr val="188038"/>
              </a:solidFill>
              <a:latin typeface="Courier New"/>
              <a:ea typeface="Courier New"/>
              <a:cs typeface="Courier New"/>
              <a:sym typeface="Courier New"/>
            </a:endParaRPr>
          </a:p>
          <a:p>
            <a:pPr marL="84665" marR="84665">
              <a:lnSpc>
                <a:spcPct val="143181"/>
              </a:lnSpc>
            </a:pPr>
            <a:r>
              <a:rPr lang="uk" sz="1000">
                <a:solidFill>
                  <a:srgbClr val="188038"/>
                </a:solidFill>
                <a:latin typeface="Courier New"/>
                <a:ea typeface="Courier New"/>
                <a:cs typeface="Courier New"/>
                <a:sym typeface="Courier New"/>
              </a:rPr>
              <a:t>{</a:t>
            </a:r>
            <a:endParaRPr sz="1000">
              <a:solidFill>
                <a:srgbClr val="188038"/>
              </a:solidFill>
              <a:latin typeface="Courier New"/>
              <a:ea typeface="Courier New"/>
              <a:cs typeface="Courier New"/>
              <a:sym typeface="Courier New"/>
            </a:endParaRPr>
          </a:p>
          <a:p>
            <a:pPr marL="84665" marR="84665">
              <a:lnSpc>
                <a:spcPct val="143181"/>
              </a:lnSpc>
            </a:pPr>
            <a:r>
              <a:rPr lang="uk" sz="1000">
                <a:solidFill>
                  <a:srgbClr val="188038"/>
                </a:solidFill>
                <a:latin typeface="Courier New"/>
                <a:ea typeface="Courier New"/>
                <a:cs typeface="Courier New"/>
                <a:sym typeface="Courier New"/>
              </a:rPr>
              <a:t>    </a:t>
            </a:r>
            <a:r>
              <a:rPr lang="uk" sz="1000">
                <a:solidFill>
                  <a:srgbClr val="006699"/>
                </a:solidFill>
                <a:latin typeface="Courier New"/>
                <a:ea typeface="Courier New"/>
                <a:cs typeface="Courier New"/>
                <a:sym typeface="Courier New"/>
              </a:rPr>
              <a:t>int</a:t>
            </a:r>
            <a:r>
              <a:rPr lang="uk" sz="1000">
                <a:solidFill>
                  <a:schemeClr val="dk1"/>
                </a:solidFill>
                <a:latin typeface="Courier New"/>
                <a:ea typeface="Courier New"/>
                <a:cs typeface="Courier New"/>
                <a:sym typeface="Courier New"/>
              </a:rPr>
              <a:t> </a:t>
            </a:r>
            <a:r>
              <a:rPr lang="uk" sz="1000">
                <a:solidFill>
                  <a:srgbClr val="188038"/>
                </a:solidFill>
                <a:latin typeface="Courier New"/>
                <a:ea typeface="Courier New"/>
                <a:cs typeface="Courier New"/>
                <a:sym typeface="Courier New"/>
              </a:rPr>
              <a:t>numbers1Sum = 0;</a:t>
            </a:r>
            <a:endParaRPr sz="1000">
              <a:solidFill>
                <a:srgbClr val="188038"/>
              </a:solidFill>
              <a:latin typeface="Courier New"/>
              <a:ea typeface="Courier New"/>
              <a:cs typeface="Courier New"/>
              <a:sym typeface="Courier New"/>
            </a:endParaRPr>
          </a:p>
          <a:p>
            <a:pPr marL="84665" marR="84665">
              <a:lnSpc>
                <a:spcPct val="143181"/>
              </a:lnSpc>
            </a:pPr>
            <a:r>
              <a:rPr lang="uk" sz="1000">
                <a:solidFill>
                  <a:srgbClr val="188038"/>
                </a:solidFill>
                <a:latin typeface="Courier New"/>
                <a:ea typeface="Courier New"/>
                <a:cs typeface="Courier New"/>
                <a:sym typeface="Courier New"/>
              </a:rPr>
              <a:t>    </a:t>
            </a:r>
            <a:r>
              <a:rPr lang="uk" sz="1000">
                <a:solidFill>
                  <a:srgbClr val="006699"/>
                </a:solidFill>
                <a:latin typeface="Courier New"/>
                <a:ea typeface="Courier New"/>
                <a:cs typeface="Courier New"/>
                <a:sym typeface="Courier New"/>
              </a:rPr>
              <a:t>int</a:t>
            </a:r>
            <a:r>
              <a:rPr lang="uk" sz="1000">
                <a:solidFill>
                  <a:schemeClr val="dk1"/>
                </a:solidFill>
                <a:latin typeface="Courier New"/>
                <a:ea typeface="Courier New"/>
                <a:cs typeface="Courier New"/>
                <a:sym typeface="Courier New"/>
              </a:rPr>
              <a:t> </a:t>
            </a:r>
            <a:r>
              <a:rPr lang="uk" sz="1000">
                <a:solidFill>
                  <a:srgbClr val="188038"/>
                </a:solidFill>
                <a:latin typeface="Courier New"/>
                <a:ea typeface="Courier New"/>
                <a:cs typeface="Courier New"/>
                <a:sym typeface="Courier New"/>
              </a:rPr>
              <a:t>numbers2Sum = 0;</a:t>
            </a:r>
            <a:endParaRPr sz="1000">
              <a:solidFill>
                <a:srgbClr val="188038"/>
              </a:solidFill>
              <a:latin typeface="Courier New"/>
              <a:ea typeface="Courier New"/>
              <a:cs typeface="Courier New"/>
              <a:sym typeface="Courier New"/>
            </a:endParaRPr>
          </a:p>
          <a:p>
            <a:pPr marL="84665" marR="84665">
              <a:lnSpc>
                <a:spcPct val="143181"/>
              </a:lnSpc>
            </a:pPr>
            <a:r>
              <a:rPr lang="uk"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marL="84665" marR="84665">
              <a:lnSpc>
                <a:spcPct val="143181"/>
              </a:lnSpc>
            </a:pPr>
            <a:r>
              <a:rPr lang="uk" sz="1000">
                <a:solidFill>
                  <a:srgbClr val="188038"/>
                </a:solidFill>
                <a:latin typeface="Courier New"/>
                <a:ea typeface="Courier New"/>
                <a:cs typeface="Courier New"/>
                <a:sym typeface="Courier New"/>
              </a:rPr>
              <a:t>    </a:t>
            </a:r>
            <a:r>
              <a:rPr lang="uk" sz="1000">
                <a:solidFill>
                  <a:srgbClr val="006699"/>
                </a:solidFill>
                <a:latin typeface="Courier New"/>
                <a:ea typeface="Courier New"/>
                <a:cs typeface="Courier New"/>
                <a:sym typeface="Courier New"/>
              </a:rPr>
              <a:t>foreach</a:t>
            </a:r>
            <a:r>
              <a:rPr lang="uk" sz="1000">
                <a:solidFill>
                  <a:srgbClr val="188038"/>
                </a:solidFill>
                <a:latin typeface="Courier New"/>
                <a:ea typeface="Courier New"/>
                <a:cs typeface="Courier New"/>
                <a:sym typeface="Courier New"/>
              </a:rPr>
              <a:t>(</a:t>
            </a:r>
            <a:r>
              <a:rPr lang="uk" sz="1000">
                <a:solidFill>
                  <a:srgbClr val="006699"/>
                </a:solidFill>
                <a:latin typeface="Courier New"/>
                <a:ea typeface="Courier New"/>
                <a:cs typeface="Courier New"/>
                <a:sym typeface="Courier New"/>
              </a:rPr>
              <a:t>int</a:t>
            </a:r>
            <a:r>
              <a:rPr lang="uk" sz="1000">
                <a:solidFill>
                  <a:schemeClr val="dk1"/>
                </a:solidFill>
                <a:latin typeface="Courier New"/>
                <a:ea typeface="Courier New"/>
                <a:cs typeface="Courier New"/>
                <a:sym typeface="Courier New"/>
              </a:rPr>
              <a:t> </a:t>
            </a:r>
            <a:r>
              <a:rPr lang="uk" sz="1000">
                <a:solidFill>
                  <a:srgbClr val="188038"/>
                </a:solidFill>
                <a:latin typeface="Courier New"/>
                <a:ea typeface="Courier New"/>
                <a:cs typeface="Courier New"/>
                <a:sym typeface="Courier New"/>
              </a:rPr>
              <a:t>number </a:t>
            </a:r>
            <a:r>
              <a:rPr lang="uk" sz="1000">
                <a:solidFill>
                  <a:srgbClr val="006699"/>
                </a:solidFill>
                <a:latin typeface="Courier New"/>
                <a:ea typeface="Courier New"/>
                <a:cs typeface="Courier New"/>
                <a:sym typeface="Courier New"/>
              </a:rPr>
              <a:t>in</a:t>
            </a:r>
            <a:r>
              <a:rPr lang="uk" sz="1000">
                <a:solidFill>
                  <a:schemeClr val="dk1"/>
                </a:solidFill>
                <a:latin typeface="Courier New"/>
                <a:ea typeface="Courier New"/>
                <a:cs typeface="Courier New"/>
                <a:sym typeface="Courier New"/>
              </a:rPr>
              <a:t> </a:t>
            </a:r>
            <a:r>
              <a:rPr lang="uk" sz="1000">
                <a:solidFill>
                  <a:srgbClr val="188038"/>
                </a:solidFill>
                <a:latin typeface="Courier New"/>
                <a:ea typeface="Courier New"/>
                <a:cs typeface="Courier New"/>
                <a:sym typeface="Courier New"/>
              </a:rPr>
              <a:t>numbers1)</a:t>
            </a:r>
            <a:endParaRPr sz="1000">
              <a:solidFill>
                <a:srgbClr val="188038"/>
              </a:solidFill>
              <a:latin typeface="Courier New"/>
              <a:ea typeface="Courier New"/>
              <a:cs typeface="Courier New"/>
              <a:sym typeface="Courier New"/>
            </a:endParaRPr>
          </a:p>
          <a:p>
            <a:pPr marL="84665" marR="84665">
              <a:lnSpc>
                <a:spcPct val="143181"/>
              </a:lnSpc>
            </a:pPr>
            <a:r>
              <a:rPr lang="uk" sz="1000">
                <a:solidFill>
                  <a:srgbClr val="188038"/>
                </a:solidFill>
                <a:latin typeface="Courier New"/>
                <a:ea typeface="Courier New"/>
                <a:cs typeface="Courier New"/>
                <a:sym typeface="Courier New"/>
              </a:rPr>
              <a:t>        numbers1Sum += number;</a:t>
            </a:r>
            <a:endParaRPr sz="1000">
              <a:solidFill>
                <a:srgbClr val="188038"/>
              </a:solidFill>
              <a:latin typeface="Courier New"/>
              <a:ea typeface="Courier New"/>
              <a:cs typeface="Courier New"/>
              <a:sym typeface="Courier New"/>
            </a:endParaRPr>
          </a:p>
          <a:p>
            <a:pPr marL="84665" marR="84665">
              <a:lnSpc>
                <a:spcPct val="143181"/>
              </a:lnSpc>
            </a:pPr>
            <a:r>
              <a:rPr lang="uk"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marL="84665" marR="84665">
              <a:lnSpc>
                <a:spcPct val="143181"/>
              </a:lnSpc>
            </a:pPr>
            <a:r>
              <a:rPr lang="uk" sz="1000">
                <a:solidFill>
                  <a:srgbClr val="188038"/>
                </a:solidFill>
                <a:latin typeface="Courier New"/>
                <a:ea typeface="Courier New"/>
                <a:cs typeface="Courier New"/>
                <a:sym typeface="Courier New"/>
              </a:rPr>
              <a:t>    </a:t>
            </a:r>
            <a:r>
              <a:rPr lang="uk" sz="1000">
                <a:solidFill>
                  <a:srgbClr val="006699"/>
                </a:solidFill>
                <a:latin typeface="Courier New"/>
                <a:ea typeface="Courier New"/>
                <a:cs typeface="Courier New"/>
                <a:sym typeface="Courier New"/>
              </a:rPr>
              <a:t>foreach</a:t>
            </a:r>
            <a:r>
              <a:rPr lang="uk" sz="1000">
                <a:solidFill>
                  <a:schemeClr val="dk1"/>
                </a:solidFill>
                <a:latin typeface="Courier New"/>
                <a:ea typeface="Courier New"/>
                <a:cs typeface="Courier New"/>
                <a:sym typeface="Courier New"/>
              </a:rPr>
              <a:t> </a:t>
            </a:r>
            <a:r>
              <a:rPr lang="uk" sz="1000">
                <a:solidFill>
                  <a:srgbClr val="188038"/>
                </a:solidFill>
                <a:latin typeface="Courier New"/>
                <a:ea typeface="Courier New"/>
                <a:cs typeface="Courier New"/>
                <a:sym typeface="Courier New"/>
              </a:rPr>
              <a:t>(</a:t>
            </a:r>
            <a:r>
              <a:rPr lang="uk" sz="1000">
                <a:solidFill>
                  <a:srgbClr val="006699"/>
                </a:solidFill>
                <a:latin typeface="Courier New"/>
                <a:ea typeface="Courier New"/>
                <a:cs typeface="Courier New"/>
                <a:sym typeface="Courier New"/>
              </a:rPr>
              <a:t>int</a:t>
            </a:r>
            <a:r>
              <a:rPr lang="uk" sz="1000">
                <a:solidFill>
                  <a:schemeClr val="dk1"/>
                </a:solidFill>
                <a:latin typeface="Courier New"/>
                <a:ea typeface="Courier New"/>
                <a:cs typeface="Courier New"/>
                <a:sym typeface="Courier New"/>
              </a:rPr>
              <a:t> </a:t>
            </a:r>
            <a:r>
              <a:rPr lang="uk" sz="1000">
                <a:solidFill>
                  <a:srgbClr val="188038"/>
                </a:solidFill>
                <a:latin typeface="Courier New"/>
                <a:ea typeface="Courier New"/>
                <a:cs typeface="Courier New"/>
                <a:sym typeface="Courier New"/>
              </a:rPr>
              <a:t>number </a:t>
            </a:r>
            <a:r>
              <a:rPr lang="uk" sz="1000">
                <a:solidFill>
                  <a:srgbClr val="006699"/>
                </a:solidFill>
                <a:latin typeface="Courier New"/>
                <a:ea typeface="Courier New"/>
                <a:cs typeface="Courier New"/>
                <a:sym typeface="Courier New"/>
              </a:rPr>
              <a:t>in</a:t>
            </a:r>
            <a:r>
              <a:rPr lang="uk" sz="1000">
                <a:solidFill>
                  <a:schemeClr val="dk1"/>
                </a:solidFill>
                <a:latin typeface="Courier New"/>
                <a:ea typeface="Courier New"/>
                <a:cs typeface="Courier New"/>
                <a:sym typeface="Courier New"/>
              </a:rPr>
              <a:t> </a:t>
            </a:r>
            <a:r>
              <a:rPr lang="uk" sz="1000">
                <a:solidFill>
                  <a:srgbClr val="188038"/>
                </a:solidFill>
                <a:latin typeface="Courier New"/>
                <a:ea typeface="Courier New"/>
                <a:cs typeface="Courier New"/>
                <a:sym typeface="Courier New"/>
              </a:rPr>
              <a:t>numbers2)</a:t>
            </a:r>
            <a:endParaRPr sz="1000">
              <a:solidFill>
                <a:srgbClr val="188038"/>
              </a:solidFill>
              <a:latin typeface="Courier New"/>
              <a:ea typeface="Courier New"/>
              <a:cs typeface="Courier New"/>
              <a:sym typeface="Courier New"/>
            </a:endParaRPr>
          </a:p>
          <a:p>
            <a:pPr marL="84665" marR="84665">
              <a:lnSpc>
                <a:spcPct val="143181"/>
              </a:lnSpc>
            </a:pPr>
            <a:r>
              <a:rPr lang="uk" sz="1000">
                <a:solidFill>
                  <a:srgbClr val="188038"/>
                </a:solidFill>
                <a:latin typeface="Courier New"/>
                <a:ea typeface="Courier New"/>
                <a:cs typeface="Courier New"/>
                <a:sym typeface="Courier New"/>
              </a:rPr>
              <a:t>        numbers2Sum += number;</a:t>
            </a:r>
            <a:endParaRPr sz="1000">
              <a:solidFill>
                <a:srgbClr val="188038"/>
              </a:solidFill>
              <a:latin typeface="Courier New"/>
              <a:ea typeface="Courier New"/>
              <a:cs typeface="Courier New"/>
              <a:sym typeface="Courier New"/>
            </a:endParaRPr>
          </a:p>
          <a:p>
            <a:pPr marL="84665" marR="84665">
              <a:lnSpc>
                <a:spcPct val="143181"/>
              </a:lnSpc>
            </a:pPr>
            <a:r>
              <a:rPr lang="uk"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marL="84665" marR="84665">
              <a:lnSpc>
                <a:spcPct val="143181"/>
              </a:lnSpc>
            </a:pPr>
            <a:r>
              <a:rPr lang="uk" sz="1000">
                <a:solidFill>
                  <a:srgbClr val="188038"/>
                </a:solidFill>
                <a:latin typeface="Courier New"/>
                <a:ea typeface="Courier New"/>
                <a:cs typeface="Courier New"/>
                <a:sym typeface="Courier New"/>
              </a:rPr>
              <a:t>    </a:t>
            </a:r>
            <a:r>
              <a:rPr lang="uk" sz="1000">
                <a:solidFill>
                  <a:srgbClr val="006699"/>
                </a:solidFill>
                <a:latin typeface="Courier New"/>
                <a:ea typeface="Courier New"/>
                <a:cs typeface="Courier New"/>
                <a:sym typeface="Courier New"/>
              </a:rPr>
              <a:t>if</a:t>
            </a:r>
            <a:r>
              <a:rPr lang="uk" sz="1000">
                <a:solidFill>
                  <a:schemeClr val="dk1"/>
                </a:solidFill>
                <a:latin typeface="Courier New"/>
                <a:ea typeface="Courier New"/>
                <a:cs typeface="Courier New"/>
                <a:sym typeface="Courier New"/>
              </a:rPr>
              <a:t> </a:t>
            </a:r>
            <a:r>
              <a:rPr lang="uk" sz="1000">
                <a:solidFill>
                  <a:srgbClr val="188038"/>
                </a:solidFill>
                <a:latin typeface="Courier New"/>
                <a:ea typeface="Courier New"/>
                <a:cs typeface="Courier New"/>
                <a:sym typeface="Courier New"/>
              </a:rPr>
              <a:t>(numbers1Sum &gt; numbers2Sum)</a:t>
            </a:r>
            <a:endParaRPr sz="1000">
              <a:solidFill>
                <a:srgbClr val="188038"/>
              </a:solidFill>
              <a:latin typeface="Courier New"/>
              <a:ea typeface="Courier New"/>
              <a:cs typeface="Courier New"/>
              <a:sym typeface="Courier New"/>
            </a:endParaRPr>
          </a:p>
          <a:p>
            <a:pPr marL="84665" marR="84665">
              <a:lnSpc>
                <a:spcPct val="143181"/>
              </a:lnSpc>
            </a:pPr>
            <a:r>
              <a:rPr lang="uk" sz="1000">
                <a:solidFill>
                  <a:srgbClr val="188038"/>
                </a:solidFill>
                <a:latin typeface="Courier New"/>
                <a:ea typeface="Courier New"/>
                <a:cs typeface="Courier New"/>
                <a:sym typeface="Courier New"/>
              </a:rPr>
              <a:t>        Console.WriteLine(</a:t>
            </a:r>
            <a:r>
              <a:rPr lang="uk" sz="1000">
                <a:solidFill>
                  <a:srgbClr val="DB003E"/>
                </a:solidFill>
                <a:latin typeface="Courier New"/>
                <a:ea typeface="Courier New"/>
                <a:cs typeface="Courier New"/>
                <a:sym typeface="Courier New"/>
              </a:rPr>
              <a:t>"сумма чисел из массива numbers1 больше"</a:t>
            </a:r>
            <a:r>
              <a:rPr lang="uk" sz="1000">
                <a:solidFill>
                  <a:srgbClr val="188038"/>
                </a:solidFill>
                <a:latin typeface="Courier New"/>
                <a:ea typeface="Courier New"/>
                <a:cs typeface="Courier New"/>
                <a:sym typeface="Courier New"/>
              </a:rPr>
              <a:t>);</a:t>
            </a:r>
            <a:endParaRPr sz="1000">
              <a:solidFill>
                <a:srgbClr val="188038"/>
              </a:solidFill>
              <a:latin typeface="Courier New"/>
              <a:ea typeface="Courier New"/>
              <a:cs typeface="Courier New"/>
              <a:sym typeface="Courier New"/>
            </a:endParaRPr>
          </a:p>
          <a:p>
            <a:pPr marL="84665" marR="84665">
              <a:lnSpc>
                <a:spcPct val="143181"/>
              </a:lnSpc>
            </a:pPr>
            <a:r>
              <a:rPr lang="uk" sz="1000">
                <a:solidFill>
                  <a:srgbClr val="188038"/>
                </a:solidFill>
                <a:latin typeface="Courier New"/>
                <a:ea typeface="Courier New"/>
                <a:cs typeface="Courier New"/>
                <a:sym typeface="Courier New"/>
              </a:rPr>
              <a:t>    </a:t>
            </a:r>
            <a:r>
              <a:rPr lang="uk" sz="1000">
                <a:solidFill>
                  <a:srgbClr val="006699"/>
                </a:solidFill>
                <a:latin typeface="Courier New"/>
                <a:ea typeface="Courier New"/>
                <a:cs typeface="Courier New"/>
                <a:sym typeface="Courier New"/>
              </a:rPr>
              <a:t>else</a:t>
            </a:r>
            <a:r>
              <a:rPr lang="uk" sz="1000">
                <a:solidFill>
                  <a:schemeClr val="dk1"/>
                </a:solidFill>
                <a:latin typeface="Courier New"/>
                <a:ea typeface="Courier New"/>
                <a:cs typeface="Courier New"/>
                <a:sym typeface="Courier New"/>
              </a:rPr>
              <a:t> </a:t>
            </a:r>
            <a:r>
              <a:rPr lang="uk" sz="1000">
                <a:solidFill>
                  <a:srgbClr val="006699"/>
                </a:solidFill>
                <a:latin typeface="Courier New"/>
                <a:ea typeface="Courier New"/>
                <a:cs typeface="Courier New"/>
                <a:sym typeface="Courier New"/>
              </a:rPr>
              <a:t>if</a:t>
            </a:r>
            <a:r>
              <a:rPr lang="uk" sz="1000">
                <a:solidFill>
                  <a:schemeClr val="dk1"/>
                </a:solidFill>
                <a:latin typeface="Courier New"/>
                <a:ea typeface="Courier New"/>
                <a:cs typeface="Courier New"/>
                <a:sym typeface="Courier New"/>
              </a:rPr>
              <a:t> </a:t>
            </a:r>
            <a:r>
              <a:rPr lang="uk" sz="1000">
                <a:solidFill>
                  <a:srgbClr val="188038"/>
                </a:solidFill>
                <a:latin typeface="Courier New"/>
                <a:ea typeface="Courier New"/>
                <a:cs typeface="Courier New"/>
                <a:sym typeface="Courier New"/>
              </a:rPr>
              <a:t>(numbers1Sum &lt; numbers2Sum)</a:t>
            </a:r>
            <a:endParaRPr sz="1000">
              <a:solidFill>
                <a:srgbClr val="188038"/>
              </a:solidFill>
              <a:latin typeface="Courier New"/>
              <a:ea typeface="Courier New"/>
              <a:cs typeface="Courier New"/>
              <a:sym typeface="Courier New"/>
            </a:endParaRPr>
          </a:p>
          <a:p>
            <a:pPr marL="84665" marR="84665">
              <a:lnSpc>
                <a:spcPct val="143181"/>
              </a:lnSpc>
            </a:pPr>
            <a:r>
              <a:rPr lang="uk" sz="1000">
                <a:solidFill>
                  <a:srgbClr val="188038"/>
                </a:solidFill>
                <a:latin typeface="Courier New"/>
                <a:ea typeface="Courier New"/>
                <a:cs typeface="Courier New"/>
                <a:sym typeface="Courier New"/>
              </a:rPr>
              <a:t>        Console.WriteLine(</a:t>
            </a:r>
            <a:r>
              <a:rPr lang="uk" sz="1000">
                <a:solidFill>
                  <a:srgbClr val="DB003E"/>
                </a:solidFill>
                <a:latin typeface="Courier New"/>
                <a:ea typeface="Courier New"/>
                <a:cs typeface="Courier New"/>
                <a:sym typeface="Courier New"/>
              </a:rPr>
              <a:t>"сумма чисел из массива numbers2 больше"</a:t>
            </a:r>
            <a:r>
              <a:rPr lang="uk" sz="1000">
                <a:solidFill>
                  <a:srgbClr val="188038"/>
                </a:solidFill>
                <a:latin typeface="Courier New"/>
                <a:ea typeface="Courier New"/>
                <a:cs typeface="Courier New"/>
                <a:sym typeface="Courier New"/>
              </a:rPr>
              <a:t>);</a:t>
            </a:r>
            <a:endParaRPr sz="1000">
              <a:solidFill>
                <a:srgbClr val="188038"/>
              </a:solidFill>
              <a:latin typeface="Courier New"/>
              <a:ea typeface="Courier New"/>
              <a:cs typeface="Courier New"/>
              <a:sym typeface="Courier New"/>
            </a:endParaRPr>
          </a:p>
          <a:p>
            <a:pPr marL="84665" marR="84665">
              <a:lnSpc>
                <a:spcPct val="143181"/>
              </a:lnSpc>
            </a:pPr>
            <a:r>
              <a:rPr lang="uk" sz="1000">
                <a:solidFill>
                  <a:srgbClr val="188038"/>
                </a:solidFill>
                <a:latin typeface="Courier New"/>
                <a:ea typeface="Courier New"/>
                <a:cs typeface="Courier New"/>
                <a:sym typeface="Courier New"/>
              </a:rPr>
              <a:t>    </a:t>
            </a:r>
            <a:r>
              <a:rPr lang="uk" sz="1000">
                <a:solidFill>
                  <a:srgbClr val="006699"/>
                </a:solidFill>
                <a:latin typeface="Courier New"/>
                <a:ea typeface="Courier New"/>
                <a:cs typeface="Courier New"/>
                <a:sym typeface="Courier New"/>
              </a:rPr>
              <a:t>else</a:t>
            </a:r>
            <a:endParaRPr sz="1000">
              <a:solidFill>
                <a:srgbClr val="006699"/>
              </a:solidFill>
              <a:latin typeface="Courier New"/>
              <a:ea typeface="Courier New"/>
              <a:cs typeface="Courier New"/>
              <a:sym typeface="Courier New"/>
            </a:endParaRPr>
          </a:p>
          <a:p>
            <a:pPr marL="84665" marR="84665">
              <a:lnSpc>
                <a:spcPct val="143181"/>
              </a:lnSpc>
            </a:pPr>
            <a:r>
              <a:rPr lang="uk" sz="1000">
                <a:solidFill>
                  <a:srgbClr val="188038"/>
                </a:solidFill>
                <a:latin typeface="Courier New"/>
                <a:ea typeface="Courier New"/>
                <a:cs typeface="Courier New"/>
                <a:sym typeface="Courier New"/>
              </a:rPr>
              <a:t>        Console.WriteLine(</a:t>
            </a:r>
            <a:r>
              <a:rPr lang="uk" sz="1000">
                <a:solidFill>
                  <a:srgbClr val="DB003E"/>
                </a:solidFill>
                <a:latin typeface="Courier New"/>
                <a:ea typeface="Courier New"/>
                <a:cs typeface="Courier New"/>
                <a:sym typeface="Courier New"/>
              </a:rPr>
              <a:t>"суммы чисел обоих массивов равны"</a:t>
            </a:r>
            <a:r>
              <a:rPr lang="uk" sz="1000">
                <a:solidFill>
                  <a:srgbClr val="188038"/>
                </a:solidFill>
                <a:latin typeface="Courier New"/>
                <a:ea typeface="Courier New"/>
                <a:cs typeface="Courier New"/>
                <a:sym typeface="Courier New"/>
              </a:rPr>
              <a:t>);</a:t>
            </a:r>
            <a:endParaRPr sz="1000">
              <a:solidFill>
                <a:srgbClr val="188038"/>
              </a:solidFill>
              <a:latin typeface="Courier New"/>
              <a:ea typeface="Courier New"/>
              <a:cs typeface="Courier New"/>
              <a:sym typeface="Courier New"/>
            </a:endParaRPr>
          </a:p>
          <a:p>
            <a:pPr marL="84665" marR="84665">
              <a:lnSpc>
                <a:spcPct val="143181"/>
              </a:lnSpc>
            </a:pPr>
            <a:r>
              <a:rPr lang="uk" sz="1000">
                <a:solidFill>
                  <a:srgbClr val="188038"/>
                </a:solidFill>
                <a:latin typeface="Courier New"/>
                <a:ea typeface="Courier New"/>
                <a:cs typeface="Courier New"/>
                <a:sym typeface="Courier New"/>
              </a:rPr>
              <a:t>}</a:t>
            </a:r>
            <a:endParaRPr sz="1000">
              <a:solidFill>
                <a:srgbClr val="188038"/>
              </a:solidFill>
              <a:latin typeface="Courier New"/>
              <a:ea typeface="Courier New"/>
              <a:cs typeface="Courier New"/>
              <a:sym typeface="Courier New"/>
            </a:endParaRPr>
          </a:p>
          <a:p>
            <a:pPr marL="84665" marR="84665">
              <a:lnSpc>
                <a:spcPct val="143181"/>
              </a:lnSpc>
            </a:pPr>
            <a:r>
              <a:rPr lang="uk"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marL="84665" marR="84665">
              <a:lnSpc>
                <a:spcPct val="143181"/>
              </a:lnSpc>
            </a:pPr>
            <a:r>
              <a:rPr lang="uk" sz="1000">
                <a:solidFill>
                  <a:srgbClr val="006699"/>
                </a:solidFill>
                <a:latin typeface="Courier New"/>
                <a:ea typeface="Courier New"/>
                <a:cs typeface="Courier New"/>
                <a:sym typeface="Courier New"/>
              </a:rPr>
              <a:t>int</a:t>
            </a:r>
            <a:r>
              <a:rPr lang="uk" sz="1000">
                <a:solidFill>
                  <a:srgbClr val="188038"/>
                </a:solidFill>
                <a:latin typeface="Courier New"/>
                <a:ea typeface="Courier New"/>
                <a:cs typeface="Courier New"/>
                <a:sym typeface="Courier New"/>
              </a:rPr>
              <a:t>[] numbers1 = { 1, 2, 3 };</a:t>
            </a:r>
            <a:endParaRPr sz="1000">
              <a:solidFill>
                <a:srgbClr val="188038"/>
              </a:solidFill>
              <a:latin typeface="Courier New"/>
              <a:ea typeface="Courier New"/>
              <a:cs typeface="Courier New"/>
              <a:sym typeface="Courier New"/>
            </a:endParaRPr>
          </a:p>
          <a:p>
            <a:pPr marL="84665" marR="84665">
              <a:lnSpc>
                <a:spcPct val="143181"/>
              </a:lnSpc>
            </a:pPr>
            <a:r>
              <a:rPr lang="uk" sz="1000">
                <a:solidFill>
                  <a:srgbClr val="006699"/>
                </a:solidFill>
                <a:latin typeface="Courier New"/>
                <a:ea typeface="Courier New"/>
                <a:cs typeface="Courier New"/>
                <a:sym typeface="Courier New"/>
              </a:rPr>
              <a:t>int</a:t>
            </a:r>
            <a:r>
              <a:rPr lang="uk" sz="1000">
                <a:solidFill>
                  <a:srgbClr val="188038"/>
                </a:solidFill>
                <a:latin typeface="Courier New"/>
                <a:ea typeface="Courier New"/>
                <a:cs typeface="Courier New"/>
                <a:sym typeface="Courier New"/>
              </a:rPr>
              <a:t>[] numbers2 = { 3, 4, 5, 6, 7 };</a:t>
            </a:r>
            <a:endParaRPr sz="1000">
              <a:solidFill>
                <a:srgbClr val="188038"/>
              </a:solidFill>
              <a:latin typeface="Courier New"/>
              <a:ea typeface="Courier New"/>
              <a:cs typeface="Courier New"/>
              <a:sym typeface="Courier New"/>
            </a:endParaRPr>
          </a:p>
          <a:p>
            <a:pPr marL="84665" marR="84665">
              <a:lnSpc>
                <a:spcPct val="143181"/>
              </a:lnSpc>
            </a:pPr>
            <a:r>
              <a:rPr lang="uk"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marL="84665" marR="84665">
              <a:lnSpc>
                <a:spcPct val="143181"/>
              </a:lnSpc>
            </a:pPr>
            <a:r>
              <a:rPr lang="uk" sz="1000">
                <a:solidFill>
                  <a:srgbClr val="188038"/>
                </a:solidFill>
                <a:latin typeface="Courier New"/>
                <a:ea typeface="Courier New"/>
                <a:cs typeface="Courier New"/>
                <a:sym typeface="Courier New"/>
              </a:rPr>
              <a:t>Compare(numbers1, numbers2);</a:t>
            </a:r>
            <a:endParaRPr sz="1000">
              <a:solidFill>
                <a:srgbClr val="188038"/>
              </a:solidFill>
              <a:latin typeface="Courier New"/>
              <a:ea typeface="Courier New"/>
              <a:cs typeface="Courier New"/>
              <a:sym typeface="Courier New"/>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60"/>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Локальні функції</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471" name="Google Shape;471;p60"/>
          <p:cNvSpPr txBox="1"/>
          <p:nvPr/>
        </p:nvSpPr>
        <p:spPr>
          <a:xfrm>
            <a:off x="168133" y="1078701"/>
            <a:ext cx="11785200" cy="142470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spcAft>
                <a:spcPts val="1600"/>
              </a:spcAft>
            </a:pPr>
            <a:r>
              <a:rPr lang="uk" sz="1600">
                <a:solidFill>
                  <a:schemeClr val="dk1"/>
                </a:solidFill>
              </a:rPr>
              <a:t>Тут метод </a:t>
            </a:r>
            <a:r>
              <a:rPr lang="uk" sz="1600">
                <a:solidFill>
                  <a:srgbClr val="188038"/>
                </a:solidFill>
                <a:latin typeface="Roboto Mono"/>
                <a:ea typeface="Roboto Mono"/>
                <a:cs typeface="Roboto Mono"/>
                <a:sym typeface="Roboto Mono"/>
              </a:rPr>
              <a:t>Compare</a:t>
            </a:r>
            <a:r>
              <a:rPr lang="uk" sz="1600">
                <a:solidFill>
                  <a:schemeClr val="dk1"/>
                </a:solidFill>
              </a:rPr>
              <a:t>приймає два масиви і послідовно обчислює суму їх елементів, щоб дізнатися, в якому масиві сума чисел більша. Незважаючи на те, що все працює, тут є один недолік: тут повторюються дії, які обчислюють суму масиву:</a:t>
            </a:r>
            <a:endParaRPr sz="1600">
              <a:solidFill>
                <a:schemeClr val="dk1"/>
              </a:solidFill>
            </a:endParaRPr>
          </a:p>
        </p:txBody>
      </p:sp>
      <p:sp>
        <p:nvSpPr>
          <p:cNvPr id="472" name="Google Shape;472;p60"/>
          <p:cNvSpPr txBox="1"/>
          <p:nvPr/>
        </p:nvSpPr>
        <p:spPr>
          <a:xfrm>
            <a:off x="168133" y="1990767"/>
            <a:ext cx="4000000" cy="1478570"/>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numbers1Sum = 0;</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lnSpc>
                <a:spcPct val="143181"/>
              </a:lnSpc>
            </a:pPr>
            <a:r>
              <a:rPr lang="uk" sz="1400">
                <a:solidFill>
                  <a:srgbClr val="006699"/>
                </a:solidFill>
                <a:highlight>
                  <a:srgbClr val="F5F5FA"/>
                </a:highlight>
                <a:latin typeface="Courier New"/>
                <a:ea typeface="Courier New"/>
                <a:cs typeface="Courier New"/>
                <a:sym typeface="Courier New"/>
              </a:rPr>
              <a:t>foreach</a:t>
            </a:r>
            <a:r>
              <a:rPr lang="uk" sz="1400">
                <a:solidFill>
                  <a:srgbClr val="188038"/>
                </a:solidFill>
                <a:highlight>
                  <a:srgbClr val="F5F5FA"/>
                </a:highlight>
                <a:latin typeface="Courier New"/>
                <a:ea typeface="Courier New"/>
                <a:cs typeface="Courier New"/>
                <a:sym typeface="Courier New"/>
              </a:rPr>
              <a:t>(</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number </a:t>
            </a:r>
            <a:r>
              <a:rPr lang="uk" sz="1400">
                <a:solidFill>
                  <a:srgbClr val="006699"/>
                </a:solidFill>
                <a:highlight>
                  <a:srgbClr val="F5F5FA"/>
                </a:highlight>
                <a:latin typeface="Courier New"/>
                <a:ea typeface="Courier New"/>
                <a:cs typeface="Courier New"/>
                <a:sym typeface="Courier New"/>
              </a:rPr>
              <a:t>in</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numbers1)</a:t>
            </a:r>
            <a:endParaRPr sz="14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400">
                <a:solidFill>
                  <a:srgbClr val="188038"/>
                </a:solidFill>
                <a:highlight>
                  <a:srgbClr val="F5F5FA"/>
                </a:highlight>
                <a:latin typeface="Courier New"/>
                <a:ea typeface="Courier New"/>
                <a:cs typeface="Courier New"/>
                <a:sym typeface="Courier New"/>
              </a:rPr>
              <a:t>    numbers1Sum += number;</a:t>
            </a:r>
            <a:endParaRPr sz="1400">
              <a:solidFill>
                <a:srgbClr val="188038"/>
              </a:solidFill>
              <a:highlight>
                <a:srgbClr val="F5F5FA"/>
              </a:highlight>
              <a:latin typeface="Courier New"/>
              <a:ea typeface="Courier New"/>
              <a:cs typeface="Courier New"/>
              <a:sym typeface="Courier New"/>
            </a:endParaRPr>
          </a:p>
        </p:txBody>
      </p:sp>
      <p:sp>
        <p:nvSpPr>
          <p:cNvPr id="473" name="Google Shape;473;p60"/>
          <p:cNvSpPr txBox="1"/>
          <p:nvPr/>
        </p:nvSpPr>
        <p:spPr>
          <a:xfrm>
            <a:off x="254300" y="3413233"/>
            <a:ext cx="11699200" cy="1231066"/>
          </a:xfrm>
          <a:prstGeom prst="rect">
            <a:avLst/>
          </a:prstGeom>
          <a:noFill/>
          <a:ln>
            <a:noFill/>
          </a:ln>
        </p:spPr>
        <p:txBody>
          <a:bodyPr spcFirstLastPara="1" wrap="square" lIns="121900" tIns="121900" rIns="121900" bIns="121900" anchor="t" anchorCtr="0">
            <a:spAutoFit/>
          </a:bodyPr>
          <a:lstStyle/>
          <a:p>
            <a:r>
              <a:rPr lang="uk" sz="1600">
                <a:solidFill>
                  <a:schemeClr val="dk1"/>
                </a:solidFill>
                <a:highlight>
                  <a:srgbClr val="F7F7FA"/>
                </a:highlight>
              </a:rPr>
              <a:t>А якщо ми захочемо порівнювати суму лише позитивних чи парних чисел або якось інакше змінити логіку порівняння? У цьому краще винести дії, що повторюються, в окремий метод. Однак, якщо ці дії ніде більше в прогамі не будуть викликатися і будуть використовуватися тільки в одному методі, то доцільно визначити ці дії у вигляді локальної функції. Для цього змінимо метод Compare таким чином:</a:t>
            </a:r>
            <a:endParaRPr sz="24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61"/>
          <p:cNvSpPr txBox="1"/>
          <p:nvPr/>
        </p:nvSpPr>
        <p:spPr>
          <a:xfrm>
            <a:off x="119200" y="999767"/>
            <a:ext cx="11953600" cy="5747687"/>
          </a:xfrm>
          <a:prstGeom prst="rect">
            <a:avLst/>
          </a:prstGeom>
          <a:noFill/>
          <a:ln>
            <a:noFill/>
          </a:ln>
        </p:spPr>
        <p:txBody>
          <a:bodyPr spcFirstLastPara="1" wrap="square" lIns="121900" tIns="121900" rIns="121900" bIns="121900" anchor="t" anchorCtr="0">
            <a:spAutoFit/>
          </a:bodyPr>
          <a:lstStyle/>
          <a:p>
            <a:pPr marL="84665" marR="84665">
              <a:lnSpc>
                <a:spcPct val="143181"/>
              </a:lnSpc>
            </a:pPr>
            <a:r>
              <a:rPr lang="uk" sz="1000">
                <a:solidFill>
                  <a:srgbClr val="006699"/>
                </a:solidFill>
                <a:highlight>
                  <a:srgbClr val="F5F5FA"/>
                </a:highlight>
                <a:latin typeface="Courier New"/>
                <a:ea typeface="Courier New"/>
                <a:cs typeface="Courier New"/>
                <a:sym typeface="Courier New"/>
              </a:rPr>
              <a:t>void</a:t>
            </a:r>
            <a:r>
              <a:rPr lang="uk" sz="1000">
                <a:solidFill>
                  <a:schemeClr val="dk1"/>
                </a:solidFill>
                <a:highlight>
                  <a:srgbClr val="F5F5FA"/>
                </a:highlight>
                <a:latin typeface="Courier New"/>
                <a:ea typeface="Courier New"/>
                <a:cs typeface="Courier New"/>
                <a:sym typeface="Courier New"/>
              </a:rPr>
              <a:t> </a:t>
            </a:r>
            <a:r>
              <a:rPr lang="uk" sz="1000">
                <a:solidFill>
                  <a:srgbClr val="188038"/>
                </a:solidFill>
                <a:highlight>
                  <a:srgbClr val="F5F5FA"/>
                </a:highlight>
                <a:latin typeface="Courier New"/>
                <a:ea typeface="Courier New"/>
                <a:cs typeface="Courier New"/>
                <a:sym typeface="Courier New"/>
              </a:rPr>
              <a:t>Compare(</a:t>
            </a:r>
            <a:r>
              <a:rPr lang="uk" sz="1000">
                <a:solidFill>
                  <a:srgbClr val="006699"/>
                </a:solidFill>
                <a:highlight>
                  <a:srgbClr val="F5F5FA"/>
                </a:highlight>
                <a:latin typeface="Courier New"/>
                <a:ea typeface="Courier New"/>
                <a:cs typeface="Courier New"/>
                <a:sym typeface="Courier New"/>
              </a:rPr>
              <a:t>int</a:t>
            </a:r>
            <a:r>
              <a:rPr lang="uk" sz="1000">
                <a:solidFill>
                  <a:srgbClr val="188038"/>
                </a:solidFill>
                <a:highlight>
                  <a:srgbClr val="F5F5FA"/>
                </a:highlight>
                <a:latin typeface="Courier New"/>
                <a:ea typeface="Courier New"/>
                <a:cs typeface="Courier New"/>
                <a:sym typeface="Courier New"/>
              </a:rPr>
              <a:t>[] numbers1, </a:t>
            </a:r>
            <a:r>
              <a:rPr lang="uk" sz="1000">
                <a:solidFill>
                  <a:srgbClr val="006699"/>
                </a:solidFill>
                <a:highlight>
                  <a:srgbClr val="F5F5FA"/>
                </a:highlight>
                <a:latin typeface="Courier New"/>
                <a:ea typeface="Courier New"/>
                <a:cs typeface="Courier New"/>
                <a:sym typeface="Courier New"/>
              </a:rPr>
              <a:t>int</a:t>
            </a:r>
            <a:r>
              <a:rPr lang="uk" sz="1000">
                <a:solidFill>
                  <a:srgbClr val="188038"/>
                </a:solidFill>
                <a:highlight>
                  <a:srgbClr val="F5F5FA"/>
                </a:highlight>
                <a:latin typeface="Courier New"/>
                <a:ea typeface="Courier New"/>
                <a:cs typeface="Courier New"/>
                <a:sym typeface="Courier New"/>
              </a:rPr>
              <a:t>[] numbers2)</a:t>
            </a:r>
            <a:endParaRPr sz="10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000">
                <a:solidFill>
                  <a:srgbClr val="188038"/>
                </a:solidFill>
                <a:highlight>
                  <a:srgbClr val="F5F5FA"/>
                </a:highlight>
                <a:latin typeface="Courier New"/>
                <a:ea typeface="Courier New"/>
                <a:cs typeface="Courier New"/>
                <a:sym typeface="Courier New"/>
              </a:rPr>
              <a:t>{</a:t>
            </a:r>
            <a:endParaRPr sz="10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000">
                <a:solidFill>
                  <a:srgbClr val="188038"/>
                </a:solidFill>
                <a:highlight>
                  <a:srgbClr val="F5F5FA"/>
                </a:highlight>
                <a:latin typeface="Courier New"/>
                <a:ea typeface="Courier New"/>
                <a:cs typeface="Courier New"/>
                <a:sym typeface="Courier New"/>
              </a:rPr>
              <a:t>    </a:t>
            </a:r>
            <a:r>
              <a:rPr lang="uk" sz="1000">
                <a:solidFill>
                  <a:srgbClr val="006699"/>
                </a:solidFill>
                <a:highlight>
                  <a:srgbClr val="F5F5FA"/>
                </a:highlight>
                <a:latin typeface="Courier New"/>
                <a:ea typeface="Courier New"/>
                <a:cs typeface="Courier New"/>
                <a:sym typeface="Courier New"/>
              </a:rPr>
              <a:t>int</a:t>
            </a:r>
            <a:r>
              <a:rPr lang="uk" sz="1000">
                <a:solidFill>
                  <a:schemeClr val="dk1"/>
                </a:solidFill>
                <a:highlight>
                  <a:srgbClr val="F5F5FA"/>
                </a:highlight>
                <a:latin typeface="Courier New"/>
                <a:ea typeface="Courier New"/>
                <a:cs typeface="Courier New"/>
                <a:sym typeface="Courier New"/>
              </a:rPr>
              <a:t> </a:t>
            </a:r>
            <a:r>
              <a:rPr lang="uk" sz="1000">
                <a:solidFill>
                  <a:srgbClr val="188038"/>
                </a:solidFill>
                <a:highlight>
                  <a:srgbClr val="F5F5FA"/>
                </a:highlight>
                <a:latin typeface="Courier New"/>
                <a:ea typeface="Courier New"/>
                <a:cs typeface="Courier New"/>
                <a:sym typeface="Courier New"/>
              </a:rPr>
              <a:t>numbers1Sum = Sum(numbers1);</a:t>
            </a:r>
            <a:endParaRPr sz="10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000">
                <a:solidFill>
                  <a:srgbClr val="188038"/>
                </a:solidFill>
                <a:highlight>
                  <a:srgbClr val="F5F5FA"/>
                </a:highlight>
                <a:latin typeface="Courier New"/>
                <a:ea typeface="Courier New"/>
                <a:cs typeface="Courier New"/>
                <a:sym typeface="Courier New"/>
              </a:rPr>
              <a:t>    </a:t>
            </a:r>
            <a:r>
              <a:rPr lang="uk" sz="1000">
                <a:solidFill>
                  <a:srgbClr val="006699"/>
                </a:solidFill>
                <a:highlight>
                  <a:srgbClr val="F5F5FA"/>
                </a:highlight>
                <a:latin typeface="Courier New"/>
                <a:ea typeface="Courier New"/>
                <a:cs typeface="Courier New"/>
                <a:sym typeface="Courier New"/>
              </a:rPr>
              <a:t>int</a:t>
            </a:r>
            <a:r>
              <a:rPr lang="uk" sz="1000">
                <a:solidFill>
                  <a:schemeClr val="dk1"/>
                </a:solidFill>
                <a:highlight>
                  <a:srgbClr val="F5F5FA"/>
                </a:highlight>
                <a:latin typeface="Courier New"/>
                <a:ea typeface="Courier New"/>
                <a:cs typeface="Courier New"/>
                <a:sym typeface="Courier New"/>
              </a:rPr>
              <a:t> </a:t>
            </a:r>
            <a:r>
              <a:rPr lang="uk" sz="1000">
                <a:solidFill>
                  <a:srgbClr val="188038"/>
                </a:solidFill>
                <a:highlight>
                  <a:srgbClr val="F5F5FA"/>
                </a:highlight>
                <a:latin typeface="Courier New"/>
                <a:ea typeface="Courier New"/>
                <a:cs typeface="Courier New"/>
                <a:sym typeface="Courier New"/>
              </a:rPr>
              <a:t>numbers2Sum = Sum(numbers2);</a:t>
            </a:r>
            <a:endParaRPr sz="10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000">
                <a:solidFill>
                  <a:schemeClr val="dk1"/>
                </a:solidFill>
                <a:highlight>
                  <a:srgbClr val="F5F5FA"/>
                </a:highlight>
                <a:latin typeface="Courier New"/>
                <a:ea typeface="Courier New"/>
                <a:cs typeface="Courier New"/>
                <a:sym typeface="Courier New"/>
              </a:rPr>
              <a:t> </a:t>
            </a:r>
            <a:endParaRPr sz="1000">
              <a:solidFill>
                <a:schemeClr val="dk1"/>
              </a:solidFill>
              <a:highlight>
                <a:srgbClr val="F5F5FA"/>
              </a:highlight>
              <a:latin typeface="Courier New"/>
              <a:ea typeface="Courier New"/>
              <a:cs typeface="Courier New"/>
              <a:sym typeface="Courier New"/>
            </a:endParaRPr>
          </a:p>
          <a:p>
            <a:pPr marL="84665" marR="84665">
              <a:lnSpc>
                <a:spcPct val="143181"/>
              </a:lnSpc>
            </a:pPr>
            <a:r>
              <a:rPr lang="uk" sz="1000">
                <a:solidFill>
                  <a:srgbClr val="188038"/>
                </a:solidFill>
                <a:highlight>
                  <a:srgbClr val="F5F5FA"/>
                </a:highlight>
                <a:latin typeface="Courier New"/>
                <a:ea typeface="Courier New"/>
                <a:cs typeface="Courier New"/>
                <a:sym typeface="Courier New"/>
              </a:rPr>
              <a:t>    </a:t>
            </a:r>
            <a:r>
              <a:rPr lang="uk" sz="1000">
                <a:solidFill>
                  <a:srgbClr val="006699"/>
                </a:solidFill>
                <a:highlight>
                  <a:srgbClr val="F5F5FA"/>
                </a:highlight>
                <a:latin typeface="Courier New"/>
                <a:ea typeface="Courier New"/>
                <a:cs typeface="Courier New"/>
                <a:sym typeface="Courier New"/>
              </a:rPr>
              <a:t>if</a:t>
            </a:r>
            <a:r>
              <a:rPr lang="uk" sz="1000">
                <a:solidFill>
                  <a:schemeClr val="dk1"/>
                </a:solidFill>
                <a:highlight>
                  <a:srgbClr val="F5F5FA"/>
                </a:highlight>
                <a:latin typeface="Courier New"/>
                <a:ea typeface="Courier New"/>
                <a:cs typeface="Courier New"/>
                <a:sym typeface="Courier New"/>
              </a:rPr>
              <a:t> </a:t>
            </a:r>
            <a:r>
              <a:rPr lang="uk" sz="1000">
                <a:solidFill>
                  <a:srgbClr val="188038"/>
                </a:solidFill>
                <a:highlight>
                  <a:srgbClr val="F5F5FA"/>
                </a:highlight>
                <a:latin typeface="Courier New"/>
                <a:ea typeface="Courier New"/>
                <a:cs typeface="Courier New"/>
                <a:sym typeface="Courier New"/>
              </a:rPr>
              <a:t>(numbers1Sum &gt; numbers2Sum)</a:t>
            </a:r>
            <a:endParaRPr sz="10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000">
                <a:solidFill>
                  <a:srgbClr val="188038"/>
                </a:solidFill>
                <a:highlight>
                  <a:srgbClr val="F5F5FA"/>
                </a:highlight>
                <a:latin typeface="Courier New"/>
                <a:ea typeface="Courier New"/>
                <a:cs typeface="Courier New"/>
                <a:sym typeface="Courier New"/>
              </a:rPr>
              <a:t>        Console.WriteLine(</a:t>
            </a:r>
            <a:r>
              <a:rPr lang="uk" sz="1000">
                <a:solidFill>
                  <a:srgbClr val="DB003E"/>
                </a:solidFill>
                <a:highlight>
                  <a:srgbClr val="F5F5FA"/>
                </a:highlight>
                <a:latin typeface="Courier New"/>
                <a:ea typeface="Courier New"/>
                <a:cs typeface="Courier New"/>
                <a:sym typeface="Courier New"/>
              </a:rPr>
              <a:t>"сумма чисел из массива numbers1 больше"</a:t>
            </a:r>
            <a:r>
              <a:rPr lang="uk" sz="1000">
                <a:solidFill>
                  <a:srgbClr val="188038"/>
                </a:solidFill>
                <a:highlight>
                  <a:srgbClr val="F5F5FA"/>
                </a:highlight>
                <a:latin typeface="Courier New"/>
                <a:ea typeface="Courier New"/>
                <a:cs typeface="Courier New"/>
                <a:sym typeface="Courier New"/>
              </a:rPr>
              <a:t>);</a:t>
            </a:r>
            <a:endParaRPr sz="10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000">
                <a:solidFill>
                  <a:srgbClr val="188038"/>
                </a:solidFill>
                <a:highlight>
                  <a:srgbClr val="F5F5FA"/>
                </a:highlight>
                <a:latin typeface="Courier New"/>
                <a:ea typeface="Courier New"/>
                <a:cs typeface="Courier New"/>
                <a:sym typeface="Courier New"/>
              </a:rPr>
              <a:t>    </a:t>
            </a:r>
            <a:r>
              <a:rPr lang="uk" sz="1000">
                <a:solidFill>
                  <a:srgbClr val="006699"/>
                </a:solidFill>
                <a:highlight>
                  <a:srgbClr val="F5F5FA"/>
                </a:highlight>
                <a:latin typeface="Courier New"/>
                <a:ea typeface="Courier New"/>
                <a:cs typeface="Courier New"/>
                <a:sym typeface="Courier New"/>
              </a:rPr>
              <a:t>else</a:t>
            </a:r>
            <a:r>
              <a:rPr lang="uk" sz="1000">
                <a:solidFill>
                  <a:schemeClr val="dk1"/>
                </a:solidFill>
                <a:highlight>
                  <a:srgbClr val="F5F5FA"/>
                </a:highlight>
                <a:latin typeface="Courier New"/>
                <a:ea typeface="Courier New"/>
                <a:cs typeface="Courier New"/>
                <a:sym typeface="Courier New"/>
              </a:rPr>
              <a:t> </a:t>
            </a:r>
            <a:r>
              <a:rPr lang="uk" sz="1000">
                <a:solidFill>
                  <a:srgbClr val="006699"/>
                </a:solidFill>
                <a:highlight>
                  <a:srgbClr val="F5F5FA"/>
                </a:highlight>
                <a:latin typeface="Courier New"/>
                <a:ea typeface="Courier New"/>
                <a:cs typeface="Courier New"/>
                <a:sym typeface="Courier New"/>
              </a:rPr>
              <a:t>if</a:t>
            </a:r>
            <a:r>
              <a:rPr lang="uk" sz="1000">
                <a:solidFill>
                  <a:schemeClr val="dk1"/>
                </a:solidFill>
                <a:highlight>
                  <a:srgbClr val="F5F5FA"/>
                </a:highlight>
                <a:latin typeface="Courier New"/>
                <a:ea typeface="Courier New"/>
                <a:cs typeface="Courier New"/>
                <a:sym typeface="Courier New"/>
              </a:rPr>
              <a:t> </a:t>
            </a:r>
            <a:r>
              <a:rPr lang="uk" sz="1000">
                <a:solidFill>
                  <a:srgbClr val="188038"/>
                </a:solidFill>
                <a:highlight>
                  <a:srgbClr val="F5F5FA"/>
                </a:highlight>
                <a:latin typeface="Courier New"/>
                <a:ea typeface="Courier New"/>
                <a:cs typeface="Courier New"/>
                <a:sym typeface="Courier New"/>
              </a:rPr>
              <a:t>(numbers1Sum &lt; numbers2Sum)</a:t>
            </a:r>
            <a:endParaRPr sz="10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000">
                <a:solidFill>
                  <a:srgbClr val="188038"/>
                </a:solidFill>
                <a:highlight>
                  <a:srgbClr val="F5F5FA"/>
                </a:highlight>
                <a:latin typeface="Courier New"/>
                <a:ea typeface="Courier New"/>
                <a:cs typeface="Courier New"/>
                <a:sym typeface="Courier New"/>
              </a:rPr>
              <a:t>        Console.WriteLine(</a:t>
            </a:r>
            <a:r>
              <a:rPr lang="uk" sz="1000">
                <a:solidFill>
                  <a:srgbClr val="DB003E"/>
                </a:solidFill>
                <a:highlight>
                  <a:srgbClr val="F5F5FA"/>
                </a:highlight>
                <a:latin typeface="Courier New"/>
                <a:ea typeface="Courier New"/>
                <a:cs typeface="Courier New"/>
                <a:sym typeface="Courier New"/>
              </a:rPr>
              <a:t>"сумма чисел из массива numbers2 больше"</a:t>
            </a:r>
            <a:r>
              <a:rPr lang="uk" sz="1000">
                <a:solidFill>
                  <a:srgbClr val="188038"/>
                </a:solidFill>
                <a:highlight>
                  <a:srgbClr val="F5F5FA"/>
                </a:highlight>
                <a:latin typeface="Courier New"/>
                <a:ea typeface="Courier New"/>
                <a:cs typeface="Courier New"/>
                <a:sym typeface="Courier New"/>
              </a:rPr>
              <a:t>);</a:t>
            </a:r>
            <a:endParaRPr sz="10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000">
                <a:solidFill>
                  <a:srgbClr val="188038"/>
                </a:solidFill>
                <a:highlight>
                  <a:srgbClr val="F5F5FA"/>
                </a:highlight>
                <a:latin typeface="Courier New"/>
                <a:ea typeface="Courier New"/>
                <a:cs typeface="Courier New"/>
                <a:sym typeface="Courier New"/>
              </a:rPr>
              <a:t>    </a:t>
            </a:r>
            <a:r>
              <a:rPr lang="uk" sz="1000">
                <a:solidFill>
                  <a:srgbClr val="006699"/>
                </a:solidFill>
                <a:highlight>
                  <a:srgbClr val="F5F5FA"/>
                </a:highlight>
                <a:latin typeface="Courier New"/>
                <a:ea typeface="Courier New"/>
                <a:cs typeface="Courier New"/>
                <a:sym typeface="Courier New"/>
              </a:rPr>
              <a:t>else</a:t>
            </a:r>
            <a:endParaRPr sz="1000">
              <a:solidFill>
                <a:srgbClr val="006699"/>
              </a:solidFill>
              <a:highlight>
                <a:srgbClr val="F5F5FA"/>
              </a:highlight>
              <a:latin typeface="Courier New"/>
              <a:ea typeface="Courier New"/>
              <a:cs typeface="Courier New"/>
              <a:sym typeface="Courier New"/>
            </a:endParaRPr>
          </a:p>
          <a:p>
            <a:pPr marL="84665" marR="84665">
              <a:lnSpc>
                <a:spcPct val="143181"/>
              </a:lnSpc>
            </a:pPr>
            <a:r>
              <a:rPr lang="uk" sz="1000">
                <a:solidFill>
                  <a:srgbClr val="188038"/>
                </a:solidFill>
                <a:highlight>
                  <a:srgbClr val="F5F5FA"/>
                </a:highlight>
                <a:latin typeface="Courier New"/>
                <a:ea typeface="Courier New"/>
                <a:cs typeface="Courier New"/>
                <a:sym typeface="Courier New"/>
              </a:rPr>
              <a:t>        Console.WriteLine(</a:t>
            </a:r>
            <a:r>
              <a:rPr lang="uk" sz="1000">
                <a:solidFill>
                  <a:srgbClr val="DB003E"/>
                </a:solidFill>
                <a:highlight>
                  <a:srgbClr val="F5F5FA"/>
                </a:highlight>
                <a:latin typeface="Courier New"/>
                <a:ea typeface="Courier New"/>
                <a:cs typeface="Courier New"/>
                <a:sym typeface="Courier New"/>
              </a:rPr>
              <a:t>"суммы чисел обоих массивов равны"</a:t>
            </a:r>
            <a:r>
              <a:rPr lang="uk" sz="1000">
                <a:solidFill>
                  <a:srgbClr val="188038"/>
                </a:solidFill>
                <a:highlight>
                  <a:srgbClr val="F5F5FA"/>
                </a:highlight>
                <a:latin typeface="Courier New"/>
                <a:ea typeface="Courier New"/>
                <a:cs typeface="Courier New"/>
                <a:sym typeface="Courier New"/>
              </a:rPr>
              <a:t>);</a:t>
            </a:r>
            <a:endParaRPr sz="10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000">
                <a:solidFill>
                  <a:schemeClr val="dk1"/>
                </a:solidFill>
                <a:highlight>
                  <a:srgbClr val="F5F5FA"/>
                </a:highlight>
                <a:latin typeface="Courier New"/>
                <a:ea typeface="Courier New"/>
                <a:cs typeface="Courier New"/>
                <a:sym typeface="Courier New"/>
              </a:rPr>
              <a:t> </a:t>
            </a:r>
            <a:endParaRPr sz="1000">
              <a:solidFill>
                <a:schemeClr val="dk1"/>
              </a:solidFill>
              <a:highlight>
                <a:srgbClr val="F5F5FA"/>
              </a:highlight>
              <a:latin typeface="Courier New"/>
              <a:ea typeface="Courier New"/>
              <a:cs typeface="Courier New"/>
              <a:sym typeface="Courier New"/>
            </a:endParaRPr>
          </a:p>
          <a:p>
            <a:pPr marL="84665" marR="84665">
              <a:lnSpc>
                <a:spcPct val="143181"/>
              </a:lnSpc>
            </a:pPr>
            <a:r>
              <a:rPr lang="uk" sz="1000">
                <a:solidFill>
                  <a:srgbClr val="188038"/>
                </a:solidFill>
                <a:highlight>
                  <a:srgbClr val="F5F5FA"/>
                </a:highlight>
                <a:latin typeface="Courier New"/>
                <a:ea typeface="Courier New"/>
                <a:cs typeface="Courier New"/>
                <a:sym typeface="Courier New"/>
              </a:rPr>
              <a:t>    </a:t>
            </a:r>
            <a:r>
              <a:rPr lang="uk" sz="1000">
                <a:solidFill>
                  <a:srgbClr val="006699"/>
                </a:solidFill>
                <a:highlight>
                  <a:srgbClr val="F5F5FA"/>
                </a:highlight>
                <a:latin typeface="Courier New"/>
                <a:ea typeface="Courier New"/>
                <a:cs typeface="Courier New"/>
                <a:sym typeface="Courier New"/>
              </a:rPr>
              <a:t>int</a:t>
            </a:r>
            <a:r>
              <a:rPr lang="uk" sz="1000">
                <a:solidFill>
                  <a:schemeClr val="dk1"/>
                </a:solidFill>
                <a:highlight>
                  <a:srgbClr val="F5F5FA"/>
                </a:highlight>
                <a:latin typeface="Courier New"/>
                <a:ea typeface="Courier New"/>
                <a:cs typeface="Courier New"/>
                <a:sym typeface="Courier New"/>
              </a:rPr>
              <a:t> </a:t>
            </a:r>
            <a:r>
              <a:rPr lang="uk" sz="1000">
                <a:solidFill>
                  <a:srgbClr val="188038"/>
                </a:solidFill>
                <a:highlight>
                  <a:srgbClr val="F5F5FA"/>
                </a:highlight>
                <a:latin typeface="Courier New"/>
                <a:ea typeface="Courier New"/>
                <a:cs typeface="Courier New"/>
                <a:sym typeface="Courier New"/>
              </a:rPr>
              <a:t>Sum(</a:t>
            </a:r>
            <a:r>
              <a:rPr lang="uk" sz="1000">
                <a:solidFill>
                  <a:srgbClr val="006699"/>
                </a:solidFill>
                <a:highlight>
                  <a:srgbClr val="F5F5FA"/>
                </a:highlight>
                <a:latin typeface="Courier New"/>
                <a:ea typeface="Courier New"/>
                <a:cs typeface="Courier New"/>
                <a:sym typeface="Courier New"/>
              </a:rPr>
              <a:t>int</a:t>
            </a:r>
            <a:r>
              <a:rPr lang="uk" sz="1000">
                <a:solidFill>
                  <a:srgbClr val="188038"/>
                </a:solidFill>
                <a:highlight>
                  <a:srgbClr val="F5F5FA"/>
                </a:highlight>
                <a:latin typeface="Courier New"/>
                <a:ea typeface="Courier New"/>
                <a:cs typeface="Courier New"/>
                <a:sym typeface="Courier New"/>
              </a:rPr>
              <a:t>[] numbers)</a:t>
            </a:r>
            <a:endParaRPr sz="10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000">
                <a:solidFill>
                  <a:srgbClr val="188038"/>
                </a:solidFill>
                <a:highlight>
                  <a:srgbClr val="F5F5FA"/>
                </a:highlight>
                <a:latin typeface="Courier New"/>
                <a:ea typeface="Courier New"/>
                <a:cs typeface="Courier New"/>
                <a:sym typeface="Courier New"/>
              </a:rPr>
              <a:t>    {</a:t>
            </a:r>
            <a:endParaRPr sz="10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000">
                <a:solidFill>
                  <a:srgbClr val="188038"/>
                </a:solidFill>
                <a:highlight>
                  <a:srgbClr val="F5F5FA"/>
                </a:highlight>
                <a:latin typeface="Courier New"/>
                <a:ea typeface="Courier New"/>
                <a:cs typeface="Courier New"/>
                <a:sym typeface="Courier New"/>
              </a:rPr>
              <a:t>        </a:t>
            </a:r>
            <a:r>
              <a:rPr lang="uk" sz="1000">
                <a:solidFill>
                  <a:srgbClr val="006699"/>
                </a:solidFill>
                <a:highlight>
                  <a:srgbClr val="F5F5FA"/>
                </a:highlight>
                <a:latin typeface="Courier New"/>
                <a:ea typeface="Courier New"/>
                <a:cs typeface="Courier New"/>
                <a:sym typeface="Courier New"/>
              </a:rPr>
              <a:t>int</a:t>
            </a:r>
            <a:r>
              <a:rPr lang="uk" sz="1000">
                <a:solidFill>
                  <a:schemeClr val="dk1"/>
                </a:solidFill>
                <a:highlight>
                  <a:srgbClr val="F5F5FA"/>
                </a:highlight>
                <a:latin typeface="Courier New"/>
                <a:ea typeface="Courier New"/>
                <a:cs typeface="Courier New"/>
                <a:sym typeface="Courier New"/>
              </a:rPr>
              <a:t> </a:t>
            </a:r>
            <a:r>
              <a:rPr lang="uk" sz="1000">
                <a:solidFill>
                  <a:srgbClr val="188038"/>
                </a:solidFill>
                <a:highlight>
                  <a:srgbClr val="F5F5FA"/>
                </a:highlight>
                <a:latin typeface="Courier New"/>
                <a:ea typeface="Courier New"/>
                <a:cs typeface="Courier New"/>
                <a:sym typeface="Courier New"/>
              </a:rPr>
              <a:t>result = 0;</a:t>
            </a:r>
            <a:endParaRPr sz="10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000">
                <a:solidFill>
                  <a:srgbClr val="188038"/>
                </a:solidFill>
                <a:highlight>
                  <a:srgbClr val="F5F5FA"/>
                </a:highlight>
                <a:latin typeface="Courier New"/>
                <a:ea typeface="Courier New"/>
                <a:cs typeface="Courier New"/>
                <a:sym typeface="Courier New"/>
              </a:rPr>
              <a:t>        </a:t>
            </a:r>
            <a:r>
              <a:rPr lang="uk" sz="1000">
                <a:solidFill>
                  <a:srgbClr val="006699"/>
                </a:solidFill>
                <a:highlight>
                  <a:srgbClr val="F5F5FA"/>
                </a:highlight>
                <a:latin typeface="Courier New"/>
                <a:ea typeface="Courier New"/>
                <a:cs typeface="Courier New"/>
                <a:sym typeface="Courier New"/>
              </a:rPr>
              <a:t>foreach</a:t>
            </a:r>
            <a:r>
              <a:rPr lang="uk" sz="1000">
                <a:solidFill>
                  <a:schemeClr val="dk1"/>
                </a:solidFill>
                <a:highlight>
                  <a:srgbClr val="F5F5FA"/>
                </a:highlight>
                <a:latin typeface="Courier New"/>
                <a:ea typeface="Courier New"/>
                <a:cs typeface="Courier New"/>
                <a:sym typeface="Courier New"/>
              </a:rPr>
              <a:t> </a:t>
            </a:r>
            <a:r>
              <a:rPr lang="uk" sz="1000">
                <a:solidFill>
                  <a:srgbClr val="188038"/>
                </a:solidFill>
                <a:highlight>
                  <a:srgbClr val="F5F5FA"/>
                </a:highlight>
                <a:latin typeface="Courier New"/>
                <a:ea typeface="Courier New"/>
                <a:cs typeface="Courier New"/>
                <a:sym typeface="Courier New"/>
              </a:rPr>
              <a:t>(</a:t>
            </a:r>
            <a:r>
              <a:rPr lang="uk" sz="1000">
                <a:solidFill>
                  <a:srgbClr val="006699"/>
                </a:solidFill>
                <a:highlight>
                  <a:srgbClr val="F5F5FA"/>
                </a:highlight>
                <a:latin typeface="Courier New"/>
                <a:ea typeface="Courier New"/>
                <a:cs typeface="Courier New"/>
                <a:sym typeface="Courier New"/>
              </a:rPr>
              <a:t>int</a:t>
            </a:r>
            <a:r>
              <a:rPr lang="uk" sz="1000">
                <a:solidFill>
                  <a:schemeClr val="dk1"/>
                </a:solidFill>
                <a:highlight>
                  <a:srgbClr val="F5F5FA"/>
                </a:highlight>
                <a:latin typeface="Courier New"/>
                <a:ea typeface="Courier New"/>
                <a:cs typeface="Courier New"/>
                <a:sym typeface="Courier New"/>
              </a:rPr>
              <a:t> </a:t>
            </a:r>
            <a:r>
              <a:rPr lang="uk" sz="1000">
                <a:solidFill>
                  <a:srgbClr val="188038"/>
                </a:solidFill>
                <a:highlight>
                  <a:srgbClr val="F5F5FA"/>
                </a:highlight>
                <a:latin typeface="Courier New"/>
                <a:ea typeface="Courier New"/>
                <a:cs typeface="Courier New"/>
                <a:sym typeface="Courier New"/>
              </a:rPr>
              <a:t>number </a:t>
            </a:r>
            <a:r>
              <a:rPr lang="uk" sz="1000">
                <a:solidFill>
                  <a:srgbClr val="006699"/>
                </a:solidFill>
                <a:highlight>
                  <a:srgbClr val="F5F5FA"/>
                </a:highlight>
                <a:latin typeface="Courier New"/>
                <a:ea typeface="Courier New"/>
                <a:cs typeface="Courier New"/>
                <a:sym typeface="Courier New"/>
              </a:rPr>
              <a:t>in</a:t>
            </a:r>
            <a:r>
              <a:rPr lang="uk" sz="1000">
                <a:solidFill>
                  <a:schemeClr val="dk1"/>
                </a:solidFill>
                <a:highlight>
                  <a:srgbClr val="F5F5FA"/>
                </a:highlight>
                <a:latin typeface="Courier New"/>
                <a:ea typeface="Courier New"/>
                <a:cs typeface="Courier New"/>
                <a:sym typeface="Courier New"/>
              </a:rPr>
              <a:t> </a:t>
            </a:r>
            <a:r>
              <a:rPr lang="uk" sz="1000">
                <a:solidFill>
                  <a:srgbClr val="188038"/>
                </a:solidFill>
                <a:highlight>
                  <a:srgbClr val="F5F5FA"/>
                </a:highlight>
                <a:latin typeface="Courier New"/>
                <a:ea typeface="Courier New"/>
                <a:cs typeface="Courier New"/>
                <a:sym typeface="Courier New"/>
              </a:rPr>
              <a:t>numbers)</a:t>
            </a:r>
            <a:endParaRPr sz="10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000">
                <a:solidFill>
                  <a:srgbClr val="188038"/>
                </a:solidFill>
                <a:highlight>
                  <a:srgbClr val="F5F5FA"/>
                </a:highlight>
                <a:latin typeface="Courier New"/>
                <a:ea typeface="Courier New"/>
                <a:cs typeface="Courier New"/>
                <a:sym typeface="Courier New"/>
              </a:rPr>
              <a:t>            result += number;</a:t>
            </a:r>
            <a:endParaRPr sz="10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000">
                <a:solidFill>
                  <a:srgbClr val="188038"/>
                </a:solidFill>
                <a:highlight>
                  <a:srgbClr val="F5F5FA"/>
                </a:highlight>
                <a:latin typeface="Courier New"/>
                <a:ea typeface="Courier New"/>
                <a:cs typeface="Courier New"/>
                <a:sym typeface="Courier New"/>
              </a:rPr>
              <a:t>        </a:t>
            </a:r>
            <a:r>
              <a:rPr lang="uk" sz="1000">
                <a:solidFill>
                  <a:srgbClr val="006699"/>
                </a:solidFill>
                <a:highlight>
                  <a:srgbClr val="F5F5FA"/>
                </a:highlight>
                <a:latin typeface="Courier New"/>
                <a:ea typeface="Courier New"/>
                <a:cs typeface="Courier New"/>
                <a:sym typeface="Courier New"/>
              </a:rPr>
              <a:t>return</a:t>
            </a:r>
            <a:r>
              <a:rPr lang="uk" sz="1000">
                <a:solidFill>
                  <a:schemeClr val="dk1"/>
                </a:solidFill>
                <a:highlight>
                  <a:srgbClr val="F5F5FA"/>
                </a:highlight>
                <a:latin typeface="Courier New"/>
                <a:ea typeface="Courier New"/>
                <a:cs typeface="Courier New"/>
                <a:sym typeface="Courier New"/>
              </a:rPr>
              <a:t> </a:t>
            </a:r>
            <a:r>
              <a:rPr lang="uk" sz="1000">
                <a:solidFill>
                  <a:srgbClr val="188038"/>
                </a:solidFill>
                <a:highlight>
                  <a:srgbClr val="F5F5FA"/>
                </a:highlight>
                <a:latin typeface="Courier New"/>
                <a:ea typeface="Courier New"/>
                <a:cs typeface="Courier New"/>
                <a:sym typeface="Courier New"/>
              </a:rPr>
              <a:t>result;</a:t>
            </a:r>
            <a:endParaRPr sz="10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000">
                <a:solidFill>
                  <a:srgbClr val="188038"/>
                </a:solidFill>
                <a:highlight>
                  <a:srgbClr val="F5F5FA"/>
                </a:highlight>
                <a:latin typeface="Courier New"/>
                <a:ea typeface="Courier New"/>
                <a:cs typeface="Courier New"/>
                <a:sym typeface="Courier New"/>
              </a:rPr>
              <a:t>    }</a:t>
            </a:r>
            <a:endParaRPr sz="10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000">
                <a:solidFill>
                  <a:srgbClr val="188038"/>
                </a:solidFill>
                <a:highlight>
                  <a:srgbClr val="F5F5FA"/>
                </a:highlight>
                <a:latin typeface="Courier New"/>
                <a:ea typeface="Courier New"/>
                <a:cs typeface="Courier New"/>
                <a:sym typeface="Courier New"/>
              </a:rPr>
              <a:t>}</a:t>
            </a:r>
            <a:endParaRPr sz="10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000">
                <a:solidFill>
                  <a:schemeClr val="dk1"/>
                </a:solidFill>
                <a:highlight>
                  <a:srgbClr val="F5F5FA"/>
                </a:highlight>
                <a:latin typeface="Courier New"/>
                <a:ea typeface="Courier New"/>
                <a:cs typeface="Courier New"/>
                <a:sym typeface="Courier New"/>
              </a:rPr>
              <a:t> </a:t>
            </a:r>
            <a:endParaRPr sz="1000">
              <a:solidFill>
                <a:schemeClr val="dk1"/>
              </a:solidFill>
              <a:highlight>
                <a:srgbClr val="F5F5FA"/>
              </a:highlight>
              <a:latin typeface="Courier New"/>
              <a:ea typeface="Courier New"/>
              <a:cs typeface="Courier New"/>
              <a:sym typeface="Courier New"/>
            </a:endParaRPr>
          </a:p>
          <a:p>
            <a:pPr marL="84665" marR="84665">
              <a:lnSpc>
                <a:spcPct val="143181"/>
              </a:lnSpc>
            </a:pPr>
            <a:r>
              <a:rPr lang="uk" sz="1000">
                <a:solidFill>
                  <a:srgbClr val="006699"/>
                </a:solidFill>
                <a:highlight>
                  <a:srgbClr val="F5F5FA"/>
                </a:highlight>
                <a:latin typeface="Courier New"/>
                <a:ea typeface="Courier New"/>
                <a:cs typeface="Courier New"/>
                <a:sym typeface="Courier New"/>
              </a:rPr>
              <a:t>int</a:t>
            </a:r>
            <a:r>
              <a:rPr lang="uk" sz="1000">
                <a:solidFill>
                  <a:srgbClr val="188038"/>
                </a:solidFill>
                <a:highlight>
                  <a:srgbClr val="F5F5FA"/>
                </a:highlight>
                <a:latin typeface="Courier New"/>
                <a:ea typeface="Courier New"/>
                <a:cs typeface="Courier New"/>
                <a:sym typeface="Courier New"/>
              </a:rPr>
              <a:t>[] numbers1 = { 1, 2, 3 };</a:t>
            </a:r>
            <a:endParaRPr sz="10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000">
                <a:solidFill>
                  <a:srgbClr val="006699"/>
                </a:solidFill>
                <a:highlight>
                  <a:srgbClr val="F5F5FA"/>
                </a:highlight>
                <a:latin typeface="Courier New"/>
                <a:ea typeface="Courier New"/>
                <a:cs typeface="Courier New"/>
                <a:sym typeface="Courier New"/>
              </a:rPr>
              <a:t>int</a:t>
            </a:r>
            <a:r>
              <a:rPr lang="uk" sz="1000">
                <a:solidFill>
                  <a:srgbClr val="188038"/>
                </a:solidFill>
                <a:highlight>
                  <a:srgbClr val="F5F5FA"/>
                </a:highlight>
                <a:latin typeface="Courier New"/>
                <a:ea typeface="Courier New"/>
                <a:cs typeface="Courier New"/>
                <a:sym typeface="Courier New"/>
              </a:rPr>
              <a:t>[] numbers2 = { 3, 4, 5, 6, 7 };</a:t>
            </a:r>
            <a:endParaRPr sz="1000">
              <a:solidFill>
                <a:srgbClr val="188038"/>
              </a:solidFill>
              <a:highlight>
                <a:srgbClr val="F5F5FA"/>
              </a:highlight>
              <a:latin typeface="Courier New"/>
              <a:ea typeface="Courier New"/>
              <a:cs typeface="Courier New"/>
              <a:sym typeface="Courier New"/>
            </a:endParaRPr>
          </a:p>
          <a:p>
            <a:pPr marL="84665" marR="84665">
              <a:lnSpc>
                <a:spcPct val="143181"/>
              </a:lnSpc>
            </a:pPr>
            <a:r>
              <a:rPr lang="uk" sz="1000">
                <a:solidFill>
                  <a:schemeClr val="dk1"/>
                </a:solidFill>
                <a:highlight>
                  <a:srgbClr val="F5F5FA"/>
                </a:highlight>
                <a:latin typeface="Courier New"/>
                <a:ea typeface="Courier New"/>
                <a:cs typeface="Courier New"/>
                <a:sym typeface="Courier New"/>
              </a:rPr>
              <a:t> </a:t>
            </a:r>
            <a:endParaRPr sz="1000">
              <a:solidFill>
                <a:schemeClr val="dk1"/>
              </a:solidFill>
              <a:highlight>
                <a:srgbClr val="F5F5FA"/>
              </a:highlight>
              <a:latin typeface="Courier New"/>
              <a:ea typeface="Courier New"/>
              <a:cs typeface="Courier New"/>
              <a:sym typeface="Courier New"/>
            </a:endParaRPr>
          </a:p>
          <a:p>
            <a:pPr marL="84665" marR="84665">
              <a:lnSpc>
                <a:spcPct val="143181"/>
              </a:lnSpc>
            </a:pPr>
            <a:r>
              <a:rPr lang="uk" sz="1000">
                <a:solidFill>
                  <a:srgbClr val="188038"/>
                </a:solidFill>
                <a:highlight>
                  <a:srgbClr val="F5F5FA"/>
                </a:highlight>
                <a:latin typeface="Courier New"/>
                <a:ea typeface="Courier New"/>
                <a:cs typeface="Courier New"/>
                <a:sym typeface="Courier New"/>
              </a:rPr>
              <a:t>Compare(numbers1, numbers2);</a:t>
            </a:r>
            <a:endParaRPr sz="1000">
              <a:solidFill>
                <a:srgbClr val="188038"/>
              </a:solidFill>
              <a:highlight>
                <a:srgbClr val="F5F5FA"/>
              </a:highlight>
              <a:latin typeface="Courier New"/>
              <a:ea typeface="Courier New"/>
              <a:cs typeface="Courier New"/>
              <a:sym typeface="Courier New"/>
            </a:endParaRPr>
          </a:p>
        </p:txBody>
      </p:sp>
      <p:sp>
        <p:nvSpPr>
          <p:cNvPr id="479" name="Google Shape;479;p61"/>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Локальні функції</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480" name="Google Shape;480;p61"/>
          <p:cNvSpPr txBox="1"/>
          <p:nvPr/>
        </p:nvSpPr>
        <p:spPr>
          <a:xfrm>
            <a:off x="7884067" y="4709401"/>
            <a:ext cx="4000000" cy="2068411"/>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pPr>
            <a:r>
              <a:rPr lang="uk" sz="1600">
                <a:solidFill>
                  <a:schemeClr val="dk1"/>
                </a:solidFill>
              </a:rPr>
              <a:t>Тут підрахунок суми винесений в локальну функцію </a:t>
            </a:r>
            <a:r>
              <a:rPr lang="uk" sz="1600">
                <a:solidFill>
                  <a:srgbClr val="188038"/>
                </a:solidFill>
                <a:latin typeface="Roboto Mono"/>
                <a:ea typeface="Roboto Mono"/>
                <a:cs typeface="Roboto Mono"/>
                <a:sym typeface="Roboto Mono"/>
              </a:rPr>
              <a:t>Sum</a:t>
            </a:r>
            <a:r>
              <a:rPr lang="uk" sz="1600">
                <a:solidFill>
                  <a:schemeClr val="dk1"/>
                </a:solidFill>
              </a:rPr>
              <a:t>, яка приймає масив і повертає його суму.</a:t>
            </a:r>
            <a:endParaRPr sz="1600">
              <a:solidFill>
                <a:schemeClr val="dk1"/>
              </a:solidFill>
            </a:endParaRPr>
          </a:p>
          <a:p>
            <a:pPr>
              <a:lnSpc>
                <a:spcPct val="115000"/>
              </a:lnSpc>
              <a:spcBef>
                <a:spcPts val="1600"/>
              </a:spcBef>
            </a:pPr>
            <a:endParaRPr sz="1467">
              <a:solidFill>
                <a:schemeClr val="dk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62"/>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Статичні локальні функції</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486" name="Google Shape;486;p62"/>
          <p:cNvSpPr txBox="1"/>
          <p:nvPr/>
        </p:nvSpPr>
        <p:spPr>
          <a:xfrm>
            <a:off x="5358367" y="1105001"/>
            <a:ext cx="6833600" cy="2782131"/>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pPr>
            <a:r>
              <a:rPr lang="uk" sz="1600">
                <a:solidFill>
                  <a:schemeClr val="dk1"/>
                </a:solidFill>
              </a:rPr>
              <a:t>Локальні функції можуть бути статичними. Такі функції визначаються за допомогою ключового слова </a:t>
            </a:r>
            <a:r>
              <a:rPr lang="uk" sz="1600" b="1">
                <a:solidFill>
                  <a:schemeClr val="dk1"/>
                </a:solidFill>
              </a:rPr>
              <a:t>static</a:t>
            </a:r>
            <a:r>
              <a:rPr lang="uk" sz="1600">
                <a:solidFill>
                  <a:schemeClr val="dk1"/>
                </a:solidFill>
              </a:rPr>
              <a:t> . Їх особливістю і те, що вони можуть звертатися до змінним оточення, тобто методу, у якому статична функція визначена.</a:t>
            </a:r>
            <a:endParaRPr sz="1600">
              <a:solidFill>
                <a:schemeClr val="dk1"/>
              </a:solidFill>
            </a:endParaRPr>
          </a:p>
          <a:p>
            <a:pPr>
              <a:lnSpc>
                <a:spcPct val="156000"/>
              </a:lnSpc>
              <a:spcBef>
                <a:spcPts val="1600"/>
              </a:spcBef>
              <a:spcAft>
                <a:spcPts val="1600"/>
              </a:spcAft>
            </a:pPr>
            <a:r>
              <a:rPr lang="uk" sz="1600">
                <a:solidFill>
                  <a:schemeClr val="dk1"/>
                </a:solidFill>
              </a:rPr>
              <a:t>Спочатку визначимо локальну функцію, яка має оточення:</a:t>
            </a:r>
            <a:endParaRPr sz="1600">
              <a:solidFill>
                <a:schemeClr val="dk1"/>
              </a:solidFill>
            </a:endParaRPr>
          </a:p>
        </p:txBody>
      </p:sp>
      <p:sp>
        <p:nvSpPr>
          <p:cNvPr id="487" name="Google Shape;487;p62"/>
          <p:cNvSpPr txBox="1"/>
          <p:nvPr/>
        </p:nvSpPr>
        <p:spPr>
          <a:xfrm>
            <a:off x="455133" y="1403134"/>
            <a:ext cx="4000000" cy="5403427"/>
          </a:xfrm>
          <a:prstGeom prst="rect">
            <a:avLst/>
          </a:prstGeom>
          <a:noFill/>
          <a:ln>
            <a:noFill/>
          </a:ln>
        </p:spPr>
        <p:txBody>
          <a:bodyPr spcFirstLastPara="1" wrap="square" lIns="121900" tIns="121900" rIns="121900" bIns="121900" anchor="t" anchorCtr="0">
            <a:spAutoFit/>
          </a:bodyPr>
          <a:lstStyle/>
          <a:p>
            <a:pPr marL="84665" marR="84665">
              <a:lnSpc>
                <a:spcPct val="115000"/>
              </a:lnSpc>
            </a:pPr>
            <a:r>
              <a:rPr lang="uk" sz="1267">
                <a:solidFill>
                  <a:srgbClr val="006699"/>
                </a:solidFill>
                <a:highlight>
                  <a:srgbClr val="F5F5FA"/>
                </a:highlight>
                <a:latin typeface="Courier New"/>
                <a:ea typeface="Courier New"/>
                <a:cs typeface="Courier New"/>
                <a:sym typeface="Courier New"/>
              </a:rPr>
              <a:t>int</a:t>
            </a:r>
            <a:r>
              <a:rPr lang="uk" sz="1267">
                <a:solidFill>
                  <a:schemeClr val="dk1"/>
                </a:solidFill>
                <a:highlight>
                  <a:srgbClr val="F5F5FA"/>
                </a:highlight>
                <a:latin typeface="Courier New"/>
                <a:ea typeface="Courier New"/>
                <a:cs typeface="Courier New"/>
                <a:sym typeface="Courier New"/>
              </a:rPr>
              <a:t> </a:t>
            </a:r>
            <a:r>
              <a:rPr lang="uk" sz="1267">
                <a:solidFill>
                  <a:srgbClr val="188038"/>
                </a:solidFill>
                <a:highlight>
                  <a:srgbClr val="F5F5FA"/>
                </a:highlight>
                <a:latin typeface="Courier New"/>
                <a:ea typeface="Courier New"/>
                <a:cs typeface="Courier New"/>
                <a:sym typeface="Courier New"/>
              </a:rPr>
              <a:t>Sum(</a:t>
            </a:r>
            <a:r>
              <a:rPr lang="uk" sz="1267">
                <a:solidFill>
                  <a:srgbClr val="006699"/>
                </a:solidFill>
                <a:highlight>
                  <a:srgbClr val="F5F5FA"/>
                </a:highlight>
                <a:latin typeface="Courier New"/>
                <a:ea typeface="Courier New"/>
                <a:cs typeface="Courier New"/>
                <a:sym typeface="Courier New"/>
              </a:rPr>
              <a:t>int</a:t>
            </a:r>
            <a:r>
              <a:rPr lang="uk" sz="1267">
                <a:solidFill>
                  <a:srgbClr val="188038"/>
                </a:solidFill>
                <a:highlight>
                  <a:srgbClr val="F5F5FA"/>
                </a:highlight>
                <a:latin typeface="Courier New"/>
                <a:ea typeface="Courier New"/>
                <a:cs typeface="Courier New"/>
                <a:sym typeface="Courier New"/>
              </a:rPr>
              <a:t>[] numbers)</a:t>
            </a:r>
            <a:endParaRPr sz="1267">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267">
                <a:solidFill>
                  <a:srgbClr val="188038"/>
                </a:solidFill>
                <a:highlight>
                  <a:srgbClr val="F5F5FA"/>
                </a:highlight>
                <a:latin typeface="Courier New"/>
                <a:ea typeface="Courier New"/>
                <a:cs typeface="Courier New"/>
                <a:sym typeface="Courier New"/>
              </a:rPr>
              <a:t>{</a:t>
            </a:r>
            <a:endParaRPr sz="1267">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267">
                <a:solidFill>
                  <a:srgbClr val="188038"/>
                </a:solidFill>
                <a:highlight>
                  <a:srgbClr val="F5F5FA"/>
                </a:highlight>
                <a:latin typeface="Courier New"/>
                <a:ea typeface="Courier New"/>
                <a:cs typeface="Courier New"/>
                <a:sym typeface="Courier New"/>
              </a:rPr>
              <a:t>    </a:t>
            </a:r>
            <a:r>
              <a:rPr lang="uk" sz="1267">
                <a:solidFill>
                  <a:srgbClr val="006699"/>
                </a:solidFill>
                <a:highlight>
                  <a:srgbClr val="F5F5FA"/>
                </a:highlight>
                <a:latin typeface="Courier New"/>
                <a:ea typeface="Courier New"/>
                <a:cs typeface="Courier New"/>
                <a:sym typeface="Courier New"/>
              </a:rPr>
              <a:t>int</a:t>
            </a:r>
            <a:r>
              <a:rPr lang="uk" sz="1267">
                <a:solidFill>
                  <a:schemeClr val="dk1"/>
                </a:solidFill>
                <a:highlight>
                  <a:srgbClr val="F5F5FA"/>
                </a:highlight>
                <a:latin typeface="Courier New"/>
                <a:ea typeface="Courier New"/>
                <a:cs typeface="Courier New"/>
                <a:sym typeface="Courier New"/>
              </a:rPr>
              <a:t> </a:t>
            </a:r>
            <a:r>
              <a:rPr lang="uk" sz="1267">
                <a:solidFill>
                  <a:srgbClr val="188038"/>
                </a:solidFill>
                <a:highlight>
                  <a:srgbClr val="F5F5FA"/>
                </a:highlight>
                <a:latin typeface="Courier New"/>
                <a:ea typeface="Courier New"/>
                <a:cs typeface="Courier New"/>
                <a:sym typeface="Courier New"/>
              </a:rPr>
              <a:t>limit = 0;</a:t>
            </a:r>
            <a:endParaRPr sz="1267">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267">
                <a:solidFill>
                  <a:srgbClr val="188038"/>
                </a:solidFill>
                <a:highlight>
                  <a:srgbClr val="F5F5FA"/>
                </a:highlight>
                <a:latin typeface="Courier New"/>
                <a:ea typeface="Courier New"/>
                <a:cs typeface="Courier New"/>
                <a:sym typeface="Courier New"/>
              </a:rPr>
              <a:t>    </a:t>
            </a:r>
            <a:r>
              <a:rPr lang="uk" sz="1267">
                <a:solidFill>
                  <a:srgbClr val="006699"/>
                </a:solidFill>
                <a:highlight>
                  <a:srgbClr val="F5F5FA"/>
                </a:highlight>
                <a:latin typeface="Courier New"/>
                <a:ea typeface="Courier New"/>
                <a:cs typeface="Courier New"/>
                <a:sym typeface="Courier New"/>
              </a:rPr>
              <a:t>int</a:t>
            </a:r>
            <a:r>
              <a:rPr lang="uk" sz="1267">
                <a:solidFill>
                  <a:schemeClr val="dk1"/>
                </a:solidFill>
                <a:highlight>
                  <a:srgbClr val="F5F5FA"/>
                </a:highlight>
                <a:latin typeface="Courier New"/>
                <a:ea typeface="Courier New"/>
                <a:cs typeface="Courier New"/>
                <a:sym typeface="Courier New"/>
              </a:rPr>
              <a:t> </a:t>
            </a:r>
            <a:r>
              <a:rPr lang="uk" sz="1267">
                <a:solidFill>
                  <a:srgbClr val="188038"/>
                </a:solidFill>
                <a:highlight>
                  <a:srgbClr val="F5F5FA"/>
                </a:highlight>
                <a:latin typeface="Courier New"/>
                <a:ea typeface="Courier New"/>
                <a:cs typeface="Courier New"/>
                <a:sym typeface="Courier New"/>
              </a:rPr>
              <a:t>result = 0;</a:t>
            </a:r>
            <a:endParaRPr sz="1267">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267">
                <a:solidFill>
                  <a:srgbClr val="188038"/>
                </a:solidFill>
                <a:highlight>
                  <a:srgbClr val="F5F5FA"/>
                </a:highlight>
                <a:latin typeface="Courier New"/>
                <a:ea typeface="Courier New"/>
                <a:cs typeface="Courier New"/>
                <a:sym typeface="Courier New"/>
              </a:rPr>
              <a:t>    </a:t>
            </a:r>
            <a:r>
              <a:rPr lang="uk" sz="1267">
                <a:solidFill>
                  <a:srgbClr val="006699"/>
                </a:solidFill>
                <a:highlight>
                  <a:srgbClr val="F5F5FA"/>
                </a:highlight>
                <a:latin typeface="Courier New"/>
                <a:ea typeface="Courier New"/>
                <a:cs typeface="Courier New"/>
                <a:sym typeface="Courier New"/>
              </a:rPr>
              <a:t>foreach</a:t>
            </a:r>
            <a:r>
              <a:rPr lang="uk" sz="1267">
                <a:solidFill>
                  <a:schemeClr val="dk1"/>
                </a:solidFill>
                <a:highlight>
                  <a:srgbClr val="F5F5FA"/>
                </a:highlight>
                <a:latin typeface="Courier New"/>
                <a:ea typeface="Courier New"/>
                <a:cs typeface="Courier New"/>
                <a:sym typeface="Courier New"/>
              </a:rPr>
              <a:t> </a:t>
            </a:r>
            <a:r>
              <a:rPr lang="uk" sz="1267">
                <a:solidFill>
                  <a:srgbClr val="188038"/>
                </a:solidFill>
                <a:highlight>
                  <a:srgbClr val="F5F5FA"/>
                </a:highlight>
                <a:latin typeface="Courier New"/>
                <a:ea typeface="Courier New"/>
                <a:cs typeface="Courier New"/>
                <a:sym typeface="Courier New"/>
              </a:rPr>
              <a:t>(</a:t>
            </a:r>
            <a:r>
              <a:rPr lang="uk" sz="1267">
                <a:solidFill>
                  <a:srgbClr val="006699"/>
                </a:solidFill>
                <a:highlight>
                  <a:srgbClr val="F5F5FA"/>
                </a:highlight>
                <a:latin typeface="Courier New"/>
                <a:ea typeface="Courier New"/>
                <a:cs typeface="Courier New"/>
                <a:sym typeface="Courier New"/>
              </a:rPr>
              <a:t>int</a:t>
            </a:r>
            <a:r>
              <a:rPr lang="uk" sz="1267">
                <a:solidFill>
                  <a:schemeClr val="dk1"/>
                </a:solidFill>
                <a:highlight>
                  <a:srgbClr val="F5F5FA"/>
                </a:highlight>
                <a:latin typeface="Courier New"/>
                <a:ea typeface="Courier New"/>
                <a:cs typeface="Courier New"/>
                <a:sym typeface="Courier New"/>
              </a:rPr>
              <a:t> </a:t>
            </a:r>
            <a:r>
              <a:rPr lang="uk" sz="1267">
                <a:solidFill>
                  <a:srgbClr val="188038"/>
                </a:solidFill>
                <a:highlight>
                  <a:srgbClr val="F5F5FA"/>
                </a:highlight>
                <a:latin typeface="Courier New"/>
                <a:ea typeface="Courier New"/>
                <a:cs typeface="Courier New"/>
                <a:sym typeface="Courier New"/>
              </a:rPr>
              <a:t>number </a:t>
            </a:r>
            <a:r>
              <a:rPr lang="uk" sz="1267">
                <a:solidFill>
                  <a:srgbClr val="006699"/>
                </a:solidFill>
                <a:highlight>
                  <a:srgbClr val="F5F5FA"/>
                </a:highlight>
                <a:latin typeface="Courier New"/>
                <a:ea typeface="Courier New"/>
                <a:cs typeface="Courier New"/>
                <a:sym typeface="Courier New"/>
              </a:rPr>
              <a:t>in</a:t>
            </a:r>
            <a:r>
              <a:rPr lang="uk" sz="1267">
                <a:solidFill>
                  <a:schemeClr val="dk1"/>
                </a:solidFill>
                <a:highlight>
                  <a:srgbClr val="F5F5FA"/>
                </a:highlight>
                <a:latin typeface="Courier New"/>
                <a:ea typeface="Courier New"/>
                <a:cs typeface="Courier New"/>
                <a:sym typeface="Courier New"/>
              </a:rPr>
              <a:t> </a:t>
            </a:r>
            <a:r>
              <a:rPr lang="uk" sz="1267">
                <a:solidFill>
                  <a:srgbClr val="188038"/>
                </a:solidFill>
                <a:highlight>
                  <a:srgbClr val="F5F5FA"/>
                </a:highlight>
                <a:latin typeface="Courier New"/>
                <a:ea typeface="Courier New"/>
                <a:cs typeface="Courier New"/>
                <a:sym typeface="Courier New"/>
              </a:rPr>
              <a:t>numbers)</a:t>
            </a:r>
            <a:endParaRPr sz="1267">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267">
                <a:solidFill>
                  <a:srgbClr val="188038"/>
                </a:solidFill>
                <a:highlight>
                  <a:srgbClr val="F5F5FA"/>
                </a:highlight>
                <a:latin typeface="Courier New"/>
                <a:ea typeface="Courier New"/>
                <a:cs typeface="Courier New"/>
                <a:sym typeface="Courier New"/>
              </a:rPr>
              <a:t>    {</a:t>
            </a:r>
            <a:endParaRPr sz="1267">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267">
                <a:solidFill>
                  <a:srgbClr val="188038"/>
                </a:solidFill>
                <a:highlight>
                  <a:srgbClr val="F5F5FA"/>
                </a:highlight>
                <a:latin typeface="Courier New"/>
                <a:ea typeface="Courier New"/>
                <a:cs typeface="Courier New"/>
                <a:sym typeface="Courier New"/>
              </a:rPr>
              <a:t>        </a:t>
            </a:r>
            <a:r>
              <a:rPr lang="uk" sz="1267">
                <a:solidFill>
                  <a:srgbClr val="006699"/>
                </a:solidFill>
                <a:highlight>
                  <a:srgbClr val="F5F5FA"/>
                </a:highlight>
                <a:latin typeface="Courier New"/>
                <a:ea typeface="Courier New"/>
                <a:cs typeface="Courier New"/>
                <a:sym typeface="Courier New"/>
              </a:rPr>
              <a:t>if</a:t>
            </a:r>
            <a:r>
              <a:rPr lang="uk" sz="1267">
                <a:solidFill>
                  <a:schemeClr val="dk1"/>
                </a:solidFill>
                <a:highlight>
                  <a:srgbClr val="F5F5FA"/>
                </a:highlight>
                <a:latin typeface="Courier New"/>
                <a:ea typeface="Courier New"/>
                <a:cs typeface="Courier New"/>
                <a:sym typeface="Courier New"/>
              </a:rPr>
              <a:t> </a:t>
            </a:r>
            <a:r>
              <a:rPr lang="uk" sz="1267">
                <a:solidFill>
                  <a:srgbClr val="188038"/>
                </a:solidFill>
                <a:highlight>
                  <a:srgbClr val="F5F5FA"/>
                </a:highlight>
                <a:latin typeface="Courier New"/>
                <a:ea typeface="Courier New"/>
                <a:cs typeface="Courier New"/>
                <a:sym typeface="Courier New"/>
              </a:rPr>
              <a:t>(IsPassed(number)) result += number;</a:t>
            </a:r>
            <a:endParaRPr sz="1267">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267">
                <a:solidFill>
                  <a:srgbClr val="188038"/>
                </a:solidFill>
                <a:highlight>
                  <a:srgbClr val="F5F5FA"/>
                </a:highlight>
                <a:latin typeface="Courier New"/>
                <a:ea typeface="Courier New"/>
                <a:cs typeface="Courier New"/>
                <a:sym typeface="Courier New"/>
              </a:rPr>
              <a:t>    }</a:t>
            </a:r>
            <a:endParaRPr sz="1267">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267">
                <a:solidFill>
                  <a:srgbClr val="188038"/>
                </a:solidFill>
                <a:highlight>
                  <a:srgbClr val="F5F5FA"/>
                </a:highlight>
                <a:latin typeface="Courier New"/>
                <a:ea typeface="Courier New"/>
                <a:cs typeface="Courier New"/>
                <a:sym typeface="Courier New"/>
              </a:rPr>
              <a:t>    </a:t>
            </a:r>
            <a:r>
              <a:rPr lang="uk" sz="1267">
                <a:solidFill>
                  <a:srgbClr val="006699"/>
                </a:solidFill>
                <a:highlight>
                  <a:srgbClr val="F5F5FA"/>
                </a:highlight>
                <a:latin typeface="Courier New"/>
                <a:ea typeface="Courier New"/>
                <a:cs typeface="Courier New"/>
                <a:sym typeface="Courier New"/>
              </a:rPr>
              <a:t>return</a:t>
            </a:r>
            <a:r>
              <a:rPr lang="uk" sz="1267">
                <a:solidFill>
                  <a:schemeClr val="dk1"/>
                </a:solidFill>
                <a:highlight>
                  <a:srgbClr val="F5F5FA"/>
                </a:highlight>
                <a:latin typeface="Courier New"/>
                <a:ea typeface="Courier New"/>
                <a:cs typeface="Courier New"/>
                <a:sym typeface="Courier New"/>
              </a:rPr>
              <a:t> </a:t>
            </a:r>
            <a:r>
              <a:rPr lang="uk" sz="1267">
                <a:solidFill>
                  <a:srgbClr val="188038"/>
                </a:solidFill>
                <a:highlight>
                  <a:srgbClr val="F5F5FA"/>
                </a:highlight>
                <a:latin typeface="Courier New"/>
                <a:ea typeface="Courier New"/>
                <a:cs typeface="Courier New"/>
                <a:sym typeface="Courier New"/>
              </a:rPr>
              <a:t>result;</a:t>
            </a:r>
            <a:endParaRPr sz="1267">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267">
                <a:solidFill>
                  <a:schemeClr val="dk1"/>
                </a:solidFill>
                <a:highlight>
                  <a:srgbClr val="F5F5FA"/>
                </a:highlight>
                <a:latin typeface="Courier New"/>
                <a:ea typeface="Courier New"/>
                <a:cs typeface="Courier New"/>
                <a:sym typeface="Courier New"/>
              </a:rPr>
              <a:t> </a:t>
            </a:r>
            <a:endParaRPr sz="1267">
              <a:solidFill>
                <a:schemeClr val="dk1"/>
              </a:solidFill>
              <a:highlight>
                <a:srgbClr val="F5F5FA"/>
              </a:highlight>
              <a:latin typeface="Courier New"/>
              <a:ea typeface="Courier New"/>
              <a:cs typeface="Courier New"/>
              <a:sym typeface="Courier New"/>
            </a:endParaRPr>
          </a:p>
          <a:p>
            <a:pPr marL="84665" marR="84665">
              <a:lnSpc>
                <a:spcPct val="115000"/>
              </a:lnSpc>
            </a:pPr>
            <a:r>
              <a:rPr lang="uk" sz="1267">
                <a:solidFill>
                  <a:srgbClr val="188038"/>
                </a:solidFill>
                <a:highlight>
                  <a:srgbClr val="F5F5FA"/>
                </a:highlight>
                <a:latin typeface="Courier New"/>
                <a:ea typeface="Courier New"/>
                <a:cs typeface="Courier New"/>
                <a:sym typeface="Courier New"/>
              </a:rPr>
              <a:t>    </a:t>
            </a:r>
            <a:r>
              <a:rPr lang="uk" sz="1267">
                <a:solidFill>
                  <a:srgbClr val="006699"/>
                </a:solidFill>
                <a:highlight>
                  <a:srgbClr val="F5F5FA"/>
                </a:highlight>
                <a:latin typeface="Courier New"/>
                <a:ea typeface="Courier New"/>
                <a:cs typeface="Courier New"/>
                <a:sym typeface="Courier New"/>
              </a:rPr>
              <a:t>bool</a:t>
            </a:r>
            <a:r>
              <a:rPr lang="uk" sz="1267">
                <a:solidFill>
                  <a:schemeClr val="dk1"/>
                </a:solidFill>
                <a:highlight>
                  <a:srgbClr val="F5F5FA"/>
                </a:highlight>
                <a:latin typeface="Courier New"/>
                <a:ea typeface="Courier New"/>
                <a:cs typeface="Courier New"/>
                <a:sym typeface="Courier New"/>
              </a:rPr>
              <a:t> </a:t>
            </a:r>
            <a:r>
              <a:rPr lang="uk" sz="1267">
                <a:solidFill>
                  <a:srgbClr val="188038"/>
                </a:solidFill>
                <a:highlight>
                  <a:srgbClr val="F5F5FA"/>
                </a:highlight>
                <a:latin typeface="Courier New"/>
                <a:ea typeface="Courier New"/>
                <a:cs typeface="Courier New"/>
                <a:sym typeface="Courier New"/>
              </a:rPr>
              <a:t>IsPassed(</a:t>
            </a:r>
            <a:r>
              <a:rPr lang="uk" sz="1267">
                <a:solidFill>
                  <a:srgbClr val="006699"/>
                </a:solidFill>
                <a:highlight>
                  <a:srgbClr val="F5F5FA"/>
                </a:highlight>
                <a:latin typeface="Courier New"/>
                <a:ea typeface="Courier New"/>
                <a:cs typeface="Courier New"/>
                <a:sym typeface="Courier New"/>
              </a:rPr>
              <a:t>int</a:t>
            </a:r>
            <a:r>
              <a:rPr lang="uk" sz="1267">
                <a:solidFill>
                  <a:schemeClr val="dk1"/>
                </a:solidFill>
                <a:highlight>
                  <a:srgbClr val="F5F5FA"/>
                </a:highlight>
                <a:latin typeface="Courier New"/>
                <a:ea typeface="Courier New"/>
                <a:cs typeface="Courier New"/>
                <a:sym typeface="Courier New"/>
              </a:rPr>
              <a:t> </a:t>
            </a:r>
            <a:r>
              <a:rPr lang="uk" sz="1267">
                <a:solidFill>
                  <a:srgbClr val="188038"/>
                </a:solidFill>
                <a:highlight>
                  <a:srgbClr val="F5F5FA"/>
                </a:highlight>
                <a:latin typeface="Courier New"/>
                <a:ea typeface="Courier New"/>
                <a:cs typeface="Courier New"/>
                <a:sym typeface="Courier New"/>
              </a:rPr>
              <a:t>number)</a:t>
            </a:r>
            <a:endParaRPr sz="1267">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267">
                <a:solidFill>
                  <a:srgbClr val="188038"/>
                </a:solidFill>
                <a:highlight>
                  <a:srgbClr val="F5F5FA"/>
                </a:highlight>
                <a:latin typeface="Courier New"/>
                <a:ea typeface="Courier New"/>
                <a:cs typeface="Courier New"/>
                <a:sym typeface="Courier New"/>
              </a:rPr>
              <a:t>    {</a:t>
            </a:r>
            <a:endParaRPr sz="1267">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267">
                <a:solidFill>
                  <a:srgbClr val="188038"/>
                </a:solidFill>
                <a:highlight>
                  <a:srgbClr val="F5F5FA"/>
                </a:highlight>
                <a:latin typeface="Courier New"/>
                <a:ea typeface="Courier New"/>
                <a:cs typeface="Courier New"/>
                <a:sym typeface="Courier New"/>
              </a:rPr>
              <a:t>        </a:t>
            </a:r>
            <a:r>
              <a:rPr lang="uk" sz="1267">
                <a:solidFill>
                  <a:srgbClr val="006699"/>
                </a:solidFill>
                <a:highlight>
                  <a:srgbClr val="F5F5FA"/>
                </a:highlight>
                <a:latin typeface="Courier New"/>
                <a:ea typeface="Courier New"/>
                <a:cs typeface="Courier New"/>
                <a:sym typeface="Courier New"/>
              </a:rPr>
              <a:t>return</a:t>
            </a:r>
            <a:r>
              <a:rPr lang="uk" sz="1267">
                <a:solidFill>
                  <a:schemeClr val="dk1"/>
                </a:solidFill>
                <a:highlight>
                  <a:srgbClr val="F5F5FA"/>
                </a:highlight>
                <a:latin typeface="Courier New"/>
                <a:ea typeface="Courier New"/>
                <a:cs typeface="Courier New"/>
                <a:sym typeface="Courier New"/>
              </a:rPr>
              <a:t> </a:t>
            </a:r>
            <a:r>
              <a:rPr lang="uk" sz="1267">
                <a:solidFill>
                  <a:srgbClr val="188038"/>
                </a:solidFill>
                <a:highlight>
                  <a:srgbClr val="F5F5FA"/>
                </a:highlight>
                <a:latin typeface="Courier New"/>
                <a:ea typeface="Courier New"/>
                <a:cs typeface="Courier New"/>
                <a:sym typeface="Courier New"/>
              </a:rPr>
              <a:t>number &gt; limit;</a:t>
            </a:r>
            <a:endParaRPr sz="1267">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267">
                <a:solidFill>
                  <a:srgbClr val="188038"/>
                </a:solidFill>
                <a:highlight>
                  <a:srgbClr val="F5F5FA"/>
                </a:highlight>
                <a:latin typeface="Courier New"/>
                <a:ea typeface="Courier New"/>
                <a:cs typeface="Courier New"/>
                <a:sym typeface="Courier New"/>
              </a:rPr>
              <a:t>    }</a:t>
            </a:r>
            <a:endParaRPr sz="1267">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267">
                <a:solidFill>
                  <a:srgbClr val="188038"/>
                </a:solidFill>
                <a:highlight>
                  <a:srgbClr val="F5F5FA"/>
                </a:highlight>
                <a:latin typeface="Courier New"/>
                <a:ea typeface="Courier New"/>
                <a:cs typeface="Courier New"/>
                <a:sym typeface="Courier New"/>
              </a:rPr>
              <a:t>}</a:t>
            </a:r>
            <a:endParaRPr sz="1267">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267">
                <a:solidFill>
                  <a:schemeClr val="dk1"/>
                </a:solidFill>
                <a:highlight>
                  <a:srgbClr val="F5F5FA"/>
                </a:highlight>
                <a:latin typeface="Courier New"/>
                <a:ea typeface="Courier New"/>
                <a:cs typeface="Courier New"/>
                <a:sym typeface="Courier New"/>
              </a:rPr>
              <a:t> </a:t>
            </a:r>
            <a:endParaRPr sz="1267">
              <a:solidFill>
                <a:schemeClr val="dk1"/>
              </a:solidFill>
              <a:highlight>
                <a:srgbClr val="F5F5FA"/>
              </a:highlight>
              <a:latin typeface="Courier New"/>
              <a:ea typeface="Courier New"/>
              <a:cs typeface="Courier New"/>
              <a:sym typeface="Courier New"/>
            </a:endParaRPr>
          </a:p>
          <a:p>
            <a:pPr marL="84665" marR="84665">
              <a:lnSpc>
                <a:spcPct val="115000"/>
              </a:lnSpc>
            </a:pPr>
            <a:r>
              <a:rPr lang="uk" sz="1267">
                <a:solidFill>
                  <a:srgbClr val="006699"/>
                </a:solidFill>
                <a:highlight>
                  <a:srgbClr val="F5F5FA"/>
                </a:highlight>
                <a:latin typeface="Courier New"/>
                <a:ea typeface="Courier New"/>
                <a:cs typeface="Courier New"/>
                <a:sym typeface="Courier New"/>
              </a:rPr>
              <a:t>int</a:t>
            </a:r>
            <a:r>
              <a:rPr lang="uk" sz="1267">
                <a:solidFill>
                  <a:srgbClr val="188038"/>
                </a:solidFill>
                <a:highlight>
                  <a:srgbClr val="F5F5FA"/>
                </a:highlight>
                <a:latin typeface="Courier New"/>
                <a:ea typeface="Courier New"/>
                <a:cs typeface="Courier New"/>
                <a:sym typeface="Courier New"/>
              </a:rPr>
              <a:t>[] numbers1 = { -3, -2, -1, 0, 1, 2, 3 };</a:t>
            </a:r>
            <a:endParaRPr sz="1267">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267">
                <a:solidFill>
                  <a:srgbClr val="006699"/>
                </a:solidFill>
                <a:highlight>
                  <a:srgbClr val="F5F5FA"/>
                </a:highlight>
                <a:latin typeface="Courier New"/>
                <a:ea typeface="Courier New"/>
                <a:cs typeface="Courier New"/>
                <a:sym typeface="Courier New"/>
              </a:rPr>
              <a:t>int</a:t>
            </a:r>
            <a:r>
              <a:rPr lang="uk" sz="1267">
                <a:solidFill>
                  <a:srgbClr val="188038"/>
                </a:solidFill>
                <a:highlight>
                  <a:srgbClr val="F5F5FA"/>
                </a:highlight>
                <a:latin typeface="Courier New"/>
                <a:ea typeface="Courier New"/>
                <a:cs typeface="Courier New"/>
                <a:sym typeface="Courier New"/>
              </a:rPr>
              <a:t>[] numbers2 = { 3, -4, 5, -6, 7 };</a:t>
            </a:r>
            <a:endParaRPr sz="1267">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267">
                <a:solidFill>
                  <a:schemeClr val="dk1"/>
                </a:solidFill>
                <a:highlight>
                  <a:srgbClr val="F5F5FA"/>
                </a:highlight>
                <a:latin typeface="Courier New"/>
                <a:ea typeface="Courier New"/>
                <a:cs typeface="Courier New"/>
                <a:sym typeface="Courier New"/>
              </a:rPr>
              <a:t> </a:t>
            </a:r>
            <a:endParaRPr sz="1267">
              <a:solidFill>
                <a:schemeClr val="dk1"/>
              </a:solidFill>
              <a:highlight>
                <a:srgbClr val="F5F5FA"/>
              </a:highlight>
              <a:latin typeface="Courier New"/>
              <a:ea typeface="Courier New"/>
              <a:cs typeface="Courier New"/>
              <a:sym typeface="Courier New"/>
            </a:endParaRPr>
          </a:p>
          <a:p>
            <a:pPr marL="84665" marR="84665">
              <a:lnSpc>
                <a:spcPct val="115000"/>
              </a:lnSpc>
            </a:pPr>
            <a:r>
              <a:rPr lang="uk" sz="1267">
                <a:solidFill>
                  <a:srgbClr val="188038"/>
                </a:solidFill>
                <a:highlight>
                  <a:srgbClr val="F5F5FA"/>
                </a:highlight>
                <a:latin typeface="Courier New"/>
                <a:ea typeface="Courier New"/>
                <a:cs typeface="Courier New"/>
                <a:sym typeface="Courier New"/>
              </a:rPr>
              <a:t>Console.WriteLine(Sum(numbers1));</a:t>
            </a:r>
            <a:endParaRPr sz="1267">
              <a:solidFill>
                <a:srgbClr val="188038"/>
              </a:solidFill>
              <a:highlight>
                <a:srgbClr val="F5F5FA"/>
              </a:highlight>
              <a:latin typeface="Courier New"/>
              <a:ea typeface="Courier New"/>
              <a:cs typeface="Courier New"/>
              <a:sym typeface="Courier New"/>
            </a:endParaRPr>
          </a:p>
          <a:p>
            <a:pPr marL="84665" marR="84665">
              <a:lnSpc>
                <a:spcPct val="115000"/>
              </a:lnSpc>
            </a:pPr>
            <a:r>
              <a:rPr lang="uk" sz="1267">
                <a:solidFill>
                  <a:srgbClr val="188038"/>
                </a:solidFill>
                <a:highlight>
                  <a:srgbClr val="F5F5FA"/>
                </a:highlight>
                <a:latin typeface="Courier New"/>
                <a:ea typeface="Courier New"/>
                <a:cs typeface="Courier New"/>
                <a:sym typeface="Courier New"/>
              </a:rPr>
              <a:t>Console.WriteLine(Sum(numbers2));</a:t>
            </a:r>
            <a:endParaRPr sz="1267">
              <a:solidFill>
                <a:srgbClr val="188038"/>
              </a:solidFill>
              <a:highlight>
                <a:srgbClr val="F5F5FA"/>
              </a:highlight>
              <a:latin typeface="Courier New"/>
              <a:ea typeface="Courier New"/>
              <a:cs typeface="Courier New"/>
              <a:sym typeface="Courier New"/>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63"/>
          <p:cNvSpPr txBox="1"/>
          <p:nvPr/>
        </p:nvSpPr>
        <p:spPr>
          <a:xfrm>
            <a:off x="168133" y="211967"/>
            <a:ext cx="11785200" cy="1723508"/>
          </a:xfrm>
          <a:prstGeom prst="rect">
            <a:avLst/>
          </a:prstGeom>
          <a:noFill/>
          <a:ln>
            <a:noFill/>
          </a:ln>
        </p:spPr>
        <p:txBody>
          <a:bodyPr spcFirstLastPara="1" wrap="square" lIns="121900" tIns="121900" rIns="121900" bIns="121900" anchor="t" anchorCtr="0">
            <a:spAutoFit/>
          </a:bodyPr>
          <a:lstStyle/>
          <a:p>
            <a:r>
              <a:rPr lang="uk" sz="4800" b="1">
                <a:solidFill>
                  <a:schemeClr val="dk1"/>
                </a:solidFill>
                <a:latin typeface="Times New Roman"/>
                <a:ea typeface="Times New Roman"/>
                <a:cs typeface="Times New Roman"/>
                <a:sym typeface="Times New Roman"/>
              </a:rPr>
              <a:t>Статичні локальні функції</a:t>
            </a:r>
            <a:endParaRPr sz="4800" b="1">
              <a:solidFill>
                <a:schemeClr val="dk1"/>
              </a:solidFill>
              <a:latin typeface="Times New Roman"/>
              <a:ea typeface="Times New Roman"/>
              <a:cs typeface="Times New Roman"/>
              <a:sym typeface="Times New Roman"/>
            </a:endParaRPr>
          </a:p>
          <a:p>
            <a:endParaRPr sz="4800" b="1">
              <a:solidFill>
                <a:schemeClr val="dk1"/>
              </a:solidFill>
              <a:latin typeface="Times New Roman"/>
              <a:ea typeface="Times New Roman"/>
              <a:cs typeface="Times New Roman"/>
              <a:sym typeface="Times New Roman"/>
            </a:endParaRPr>
          </a:p>
        </p:txBody>
      </p:sp>
      <p:sp>
        <p:nvSpPr>
          <p:cNvPr id="493" name="Google Shape;493;p63"/>
          <p:cNvSpPr txBox="1"/>
          <p:nvPr/>
        </p:nvSpPr>
        <p:spPr>
          <a:xfrm>
            <a:off x="236800" y="1159200"/>
            <a:ext cx="4000000" cy="470252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pPr>
            <a:r>
              <a:rPr lang="uk" sz="1600">
                <a:solidFill>
                  <a:schemeClr val="dk1"/>
                </a:solidFill>
              </a:rPr>
              <a:t>Тут функція Sum обчислює суму чисел масиву, які відповідають умові локальної функції </a:t>
            </a:r>
            <a:r>
              <a:rPr lang="uk" sz="1600">
                <a:solidFill>
                  <a:srgbClr val="188038"/>
                </a:solidFill>
                <a:latin typeface="Roboto Mono"/>
                <a:ea typeface="Roboto Mono"/>
                <a:cs typeface="Roboto Mono"/>
                <a:sym typeface="Roboto Mono"/>
              </a:rPr>
              <a:t>IsPassed()</a:t>
            </a:r>
            <a:r>
              <a:rPr lang="uk" sz="1600">
                <a:solidFill>
                  <a:schemeClr val="dk1"/>
                </a:solidFill>
              </a:rPr>
              <a:t>. Ця локальна функція перевіряє, чи більше передане число, ніж значення змінної </a:t>
            </a:r>
            <a:r>
              <a:rPr lang="uk" sz="1600">
                <a:solidFill>
                  <a:srgbClr val="188038"/>
                </a:solidFill>
                <a:latin typeface="Roboto Mono"/>
                <a:ea typeface="Roboto Mono"/>
                <a:cs typeface="Roboto Mono"/>
                <a:sym typeface="Roboto Mono"/>
              </a:rPr>
              <a:t>limit</a:t>
            </a:r>
            <a:r>
              <a:rPr lang="uk" sz="1600">
                <a:solidFill>
                  <a:schemeClr val="dk1"/>
                </a:solidFill>
              </a:rPr>
              <a:t>, визначеної методом Sum. Тобто локальна функція IsPassed може звертатися до даних, визначених у навколишній функції Sum.</a:t>
            </a:r>
            <a:endParaRPr sz="1600">
              <a:solidFill>
                <a:schemeClr val="dk1"/>
              </a:solidFill>
            </a:endParaRPr>
          </a:p>
          <a:p>
            <a:pPr>
              <a:lnSpc>
                <a:spcPct val="156000"/>
              </a:lnSpc>
              <a:spcBef>
                <a:spcPts val="1600"/>
              </a:spcBef>
              <a:spcAft>
                <a:spcPts val="1600"/>
              </a:spcAft>
            </a:pPr>
            <a:r>
              <a:rPr lang="uk" sz="1600">
                <a:solidFill>
                  <a:schemeClr val="dk1"/>
                </a:solidFill>
              </a:rPr>
              <a:t>Тепер зробимо функцію IsPassed статичною:</a:t>
            </a:r>
            <a:endParaRPr sz="1600">
              <a:solidFill>
                <a:schemeClr val="dk1"/>
              </a:solidFill>
            </a:endParaRPr>
          </a:p>
        </p:txBody>
      </p:sp>
      <p:sp>
        <p:nvSpPr>
          <p:cNvPr id="494" name="Google Shape;494;p63"/>
          <p:cNvSpPr txBox="1"/>
          <p:nvPr/>
        </p:nvSpPr>
        <p:spPr>
          <a:xfrm>
            <a:off x="4402433" y="1271601"/>
            <a:ext cx="4000000" cy="4770496"/>
          </a:xfrm>
          <a:prstGeom prst="rect">
            <a:avLst/>
          </a:prstGeom>
          <a:noFill/>
          <a:ln>
            <a:noFill/>
          </a:ln>
        </p:spPr>
        <p:txBody>
          <a:bodyPr spcFirstLastPara="1" wrap="square" lIns="121900" tIns="121900" rIns="121900" bIns="121900" anchor="t" anchorCtr="0">
            <a:spAutoFit/>
          </a:bodyPr>
          <a:lstStyle/>
          <a:p>
            <a:pPr marL="84665" marR="84665"/>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Sum(</a:t>
            </a:r>
            <a:r>
              <a:rPr lang="uk" sz="1400">
                <a:solidFill>
                  <a:srgbClr val="006699"/>
                </a:solidFill>
                <a:highlight>
                  <a:srgbClr val="F5F5FA"/>
                </a:highlight>
                <a:latin typeface="Courier New"/>
                <a:ea typeface="Courier New"/>
                <a:cs typeface="Courier New"/>
                <a:sym typeface="Courier New"/>
              </a:rPr>
              <a:t>int</a:t>
            </a:r>
            <a:r>
              <a:rPr lang="uk" sz="1400">
                <a:solidFill>
                  <a:srgbClr val="188038"/>
                </a:solidFill>
                <a:highlight>
                  <a:srgbClr val="F5F5FA"/>
                </a:highlight>
                <a:latin typeface="Courier New"/>
                <a:ea typeface="Courier New"/>
                <a:cs typeface="Courier New"/>
                <a:sym typeface="Courier New"/>
              </a:rPr>
              <a:t>[] numbers)</a:t>
            </a:r>
            <a:endParaRPr sz="1400">
              <a:solidFill>
                <a:srgbClr val="188038"/>
              </a:solidFill>
              <a:highlight>
                <a:srgbClr val="F5F5FA"/>
              </a:highlight>
              <a:latin typeface="Courier New"/>
              <a:ea typeface="Courier New"/>
              <a:cs typeface="Courier New"/>
              <a:sym typeface="Courier New"/>
            </a:endParaRPr>
          </a:p>
          <a:p>
            <a:pPr marL="84665" marR="84665"/>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a:p>
            <a:pPr marL="84665" marR="84665"/>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result = 0;</a:t>
            </a:r>
            <a:endParaRPr sz="1400">
              <a:solidFill>
                <a:srgbClr val="188038"/>
              </a:solidFill>
              <a:highlight>
                <a:srgbClr val="F5F5FA"/>
              </a:highlight>
              <a:latin typeface="Courier New"/>
              <a:ea typeface="Courier New"/>
              <a:cs typeface="Courier New"/>
              <a:sym typeface="Courier New"/>
            </a:endParaRPr>
          </a:p>
          <a:p>
            <a:pPr marL="84665" marR="84665"/>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limit = 0;</a:t>
            </a:r>
            <a:endParaRPr sz="1400">
              <a:solidFill>
                <a:srgbClr val="188038"/>
              </a:solidFill>
              <a:highlight>
                <a:srgbClr val="F5F5FA"/>
              </a:highlight>
              <a:latin typeface="Courier New"/>
              <a:ea typeface="Courier New"/>
              <a:cs typeface="Courier New"/>
              <a:sym typeface="Courier New"/>
            </a:endParaRPr>
          </a:p>
          <a:p>
            <a:pPr marL="84665" marR="84665"/>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foreach</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number </a:t>
            </a:r>
            <a:r>
              <a:rPr lang="uk" sz="1400">
                <a:solidFill>
                  <a:srgbClr val="006699"/>
                </a:solidFill>
                <a:highlight>
                  <a:srgbClr val="F5F5FA"/>
                </a:highlight>
                <a:latin typeface="Courier New"/>
                <a:ea typeface="Courier New"/>
                <a:cs typeface="Courier New"/>
                <a:sym typeface="Courier New"/>
              </a:rPr>
              <a:t>in</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numbers)</a:t>
            </a:r>
            <a:endParaRPr sz="1400">
              <a:solidFill>
                <a:srgbClr val="188038"/>
              </a:solidFill>
              <a:highlight>
                <a:srgbClr val="F5F5FA"/>
              </a:highlight>
              <a:latin typeface="Courier New"/>
              <a:ea typeface="Courier New"/>
              <a:cs typeface="Courier New"/>
              <a:sym typeface="Courier New"/>
            </a:endParaRPr>
          </a:p>
          <a:p>
            <a:pPr marL="84665" marR="84665"/>
            <a:r>
              <a:rPr lang="uk" sz="1400">
                <a:solidFill>
                  <a:srgbClr val="188038"/>
                </a:solidFill>
                <a:highlight>
                  <a:srgbClr val="F5F5FA"/>
                </a:highlight>
                <a:latin typeface="Courier New"/>
                <a:ea typeface="Courier New"/>
                <a:cs typeface="Courier New"/>
                <a:sym typeface="Courier New"/>
              </a:rPr>
              <a:t>    {</a:t>
            </a:r>
            <a:endParaRPr sz="1400">
              <a:solidFill>
                <a:srgbClr val="188038"/>
              </a:solidFill>
              <a:highlight>
                <a:srgbClr val="F5F5FA"/>
              </a:highlight>
              <a:latin typeface="Courier New"/>
              <a:ea typeface="Courier New"/>
              <a:cs typeface="Courier New"/>
              <a:sym typeface="Courier New"/>
            </a:endParaRPr>
          </a:p>
          <a:p>
            <a:pPr marL="84665" marR="84665"/>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if</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(IsPassed(number, limit)) result += number;</a:t>
            </a:r>
            <a:endParaRPr sz="1400">
              <a:solidFill>
                <a:srgbClr val="188038"/>
              </a:solidFill>
              <a:highlight>
                <a:srgbClr val="F5F5FA"/>
              </a:highlight>
              <a:latin typeface="Courier New"/>
              <a:ea typeface="Courier New"/>
              <a:cs typeface="Courier New"/>
              <a:sym typeface="Courier New"/>
            </a:endParaRPr>
          </a:p>
          <a:p>
            <a:pPr marL="84665" marR="84665"/>
            <a:r>
              <a:rPr lang="uk" sz="1400">
                <a:solidFill>
                  <a:srgbClr val="188038"/>
                </a:solidFill>
                <a:highlight>
                  <a:srgbClr val="F5F5FA"/>
                </a:highlight>
                <a:latin typeface="Courier New"/>
                <a:ea typeface="Courier New"/>
                <a:cs typeface="Courier New"/>
                <a:sym typeface="Courier New"/>
              </a:rPr>
              <a:t>    }</a:t>
            </a:r>
            <a:endParaRPr sz="1400">
              <a:solidFill>
                <a:srgbClr val="188038"/>
              </a:solidFill>
              <a:highlight>
                <a:srgbClr val="F5F5FA"/>
              </a:highlight>
              <a:latin typeface="Courier New"/>
              <a:ea typeface="Courier New"/>
              <a:cs typeface="Courier New"/>
              <a:sym typeface="Courier New"/>
            </a:endParaRPr>
          </a:p>
          <a:p>
            <a:pPr marL="84665" marR="84665"/>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return</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result;</a:t>
            </a:r>
            <a:endParaRPr sz="1400">
              <a:solidFill>
                <a:srgbClr val="188038"/>
              </a:solidFill>
              <a:highlight>
                <a:srgbClr val="F5F5FA"/>
              </a:highlight>
              <a:latin typeface="Courier New"/>
              <a:ea typeface="Courier New"/>
              <a:cs typeface="Courier New"/>
              <a:sym typeface="Courier New"/>
            </a:endParaRPr>
          </a:p>
          <a:p>
            <a:pPr marL="84665" marR="84665"/>
            <a:r>
              <a:rPr lang="uk" sz="1400">
                <a:solidFill>
                  <a:schemeClr val="dk1"/>
                </a:solidFill>
                <a:highlight>
                  <a:srgbClr val="F5F5FA"/>
                </a:highlight>
                <a:latin typeface="Courier New"/>
                <a:ea typeface="Courier New"/>
                <a:cs typeface="Courier New"/>
                <a:sym typeface="Courier New"/>
              </a:rPr>
              <a:t> </a:t>
            </a:r>
            <a:endParaRPr sz="1400">
              <a:solidFill>
                <a:schemeClr val="dk1"/>
              </a:solidFill>
              <a:highlight>
                <a:srgbClr val="F5F5FA"/>
              </a:highlight>
              <a:latin typeface="Courier New"/>
              <a:ea typeface="Courier New"/>
              <a:cs typeface="Courier New"/>
              <a:sym typeface="Courier New"/>
            </a:endParaRPr>
          </a:p>
          <a:p>
            <a:pPr marL="84665" marR="84665"/>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static</a:t>
            </a:r>
            <a:r>
              <a:rPr lang="uk" sz="1400">
                <a:solidFill>
                  <a:schemeClr val="dk1"/>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bool</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IsPassed(</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number, </a:t>
            </a:r>
            <a:r>
              <a:rPr lang="uk" sz="1400">
                <a:solidFill>
                  <a:srgbClr val="006699"/>
                </a:solidFill>
                <a:highlight>
                  <a:srgbClr val="F5F5FA"/>
                </a:highlight>
                <a:latin typeface="Courier New"/>
                <a:ea typeface="Courier New"/>
                <a:cs typeface="Courier New"/>
                <a:sym typeface="Courier New"/>
              </a:rPr>
              <a:t>int</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lim)</a:t>
            </a:r>
            <a:endParaRPr sz="1400">
              <a:solidFill>
                <a:srgbClr val="188038"/>
              </a:solidFill>
              <a:highlight>
                <a:srgbClr val="F5F5FA"/>
              </a:highlight>
              <a:latin typeface="Courier New"/>
              <a:ea typeface="Courier New"/>
              <a:cs typeface="Courier New"/>
              <a:sym typeface="Courier New"/>
            </a:endParaRPr>
          </a:p>
          <a:p>
            <a:pPr marL="84665" marR="84665"/>
            <a:r>
              <a:rPr lang="uk" sz="1400">
                <a:solidFill>
                  <a:srgbClr val="188038"/>
                </a:solidFill>
                <a:highlight>
                  <a:srgbClr val="F5F5FA"/>
                </a:highlight>
                <a:latin typeface="Courier New"/>
                <a:ea typeface="Courier New"/>
                <a:cs typeface="Courier New"/>
                <a:sym typeface="Courier New"/>
              </a:rPr>
              <a:t>    {</a:t>
            </a:r>
            <a:endParaRPr sz="1400">
              <a:solidFill>
                <a:srgbClr val="188038"/>
              </a:solidFill>
              <a:highlight>
                <a:srgbClr val="F5F5FA"/>
              </a:highlight>
              <a:latin typeface="Courier New"/>
              <a:ea typeface="Courier New"/>
              <a:cs typeface="Courier New"/>
              <a:sym typeface="Courier New"/>
            </a:endParaRPr>
          </a:p>
          <a:p>
            <a:pPr marL="84665" marR="84665"/>
            <a:r>
              <a:rPr lang="uk" sz="1400">
                <a:solidFill>
                  <a:srgbClr val="188038"/>
                </a:solidFill>
                <a:highlight>
                  <a:srgbClr val="F5F5FA"/>
                </a:highlight>
                <a:latin typeface="Courier New"/>
                <a:ea typeface="Courier New"/>
                <a:cs typeface="Courier New"/>
                <a:sym typeface="Courier New"/>
              </a:rPr>
              <a:t>        </a:t>
            </a:r>
            <a:r>
              <a:rPr lang="uk" sz="1400">
                <a:solidFill>
                  <a:srgbClr val="008200"/>
                </a:solidFill>
                <a:highlight>
                  <a:srgbClr val="F5F5FA"/>
                </a:highlight>
                <a:latin typeface="Courier New"/>
                <a:ea typeface="Courier New"/>
                <a:cs typeface="Courier New"/>
                <a:sym typeface="Courier New"/>
              </a:rPr>
              <a:t>//return number &gt; limit; // Ошибка: метод IsPassed не имеет доступа к переменной limit</a:t>
            </a:r>
            <a:endParaRPr sz="1400">
              <a:solidFill>
                <a:srgbClr val="008200"/>
              </a:solidFill>
              <a:highlight>
                <a:srgbClr val="F5F5FA"/>
              </a:highlight>
              <a:latin typeface="Courier New"/>
              <a:ea typeface="Courier New"/>
              <a:cs typeface="Courier New"/>
              <a:sym typeface="Courier New"/>
            </a:endParaRPr>
          </a:p>
          <a:p>
            <a:pPr marL="84665" marR="84665"/>
            <a:r>
              <a:rPr lang="uk" sz="1400">
                <a:solidFill>
                  <a:srgbClr val="188038"/>
                </a:solidFill>
                <a:highlight>
                  <a:srgbClr val="F5F5FA"/>
                </a:highlight>
                <a:latin typeface="Courier New"/>
                <a:ea typeface="Courier New"/>
                <a:cs typeface="Courier New"/>
                <a:sym typeface="Courier New"/>
              </a:rPr>
              <a:t>        </a:t>
            </a:r>
            <a:r>
              <a:rPr lang="uk" sz="1400">
                <a:solidFill>
                  <a:srgbClr val="006699"/>
                </a:solidFill>
                <a:highlight>
                  <a:srgbClr val="F5F5FA"/>
                </a:highlight>
                <a:latin typeface="Courier New"/>
                <a:ea typeface="Courier New"/>
                <a:cs typeface="Courier New"/>
                <a:sym typeface="Courier New"/>
              </a:rPr>
              <a:t>return</a:t>
            </a:r>
            <a:r>
              <a:rPr lang="uk" sz="1400">
                <a:solidFill>
                  <a:schemeClr val="dk1"/>
                </a:solidFill>
                <a:highlight>
                  <a:srgbClr val="F5F5FA"/>
                </a:highlight>
                <a:latin typeface="Courier New"/>
                <a:ea typeface="Courier New"/>
                <a:cs typeface="Courier New"/>
                <a:sym typeface="Courier New"/>
              </a:rPr>
              <a:t> </a:t>
            </a:r>
            <a:r>
              <a:rPr lang="uk" sz="1400">
                <a:solidFill>
                  <a:srgbClr val="188038"/>
                </a:solidFill>
                <a:highlight>
                  <a:srgbClr val="F5F5FA"/>
                </a:highlight>
                <a:latin typeface="Courier New"/>
                <a:ea typeface="Courier New"/>
                <a:cs typeface="Courier New"/>
                <a:sym typeface="Courier New"/>
              </a:rPr>
              <a:t>number &gt; lim;</a:t>
            </a:r>
            <a:endParaRPr sz="1400">
              <a:solidFill>
                <a:srgbClr val="188038"/>
              </a:solidFill>
              <a:highlight>
                <a:srgbClr val="F5F5FA"/>
              </a:highlight>
              <a:latin typeface="Courier New"/>
              <a:ea typeface="Courier New"/>
              <a:cs typeface="Courier New"/>
              <a:sym typeface="Courier New"/>
            </a:endParaRPr>
          </a:p>
          <a:p>
            <a:pPr marL="84665" marR="84665"/>
            <a:r>
              <a:rPr lang="uk" sz="1400">
                <a:solidFill>
                  <a:srgbClr val="188038"/>
                </a:solidFill>
                <a:highlight>
                  <a:srgbClr val="F5F5FA"/>
                </a:highlight>
                <a:latin typeface="Courier New"/>
                <a:ea typeface="Courier New"/>
                <a:cs typeface="Courier New"/>
                <a:sym typeface="Courier New"/>
              </a:rPr>
              <a:t>    }</a:t>
            </a:r>
            <a:endParaRPr sz="1400">
              <a:solidFill>
                <a:srgbClr val="188038"/>
              </a:solidFill>
              <a:highlight>
                <a:srgbClr val="F5F5FA"/>
              </a:highlight>
              <a:latin typeface="Courier New"/>
              <a:ea typeface="Courier New"/>
              <a:cs typeface="Courier New"/>
              <a:sym typeface="Courier New"/>
            </a:endParaRPr>
          </a:p>
          <a:p>
            <a:pPr marL="84665" marR="84665"/>
            <a:r>
              <a:rPr lang="uk" sz="1400">
                <a:solidFill>
                  <a:srgbClr val="188038"/>
                </a:solidFill>
                <a:highlight>
                  <a:srgbClr val="F5F5FA"/>
                </a:highlight>
                <a:latin typeface="Courier New"/>
                <a:ea typeface="Courier New"/>
                <a:cs typeface="Courier New"/>
                <a:sym typeface="Courier New"/>
              </a:rPr>
              <a:t>}</a:t>
            </a:r>
            <a:endParaRPr sz="1400">
              <a:solidFill>
                <a:srgbClr val="188038"/>
              </a:solidFill>
              <a:highlight>
                <a:srgbClr val="F5F5FA"/>
              </a:highlight>
              <a:latin typeface="Courier New"/>
              <a:ea typeface="Courier New"/>
              <a:cs typeface="Courier New"/>
              <a:sym typeface="Courier New"/>
            </a:endParaRPr>
          </a:p>
        </p:txBody>
      </p:sp>
      <p:sp>
        <p:nvSpPr>
          <p:cNvPr id="495" name="Google Shape;495;p63"/>
          <p:cNvSpPr txBox="1"/>
          <p:nvPr/>
        </p:nvSpPr>
        <p:spPr>
          <a:xfrm>
            <a:off x="7866533" y="1271601"/>
            <a:ext cx="4000000" cy="3604729"/>
          </a:xfrm>
          <a:prstGeom prst="rect">
            <a:avLst/>
          </a:prstGeom>
          <a:noFill/>
          <a:ln>
            <a:noFill/>
          </a:ln>
        </p:spPr>
        <p:txBody>
          <a:bodyPr spcFirstLastPara="1" wrap="square" lIns="121900" tIns="121900" rIns="121900" bIns="121900" anchor="t" anchorCtr="0">
            <a:spAutoFit/>
          </a:bodyPr>
          <a:lstStyle/>
          <a:p>
            <a:pPr>
              <a:lnSpc>
                <a:spcPct val="156000"/>
              </a:lnSpc>
              <a:spcBef>
                <a:spcPts val="1600"/>
              </a:spcBef>
            </a:pPr>
            <a:r>
              <a:rPr lang="uk" sz="1600">
                <a:solidFill>
                  <a:schemeClr val="dk1"/>
                </a:solidFill>
              </a:rPr>
              <a:t>Модифікатор </a:t>
            </a:r>
            <a:r>
              <a:rPr lang="uk" sz="1600" b="1">
                <a:solidFill>
                  <a:schemeClr val="dk1"/>
                </a:solidFill>
              </a:rPr>
              <a:t>static</a:t>
            </a:r>
            <a:r>
              <a:rPr lang="uk" sz="1600">
                <a:solidFill>
                  <a:schemeClr val="dk1"/>
                </a:solidFill>
              </a:rPr>
              <a:t> вказується перед типом локальної функції. Тепер функція IsPassed не може звертатися до змінної limit, і в цьому випадку нам треба або передати це значення як параметр, або визначити змінну limit безпосередньо в локальній функції.</a:t>
            </a:r>
            <a:endParaRPr sz="1600">
              <a:solidFill>
                <a:schemeClr val="dk1"/>
              </a:solidFill>
            </a:endParaRPr>
          </a:p>
          <a:p>
            <a:pPr>
              <a:lnSpc>
                <a:spcPct val="115000"/>
              </a:lnSpc>
              <a:spcBef>
                <a:spcPts val="1600"/>
              </a:spcBef>
            </a:pPr>
            <a:endParaRPr sz="1467">
              <a:solidFill>
                <a:schemeClr val="dk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8FDDC4D8-B307-439C-AC1F-AD35FFB09B74}"/>
              </a:ext>
            </a:extLst>
          </p:cNvPr>
          <p:cNvSpPr>
            <a:spLocks noGrp="1"/>
          </p:cNvSpPr>
          <p:nvPr>
            <p:ph type="title"/>
          </p:nvPr>
        </p:nvSpPr>
        <p:spPr>
          <a:xfrm>
            <a:off x="838199" y="365125"/>
            <a:ext cx="10896601" cy="1325563"/>
          </a:xfrm>
        </p:spPr>
        <p:txBody>
          <a:bodyPr>
            <a:normAutofit/>
          </a:bodyPr>
          <a:lstStyle/>
          <a:p>
            <a:pPr algn="l"/>
            <a:r>
              <a:rPr lang="uk-UA" b="1" i="0" dirty="0">
                <a:solidFill>
                  <a:srgbClr val="000000"/>
                </a:solidFill>
                <a:effectLst/>
                <a:latin typeface="-apple-system"/>
              </a:rPr>
              <a:t>Приклад 1</a:t>
            </a:r>
            <a:endParaRPr lang="uk-UA" dirty="0"/>
          </a:p>
        </p:txBody>
      </p:sp>
      <p:sp>
        <p:nvSpPr>
          <p:cNvPr id="5" name="TextBox 4">
            <a:extLst>
              <a:ext uri="{FF2B5EF4-FFF2-40B4-BE49-F238E27FC236}">
                <a16:creationId xmlns:a16="http://schemas.microsoft.com/office/drawing/2014/main" id="{E3F9670E-92BC-496A-82BB-25D1FD0D55A8}"/>
              </a:ext>
            </a:extLst>
          </p:cNvPr>
          <p:cNvSpPr txBox="1"/>
          <p:nvPr/>
        </p:nvSpPr>
        <p:spPr>
          <a:xfrm>
            <a:off x="447675" y="2431734"/>
            <a:ext cx="6096000" cy="2554545"/>
          </a:xfrm>
          <a:prstGeom prst="rect">
            <a:avLst/>
          </a:prstGeom>
          <a:noFill/>
        </p:spPr>
        <p:txBody>
          <a:bodyPr wrap="square">
            <a:spAutoFit/>
          </a:bodyPr>
          <a:lstStyle/>
          <a:p>
            <a:r>
              <a:rPr lang="uk-UA" sz="3200" dirty="0" err="1">
                <a:latin typeface="Courier New" panose="02070309020205020404" pitchFamily="49" charset="0"/>
                <a:cs typeface="Courier New" panose="02070309020205020404" pitchFamily="49" charset="0"/>
              </a:rPr>
              <a:t>static</a:t>
            </a:r>
            <a:r>
              <a:rPr lang="uk-UA" sz="3200" dirty="0">
                <a:latin typeface="Courier New" panose="02070309020205020404" pitchFamily="49" charset="0"/>
                <a:cs typeface="Courier New" panose="02070309020205020404" pitchFamily="49" charset="0"/>
              </a:rPr>
              <a:t> </a:t>
            </a:r>
            <a:r>
              <a:rPr lang="uk-UA" sz="3200" dirty="0" err="1">
                <a:latin typeface="Courier New" panose="02070309020205020404" pitchFamily="49" charset="0"/>
                <a:cs typeface="Courier New" panose="02070309020205020404" pitchFamily="49" charset="0"/>
              </a:rPr>
              <a:t>void</a:t>
            </a:r>
            <a:r>
              <a:rPr lang="uk-UA" sz="3200" dirty="0">
                <a:latin typeface="Courier New" panose="02070309020205020404" pitchFamily="49" charset="0"/>
                <a:cs typeface="Courier New" panose="02070309020205020404" pitchFamily="49" charset="0"/>
              </a:rPr>
              <a:t> </a:t>
            </a:r>
            <a:r>
              <a:rPr lang="uk-UA" sz="3200" dirty="0" err="1">
                <a:latin typeface="Courier New" panose="02070309020205020404" pitchFamily="49" charset="0"/>
                <a:cs typeface="Courier New" panose="02070309020205020404" pitchFamily="49" charset="0"/>
              </a:rPr>
              <a:t>DoubleValue</a:t>
            </a:r>
            <a:r>
              <a:rPr lang="uk-UA" sz="3200" dirty="0">
                <a:latin typeface="Courier New" panose="02070309020205020404" pitchFamily="49" charset="0"/>
                <a:cs typeface="Courier New" panose="02070309020205020404" pitchFamily="49" charset="0"/>
              </a:rPr>
              <a:t>(</a:t>
            </a:r>
            <a:r>
              <a:rPr lang="uk-UA" sz="3200" dirty="0" err="1">
                <a:latin typeface="Courier New" panose="02070309020205020404" pitchFamily="49" charset="0"/>
                <a:cs typeface="Courier New" panose="02070309020205020404" pitchFamily="49" charset="0"/>
              </a:rPr>
              <a:t>ref</a:t>
            </a:r>
            <a:r>
              <a:rPr lang="uk-UA" sz="3200" dirty="0">
                <a:latin typeface="Courier New" panose="02070309020205020404" pitchFamily="49" charset="0"/>
                <a:cs typeface="Courier New" panose="02070309020205020404" pitchFamily="49" charset="0"/>
              </a:rPr>
              <a:t> </a:t>
            </a:r>
            <a:r>
              <a:rPr lang="uk-UA" sz="3200" dirty="0" err="1">
                <a:latin typeface="Courier New" panose="02070309020205020404" pitchFamily="49" charset="0"/>
                <a:cs typeface="Courier New" panose="02070309020205020404" pitchFamily="49" charset="0"/>
              </a:rPr>
              <a:t>int</a:t>
            </a:r>
            <a:r>
              <a:rPr lang="uk-UA" sz="3200" dirty="0">
                <a:latin typeface="Courier New" panose="02070309020205020404" pitchFamily="49" charset="0"/>
                <a:cs typeface="Courier New" panose="02070309020205020404" pitchFamily="49" charset="0"/>
              </a:rPr>
              <a:t> x)</a:t>
            </a:r>
          </a:p>
          <a:p>
            <a:r>
              <a:rPr lang="uk-UA" sz="3200" dirty="0">
                <a:latin typeface="Courier New" panose="02070309020205020404" pitchFamily="49" charset="0"/>
                <a:cs typeface="Courier New" panose="02070309020205020404" pitchFamily="49" charset="0"/>
              </a:rPr>
              <a:t>{</a:t>
            </a:r>
          </a:p>
          <a:p>
            <a:r>
              <a:rPr lang="uk-UA" sz="3200" dirty="0">
                <a:latin typeface="Courier New" panose="02070309020205020404" pitchFamily="49" charset="0"/>
                <a:cs typeface="Courier New" panose="02070309020205020404" pitchFamily="49" charset="0"/>
              </a:rPr>
              <a:t>    x *= 2;</a:t>
            </a:r>
          </a:p>
          <a:p>
            <a:r>
              <a:rPr lang="uk-UA" sz="3200" dirty="0">
                <a:latin typeface="Courier New" panose="02070309020205020404" pitchFamily="49" charset="0"/>
                <a:cs typeface="Courier New" panose="02070309020205020404" pitchFamily="49" charset="0"/>
              </a:rPr>
              <a:t>}</a:t>
            </a:r>
          </a:p>
        </p:txBody>
      </p:sp>
      <p:sp>
        <p:nvSpPr>
          <p:cNvPr id="3" name="Rectangle 1">
            <a:extLst>
              <a:ext uri="{FF2B5EF4-FFF2-40B4-BE49-F238E27FC236}">
                <a16:creationId xmlns:a16="http://schemas.microsoft.com/office/drawing/2014/main" id="{08F8D5C1-DDF0-4B38-862B-604C757A7BB3}"/>
              </a:ext>
            </a:extLst>
          </p:cNvPr>
          <p:cNvSpPr>
            <a:spLocks noChangeArrowheads="1"/>
          </p:cNvSpPr>
          <p:nvPr/>
        </p:nvSpPr>
        <p:spPr bwMode="auto">
          <a:xfrm>
            <a:off x="447675" y="1846959"/>
            <a:ext cx="1180147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uk-UA" altLang="uk-UA" sz="3200" b="0" i="0" u="none" strike="noStrike" cap="none" normalizeH="0" baseline="0">
                <a:ln>
                  <a:noFill/>
                </a:ln>
                <a:solidFill>
                  <a:schemeClr val="tx1"/>
                </a:solidFill>
                <a:effectLst/>
              </a:rPr>
              <a:t>Метод DoubleValue(ref int x) подвоює значення. </a:t>
            </a:r>
          </a:p>
        </p:txBody>
      </p:sp>
    </p:spTree>
    <p:extLst>
      <p:ext uri="{BB962C8B-B14F-4D97-AF65-F5344CB8AC3E}">
        <p14:creationId xmlns:p14="http://schemas.microsoft.com/office/powerpoint/2010/main" val="18677769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8FDDC4D8-B307-439C-AC1F-AD35FFB09B74}"/>
              </a:ext>
            </a:extLst>
          </p:cNvPr>
          <p:cNvSpPr>
            <a:spLocks noGrp="1"/>
          </p:cNvSpPr>
          <p:nvPr>
            <p:ph type="title"/>
          </p:nvPr>
        </p:nvSpPr>
        <p:spPr>
          <a:xfrm>
            <a:off x="838199" y="365125"/>
            <a:ext cx="10896601" cy="1325563"/>
          </a:xfrm>
        </p:spPr>
        <p:txBody>
          <a:bodyPr>
            <a:normAutofit/>
          </a:bodyPr>
          <a:lstStyle/>
          <a:p>
            <a:pPr algn="l"/>
            <a:r>
              <a:rPr lang="uk-UA" b="1" i="0" dirty="0">
                <a:solidFill>
                  <a:srgbClr val="000000"/>
                </a:solidFill>
                <a:effectLst/>
                <a:latin typeface="-apple-system"/>
              </a:rPr>
              <a:t>Приклад 2</a:t>
            </a:r>
            <a:endParaRPr lang="uk-UA" dirty="0"/>
          </a:p>
        </p:txBody>
      </p:sp>
      <p:sp>
        <p:nvSpPr>
          <p:cNvPr id="2" name="Rectangle 1">
            <a:extLst>
              <a:ext uri="{FF2B5EF4-FFF2-40B4-BE49-F238E27FC236}">
                <a16:creationId xmlns:a16="http://schemas.microsoft.com/office/drawing/2014/main" id="{18C1A4C1-F557-4FEF-8474-D45D848411DC}"/>
              </a:ext>
            </a:extLst>
          </p:cNvPr>
          <p:cNvSpPr>
            <a:spLocks noChangeArrowheads="1"/>
          </p:cNvSpPr>
          <p:nvPr/>
        </p:nvSpPr>
        <p:spPr bwMode="auto">
          <a:xfrm>
            <a:off x="266698" y="1234113"/>
            <a:ext cx="1135380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uk-UA" altLang="uk-UA" sz="3200" b="0" i="0" u="none" strike="noStrike" cap="none" normalizeH="0" baseline="0">
                <a:ln>
                  <a:noFill/>
                </a:ln>
                <a:solidFill>
                  <a:schemeClr val="tx1"/>
                </a:solidFill>
                <a:effectLst/>
              </a:rPr>
              <a:t>Метод Square(int number, out int result) підносить число до квадрату. </a:t>
            </a:r>
          </a:p>
        </p:txBody>
      </p:sp>
      <p:sp>
        <p:nvSpPr>
          <p:cNvPr id="5" name="TextBox 4">
            <a:extLst>
              <a:ext uri="{FF2B5EF4-FFF2-40B4-BE49-F238E27FC236}">
                <a16:creationId xmlns:a16="http://schemas.microsoft.com/office/drawing/2014/main" id="{6F029E66-471A-4F41-A2B8-1FBF3F1F4716}"/>
              </a:ext>
            </a:extLst>
          </p:cNvPr>
          <p:cNvSpPr txBox="1"/>
          <p:nvPr/>
        </p:nvSpPr>
        <p:spPr>
          <a:xfrm>
            <a:off x="266698" y="2751604"/>
            <a:ext cx="11734802" cy="2062103"/>
          </a:xfrm>
          <a:prstGeom prst="rect">
            <a:avLst/>
          </a:prstGeom>
          <a:noFill/>
        </p:spPr>
        <p:txBody>
          <a:bodyPr wrap="square">
            <a:spAutoFit/>
          </a:bodyPr>
          <a:lstStyle/>
          <a:p>
            <a:r>
              <a:rPr lang="uk-UA" sz="3200" dirty="0" err="1">
                <a:latin typeface="Courier New" panose="02070309020205020404" pitchFamily="49" charset="0"/>
                <a:cs typeface="Courier New" panose="02070309020205020404" pitchFamily="49" charset="0"/>
              </a:rPr>
              <a:t>static</a:t>
            </a:r>
            <a:r>
              <a:rPr lang="uk-UA" sz="3200" dirty="0">
                <a:latin typeface="Courier New" panose="02070309020205020404" pitchFamily="49" charset="0"/>
                <a:cs typeface="Courier New" panose="02070309020205020404" pitchFamily="49" charset="0"/>
              </a:rPr>
              <a:t> </a:t>
            </a:r>
            <a:r>
              <a:rPr lang="uk-UA" sz="3200" dirty="0" err="1">
                <a:latin typeface="Courier New" panose="02070309020205020404" pitchFamily="49" charset="0"/>
                <a:cs typeface="Courier New" panose="02070309020205020404" pitchFamily="49" charset="0"/>
              </a:rPr>
              <a:t>void</a:t>
            </a:r>
            <a:r>
              <a:rPr lang="uk-UA" sz="3200" dirty="0">
                <a:latin typeface="Courier New" panose="02070309020205020404" pitchFamily="49" charset="0"/>
                <a:cs typeface="Courier New" panose="02070309020205020404" pitchFamily="49" charset="0"/>
              </a:rPr>
              <a:t> </a:t>
            </a:r>
            <a:r>
              <a:rPr lang="uk-UA" sz="3200" dirty="0" err="1">
                <a:latin typeface="Courier New" panose="02070309020205020404" pitchFamily="49" charset="0"/>
                <a:cs typeface="Courier New" panose="02070309020205020404" pitchFamily="49" charset="0"/>
              </a:rPr>
              <a:t>Square</a:t>
            </a:r>
            <a:r>
              <a:rPr lang="uk-UA" sz="3200" dirty="0">
                <a:latin typeface="Courier New" panose="02070309020205020404" pitchFamily="49" charset="0"/>
                <a:cs typeface="Courier New" panose="02070309020205020404" pitchFamily="49" charset="0"/>
              </a:rPr>
              <a:t>(</a:t>
            </a:r>
            <a:r>
              <a:rPr lang="uk-UA" sz="3200" dirty="0" err="1">
                <a:latin typeface="Courier New" panose="02070309020205020404" pitchFamily="49" charset="0"/>
                <a:cs typeface="Courier New" panose="02070309020205020404" pitchFamily="49" charset="0"/>
              </a:rPr>
              <a:t>int</a:t>
            </a:r>
            <a:r>
              <a:rPr lang="uk-UA" sz="3200" dirty="0">
                <a:latin typeface="Courier New" panose="02070309020205020404" pitchFamily="49" charset="0"/>
                <a:cs typeface="Courier New" panose="02070309020205020404" pitchFamily="49" charset="0"/>
              </a:rPr>
              <a:t> </a:t>
            </a:r>
            <a:r>
              <a:rPr lang="uk-UA" sz="3200" dirty="0" err="1">
                <a:latin typeface="Courier New" panose="02070309020205020404" pitchFamily="49" charset="0"/>
                <a:cs typeface="Courier New" panose="02070309020205020404" pitchFamily="49" charset="0"/>
              </a:rPr>
              <a:t>number</a:t>
            </a:r>
            <a:r>
              <a:rPr lang="uk-UA" sz="3200" dirty="0">
                <a:latin typeface="Courier New" panose="02070309020205020404" pitchFamily="49" charset="0"/>
                <a:cs typeface="Courier New" panose="02070309020205020404" pitchFamily="49" charset="0"/>
              </a:rPr>
              <a:t>, </a:t>
            </a:r>
            <a:r>
              <a:rPr lang="uk-UA" sz="3200" dirty="0" err="1">
                <a:latin typeface="Courier New" panose="02070309020205020404" pitchFamily="49" charset="0"/>
                <a:cs typeface="Courier New" panose="02070309020205020404" pitchFamily="49" charset="0"/>
              </a:rPr>
              <a:t>out</a:t>
            </a:r>
            <a:r>
              <a:rPr lang="uk-UA" sz="3200" dirty="0">
                <a:latin typeface="Courier New" panose="02070309020205020404" pitchFamily="49" charset="0"/>
                <a:cs typeface="Courier New" panose="02070309020205020404" pitchFamily="49" charset="0"/>
              </a:rPr>
              <a:t> </a:t>
            </a:r>
            <a:r>
              <a:rPr lang="uk-UA" sz="3200" dirty="0" err="1">
                <a:latin typeface="Courier New" panose="02070309020205020404" pitchFamily="49" charset="0"/>
                <a:cs typeface="Courier New" panose="02070309020205020404" pitchFamily="49" charset="0"/>
              </a:rPr>
              <a:t>int</a:t>
            </a:r>
            <a:r>
              <a:rPr lang="uk-UA" sz="3200" dirty="0">
                <a:latin typeface="Courier New" panose="02070309020205020404" pitchFamily="49" charset="0"/>
                <a:cs typeface="Courier New" panose="02070309020205020404" pitchFamily="49" charset="0"/>
              </a:rPr>
              <a:t> </a:t>
            </a:r>
            <a:r>
              <a:rPr lang="uk-UA" sz="3200" dirty="0" err="1">
                <a:latin typeface="Courier New" panose="02070309020205020404" pitchFamily="49" charset="0"/>
                <a:cs typeface="Courier New" panose="02070309020205020404" pitchFamily="49" charset="0"/>
              </a:rPr>
              <a:t>result</a:t>
            </a:r>
            <a:r>
              <a:rPr lang="uk-UA" sz="3200" dirty="0">
                <a:latin typeface="Courier New" panose="02070309020205020404" pitchFamily="49" charset="0"/>
                <a:cs typeface="Courier New" panose="02070309020205020404" pitchFamily="49" charset="0"/>
              </a:rPr>
              <a:t>)</a:t>
            </a:r>
          </a:p>
          <a:p>
            <a:r>
              <a:rPr lang="uk-UA" sz="3200" dirty="0">
                <a:latin typeface="Courier New" panose="02070309020205020404" pitchFamily="49" charset="0"/>
                <a:cs typeface="Courier New" panose="02070309020205020404" pitchFamily="49" charset="0"/>
              </a:rPr>
              <a:t>{</a:t>
            </a:r>
          </a:p>
          <a:p>
            <a:r>
              <a:rPr lang="uk-UA" sz="3200" dirty="0">
                <a:latin typeface="Courier New" panose="02070309020205020404" pitchFamily="49" charset="0"/>
                <a:cs typeface="Courier New" panose="02070309020205020404" pitchFamily="49" charset="0"/>
              </a:rPr>
              <a:t>    </a:t>
            </a:r>
            <a:r>
              <a:rPr lang="uk-UA" sz="3200" dirty="0" err="1">
                <a:latin typeface="Courier New" panose="02070309020205020404" pitchFamily="49" charset="0"/>
                <a:cs typeface="Courier New" panose="02070309020205020404" pitchFamily="49" charset="0"/>
              </a:rPr>
              <a:t>result</a:t>
            </a:r>
            <a:r>
              <a:rPr lang="uk-UA" sz="3200" dirty="0">
                <a:latin typeface="Courier New" panose="02070309020205020404" pitchFamily="49" charset="0"/>
                <a:cs typeface="Courier New" panose="02070309020205020404" pitchFamily="49" charset="0"/>
              </a:rPr>
              <a:t> = </a:t>
            </a:r>
            <a:r>
              <a:rPr lang="uk-UA" sz="3200" dirty="0" err="1">
                <a:latin typeface="Courier New" panose="02070309020205020404" pitchFamily="49" charset="0"/>
                <a:cs typeface="Courier New" panose="02070309020205020404" pitchFamily="49" charset="0"/>
              </a:rPr>
              <a:t>number</a:t>
            </a:r>
            <a:r>
              <a:rPr lang="uk-UA" sz="3200" dirty="0">
                <a:latin typeface="Courier New" panose="02070309020205020404" pitchFamily="49" charset="0"/>
                <a:cs typeface="Courier New" panose="02070309020205020404" pitchFamily="49" charset="0"/>
              </a:rPr>
              <a:t> * </a:t>
            </a:r>
            <a:r>
              <a:rPr lang="uk-UA" sz="3200" dirty="0" err="1">
                <a:latin typeface="Courier New" panose="02070309020205020404" pitchFamily="49" charset="0"/>
                <a:cs typeface="Courier New" panose="02070309020205020404" pitchFamily="49" charset="0"/>
              </a:rPr>
              <a:t>number</a:t>
            </a:r>
            <a:r>
              <a:rPr lang="uk-UA" sz="3200" dirty="0">
                <a:latin typeface="Courier New" panose="02070309020205020404" pitchFamily="49" charset="0"/>
                <a:cs typeface="Courier New" panose="02070309020205020404" pitchFamily="49" charset="0"/>
              </a:rPr>
              <a:t>;</a:t>
            </a:r>
          </a:p>
          <a:p>
            <a:r>
              <a:rPr lang="uk-UA" sz="32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5238949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UNIQUEID" val="4326"/>
</p:tagLst>
</file>

<file path=ppt/tags/tag2.xml><?xml version="1.0" encoding="utf-8"?>
<p:tagLst xmlns:a="http://schemas.openxmlformats.org/drawingml/2006/main" xmlns:r="http://schemas.openxmlformats.org/officeDocument/2006/relationships" xmlns:p="http://schemas.openxmlformats.org/presentationml/2006/main">
  <p:tag name="AS_UNIQUEID" val="4327"/>
</p:tagLst>
</file>

<file path=ppt/tags/tag3.xml><?xml version="1.0" encoding="utf-8"?>
<p:tagLst xmlns:a="http://schemas.openxmlformats.org/drawingml/2006/main" xmlns:r="http://schemas.openxmlformats.org/officeDocument/2006/relationships" xmlns:p="http://schemas.openxmlformats.org/presentationml/2006/main">
  <p:tag name="AS_UNIQUEID" val="4329"/>
</p:tagLst>
</file>

<file path=ppt/tags/tag4.xml><?xml version="1.0" encoding="utf-8"?>
<p:tagLst xmlns:a="http://schemas.openxmlformats.org/drawingml/2006/main" xmlns:r="http://schemas.openxmlformats.org/officeDocument/2006/relationships" xmlns:p="http://schemas.openxmlformats.org/presentationml/2006/main">
  <p:tag name="AS_UNIQUEID" val="4324"/>
</p:tagLst>
</file>

<file path=ppt/tags/tag5.xml><?xml version="1.0" encoding="utf-8"?>
<p:tagLst xmlns:a="http://schemas.openxmlformats.org/drawingml/2006/main" xmlns:r="http://schemas.openxmlformats.org/officeDocument/2006/relationships" xmlns:p="http://schemas.openxmlformats.org/presentationml/2006/main">
  <p:tag name="AS_UNIQUEID" val="4325"/>
</p:tagLst>
</file>

<file path=ppt/tags/tag6.xml><?xml version="1.0" encoding="utf-8"?>
<p:tagLst xmlns:a="http://schemas.openxmlformats.org/drawingml/2006/main" xmlns:r="http://schemas.openxmlformats.org/officeDocument/2006/relationships" xmlns:p="http://schemas.openxmlformats.org/presentationml/2006/main">
  <p:tag name="AS_UNIQUEID" val="4328"/>
</p:tagLst>
</file>

<file path=ppt/tags/tag7.xml><?xml version="1.0" encoding="utf-8"?>
<p:tagLst xmlns:a="http://schemas.openxmlformats.org/drawingml/2006/main" xmlns:r="http://schemas.openxmlformats.org/officeDocument/2006/relationships" xmlns:p="http://schemas.openxmlformats.org/presentationml/2006/main">
  <p:tag name="AS_UNIQUEID" val="4323"/>
</p:tagLst>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12578</TotalTime>
  <Words>6572</Words>
  <Application>Microsoft Office PowerPoint</Application>
  <PresentationFormat>Широкий екран</PresentationFormat>
  <Paragraphs>689</Paragraphs>
  <Slides>53</Slides>
  <Notes>52</Notes>
  <HiddenSlides>0</HiddenSlides>
  <MMClips>0</MMClips>
  <ScaleCrop>false</ScaleCrop>
  <HeadingPairs>
    <vt:vector size="6" baseType="variant">
      <vt:variant>
        <vt:lpstr>Використані шрифти</vt:lpstr>
      </vt:variant>
      <vt:variant>
        <vt:i4>10</vt:i4>
      </vt:variant>
      <vt:variant>
        <vt:lpstr>Тема</vt:lpstr>
      </vt:variant>
      <vt:variant>
        <vt:i4>1</vt:i4>
      </vt:variant>
      <vt:variant>
        <vt:lpstr>Заголовки слайдів</vt:lpstr>
      </vt:variant>
      <vt:variant>
        <vt:i4>53</vt:i4>
      </vt:variant>
    </vt:vector>
  </HeadingPairs>
  <TitlesOfParts>
    <vt:vector size="64" baseType="lpstr">
      <vt:lpstr>-apple-system</vt:lpstr>
      <vt:lpstr>Aptos</vt:lpstr>
      <vt:lpstr>Arial</vt:lpstr>
      <vt:lpstr>Calibri</vt:lpstr>
      <vt:lpstr>Calibri Light</vt:lpstr>
      <vt:lpstr>Cascadia Code</vt:lpstr>
      <vt:lpstr>Comfortaa</vt:lpstr>
      <vt:lpstr>Courier New</vt:lpstr>
      <vt:lpstr>Roboto Mono</vt:lpstr>
      <vt:lpstr>Times New Roman</vt:lpstr>
      <vt:lpstr>Тема Office</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Приклад 1</vt:lpstr>
      <vt:lpstr>Приклад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Шейко Ростислав Олександрович</dc:creator>
  <cp:lastModifiedBy>Шейко Ростислав Олександрович</cp:lastModifiedBy>
  <cp:revision>101</cp:revision>
  <dcterms:created xsi:type="dcterms:W3CDTF">2024-06-01T09:56:10Z</dcterms:created>
  <dcterms:modified xsi:type="dcterms:W3CDTF">2025-08-03T21:32:59Z</dcterms:modified>
</cp:coreProperties>
</file>