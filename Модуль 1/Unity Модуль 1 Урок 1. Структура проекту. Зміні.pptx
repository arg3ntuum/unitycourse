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1" r:id="rId3"/>
    <p:sldId id="290" r:id="rId4"/>
    <p:sldId id="291" r:id="rId5"/>
    <p:sldId id="262" r:id="rId6"/>
    <p:sldId id="263" r:id="rId7"/>
    <p:sldId id="292" r:id="rId8"/>
    <p:sldId id="258" r:id="rId9"/>
    <p:sldId id="295" r:id="rId10"/>
    <p:sldId id="259" r:id="rId11"/>
    <p:sldId id="260" r:id="rId12"/>
    <p:sldId id="264" r:id="rId13"/>
    <p:sldId id="265" r:id="rId14"/>
    <p:sldId id="266" r:id="rId15"/>
    <p:sldId id="267" r:id="rId16"/>
    <p:sldId id="269" r:id="rId17"/>
    <p:sldId id="26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96" r:id="rId27"/>
    <p:sldId id="298" r:id="rId28"/>
    <p:sldId id="278" r:id="rId29"/>
    <p:sldId id="279" r:id="rId30"/>
    <p:sldId id="280" r:id="rId31"/>
    <p:sldId id="281" r:id="rId32"/>
    <p:sldId id="282" r:id="rId33"/>
    <p:sldId id="283" r:id="rId34"/>
    <p:sldId id="285" r:id="rId35"/>
    <p:sldId id="286" r:id="rId36"/>
    <p:sldId id="287" r:id="rId37"/>
    <p:sldId id="293" r:id="rId38"/>
    <p:sldId id="288" r:id="rId39"/>
    <p:sldId id="294" r:id="rId40"/>
    <p:sldId id="299" r:id="rId41"/>
    <p:sldId id="300" r:id="rId4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8:41:35.7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1695 1564,'0'-11,"0"-1,-1 1,-1 0,0 0,0 0,-1 0,0 0,-1 1,0-1,-1 1,-6-10,-8-14,-2 2,-48-59,-65-52,91 99,-378-362,188 213,194 164,-1 2,-2 1,0 2,-2 3,-91-33,107 46,0 0,-49-5,28 5,41 7,0-1,0 0,0 0,0-1,0 1,1-2,-1 1,1-1,0-1,0 1,1-1,-1 0,1-1,0 1,0-1,1 0,0-1,0 1,0-1,1 0,0 0,1-1,-1 1,1-1,1 0,-3-9,2-3,2 13,0 1,-1-1,0 0,0 0,-5-11,7 18,0 0,0-1,0 1,0 0,0 0,0 0,0 0,0 0,0 0,0 0,0 0,0 0,-1-1,1 1,0 0,0 0,0 0,0 0,0 0,0 0,0 0,0 0,0 0,0 0,-1 0,1 0,0 0,0 0,0 0,0 0,0 0,0 0,0 0,-1 0,1 0,0 0,0 0,0 0,0 0,0 0,0 0,0 0,0 0,-1 0,1 0,0 0,0 0,0 0,0 0,0 0,0 0,0 1,0-1,0 0,0 0,0 0,0 0,0 0,-1 0,1 0,0 1,-4 10,1 15,0 348,4-273,-1-535,0 428,0 1,1-1,-1 1,1-1,0 1,0-1,1 1,0 0,0-1,0 1,0 0,1 0,0 1,5-8,-5 9,1 0,-1-1,1 1,0 0,0 1,1-1,-1 1,0-1,1 1,0 1,-1-1,1 1,0 0,0 0,0 0,7 0,229 2,-103 2,-51-4,109 4,-166-1,-1 2,1 1,-1 2,44 15,87 45,-137-55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29:54.089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gnorePressure" value="1"/>
      <inkml:brushProperty name="inkEffects" value="ocean"/>
      <inkml:brushProperty name="anchorX" value="0"/>
      <inkml:brushProperty name="anchorY" value="0"/>
      <inkml:brushProperty name="scaleFactor" value="0.5"/>
    </inkml:brush>
  </inkml:definitions>
  <inkml:trace contextRef="#ctx0" brushRef="#br0">805 1,'0'0,"0"4,0 8,0 9,0 16,0 3,10 12,1 3,0 8,3 0,-2 5,-3-7,3-3,-2 3,-2-2,-3 4,-1-2,3 0,-1-3,-1 4,-1-7,-1-1,-2-2,0 0,-1-6,0 0,0-4,0-5,0-4,-1 2,12-12,-1-13,6-6,-1-11,-4-13,-2-6,-4-9,-2-6,-1-1,-2-4,-1-6,1 2,-1-7,-5 1,1-12,-6 1,-4-5,1 8,-4-2,4 9,-7 3,2 3,3 5,5 6,-2 6,4-3,2 4,7 6,8 8,7 7,16 5,9 4,19 2,15 8,8-1,4 1,-4-1,4-2,4-2,10 0,10-2,8 0,7 0,5 0,2 0,2 5,0 0,-5 0,-1 0,6-2,5-1,7-1,10-1,10 0,12 0,7 0,10 0,1 0,4-1,5 1,2 0,8 0,2 0,5 0,6-5,-7 0,-2-1,-9 2,-8 1,-16 1,-17-5,-25 1,-17 1,-17 1,-24 1,-21 1,-17 1,-7 1,-7 0,-4 0,-3 0,-7 6,5 5,0 5,-4 4,-4 9,-1 3,1 0,-3 11,7-2,-3 0,3-4,-5 7,2-2,-4-2,-3 1,1-3,-3-2,-2-4,-2 3,-2-1,-2-2,-1-1,0 3,0 0,-1-2,-4-6,3-24,1-1,0 1,0 0,0 0,-1-1,1 1,0-1,-1 1,1-1,-3 2,-17 9,-6-6,-1 2,-12-2,0-1,1-2,-8-1,-4-1,-6-1,-3 10,-5 1,-10 0,1-2,-7-3,-8-2,5-1,-4-3,-4 6,0-1,3 0,-3-1,2-1,-8-2,-9 5,-18 5,-14 0,-10 10,-7-3,-15 3,-7 2,-11-4,-3 0,-7 7,1-4,-4 2,3-1,-2-3,2-1,-1 7,2-5,3 2,4-5,7 1,-3-4,1-5,-5 2,0-2,-11-3,-4-3,1 9,-2 0,9-2,16-3,15-2,13 3,16-1,29-3,20 0,17-2,17-2,13 0,9-1,11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29:57.677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gnorePressure" value="1"/>
      <inkml:brushProperty name="inkEffects" value="ocean"/>
      <inkml:brushProperty name="anchorX" value="1820.4342"/>
      <inkml:brushProperty name="anchorY" value="-757.75031"/>
      <inkml:brushProperty name="scaleFactor" value="0.5"/>
    </inkml:brush>
  </inkml:definitions>
  <inkml:trace contextRef="#ctx0" brushRef="#br0">596 1244,'0'0,"4"0,18 0,10 0,16 0,16 0,11 0,11 0,4 0,0 0,3 0,10 0,8 0,12 0,8 0,14 0,8 0,-1 0,-1 0,-5 0,-5 0,-3 0,-3 0,-7 0,-12 0,-6 0,-5 0,-2-6,-5 1,-1-6,6-4,2 1,2-8,-4-3,-6-2,-1-2,-9-4,-4 4,-14 2,-8 0,0 1,-8 6,2-6,-5 1,-1-2,0 5,-5 0,-4-5,-5 4,1 4,-2 1,-1-1,-3 4,4-1,-1 3,0-8,-3 3,-5-2,2 4,1-1,-1 3,-4-2,-1 4,5 3,-10 3,-10 2,-10-8,-15 0,-12 1,-16-2,-7 1,-10-2,-1 2,-6 3,3-3,-3 3,3-9,-2 2,-2 2,-2-2,2 4,-1 2,-6 4,2-4,-5 3,-7-4,5 1,1 2,1-8,-4 2,0 1,6-2,1 3,6 3,1-3,5 2,-2 3,4-3,8 1,-8 2,-3 2,1-9,-4 2,3 0,-7 4,-8-4,-3 3,-6 2,-5 2,-5 2,4 1,-3 1,-1-4,-1 0,3 0,0 1,5 1,8 2,5 0,8 0,2 12,10 5,5 0,4 4,1 1,-5 8,5 2,5-5,-4-1,4 0,5 5,4-5,-6 0,2 0,3-1,-3-4,3 5,3 1,3 1,-3 1,6 5,2-6,2 6,0 9,-5 0,5-2,0-2,0 2,5-4,0 4,-5 2,3-1,0-3,4-4,-1 3,0 3,3-1,-7 2,4-2,3-2,0-3,3 2,9-8,5-26,0-1,-1 1,0-1,1 1,-1 0,1-1,-1 1,1-1,0 1,-1-1,1 0,2 3,15 16,17 0,10-5,11-4,20 1,18 8,15 4,12-3,13 1,10 1,13-5,5-3,-3 4,1-2,-7-4,-5 2,-6-4,-4-2,-3-3,-8-3,-1-1,-5-2,-16 0,-9-1,-14 1,-16-1,-4 1,-11 0,-7-6,-3 1,-4-1,-4-3,-3 0,4 2,-7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0:52.823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gnorePressure" value="1"/>
      <inkml:brushProperty name="inkEffects" value="ocean"/>
      <inkml:brushProperty name="anchorX" value="833.69916"/>
      <inkml:brushProperty name="anchorY" value="-1398.98376"/>
      <inkml:brushProperty name="scaleFactor" value="0.5"/>
    </inkml:brush>
  </inkml:definitions>
  <inkml:trace contextRef="#ctx0" brushRef="#br0">27 1,'0'0,"0"9,-5 8,0 5,-1 3,2 7,1 2,1-1,1-1,0 5,6-3,1 0,5-8,-1-2,-1-6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0:47.9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254 1,'0'118,"-11"278,-19-20,27-346,-6 336,-1 19,-8-25,-6-192,1-1,-11 153,21-207,4 81,6-57,-7-83,6-38,4-16,0 1,0-1,0 1,1-1,-1 1,0-1,0 0,0 1,0-1,0 1,0-1,1 1,-1-1,0 0,0 1,1-1,-1 1,0-1,1 0,-1 1,0-1,1 0,-1 0,0 1,1-1,-1 0,1 0,-1 0,1 1,-1-1,0 0,1 0,-1 0,1 0,-1 0,1 0,-1 0,1 0,-1 0,1 0,24 0,-20 0,1163-12,-739 14,3875-2,-3136 70,-783-24,268 21,-603-65,759 45,100 8,-808-51,265 17,-31-14,-204-9,-101 1,-1-1,0-2,37-9,86-30,-37 8,-46 16,73-30,-115 38,-1-2,-1 0,0-1,-1-2,39-31,-52 36,0-1,0 0,-1 0,-1-1,0-1,0 1,-2-1,0-1,0 0,-1 1,-1-2,-1 1,0-1,2-18,-2 10,1 0,10-28,-7 27,-1 0,3-26,-4 2,7-52,1-114,-14 207,0-26,-1 1,-1-1,-1 1,-14-53,11 64,-9-27,-34-82,35 106,-1 1,-19-24,-4-5,21 31,-1 0,-1 1,-30-26,4 5,-86-90,98 100,-2 0,-50-34,-83-43,161 104,-27-18,2-2,1-1,-29-31,-32-28,66 63,16 13,0 0,-1 1,0 0,-21-11,12 8,1 0,-33-26,36 24,0 2,-1-1,-1 2,-23-11,-2 2,-46-28,-41-20,39 27,53 21,-1 2,-69-19,-141-8,116 24,-16-15,97 21,-100-14,-260-14,223 12,27 2,-754-47,821 69,-13 1,-198-21,-69-6,-1 32,157 2,53-16,4 1,-1118 14,1228-4,-52-8,-46-3,-1921 13,965 3,83-2,994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2:04.1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1,'731'0,"-700"0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5:06.6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1,'4'0,"2"0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5:07.1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5:18.2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8:54.0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1,'0'9,"0"12,0 7,0-1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06:40.4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1,'0'4,"0"11,0 7,0 5,0 2,0 4,0 3,0-2,0-1,0 2,0-9,0-14,0-12,0-17,0-4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2:10.624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66,'1175'0,"-770"-28,-136 5,-190 15,-56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2:11.075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80,'152'-6,"236"-40,-74 20,2 24,-189 3,-91-1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2:12.989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1,'948'0,"-919"0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2:14.472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0,'643'16,"-287"-6,92 7,-391-13,-7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2:18.847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81,'40'-1,"50"-10,14 0,-19 7,-26 3,115-18,-103 6,0 3,1 4,-1 2,1 4,96 11,118 12,-128-12,178 20,-298-28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18:04.6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54,'7'0,"0"-1,0 0,0 0,9-4,19-3,502-29,641 38,-1035-1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18:05.5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1,'102'0,"754"25,752 58,-1345-84,-159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18:14.4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0 267,'10'-1,"0"0,-1 0,18-5,8-2,662-41,-259 28,-345 14,1257-95,-1050 69,59-3,-294 34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18:22.3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48,'549'0,"-538"-1,0 0,-1-1,1 0,0-1,-1 0,20-9,13-4,-19 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18:23.5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2,'110'-1,"120"3,-149 11,5-1,-56-11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5:10.912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11,'4'0,"7"0,9 0,7 0,3 0,1 0,-6-4,-5-2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5:16.334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84,'5'0,"10"0,7 0,5 0,1 0,6 0,1 0,-5-4,-3-2,-2 0,-5-3,3 0,-3-8,1-1,-4 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35:31.091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gnorePressure" value="1"/>
      <inkml:brushProperty name="inkEffects" value="ocean"/>
      <inkml:brushProperty name="anchorX" value="-12390.5752"/>
      <inkml:brushProperty name="anchorY" value="-2474.8335"/>
      <inkml:brushProperty name="scaleFactor" value="0.5"/>
    </inkml:brush>
  </inkml:definitions>
  <inkml:trace contextRef="#ctx0" brushRef="#br0">1 44,'0'0,"0"-5,10-1,7 0,20 2,10 6,17 1,5 2,5-1,9-1,13 5,0-1,11 4,2-1,6 4,1-2,-1-3,-7 8,-3-2,-1-2,-2-3,-4 2,-5-3,1-1,-10-3,3-2,-8-2,-2 5,-5-1,4 0,0-1,-2-1,-1-1,-3-1,-11-1,2 0,-9 0,-7 0,-2 0,-4-1,-5 1,-2 0,2 0,-2 0,0 0,-2-11,10 0,-1 0,9-3,4 2,-3 3,11-3,6 2,-4 2,9 3,-3-3,-7 1,1 1,-2 1,-3 3,-6 0,-2 1,-1 1,-5-10,1-1,1 1,-3 1,-4 3,-3-3,1 1,-1 1,-3 3,9 1,-1 1,-1 1,-3 1,7 0,-2 1,-2-1,3 0,-4 0,-2 1,-4-1,3 0,-6-6,-2 1,-7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20:54.4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1,'307'17,"-168"-6,966 39,-312-35,1308 35,-431-5,535 21,-1644-38,789 31,-1157-55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9:21:14.9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15:45:53.48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gnorePressure" value="1"/>
      <inkml:brushProperty name="inkEffects" value="ocean"/>
      <inkml:brushProperty name="anchorX" value="-19267.00977"/>
      <inkml:brushProperty name="anchorY" value="-7361.91113"/>
      <inkml:brushProperty name="scaleFactor" value="0.5"/>
    </inkml:brush>
  </inkml:definitions>
  <inkml:trace contextRef="#ctx0" brushRef="#br0">1911 10877,'0'0,"5"4,6 8,21 4,15 10,20 3,10-3,17 0,18-1,22 11,30 0,30 11,33-1,36 3,36 6,24-4,37-4,26 5,25-6,24-3,23-1,24 2,25-4,19 8,26-3,15 8,22 1,22 6,19 1,20-6,16 4,17-1,2 3,-1-5,1 4,-5-7,-11-6,-15-7,-9 0,-13-10,-9-2,-7-8,-16-7,-13-5,-18-4,-15-3,-16-2,-14 0,-10 0,-19 0,-8 0,-14-5,-14-5,-8-5,-15-5,-13-8,-21-2,-14-7,-11-10,-16-4,-15-9,-17-1,-20-5,-21 1,-25-3,-19 3,-26-8,-22-3,-22 4,-18-2,-12 5,-14-1,-11 5,-6-3,-11 4,-8-2,-12 3,-4 7,-9-2,-1 3,-4-5,2 6,-3-4,3 1,-2 6,-3-4,-2 1,3-5,-7 5,-2-5,-1 2,-6-5,0 1,0-4,-4 2,2-3,6 2,-2-3,-5 3,7-3,-4 3,6-3,-4 3,2-2,-1 2,-4-2,1 2,1-3,-5 9,-3 2,-4-2,1 1,-1-4,-3-10,-6 1,-3-4,-6-1,5-2,-4-6,2-1,-4-5,-5 0,-3 2,-4-4,-1-8,-3-8,0-10,-6-6,-6-10,-5-14,-15-7,-8-5,-13-2,-5 4,-12-4,-11 1,-5-1,-7 6,-10 6,-10 1,-7-5,-7 2,-3-2,-8 0,-12-2,-6 4,-9-5,-13-2,-16 0,-21-12,-17 0,-15 0,-10 3,-12-3,-9 2,-16 3,-12 2,-12-4,-5 2,-8 1,-4 7,-5 7,-8 7,-2 5,-11 4,-5 3,-3 5,-3 7,4 11,1 9,0 3,-1 12,6 4,-2 8,0 12,-1 2,3 8,-1 7,-1 1,9 6,4 3,-2 3,9-3,1 1,6 2,12 6,5 1,9 7,12 5,12-6,9 4,7 1,10 5,14 2,11 3,16 1,7 2,11 1,1-1,5 1,4-1,3 1,-3-1,1 5,-10 1,-10-1,-3 5,-9-1,-10-1,-5-3,-9-1,-6-2,-5-1,-9 0,-3-2,-1 1,1 0,1-1,1 1,1 0,2 0,0 0,6 0,0 0,5-11,10-5,5-1,2-2,2-3,11 4,5-7,4-1,3 4,7-1,1 6,4 4,6 0,8 3,8 3,8-8,11 2,9 1,7 3,6 3,9 2,7 2,7 2,9-6,4 1,1 0,11 1,4 1,-1 1,7 1,1 1,7 0,0 0,5 0,9 0,-7 1,-3-1,1 0,-3 0,-3 0,-8 0,-7 5,-8 1,1 0,1-2,9 0,-3 3,-1 5,-5 4,-10 0,2 7,-8 3,-6 1,-6 2,-5 5,-4-1,-1 1,-13-3,0 5,-1-2,3-1,3-2,12 4,9-1,6-1,4 8,14 0,6 3,11 8,4 3,12 7,47-44,-23 36,-5 24,3 14,4 23,3 16,3 20,6 19,8 22,5 12,5 19,3 15,2 13,0 7,2 6,-1 13,5 6,16 7,5 2,15 7,7 0,10 0,3 9,11-2,9-1,4 7,12 2,10-3,9 2,18 0,11-4,13 6,16-4,8-9,11-10,1-15,6-14,10-21,2-24,7-16,7-17,4-12,10-14,-46-37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219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29.10.2025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customXml" Target="../ink/ink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9.xml"/><Relationship Id="rId5" Type="http://schemas.openxmlformats.org/officeDocument/2006/relationships/image" Target="../media/image150.png"/><Relationship Id="rId4" Type="http://schemas.openxmlformats.org/officeDocument/2006/relationships/customXml" Target="../ink/ink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1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9.png"/><Relationship Id="rId3" Type="http://schemas.openxmlformats.org/officeDocument/2006/relationships/image" Target="../media/image121.png"/><Relationship Id="rId7" Type="http://schemas.openxmlformats.org/officeDocument/2006/relationships/image" Target="../media/image123.png"/><Relationship Id="rId12" Type="http://schemas.openxmlformats.org/officeDocument/2006/relationships/customXml" Target="../ink/ink22.xm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9.xml"/><Relationship Id="rId11" Type="http://schemas.openxmlformats.org/officeDocument/2006/relationships/image" Target="../media/image125.png"/><Relationship Id="rId5" Type="http://schemas.openxmlformats.org/officeDocument/2006/relationships/image" Target="../media/image122.png"/><Relationship Id="rId15" Type="http://schemas.openxmlformats.org/officeDocument/2006/relationships/image" Target="../media/image30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124.png"/><Relationship Id="rId14" Type="http://schemas.openxmlformats.org/officeDocument/2006/relationships/customXml" Target="../ink/ink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90387" y="3568704"/>
            <a:ext cx="9411231" cy="2894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Структура проекту. </a:t>
            </a:r>
          </a:p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Змінні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у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Visual Studio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BE045-04C0-4091-B2BF-1F8172ABF80C}"/>
              </a:ext>
            </a:extLst>
          </p:cNvPr>
          <p:cNvSpPr txBox="1"/>
          <p:nvPr/>
        </p:nvSpPr>
        <p:spPr>
          <a:xfrm>
            <a:off x="400049" y="1473465"/>
            <a:ext cx="38538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Для початку треба створити проект</a:t>
            </a:r>
            <a:r>
              <a:rPr lang="en-US" sz="2400" dirty="0">
                <a:solidFill>
                  <a:srgbClr val="000000"/>
                </a:solidFill>
              </a:rPr>
              <a:t>. </a:t>
            </a:r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1. Оберіть в мовах програмування «</a:t>
            </a:r>
            <a:r>
              <a:rPr lang="en-US" sz="2400" dirty="0">
                <a:solidFill>
                  <a:srgbClr val="000000"/>
                </a:solidFill>
              </a:rPr>
              <a:t>C#</a:t>
            </a:r>
            <a:r>
              <a:rPr lang="uk-UA" sz="2400" dirty="0">
                <a:solidFill>
                  <a:srgbClr val="000000"/>
                </a:solidFill>
              </a:rPr>
              <a:t>» в лівому </a:t>
            </a:r>
            <a:r>
              <a:rPr lang="uk-UA" sz="2400" dirty="0" err="1">
                <a:solidFill>
                  <a:srgbClr val="000000"/>
                </a:solidFill>
              </a:rPr>
              <a:t>випадаючому</a:t>
            </a:r>
            <a:r>
              <a:rPr lang="uk-UA" sz="2400" dirty="0">
                <a:solidFill>
                  <a:srgbClr val="000000"/>
                </a:solidFill>
              </a:rPr>
              <a:t> меню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	2. </a:t>
            </a:r>
            <a:r>
              <a:rPr lang="uk-UA" sz="2400" dirty="0">
                <a:solidFill>
                  <a:srgbClr val="000000"/>
                </a:solidFill>
              </a:rPr>
              <a:t>Оберіть 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uk-UA" sz="2400" dirty="0">
                <a:solidFill>
                  <a:srgbClr val="000000"/>
                </a:solidFill>
              </a:rPr>
              <a:t>«Консоль (.</a:t>
            </a:r>
            <a:r>
              <a:rPr lang="en-US" sz="2400" dirty="0">
                <a:solidFill>
                  <a:srgbClr val="000000"/>
                </a:solidFill>
              </a:rPr>
              <a:t>NET Framework</a:t>
            </a:r>
            <a:r>
              <a:rPr lang="uk-UA" sz="2400" dirty="0">
                <a:solidFill>
                  <a:srgbClr val="000000"/>
                </a:solidFill>
              </a:rPr>
              <a:t>)» в правому </a:t>
            </a:r>
            <a:r>
              <a:rPr lang="uk-UA" sz="2400" dirty="0" err="1">
                <a:solidFill>
                  <a:srgbClr val="000000"/>
                </a:solidFill>
              </a:rPr>
              <a:t>випадаючому</a:t>
            </a:r>
            <a:r>
              <a:rPr lang="uk-UA" sz="2400" dirty="0">
                <a:solidFill>
                  <a:srgbClr val="000000"/>
                </a:solidFill>
              </a:rPr>
              <a:t> меню.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3. Оберіть «Консольний додаток».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CC266B-FFC3-4F37-AEEE-E762AC985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19" y="1473465"/>
            <a:ext cx="6966266" cy="4638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Рукописні дані 9">
                <a:extLst>
                  <a:ext uri="{FF2B5EF4-FFF2-40B4-BE49-F238E27FC236}">
                    <a16:creationId xmlns:a16="http://schemas.microsoft.com/office/drawing/2014/main" id="{B2813A40-2D09-4257-AAC8-3C8251A1DF7D}"/>
                  </a:ext>
                </a:extLst>
              </p14:cNvPr>
              <p14:cNvContentPartPr/>
              <p14:nvPr/>
            </p14:nvContentPartPr>
            <p14:xfrm>
              <a:off x="10495830" y="2341980"/>
              <a:ext cx="610200" cy="563400"/>
            </p14:xfrm>
          </p:contentPart>
        </mc:Choice>
        <mc:Fallback xmlns="">
          <p:pic>
            <p:nvPicPr>
              <p:cNvPr id="10" name="Рукописні дані 9">
                <a:extLst>
                  <a:ext uri="{FF2B5EF4-FFF2-40B4-BE49-F238E27FC236}">
                    <a16:creationId xmlns:a16="http://schemas.microsoft.com/office/drawing/2014/main" id="{B2813A40-2D09-4257-AAC8-3C8251A1DF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87190" y="2332980"/>
                <a:ext cx="627840" cy="5810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A30EA8C-9F08-4BFD-94CD-C125DBC9506D}"/>
              </a:ext>
            </a:extLst>
          </p:cNvPr>
          <p:cNvSpPr txBox="1"/>
          <p:nvPr/>
        </p:nvSpPr>
        <p:spPr>
          <a:xfrm>
            <a:off x="400049" y="6262042"/>
            <a:ext cx="10972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>
                <a:cs typeface="Arial" panose="020B0604020202020204" pitchFamily="34" charset="0"/>
              </a:rPr>
              <a:t>Якщо у вас у списку немає вибору проекту, перейдіть у напис «</a:t>
            </a:r>
            <a:r>
              <a:rPr lang="en-US" sz="2400" dirty="0">
                <a:cs typeface="Arial" panose="020B0604020202020204" pitchFamily="34" charset="0"/>
              </a:rPr>
              <a:t>Install more tools…</a:t>
            </a:r>
            <a:r>
              <a:rPr lang="uk-UA" sz="2400" dirty="0">
                <a:cs typeface="Arial" panose="020B060402020202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26760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Як додати бібліотеки?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Install more tools…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660649" y="2616465"/>
            <a:ext cx="3835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Для того, щоб додати бібліотеки </a:t>
            </a:r>
            <a:r>
              <a:rPr lang="uk-UA" sz="2400" dirty="0" err="1">
                <a:solidFill>
                  <a:srgbClr val="000000"/>
                </a:solidFill>
              </a:rPr>
              <a:t>недостаючі</a:t>
            </a:r>
            <a:r>
              <a:rPr lang="uk-UA" sz="2400" dirty="0">
                <a:solidFill>
                  <a:srgbClr val="000000"/>
                </a:solidFill>
              </a:rPr>
              <a:t>, натисніть: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96638C-563D-491D-AAB0-44CC7CB3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562" y="1917832"/>
            <a:ext cx="5754289" cy="30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Як додати бібліотеки?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 Install more tools…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 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660649" y="2616465"/>
            <a:ext cx="3835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Переконайтесь, що у вас інстальовані наступні бібліотеки: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A3F5A3-7688-4DCB-AAFF-687DF264D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" t="11710" r="29044" b="28433"/>
          <a:stretch/>
        </p:blipFill>
        <p:spPr>
          <a:xfrm>
            <a:off x="4940051" y="1238249"/>
            <a:ext cx="6591300" cy="3218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39D895-E697-472E-AF61-69C61C92D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4629151"/>
            <a:ext cx="59912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3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у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Visual Studio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7992D6-76F5-45DE-8736-FCD92E185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903" y="1441021"/>
            <a:ext cx="7791797" cy="51883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400049" y="1473465"/>
            <a:ext cx="38538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1. У обведене червоне поле напишіть назву латинськими (англійськими) літерами.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	2. </a:t>
            </a:r>
            <a:r>
              <a:rPr lang="uk-UA" sz="2400" dirty="0">
                <a:solidFill>
                  <a:srgbClr val="000000"/>
                </a:solidFill>
              </a:rPr>
              <a:t>Оберіть «Місце знаходження вашого проекту» за допомогою наступного синього поля.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3. Оберіть «</a:t>
            </a:r>
            <a:r>
              <a:rPr lang="en-US" sz="2400" dirty="0">
                <a:solidFill>
                  <a:srgbClr val="000000"/>
                </a:solidFill>
              </a:rPr>
              <a:t>Next</a:t>
            </a:r>
            <a:r>
              <a:rPr lang="uk-UA" sz="2400" dirty="0">
                <a:solidFill>
                  <a:srgbClr val="000000"/>
                </a:solidFill>
              </a:rPr>
              <a:t>».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597821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у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Visual Studio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89149" y="1473465"/>
            <a:ext cx="38351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</a:t>
            </a:r>
            <a:r>
              <a:rPr lang="en-US" sz="2400" dirty="0">
                <a:solidFill>
                  <a:srgbClr val="000000"/>
                </a:solidFill>
              </a:rPr>
              <a:t>1. </a:t>
            </a:r>
            <a:r>
              <a:rPr lang="uk-UA" sz="2400" dirty="0">
                <a:solidFill>
                  <a:srgbClr val="000000"/>
                </a:solidFill>
              </a:rPr>
              <a:t>Натискайте </a:t>
            </a:r>
            <a:r>
              <a:rPr lang="en-US" sz="2400" dirty="0">
                <a:solidFill>
                  <a:srgbClr val="000000"/>
                </a:solidFill>
              </a:rPr>
              <a:t>Create.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endParaRPr lang="uk-UA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pPr algn="ctr"/>
            <a:r>
              <a:rPr lang="uk-UA" sz="2400" dirty="0">
                <a:solidFill>
                  <a:srgbClr val="000000"/>
                </a:solidFill>
              </a:rPr>
              <a:t>Вітаю вас у світі програмування!</a:t>
            </a:r>
            <a:endParaRPr lang="uk-UA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74AC15-E9B4-4A67-824E-DCA521CA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1342951"/>
            <a:ext cx="8073776" cy="537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7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у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Visual Studio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89149" y="1473465"/>
            <a:ext cx="38351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Саме таке вікно у вас повинно було відкритись.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D38976-E18F-4935-974F-14D3CD7D5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941321"/>
            <a:ext cx="831924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5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400" b="1" i="0" dirty="0">
                <a:solidFill>
                  <a:srgbClr val="000000"/>
                </a:solidFill>
                <a:effectLst/>
                <a:latin typeface="-apple-system"/>
              </a:rPr>
              <a:t>Виконання програми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00049" y="1404461"/>
            <a:ext cx="11325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Весь код програми мовою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міститься у файли з розширенням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За замовчуванням у проекті, який створюється у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(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а також при використанні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 CLI),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вже є один файл з кодом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-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файл 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Program.cs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з таким вмістом:</a:t>
            </a:r>
            <a:endParaRPr lang="uk-UA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E71CD-A0F1-4286-9CE7-6928E7CFDA91}"/>
              </a:ext>
            </a:extLst>
          </p:cNvPr>
          <p:cNvSpPr txBox="1"/>
          <p:nvPr/>
        </p:nvSpPr>
        <p:spPr>
          <a:xfrm>
            <a:off x="400049" y="5453539"/>
            <a:ext cx="11325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Саме код файлу 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Program.cs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виконується за умовчанням, якщо ми запустимо проект виконання. Але за потреби ми також можемо додавати інші файли з кодом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C#.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765D78-174C-4CCF-86FC-0357BE0D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007" y="2730024"/>
            <a:ext cx="3363985" cy="257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5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400" b="1" i="0" dirty="0">
                <a:solidFill>
                  <a:srgbClr val="000000"/>
                </a:solidFill>
                <a:effectLst/>
                <a:latin typeface="-apple-system"/>
              </a:rPr>
              <a:t>Виконання програми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00049" y="1404461"/>
            <a:ext cx="113252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Найголовніше, що треба знати – це те, що код треба писати в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Main,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бо він є точкою запуску компілятора.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D6B560-6F7D-4744-A9A7-9205282E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87" y="2235458"/>
            <a:ext cx="4243387" cy="322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26874E-EF6A-4899-8A12-67A7C137205B}"/>
              </a:ext>
            </a:extLst>
          </p:cNvPr>
          <p:cNvSpPr txBox="1"/>
          <p:nvPr/>
        </p:nvSpPr>
        <p:spPr>
          <a:xfrm>
            <a:off x="400049" y="3697066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Компілятор</a:t>
            </a:r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це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програма</a:t>
            </a:r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яка переписує код, написаний на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у машинний код або код мовою асемблера. 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k-UA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Цей процес дає змогу створювати файли, які можуть запускатися на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конкретному вашому комп’ютері. </a:t>
            </a:r>
            <a:b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Кожен раз, коли ви відкриваєте файл – він підлаштовуються під систему, де ви його запускаєте, що дозволяє запускати його на різних комп’ютерних системах.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Рукописні дані 1">
                <a:extLst>
                  <a:ext uri="{FF2B5EF4-FFF2-40B4-BE49-F238E27FC236}">
                    <a16:creationId xmlns:a16="http://schemas.microsoft.com/office/drawing/2014/main" id="{752B8927-E54E-4184-A385-ECF691DFD98B}"/>
                  </a:ext>
                </a:extLst>
              </p14:cNvPr>
              <p14:cNvContentPartPr/>
              <p14:nvPr/>
            </p14:nvContentPartPr>
            <p14:xfrm>
              <a:off x="7473270" y="3704910"/>
              <a:ext cx="2862360" cy="639000"/>
            </p14:xfrm>
          </p:contentPart>
        </mc:Choice>
        <mc:Fallback>
          <p:pic>
            <p:nvPicPr>
              <p:cNvPr id="2" name="Рукописні дані 1">
                <a:extLst>
                  <a:ext uri="{FF2B5EF4-FFF2-40B4-BE49-F238E27FC236}">
                    <a16:creationId xmlns:a16="http://schemas.microsoft.com/office/drawing/2014/main" id="{752B8927-E54E-4184-A385-ECF691DFD9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4270" y="3696270"/>
                <a:ext cx="2880000" cy="65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3" name="Рукописні дані 2">
                <a:extLst>
                  <a:ext uri="{FF2B5EF4-FFF2-40B4-BE49-F238E27FC236}">
                    <a16:creationId xmlns:a16="http://schemas.microsoft.com/office/drawing/2014/main" id="{C9CCF5AF-8A59-4020-9F70-5102AD785A71}"/>
                  </a:ext>
                </a:extLst>
              </p14:cNvPr>
              <p14:cNvContentPartPr/>
              <p14:nvPr/>
            </p14:nvContentPartPr>
            <p14:xfrm>
              <a:off x="7253310" y="3219270"/>
              <a:ext cx="1944000" cy="601560"/>
            </p14:xfrm>
          </p:contentPart>
        </mc:Choice>
        <mc:Fallback>
          <p:pic>
            <p:nvPicPr>
              <p:cNvPr id="3" name="Рукописні дані 2">
                <a:extLst>
                  <a:ext uri="{FF2B5EF4-FFF2-40B4-BE49-F238E27FC236}">
                    <a16:creationId xmlns:a16="http://schemas.microsoft.com/office/drawing/2014/main" id="{C9CCF5AF-8A59-4020-9F70-5102AD785A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44310" y="3210270"/>
                <a:ext cx="1961640" cy="61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347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66726" y="1404461"/>
            <a:ext cx="11258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</a:rPr>
              <a:t>Базовим будівельним блоком програми є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інструкції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 (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statement).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Інструкція представляє певну дію, наприклад, арифметичну операцію, виклик методу, оголошення змінної та присвоєння їй значення. Наприкінці кожної інструкції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ставиться крапка з комою (;). Цей знак вказує компілятор на кінець інструкції. Наприклад, у проекті консольної програми, який створюється за замовчуванням, є такий рядок:</a:t>
            </a:r>
            <a:endParaRPr lang="uk-UA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A83AC41-6E10-432B-8B6F-1EC83F13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2" y="3712785"/>
            <a:ext cx="1125854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E0D20C-4628-44FA-89DF-26E16003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6" y="3999012"/>
            <a:ext cx="112585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Цей рядок представляє виклик методу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який виводить на консоль рядок. У разі виклик методу є інструкцією і тому завершується точкою з комою.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3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4877F-3FD0-4D0E-A44B-2D03394683A0}"/>
              </a:ext>
            </a:extLst>
          </p:cNvPr>
          <p:cNvSpPr txBox="1"/>
          <p:nvPr/>
        </p:nvSpPr>
        <p:spPr>
          <a:xfrm>
            <a:off x="552450" y="1400086"/>
            <a:ext cx="11029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Набір інструкцій може поєднуватися в блок коду. Блок коду полягає у фігурних дужках, а інструкції поміщаються між відкриває і закриває фігурними дужками.</a:t>
            </a:r>
            <a:r>
              <a:rPr kumimoji="0" lang="en-US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змінимо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 код файлу 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+mn-lt"/>
              </a:rPr>
              <a:t>Program.cs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 на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наступний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A44CB-E75E-4BFD-8D9D-0D0600867CB3}"/>
              </a:ext>
            </a:extLst>
          </p:cNvPr>
          <p:cNvSpPr txBox="1"/>
          <p:nvPr/>
        </p:nvSpPr>
        <p:spPr>
          <a:xfrm>
            <a:off x="552450" y="5616485"/>
            <a:ext cx="11029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Тут блок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 І при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виконанні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цього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коду,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виведе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два рядки:</a:t>
            </a:r>
          </a:p>
          <a:p>
            <a:br>
              <a:rPr lang="ru-RU" sz="2400" b="0" i="0" dirty="0">
                <a:solidFill>
                  <a:srgbClr val="000000"/>
                </a:solidFill>
                <a:effectLst/>
              </a:rPr>
            </a:br>
            <a:endParaRPr lang="uk-UA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86EBE-A04C-4063-ACFA-2C4CEACF340E}"/>
              </a:ext>
            </a:extLst>
          </p:cNvPr>
          <p:cNvSpPr txBox="1"/>
          <p:nvPr/>
        </p:nvSpPr>
        <p:spPr>
          <a:xfrm>
            <a:off x="609600" y="2540188"/>
            <a:ext cx="6200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endParaRPr lang="uk-UA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Test2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Вітаю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 символу { </a:t>
            </a:r>
            <a:r>
              <a:rPr lang="ru-RU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починається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блок коду</a:t>
            </a:r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Вітаю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block!"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Гарної подорожі у світі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C#"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 символу } </a:t>
            </a:r>
            <a:r>
              <a:rPr lang="ru-RU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закінчується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блок коду</a:t>
            </a:r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uk-UA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570977-B102-4616-B051-D66C45C3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63" y="2612847"/>
            <a:ext cx="5640248" cy="30036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2A58176D-421B-483C-B7FD-66C54F0799D9}"/>
                  </a:ext>
                </a:extLst>
              </p14:cNvPr>
              <p14:cNvContentPartPr/>
              <p14:nvPr/>
            </p14:nvContentPartPr>
            <p14:xfrm>
              <a:off x="1771230" y="4028910"/>
              <a:ext cx="14760" cy="136080"/>
            </p14:xfrm>
          </p:contentPart>
        </mc:Choice>
        <mc:Fallback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2A58176D-421B-483C-B7FD-66C54F079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2230" y="4020270"/>
                <a:ext cx="3240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493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F84A6-84B2-4523-8B3C-E4A1FD89DF8D}"/>
              </a:ext>
            </a:extLst>
          </p:cNvPr>
          <p:cNvSpPr txBox="1"/>
          <p:nvPr/>
        </p:nvSpPr>
        <p:spPr>
          <a:xfrm>
            <a:off x="314324" y="1314361"/>
            <a:ext cx="103917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Тут блок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 І при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виконанні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цього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коду,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виведе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три рядки:</a:t>
            </a:r>
          </a:p>
          <a:p>
            <a:br>
              <a:rPr lang="ru-RU" sz="2400" b="0" i="0" dirty="0">
                <a:solidFill>
                  <a:srgbClr val="000000"/>
                </a:solidFill>
                <a:effectLst/>
              </a:rPr>
            </a:br>
            <a:endParaRPr lang="uk-UA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8C604A-2E7C-4132-A891-42D8A98DE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2" y="2068413"/>
            <a:ext cx="11801477" cy="923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В?таю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ru-RU" altLang="uk-UA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В?таю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у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св?т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C#</a:t>
            </a:r>
            <a:endParaRPr kumimoji="0" lang="uk-UA" altLang="uk-UA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520B8-A2FF-41EF-B85F-0616F0E9A292}"/>
              </a:ext>
            </a:extLst>
          </p:cNvPr>
          <p:cNvSpPr txBox="1"/>
          <p:nvPr/>
        </p:nvSpPr>
        <p:spPr>
          <a:xfrm>
            <a:off x="314323" y="3046302"/>
            <a:ext cx="11506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</a:rPr>
              <a:t>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цьому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блоці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які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виводять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на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певний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рядок.</a:t>
            </a:r>
            <a:endParaRPr lang="uk-UA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0049E-BCB7-4026-9809-48394C08A73A}"/>
              </a:ext>
            </a:extLst>
          </p:cNvPr>
          <p:cNvSpPr txBox="1"/>
          <p:nvPr/>
        </p:nvSpPr>
        <p:spPr>
          <a:xfrm>
            <a:off x="314323" y="364859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</a:rPr>
              <a:t>Одні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блоки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можуть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містити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інші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блоки:</a:t>
            </a:r>
            <a:endParaRPr lang="uk-UA" sz="24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9259BAB-CAF9-4B8D-8D53-88E4E2577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3" y="4066311"/>
            <a:ext cx="11353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"Перший блок"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{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"Другий блок"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Рукописні дані 1">
                <a:extLst>
                  <a:ext uri="{FF2B5EF4-FFF2-40B4-BE49-F238E27FC236}">
                    <a16:creationId xmlns:a16="http://schemas.microsoft.com/office/drawing/2014/main" id="{2FAA9C3D-E8AE-43B1-9074-8E26DC6F23F2}"/>
                  </a:ext>
                </a:extLst>
              </p14:cNvPr>
              <p14:cNvContentPartPr/>
              <p14:nvPr/>
            </p14:nvContentPartPr>
            <p14:xfrm>
              <a:off x="194430" y="1980900"/>
              <a:ext cx="4292640" cy="1267920"/>
            </p14:xfrm>
          </p:contentPart>
        </mc:Choice>
        <mc:Fallback xmlns="">
          <p:pic>
            <p:nvPicPr>
              <p:cNvPr id="2" name="Рукописні дані 1">
                <a:extLst>
                  <a:ext uri="{FF2B5EF4-FFF2-40B4-BE49-F238E27FC236}">
                    <a16:creationId xmlns:a16="http://schemas.microsoft.com/office/drawing/2014/main" id="{2FAA9C3D-E8AE-43B1-9074-8E26DC6F23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0" y="1972260"/>
                <a:ext cx="4310280" cy="128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64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 err="1">
                <a:solidFill>
                  <a:srgbClr val="000000"/>
                </a:solidFill>
                <a:latin typeface="-apple-system"/>
              </a:rPr>
              <a:t>Регістрозалежність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F84A6-84B2-4523-8B3C-E4A1FD89DF8D}"/>
              </a:ext>
            </a:extLst>
          </p:cNvPr>
          <p:cNvSpPr txBox="1"/>
          <p:nvPr/>
        </p:nvSpPr>
        <p:spPr>
          <a:xfrm>
            <a:off x="314325" y="1352461"/>
            <a:ext cx="103917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є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регістрозалежною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мовою. Це означає, що в залежності від регістру символів певні назви можуть представляти різні класи, методи, змінні і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т.д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</a:p>
          <a:p>
            <a:pPr algn="l"/>
            <a:endParaRPr lang="uk-UA" sz="24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Наприклад, для виведення на консоль використовується метод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-apple-system"/>
              </a:rPr>
              <a:t>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 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його ім'я починається саме з великої літери: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WriteLine". </a:t>
            </a:r>
            <a:endParaRPr lang="uk-UA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uk-UA" sz="24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Якщо ми замість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напишемо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то програма не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скомпілюється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, тому що даний метод обов'язково має називатися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 не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або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або якось інакше.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і дані 2">
                <a:extLst>
                  <a:ext uri="{FF2B5EF4-FFF2-40B4-BE49-F238E27FC236}">
                    <a16:creationId xmlns:a16="http://schemas.microsoft.com/office/drawing/2014/main" id="{A97AE79E-90D6-4241-AE5C-0CD25834FEC4}"/>
                  </a:ext>
                </a:extLst>
              </p14:cNvPr>
              <p14:cNvContentPartPr/>
              <p14:nvPr/>
            </p14:nvContentPartPr>
            <p14:xfrm>
              <a:off x="7829310" y="3876300"/>
              <a:ext cx="274680" cy="360"/>
            </p14:xfrm>
          </p:contentPart>
        </mc:Choice>
        <mc:Fallback xmlns="">
          <p:pic>
            <p:nvPicPr>
              <p:cNvPr id="3" name="Рукописні дані 2">
                <a:extLst>
                  <a:ext uri="{FF2B5EF4-FFF2-40B4-BE49-F238E27FC236}">
                    <a16:creationId xmlns:a16="http://schemas.microsoft.com/office/drawing/2014/main" id="{A97AE79E-90D6-4241-AE5C-0CD25834FE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20670" y="3867660"/>
                <a:ext cx="29232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6856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Коментарі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D0E1-41EE-4C19-BCD8-E02A9751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6" y="1254244"/>
            <a:ext cx="1173971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Важливою частиною програмного коду є коментарі.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Вони не є частиною програми, при компіляції вони ігноруються. Проте коментарі роблять код програми зрозумілішим, допомагаючи зрозуміти ті чи інші його частини.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є два типи коментарів: однорядковий та багаторядковий. Однорядковий коментар розміщується на одному рядку після подвійного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слішу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//. А багаторядковий коментар полягає між символами /* текст коментаря */. Він може розміщуватись на декількох рядках. Наприклад: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0C07F-5161-4193-8FA5-394BA0C0D7E1}"/>
              </a:ext>
            </a:extLst>
          </p:cNvPr>
          <p:cNvSpPr txBox="1"/>
          <p:nvPr/>
        </p:nvSpPr>
        <p:spPr>
          <a:xfrm>
            <a:off x="324464" y="4648363"/>
            <a:ext cx="115430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перша программа на C#,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яка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виводить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світі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</a:t>
            </a:r>
            <a:r>
              <a:rPr 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#”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algn="l" fontAlgn="base"/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");//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Виводимо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строку 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endParaRPr lang="en-US" sz="1400" b="0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fontAlgn="base"/>
            <a:r>
              <a:rPr 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uk-U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або можна перед якоюсь дією ставити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Виводимо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строку 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світі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C#"</a:t>
            </a:r>
          </a:p>
          <a:p>
            <a:pPr algn="l" fontAlgn="base"/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 подорожі у світі 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C#");</a:t>
            </a:r>
          </a:p>
        </p:txBody>
      </p:sp>
    </p:spTree>
    <p:extLst>
      <p:ext uri="{BB962C8B-B14F-4D97-AF65-F5344CB8AC3E}">
        <p14:creationId xmlns:p14="http://schemas.microsoft.com/office/powerpoint/2010/main" val="1315322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D0E1-41EE-4C19-BCD8-E02A9751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64" y="1322866"/>
            <a:ext cx="1154307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У кожному проекті проекту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є файл, який відповідає за загальну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конфгурацію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проекту. За промовчанням цей файл називається </a:t>
            </a:r>
            <a:r>
              <a:rPr lang="uk-UA" sz="2400" b="1" i="0" dirty="0" err="1">
                <a:solidFill>
                  <a:srgbClr val="000000"/>
                </a:solidFill>
                <a:effectLst/>
                <a:latin typeface="-apple-system"/>
              </a:rPr>
              <a:t>Назва_проекту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-apple-system"/>
              </a:rPr>
              <a:t>csproj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Отже, відкриємо цей файл. Для цього або подвійним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кліком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лівою кнопкою миші натиснемо на назву проекту, або натиснемо на назву проекту правою кнопкою миші і в меню виберемо пункт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-apple-system"/>
              </a:rPr>
              <a:t>Edit Project File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2BA122-F68D-4FAE-894A-00738CE33B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94" b="43869"/>
          <a:stretch/>
        </p:blipFill>
        <p:spPr>
          <a:xfrm>
            <a:off x="1199534" y="3429000"/>
            <a:ext cx="9792929" cy="2467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4AABD7-6E95-44E9-B43B-C2B09733B557}"/>
              </a:ext>
            </a:extLst>
          </p:cNvPr>
          <p:cNvSpPr txBox="1"/>
          <p:nvPr/>
        </p:nvSpPr>
        <p:spPr>
          <a:xfrm>
            <a:off x="314632" y="6046442"/>
            <a:ext cx="11543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Після цього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відкриє нам файл проекту, який виглядатиме, як малюнок вище.</a:t>
            </a:r>
          </a:p>
          <a:p>
            <a:br>
              <a:rPr lang="uk-UA" sz="2400" dirty="0"/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977701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836F9-83B8-43F6-97AF-016BEB6360E5}"/>
              </a:ext>
            </a:extLst>
          </p:cNvPr>
          <p:cNvSpPr txBox="1"/>
          <p:nvPr/>
        </p:nvSpPr>
        <p:spPr>
          <a:xfrm>
            <a:off x="352425" y="219851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Microsoft.NET.Sdk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PropertyGroup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OutputType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OutputType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TargetFramework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net8.0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TargetFramework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ImplicitUsings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ImplicitUsings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PropertyGroup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C7456-831B-4407-B968-6608FC0A0A9C}"/>
              </a:ext>
            </a:extLst>
          </p:cNvPr>
          <p:cNvSpPr txBox="1"/>
          <p:nvPr/>
        </p:nvSpPr>
        <p:spPr>
          <a:xfrm>
            <a:off x="352425" y="1367522"/>
            <a:ext cx="10877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Після цього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відкриє нам файл проекту, який виглядатиме</a:t>
            </a:r>
            <a:r>
              <a:rPr lang="uk-UA" sz="2400" dirty="0">
                <a:solidFill>
                  <a:srgbClr val="000000"/>
                </a:solidFill>
              </a:rPr>
              <a:t> наступним чином:</a:t>
            </a:r>
            <a:endParaRPr lang="uk-UA" sz="2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40595-5A50-41F7-9D59-56EAC5958EB5}"/>
              </a:ext>
            </a:extLst>
          </p:cNvPr>
          <p:cNvSpPr txBox="1"/>
          <p:nvPr/>
        </p:nvSpPr>
        <p:spPr>
          <a:xfrm>
            <a:off x="352425" y="5337840"/>
            <a:ext cx="11487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Цей файл у вигляді коду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xml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конфгурацію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проекту і може містити безліч елементів. 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88613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D9BF1-998E-46E4-9928-3804B3B221F7}"/>
              </a:ext>
            </a:extLst>
          </p:cNvPr>
          <p:cNvSpPr txBox="1"/>
          <p:nvPr/>
        </p:nvSpPr>
        <p:spPr>
          <a:xfrm>
            <a:off x="371475" y="1332369"/>
            <a:ext cx="115443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Зупинимось тільки на двох основних:</a:t>
            </a:r>
          </a:p>
          <a:p>
            <a:pPr algn="l"/>
            <a:endParaRPr lang="uk-UA" sz="24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OutputType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: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вихідний тип проекту. 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Це може бути додаток у вигляді файлу з розширенням 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exe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який запускається по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натисканню.І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також це може бути файл із розширенням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dll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–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деякий набір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функціональностей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, який використовується іншими проектами. 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За замовчуванням тут встановлено значення "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Exe",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що означає, що ми створюємо програму, що виконується.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uk-UA" sz="24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TargetFramework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: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версію фреймворку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що застосовується для компіляції. У разі це значення "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net6.0 " 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тобто застосовується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 6.0.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На ранніх етапах цей файл може не знадобитися, проте згодом може знадобитися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внести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деякі зміни в конфігурацію, і тоді може виникнути потреба у зверненні до цього файлу.</a:t>
            </a:r>
          </a:p>
        </p:txBody>
      </p:sp>
    </p:spTree>
    <p:extLst>
      <p:ext uri="{BB962C8B-B14F-4D97-AF65-F5344CB8AC3E}">
        <p14:creationId xmlns:p14="http://schemas.microsoft.com/office/powerpoint/2010/main" val="3082052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58A5E8-966A-4931-AB43-C03DEEE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18" y="1386682"/>
            <a:ext cx="11728961" cy="344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Для зберігання даних у програмі застосовуються </a:t>
            </a:r>
            <a:r>
              <a:rPr kumimoji="0" lang="uk-UA" altLang="uk-UA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змінні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. Змінна являє саме ванну область пам'яті, в якій зберігається значення певного типу. Змінна має тип, ім'я та значення.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600" dirty="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Тип визначає, що такого роду інформацію може зберігати змінна.</a:t>
            </a:r>
            <a:r>
              <a:rPr lang="uk-UA" altLang="uk-UA" sz="2600" dirty="0"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Перед використанням будь-яку змінну слід визначити. Синтаксис визначення змінної виглядає так: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D036D-538E-4EE3-88BE-53C04DCD696D}"/>
              </a:ext>
            </a:extLst>
          </p:cNvPr>
          <p:cNvSpPr txBox="1"/>
          <p:nvPr/>
        </p:nvSpPr>
        <p:spPr>
          <a:xfrm>
            <a:off x="545843" y="4901594"/>
            <a:ext cx="422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тип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ім’я_змінної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і дані 2">
                <a:extLst>
                  <a:ext uri="{FF2B5EF4-FFF2-40B4-BE49-F238E27FC236}">
                    <a16:creationId xmlns:a16="http://schemas.microsoft.com/office/drawing/2014/main" id="{87DC77E6-90D9-4EEB-AB62-85E35F9AEDD9}"/>
                  </a:ext>
                </a:extLst>
              </p14:cNvPr>
              <p14:cNvContentPartPr/>
              <p14:nvPr/>
            </p14:nvContentPartPr>
            <p14:xfrm>
              <a:off x="2543070" y="5048100"/>
              <a:ext cx="3960" cy="360"/>
            </p14:xfrm>
          </p:contentPart>
        </mc:Choice>
        <mc:Fallback xmlns="">
          <p:pic>
            <p:nvPicPr>
              <p:cNvPr id="3" name="Рукописні дані 2">
                <a:extLst>
                  <a:ext uri="{FF2B5EF4-FFF2-40B4-BE49-F238E27FC236}">
                    <a16:creationId xmlns:a16="http://schemas.microsoft.com/office/drawing/2014/main" id="{87DC77E6-90D9-4EEB-AB62-85E35F9AED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4430" y="5039460"/>
                <a:ext cx="21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B19F8B82-322F-4111-885A-408249683F13}"/>
                  </a:ext>
                </a:extLst>
              </p14:cNvPr>
              <p14:cNvContentPartPr/>
              <p14:nvPr/>
            </p14:nvContentPartPr>
            <p14:xfrm>
              <a:off x="2361990" y="5086260"/>
              <a:ext cx="360" cy="360"/>
            </p14:xfrm>
          </p:contentPart>
        </mc:Choice>
        <mc:Fallback xmlns=""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B19F8B82-322F-4111-885A-408249683F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2990" y="50776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76AB9C19-4167-486E-A861-A14B497C24C1}"/>
                  </a:ext>
                </a:extLst>
              </p14:cNvPr>
              <p14:cNvContentPartPr/>
              <p14:nvPr/>
            </p14:nvContentPartPr>
            <p14:xfrm>
              <a:off x="6819510" y="5971860"/>
              <a:ext cx="360" cy="360"/>
            </p14:xfrm>
          </p:contentPart>
        </mc:Choice>
        <mc:Fallback xmlns=""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76AB9C19-4167-486E-A861-A14B497C24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0870" y="596322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860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58A5E8-966A-4931-AB43-C03DEEE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19" y="1428452"/>
            <a:ext cx="11728961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Спочатку йде тип змінної, потім її ім'я. Як ім'я змінної може виступати будь-яка довільна назва, яка задовольняє наступним вимогам: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Ім'я може містити будь-які цифри, букви та символ підкреслення, при цьому перший символ в імені має бути буквою або символом підкреслення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В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імені не повинно бути знаків пунктуації та пропусків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Ім'я не може бути ключовим словом мови C#. Таких слів не так багато, і під час роботи у </a:t>
            </a:r>
            <a:r>
              <a:rPr kumimoji="0" lang="uk-UA" altLang="uk-UA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Visual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Studio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середовище розробки підсвічує ключові слова синім кольором.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Хоча ім'я зміною може бути будь-яким, але слід давати змінним описові імена, які будуть говорити про їхнє призначення.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3" name="Рукописні дані 42">
                <a:extLst>
                  <a:ext uri="{FF2B5EF4-FFF2-40B4-BE49-F238E27FC236}">
                    <a16:creationId xmlns:a16="http://schemas.microsoft.com/office/drawing/2014/main" id="{2A63C681-5361-4DD5-B6D7-604BDE7883BE}"/>
                  </a:ext>
                </a:extLst>
              </p14:cNvPr>
              <p14:cNvContentPartPr/>
              <p14:nvPr/>
            </p14:nvContentPartPr>
            <p14:xfrm>
              <a:off x="2819190" y="5647860"/>
              <a:ext cx="360" cy="30960"/>
            </p14:xfrm>
          </p:contentPart>
        </mc:Choice>
        <mc:Fallback>
          <p:pic>
            <p:nvPicPr>
              <p:cNvPr id="43" name="Рукописні дані 42">
                <a:extLst>
                  <a:ext uri="{FF2B5EF4-FFF2-40B4-BE49-F238E27FC236}">
                    <a16:creationId xmlns:a16="http://schemas.microsoft.com/office/drawing/2014/main" id="{2A63C681-5361-4DD5-B6D7-604BDE7883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0190" y="5638860"/>
                <a:ext cx="1800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446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A019DB6-1679-40F0-80B9-8196319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06" y="1759140"/>
            <a:ext cx="11454581" cy="384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400">
                <a:solidFill>
                  <a:srgbClr val="000000"/>
                </a:solidFill>
                <a:latin typeface="+mn-lt"/>
              </a:rPr>
              <a:t>     </a:t>
            </a: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Наприклад, визначимо найпростішу змінну: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В даному випадку визначено змінну name, яка має тип </a:t>
            </a:r>
            <a:r>
              <a:rPr kumimoji="0" lang="uk-UA" altLang="uk-UA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. тобто змінна представляє рядок. Оскільки визначення змінної є інструкцією, то після нього ставиться крапка з комою.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При цьому слід враховувати, що C# є регістрозалежною мовою, тому наступні два визначення змінних будуть представляти дві різні змінні: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37CF2-74BA-44EA-BCB1-C091622A80B3}"/>
              </a:ext>
            </a:extLst>
          </p:cNvPr>
          <p:cNvSpPr txBox="1"/>
          <p:nvPr/>
        </p:nvSpPr>
        <p:spPr>
          <a:xfrm>
            <a:off x="629265" y="20989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78679-E8CB-4826-B6B7-9D82AB546F9A}"/>
              </a:ext>
            </a:extLst>
          </p:cNvPr>
          <p:cNvSpPr txBox="1"/>
          <p:nvPr/>
        </p:nvSpPr>
        <p:spPr>
          <a:xfrm>
            <a:off x="629265" y="49538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Рукописні дані 30">
                <a:extLst>
                  <a:ext uri="{FF2B5EF4-FFF2-40B4-BE49-F238E27FC236}">
                    <a16:creationId xmlns:a16="http://schemas.microsoft.com/office/drawing/2014/main" id="{79B5EEC6-FBC0-4835-85F8-2DD917A0F7DF}"/>
                  </a:ext>
                </a:extLst>
              </p14:cNvPr>
              <p14:cNvContentPartPr/>
              <p14:nvPr/>
            </p14:nvContentPartPr>
            <p14:xfrm>
              <a:off x="4486350" y="5676660"/>
              <a:ext cx="360" cy="110880"/>
            </p14:xfrm>
          </p:contentPart>
        </mc:Choice>
        <mc:Fallback>
          <p:pic>
            <p:nvPicPr>
              <p:cNvPr id="31" name="Рукописні дані 30">
                <a:extLst>
                  <a:ext uri="{FF2B5EF4-FFF2-40B4-BE49-F238E27FC236}">
                    <a16:creationId xmlns:a16="http://schemas.microsoft.com/office/drawing/2014/main" id="{79B5EEC6-FBC0-4835-85F8-2DD917A0F7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7350" y="5667631"/>
                <a:ext cx="18000" cy="1285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3228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A019DB6-1679-40F0-80B9-8196319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93" y="847062"/>
            <a:ext cx="1145458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400" dirty="0">
                <a:solidFill>
                  <a:srgbClr val="000000"/>
                </a:solidFill>
                <a:latin typeface="+mn-lt"/>
              </a:rPr>
              <a:t>    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Після визначення змінної можна надати деяке значення: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 dirty="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Оскільки змінна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представляє тип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string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тобто рядок, ми можемо присвоїти їй рядок в подвійних лапках. Причому змінної можна присвоїти лише те значення, яке відповідає її типу.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4C1438-4121-4BFB-82B6-0B27FBF71C76}"/>
              </a:ext>
            </a:extLst>
          </p:cNvPr>
          <p:cNvSpPr txBox="1"/>
          <p:nvPr/>
        </p:nvSpPr>
        <p:spPr>
          <a:xfrm>
            <a:off x="432619" y="15920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"Tom";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4D97575-A4AF-4AF8-802D-2CBA810B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3798332"/>
            <a:ext cx="1043202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Надалі за допомогою імені змінної ми зможемо звертатися до тієї області пам'яті, де зберігається її значення.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Також ми можемо відразу при визначенні присвоїти змінної значення.</a:t>
            </a:r>
            <a:r>
              <a:rPr kumimoji="0" lang="en-US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Це називаєтьс</a:t>
            </a: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я </a:t>
            </a:r>
            <a:r>
              <a:rPr lang="uk-UA" altLang="uk-UA" sz="2600" b="1" dirty="0">
                <a:solidFill>
                  <a:srgbClr val="000000"/>
                </a:solidFill>
                <a:latin typeface="+mn-lt"/>
              </a:rPr>
              <a:t>ініціалізацією</a:t>
            </a: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5C427-EE6D-4785-853F-E75E61E9C733}"/>
              </a:ext>
            </a:extLst>
          </p:cNvPr>
          <p:cNvSpPr txBox="1"/>
          <p:nvPr/>
        </p:nvSpPr>
        <p:spPr>
          <a:xfrm>
            <a:off x="432619" y="3429000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F8971-252D-44E7-A849-AE2B3EE9C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5398144"/>
            <a:ext cx="28950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"Tom"; </a:t>
            </a:r>
          </a:p>
        </p:txBody>
      </p:sp>
    </p:spTree>
    <p:extLst>
      <p:ext uri="{BB962C8B-B14F-4D97-AF65-F5344CB8AC3E}">
        <p14:creationId xmlns:p14="http://schemas.microsoft.com/office/powerpoint/2010/main" val="2501974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2BFAB-B2EC-4918-BE71-506FC4A63B99}"/>
              </a:ext>
            </a:extLst>
          </p:cNvPr>
          <p:cNvSpPr txBox="1"/>
          <p:nvPr/>
        </p:nvSpPr>
        <p:spPr>
          <a:xfrm>
            <a:off x="838200" y="1393577"/>
            <a:ext cx="982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</a:rPr>
              <a:t>Відмінною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рисою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є те,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в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програмі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можна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багаторазово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міняти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</a:t>
            </a:r>
            <a:endParaRPr lang="uk-UA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1BB8B-18B4-47B1-A93B-62FD322EDFAD}"/>
              </a:ext>
            </a:extLst>
          </p:cNvPr>
          <p:cNvSpPr txBox="1"/>
          <p:nvPr/>
        </p:nvSpPr>
        <p:spPr>
          <a:xfrm>
            <a:off x="838200" y="3458600"/>
            <a:ext cx="6677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Консольний висновок програми:</a:t>
            </a:r>
            <a:endParaRPr lang="uk-UA" sz="2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FEE259D-3D26-41F6-AD89-BFD42C69C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73224"/>
            <a:ext cx="495300" cy="46166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uk-UA" sz="1200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Bob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D269-E32B-4F5E-B0CB-2D033E55AE5F}"/>
              </a:ext>
            </a:extLst>
          </p:cNvPr>
          <p:cNvSpPr txBox="1"/>
          <p:nvPr/>
        </p:nvSpPr>
        <p:spPr>
          <a:xfrm>
            <a:off x="838200" y="2205312"/>
            <a:ext cx="982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"Tom";  // 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створюємо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зміну і </a:t>
            </a:r>
            <a:r>
              <a:rPr lang="uk-UA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ініціалізуємо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її</a:t>
            </a:r>
          </a:p>
          <a:p>
            <a:pPr algn="l" fontAlgn="base"/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(name);    // Tom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"Bob";       // 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змінюємо значення</a:t>
            </a:r>
          </a:p>
          <a:p>
            <a:pPr algn="l" fontAlgn="base"/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(name);    // Bob</a:t>
            </a:r>
          </a:p>
        </p:txBody>
      </p:sp>
    </p:spTree>
    <p:extLst>
      <p:ext uri="{BB962C8B-B14F-4D97-AF65-F5344CB8AC3E}">
        <p14:creationId xmlns:p14="http://schemas.microsoft.com/office/powerpoint/2010/main" val="2547940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Константи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D0BD2-3751-4FF2-8F9D-EAB8B10D70EA}"/>
              </a:ext>
            </a:extLst>
          </p:cNvPr>
          <p:cNvSpPr txBox="1"/>
          <p:nvPr/>
        </p:nvSpPr>
        <p:spPr>
          <a:xfrm>
            <a:off x="657224" y="1317189"/>
            <a:ext cx="110394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Відмінною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особливістю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те,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їхнє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Але,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крім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того, у C# є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має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обов'язково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ініціалізована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і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після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змінено</a:t>
            </a:r>
            <a:endParaRPr lang="ru-RU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призначені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опису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таких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повинні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змінюватись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Для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ключове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слово </a:t>
            </a:r>
            <a:r>
              <a:rPr lang="ru-RU" sz="2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яке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вказується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перед типом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2BFB8E-B228-44CA-8F26-0B4599A9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290500"/>
            <a:ext cx="716862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определяем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константу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9D32AF-ACE8-4C6C-B4AF-FEEC6BD9A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4" y="3636734"/>
            <a:ext cx="11782425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Так, у даному випадку визначена константа NAME, яка зберігає рядок "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969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Константи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D0BD2-3751-4FF2-8F9D-EAB8B10D70EA}"/>
              </a:ext>
            </a:extLst>
          </p:cNvPr>
          <p:cNvSpPr txBox="1"/>
          <p:nvPr/>
        </p:nvSpPr>
        <p:spPr>
          <a:xfrm>
            <a:off x="383458" y="1290266"/>
            <a:ext cx="113464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використанні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пам'ятати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оголосити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лише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один раз і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момент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компіляції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мають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Так,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випадку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отримаємо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помилку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тому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надано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початкове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B5C56-C3CA-4056-A045-B1CF48755254}"/>
              </a:ext>
            </a:extLst>
          </p:cNvPr>
          <p:cNvSpPr txBox="1"/>
          <p:nvPr/>
        </p:nvSpPr>
        <p:spPr>
          <a:xfrm>
            <a:off x="383457" y="2819348"/>
            <a:ext cx="10087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NAME;  // !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Ошибка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- константа NAME не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ініціалізована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6657B-189B-4A83-A867-210C6442F005}"/>
              </a:ext>
            </a:extLst>
          </p:cNvPr>
          <p:cNvSpPr txBox="1"/>
          <p:nvPr/>
        </p:nvSpPr>
        <p:spPr>
          <a:xfrm>
            <a:off x="383457" y="3214933"/>
            <a:ext cx="9527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Крім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того,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D07E6EB-5348-4CE9-B8E4-BAD2AF78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82" y="3645821"/>
            <a:ext cx="88229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створюємо константу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Bob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!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Ошибка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у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констати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неможна змінити значення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526FE-8061-492D-8429-A47E2B22FF4D}"/>
              </a:ext>
            </a:extLst>
          </p:cNvPr>
          <p:cNvSpPr txBox="1"/>
          <p:nvPr/>
        </p:nvSpPr>
        <p:spPr>
          <a:xfrm>
            <a:off x="383457" y="4257452"/>
            <a:ext cx="11346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Таким чином,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нам треба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зберігати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деякі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але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визначаються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змінювати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визначаються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987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endParaRPr lang="uk-UA" dirty="0"/>
          </a:p>
        </p:txBody>
      </p:sp>
      <p:graphicFrame>
        <p:nvGraphicFramePr>
          <p:cNvPr id="3" name="Таблиця 3">
            <a:extLst>
              <a:ext uri="{FF2B5EF4-FFF2-40B4-BE49-F238E27FC236}">
                <a16:creationId xmlns:a16="http://schemas.microsoft.com/office/drawing/2014/main" id="{CE0A0BEB-3D85-470F-92C8-11302C810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87779"/>
              </p:ext>
            </p:extLst>
          </p:nvPr>
        </p:nvGraphicFramePr>
        <p:xfrm>
          <a:off x="1183481" y="1404547"/>
          <a:ext cx="1052195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83">
                  <a:extLst>
                    <a:ext uri="{9D8B030D-6E8A-4147-A177-3AD203B41FA5}">
                      <a16:colId xmlns:a16="http://schemas.microsoft.com/office/drawing/2014/main" val="3227524368"/>
                    </a:ext>
                  </a:extLst>
                </a:gridCol>
                <a:gridCol w="3756879">
                  <a:extLst>
                    <a:ext uri="{9D8B030D-6E8A-4147-A177-3AD203B41FA5}">
                      <a16:colId xmlns:a16="http://schemas.microsoft.com/office/drawing/2014/main" val="2355462124"/>
                    </a:ext>
                  </a:extLst>
                </a:gridCol>
                <a:gridCol w="2680494">
                  <a:extLst>
                    <a:ext uri="{9D8B030D-6E8A-4147-A177-3AD203B41FA5}">
                      <a16:colId xmlns:a16="http://schemas.microsoft.com/office/drawing/2014/main" val="1321175974"/>
                    </a:ext>
                  </a:extLst>
                </a:gridCol>
                <a:gridCol w="2680494">
                  <a:extLst>
                    <a:ext uri="{9D8B030D-6E8A-4147-A177-3AD203B41FA5}">
                      <a16:colId xmlns:a16="http://schemas.microsoft.com/office/drawing/2014/main" val="2376947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Ім’я типу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Граничні значення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Розмір займаної пам’яті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Приклад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46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r>
                        <a:rPr lang="uk-UA" dirty="0"/>
                        <a:t>, </a:t>
                      </a:r>
                      <a:r>
                        <a:rPr lang="en-US" dirty="0"/>
                        <a:t>false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2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symbol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‘f’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8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sbyte</a:t>
                      </a:r>
                      <a:r>
                        <a:rPr lang="en-US" dirty="0"/>
                        <a:t> 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-128 до 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2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byte 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0 до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91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-32768 до 32767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-256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5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ushort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0 до 65535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85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-2147483648 до 2147483647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-200000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8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uint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Число від 0 до 4294967295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9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06404"/>
                  </a:ext>
                </a:extLst>
              </a:tr>
            </a:tbl>
          </a:graphicData>
        </a:graphic>
      </p:graphicFrame>
      <p:pic>
        <p:nvPicPr>
          <p:cNvPr id="6146" name="Picture 2" descr="Тема 2. Основи мови програмування C#">
            <a:extLst>
              <a:ext uri="{FF2B5EF4-FFF2-40B4-BE49-F238E27FC236}">
                <a16:creationId xmlns:a16="http://schemas.microsoft.com/office/drawing/2014/main" id="{8A573EBF-5EFD-4DA3-8D0D-70DD6FFC3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481" y="1404547"/>
            <a:ext cx="9596438" cy="519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Рукописні дані 8">
                <a:extLst>
                  <a:ext uri="{FF2B5EF4-FFF2-40B4-BE49-F238E27FC236}">
                    <a16:creationId xmlns:a16="http://schemas.microsoft.com/office/drawing/2014/main" id="{94924670-4852-4717-84FF-BD7E47B5D55B}"/>
                  </a:ext>
                </a:extLst>
              </p14:cNvPr>
              <p14:cNvContentPartPr/>
              <p14:nvPr/>
            </p14:nvContentPartPr>
            <p14:xfrm>
              <a:off x="1304670" y="1767060"/>
              <a:ext cx="702720" cy="23760"/>
            </p14:xfrm>
          </p:contentPart>
        </mc:Choice>
        <mc:Fallback>
          <p:pic>
            <p:nvPicPr>
              <p:cNvPr id="9" name="Рукописні дані 8">
                <a:extLst>
                  <a:ext uri="{FF2B5EF4-FFF2-40B4-BE49-F238E27FC236}">
                    <a16:creationId xmlns:a16="http://schemas.microsoft.com/office/drawing/2014/main" id="{94924670-4852-4717-84FF-BD7E47B5D5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5030" y="1587420"/>
                <a:ext cx="8823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Рукописні дані 9">
                <a:extLst>
                  <a:ext uri="{FF2B5EF4-FFF2-40B4-BE49-F238E27FC236}">
                    <a16:creationId xmlns:a16="http://schemas.microsoft.com/office/drawing/2014/main" id="{81D88B05-3974-4877-954C-472273F39774}"/>
                  </a:ext>
                </a:extLst>
              </p14:cNvPr>
              <p14:cNvContentPartPr/>
              <p14:nvPr/>
            </p14:nvContentPartPr>
            <p14:xfrm>
              <a:off x="1447590" y="1999980"/>
              <a:ext cx="480240" cy="29160"/>
            </p14:xfrm>
          </p:contentPart>
        </mc:Choice>
        <mc:Fallback>
          <p:pic>
            <p:nvPicPr>
              <p:cNvPr id="10" name="Рукописні дані 9">
                <a:extLst>
                  <a:ext uri="{FF2B5EF4-FFF2-40B4-BE49-F238E27FC236}">
                    <a16:creationId xmlns:a16="http://schemas.microsoft.com/office/drawing/2014/main" id="{81D88B05-3974-4877-954C-472273F397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7590" y="1819980"/>
                <a:ext cx="6598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Рукописні дані 10">
                <a:extLst>
                  <a:ext uri="{FF2B5EF4-FFF2-40B4-BE49-F238E27FC236}">
                    <a16:creationId xmlns:a16="http://schemas.microsoft.com/office/drawing/2014/main" id="{516025FB-4AF9-4108-9927-66C6C8936F12}"/>
                  </a:ext>
                </a:extLst>
              </p14:cNvPr>
              <p14:cNvContentPartPr/>
              <p14:nvPr/>
            </p14:nvContentPartPr>
            <p14:xfrm>
              <a:off x="1266510" y="3381300"/>
              <a:ext cx="352080" cy="360"/>
            </p14:xfrm>
          </p:contentPart>
        </mc:Choice>
        <mc:Fallback>
          <p:pic>
            <p:nvPicPr>
              <p:cNvPr id="11" name="Рукописні дані 10">
                <a:extLst>
                  <a:ext uri="{FF2B5EF4-FFF2-40B4-BE49-F238E27FC236}">
                    <a16:creationId xmlns:a16="http://schemas.microsoft.com/office/drawing/2014/main" id="{516025FB-4AF9-4108-9927-66C6C8936F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76870" y="3201660"/>
                <a:ext cx="5317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Рукописні дані 11">
                <a:extLst>
                  <a:ext uri="{FF2B5EF4-FFF2-40B4-BE49-F238E27FC236}">
                    <a16:creationId xmlns:a16="http://schemas.microsoft.com/office/drawing/2014/main" id="{58E9A5CB-1B1B-4F3B-A25A-A7C3F5BA7925}"/>
                  </a:ext>
                </a:extLst>
              </p14:cNvPr>
              <p14:cNvContentPartPr/>
              <p14:nvPr/>
            </p14:nvContentPartPr>
            <p14:xfrm>
              <a:off x="1275870" y="4743540"/>
              <a:ext cx="559800" cy="18360"/>
            </p14:xfrm>
          </p:contentPart>
        </mc:Choice>
        <mc:Fallback>
          <p:pic>
            <p:nvPicPr>
              <p:cNvPr id="12" name="Рукописні дані 11">
                <a:extLst>
                  <a:ext uri="{FF2B5EF4-FFF2-40B4-BE49-F238E27FC236}">
                    <a16:creationId xmlns:a16="http://schemas.microsoft.com/office/drawing/2014/main" id="{58E9A5CB-1B1B-4F3B-A25A-A7C3F5BA79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6230" y="4563540"/>
                <a:ext cx="73944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Рукописні дані 12">
                <a:extLst>
                  <a:ext uri="{FF2B5EF4-FFF2-40B4-BE49-F238E27FC236}">
                    <a16:creationId xmlns:a16="http://schemas.microsoft.com/office/drawing/2014/main" id="{4DDB1A03-DDF5-4BDA-BD59-3DDF587FB99B}"/>
                  </a:ext>
                </a:extLst>
              </p14:cNvPr>
              <p14:cNvContentPartPr/>
              <p14:nvPr/>
            </p14:nvContentPartPr>
            <p14:xfrm>
              <a:off x="1228710" y="6123780"/>
              <a:ext cx="682560" cy="29520"/>
            </p14:xfrm>
          </p:contentPart>
        </mc:Choice>
        <mc:Fallback>
          <p:pic>
            <p:nvPicPr>
              <p:cNvPr id="13" name="Рукописні дані 12">
                <a:extLst>
                  <a:ext uri="{FF2B5EF4-FFF2-40B4-BE49-F238E27FC236}">
                    <a16:creationId xmlns:a16="http://schemas.microsoft.com/office/drawing/2014/main" id="{4DDB1A03-DDF5-4BDA-BD59-3DDF587FB9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9070" y="5944140"/>
                <a:ext cx="862200" cy="38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043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Приклади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34E2F-92E7-4D56-B356-6D4C496DD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44453"/>
            <a:ext cx="283891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isRunning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isStaying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4DC7A9-AE5F-4EFC-98C3-17936BD0E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182" y="1686798"/>
            <a:ext cx="24686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coinsGet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611C4-CEDA-4DF1-B49F-41E60B20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1933019"/>
            <a:ext cx="345607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-101;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sbyte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sizeOfInventory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EFED8-0D5C-451A-90B1-EFE28F7C4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73419"/>
            <a:ext cx="296234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enemyAlive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uk-UA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enemyKilled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960B159-447B-43C7-A5B1-2293531FC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182" y="2703989"/>
            <a:ext cx="19749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n1 = 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ushort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n2 = 102;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3610D4E-7730-4895-B77C-7C03503B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3107770"/>
            <a:ext cx="3694471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 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uk-UA" altLang="uk-UA" sz="1600" dirty="0">
                <a:solidFill>
                  <a:srgbClr val="008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двійкова форма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 =5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  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шістнадцядкова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форма c = 255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2BC0AE8B-E6D6-42E3-8319-C83DA4C6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3475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2B4FC5B-4676-4271-8294-0DFB8BD2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810" y="3913188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-10;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3468DF6-CC24-4128-B443-74173243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4651852"/>
            <a:ext cx="19749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0b101;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0xFF;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CFD15AB-64CE-4781-A901-5A8BBE7CE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7823"/>
            <a:ext cx="222176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'\x5A'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'\u0420'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F83D89E8-4880-49EF-9DEA-36ABA8842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810" y="5463382"/>
            <a:ext cx="283891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7B945E54-2EF0-4851-8F5F-E8505F945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901" y="5863885"/>
            <a:ext cx="296234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22;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3.14;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1" name="Групувати 30">
            <a:extLst>
              <a:ext uri="{FF2B5EF4-FFF2-40B4-BE49-F238E27FC236}">
                <a16:creationId xmlns:a16="http://schemas.microsoft.com/office/drawing/2014/main" id="{57123A5E-D999-4B28-A99D-22AF0B2E1D85}"/>
              </a:ext>
            </a:extLst>
          </p:cNvPr>
          <p:cNvGrpSpPr/>
          <p:nvPr/>
        </p:nvGrpSpPr>
        <p:grpSpPr>
          <a:xfrm>
            <a:off x="8534190" y="6066900"/>
            <a:ext cx="1326600" cy="552960"/>
            <a:chOff x="8534190" y="6066900"/>
            <a:chExt cx="132660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6" name="Рукописні дані 25">
                  <a:extLst>
                    <a:ext uri="{FF2B5EF4-FFF2-40B4-BE49-F238E27FC236}">
                      <a16:creationId xmlns:a16="http://schemas.microsoft.com/office/drawing/2014/main" id="{13040ABB-F7EE-4E35-8FF5-8513B31B937B}"/>
                    </a:ext>
                  </a:extLst>
                </p14:cNvPr>
                <p14:cNvContentPartPr/>
                <p14:nvPr/>
              </p14:nvContentPartPr>
              <p14:xfrm>
                <a:off x="8581710" y="6066900"/>
                <a:ext cx="698040" cy="19800"/>
              </p14:xfrm>
            </p:contentPart>
          </mc:Choice>
          <mc:Fallback xmlns="">
            <p:pic>
              <p:nvPicPr>
                <p:cNvPr id="26" name="Рукописні дані 25">
                  <a:extLst>
                    <a:ext uri="{FF2B5EF4-FFF2-40B4-BE49-F238E27FC236}">
                      <a16:creationId xmlns:a16="http://schemas.microsoft.com/office/drawing/2014/main" id="{13040ABB-F7EE-4E35-8FF5-8513B31B93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73070" y="6058260"/>
                  <a:ext cx="715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8" name="Рукописні дані 27">
                  <a:extLst>
                    <a:ext uri="{FF2B5EF4-FFF2-40B4-BE49-F238E27FC236}">
                      <a16:creationId xmlns:a16="http://schemas.microsoft.com/office/drawing/2014/main" id="{E98B973B-DAEB-484A-878D-5FDEA019FAF2}"/>
                    </a:ext>
                  </a:extLst>
                </p14:cNvPr>
                <p14:cNvContentPartPr/>
                <p14:nvPr/>
              </p14:nvContentPartPr>
              <p14:xfrm>
                <a:off x="8534190" y="6353100"/>
                <a:ext cx="1055880" cy="39240"/>
              </p14:xfrm>
            </p:contentPart>
          </mc:Choice>
          <mc:Fallback xmlns="">
            <p:pic>
              <p:nvPicPr>
                <p:cNvPr id="28" name="Рукописні дані 27">
                  <a:extLst>
                    <a:ext uri="{FF2B5EF4-FFF2-40B4-BE49-F238E27FC236}">
                      <a16:creationId xmlns:a16="http://schemas.microsoft.com/office/drawing/2014/main" id="{E98B973B-DAEB-484A-878D-5FDEA019F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25190" y="6344460"/>
                  <a:ext cx="1073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Рукописні дані 29">
                  <a:extLst>
                    <a:ext uri="{FF2B5EF4-FFF2-40B4-BE49-F238E27FC236}">
                      <a16:creationId xmlns:a16="http://schemas.microsoft.com/office/drawing/2014/main" id="{D90597DC-1AC7-4752-8735-EDAA86036C6D}"/>
                    </a:ext>
                  </a:extLst>
                </p14:cNvPr>
                <p14:cNvContentPartPr/>
                <p14:nvPr/>
              </p14:nvContentPartPr>
              <p14:xfrm>
                <a:off x="8638950" y="6523740"/>
                <a:ext cx="1221840" cy="96120"/>
              </p14:xfrm>
            </p:contentPart>
          </mc:Choice>
          <mc:Fallback xmlns="">
            <p:pic>
              <p:nvPicPr>
                <p:cNvPr id="30" name="Рукописні дані 29">
                  <a:extLst>
                    <a:ext uri="{FF2B5EF4-FFF2-40B4-BE49-F238E27FC236}">
                      <a16:creationId xmlns:a16="http://schemas.microsoft.com/office/drawing/2014/main" id="{D90597DC-1AC7-4752-8735-EDAA86036C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29950" y="6514740"/>
                  <a:ext cx="123948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Рукописні дані 31">
                <a:extLst>
                  <a:ext uri="{FF2B5EF4-FFF2-40B4-BE49-F238E27FC236}">
                    <a16:creationId xmlns:a16="http://schemas.microsoft.com/office/drawing/2014/main" id="{429869E7-92D5-4EE3-AC68-B8FF14B355BD}"/>
                  </a:ext>
                </a:extLst>
              </p14:cNvPr>
              <p14:cNvContentPartPr/>
              <p14:nvPr/>
            </p14:nvContentPartPr>
            <p14:xfrm>
              <a:off x="1942950" y="4144860"/>
              <a:ext cx="255960" cy="17640"/>
            </p14:xfrm>
          </p:contentPart>
        </mc:Choice>
        <mc:Fallback xmlns="">
          <p:pic>
            <p:nvPicPr>
              <p:cNvPr id="32" name="Рукописні дані 31">
                <a:extLst>
                  <a:ext uri="{FF2B5EF4-FFF2-40B4-BE49-F238E27FC236}">
                    <a16:creationId xmlns:a16="http://schemas.microsoft.com/office/drawing/2014/main" id="{429869E7-92D5-4EE3-AC68-B8FF14B355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33950" y="4136220"/>
                <a:ext cx="2736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Рукописні дані 32">
                <a:extLst>
                  <a:ext uri="{FF2B5EF4-FFF2-40B4-BE49-F238E27FC236}">
                    <a16:creationId xmlns:a16="http://schemas.microsoft.com/office/drawing/2014/main" id="{ABC05E81-182E-413E-9022-32FB03C96813}"/>
                  </a:ext>
                </a:extLst>
              </p14:cNvPr>
              <p14:cNvContentPartPr/>
              <p14:nvPr/>
            </p14:nvContentPartPr>
            <p14:xfrm>
              <a:off x="1933590" y="3828420"/>
              <a:ext cx="193320" cy="10800"/>
            </p14:xfrm>
          </p:contentPart>
        </mc:Choice>
        <mc:Fallback xmlns="">
          <p:pic>
            <p:nvPicPr>
              <p:cNvPr id="33" name="Рукописні дані 32">
                <a:extLst>
                  <a:ext uri="{FF2B5EF4-FFF2-40B4-BE49-F238E27FC236}">
                    <a16:creationId xmlns:a16="http://schemas.microsoft.com/office/drawing/2014/main" id="{ABC05E81-182E-413E-9022-32FB03C968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24590" y="3819780"/>
                <a:ext cx="2109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A394CD16-D1A3-43E7-AE8B-1556F0BE4964}"/>
                  </a:ext>
                </a:extLst>
              </p14:cNvPr>
              <p14:cNvContentPartPr/>
              <p14:nvPr/>
            </p14:nvContentPartPr>
            <p14:xfrm>
              <a:off x="2047710" y="3787020"/>
              <a:ext cx="60840" cy="396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A394CD16-D1A3-43E7-AE8B-1556F0BE49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58070" y="3607380"/>
                <a:ext cx="2404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id="{FAFCD63A-C256-4E54-87D7-EE8D409D51A9}"/>
                  </a:ext>
                </a:extLst>
              </p14:cNvPr>
              <p14:cNvContentPartPr/>
              <p14:nvPr/>
            </p14:nvContentPartPr>
            <p14:xfrm>
              <a:off x="1961670" y="3998700"/>
              <a:ext cx="126000" cy="30600"/>
            </p14:xfrm>
          </p:contentPart>
        </mc:Choice>
        <mc:Fallback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FAFCD63A-C256-4E54-87D7-EE8D409D51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2030" y="3818700"/>
                <a:ext cx="305640" cy="39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228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. </a:t>
            </a:r>
            <a:r>
              <a:rPr lang="uk-UA" b="1" dirty="0">
                <a:solidFill>
                  <a:srgbClr val="000000"/>
                </a:solidFill>
                <a:latin typeface="-apple-system"/>
              </a:rPr>
              <a:t>Приклади</a:t>
            </a:r>
            <a:endParaRPr lang="uk-U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829E7-DB50-43DE-9B5B-F246EFCE3E1F}"/>
              </a:ext>
            </a:extLst>
          </p:cNvPr>
          <p:cNvSpPr txBox="1"/>
          <p:nvPr/>
        </p:nvSpPr>
        <p:spPr>
          <a:xfrm>
            <a:off x="876300" y="22286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value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.MaxValue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number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.MinValue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numberf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.MaxValue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symbol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.MinValue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202BA-5B97-4692-B26C-EB38F4482194}"/>
              </a:ext>
            </a:extLst>
          </p:cNvPr>
          <p:cNvSpPr txBox="1"/>
          <p:nvPr/>
        </p:nvSpPr>
        <p:spPr>
          <a:xfrm>
            <a:off x="876300" y="3669890"/>
            <a:ext cx="10439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latin typeface="Arial" panose="020B0604020202020204" pitchFamily="34" charset="0"/>
                <a:cs typeface="Arial" panose="020B0604020202020204" pitchFamily="34" charset="0"/>
              </a:rPr>
              <a:t>За допомогою саме такого запису, як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.MinValue</a:t>
            </a:r>
            <a:r>
              <a:rPr lang="uk-UA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2400" dirty="0">
                <a:latin typeface="Arial" panose="020B0604020202020204" pitchFamily="34" charset="0"/>
                <a:cs typeface="Arial" panose="020B0604020202020204" pitchFamily="34" charset="0"/>
              </a:rPr>
              <a:t>можна дізнатись максимальне значення обраного типу даних, або мінімальне. 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3" name="Рукописні дані 2">
                <a:extLst>
                  <a:ext uri="{FF2B5EF4-FFF2-40B4-BE49-F238E27FC236}">
                    <a16:creationId xmlns:a16="http://schemas.microsoft.com/office/drawing/2014/main" id="{63DA6390-7551-4797-8932-DC76B981FECD}"/>
                  </a:ext>
                </a:extLst>
              </p14:cNvPr>
              <p14:cNvContentPartPr/>
              <p14:nvPr/>
            </p14:nvContentPartPr>
            <p14:xfrm>
              <a:off x="2866710" y="2498940"/>
              <a:ext cx="1782720" cy="82800"/>
            </p14:xfrm>
          </p:contentPart>
        </mc:Choice>
        <mc:Fallback>
          <p:pic>
            <p:nvPicPr>
              <p:cNvPr id="3" name="Рукописні дані 2">
                <a:extLst>
                  <a:ext uri="{FF2B5EF4-FFF2-40B4-BE49-F238E27FC236}">
                    <a16:creationId xmlns:a16="http://schemas.microsoft.com/office/drawing/2014/main" id="{63DA6390-7551-4797-8932-DC76B981FE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8070" y="2490300"/>
                <a:ext cx="1800360" cy="1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6080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Суфікси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E4122-7B62-4C93-A89B-BB5701DC264D}"/>
              </a:ext>
            </a:extLst>
          </p:cNvPr>
          <p:cNvSpPr txBox="1"/>
          <p:nvPr/>
        </p:nvSpPr>
        <p:spPr>
          <a:xfrm>
            <a:off x="619125" y="1309147"/>
            <a:ext cx="107869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присвоєння значень слід пам'ятати таку тонкість: все речові літерали (дрібні числа) розглядаються як значення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 щоб вказати, що дробове число представляє тип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або тип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необхідно до літералу додавати суфікс: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F/f 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M/m 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3E529D-EEAF-4E6D-B748-3BFCCE058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2813447"/>
            <a:ext cx="246862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3.14F;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30.6f;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1005.8M;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 = 334.8m;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D2FEA-E3FE-4276-83A9-B4A89B10C1B6}"/>
              </a:ext>
            </a:extLst>
          </p:cNvPr>
          <p:cNvSpPr txBox="1"/>
          <p:nvPr/>
        </p:nvSpPr>
        <p:spPr>
          <a:xfrm>
            <a:off x="619125" y="3979193"/>
            <a:ext cx="106512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Подібним чином всі цілі літерали розглядаються як значення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Щоб явним чином вказати, що цілий літерал представляє значення типу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треба використовувати 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U/u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-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L/l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 для типу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ulong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-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UL/ul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F882E93-6623-4136-8EFB-AD2ACE722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5548852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10U;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20L;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30UL;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01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Використання системних типів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1618C-F070-4A9D-BAE0-2240AAB1F02B}"/>
              </a:ext>
            </a:extLst>
          </p:cNvPr>
          <p:cNvSpPr txBox="1"/>
          <p:nvPr/>
        </p:nvSpPr>
        <p:spPr>
          <a:xfrm>
            <a:off x="952500" y="1728878"/>
            <a:ext cx="10763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Вище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перерахуванні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всіх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базових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типів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кожного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згадувався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системний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тип. Тому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вбудованого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типу по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суті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скороченим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позначенням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системного типу.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будуть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еквівалентні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за типом: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27611DE-2019-4C9D-8E43-36FB8D94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3429000"/>
            <a:ext cx="234519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System.Int32 b = 4;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55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Неявна типізація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63A764-B723-45BE-934E-622F626B3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24" y="1295111"/>
            <a:ext cx="1149514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Раніше ми явно вказували тип змінних, наприклад,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x;. І компілятор при запуску вже знав, що x зберігає ціле значення.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Проте ми можемо використати і модель неявної типізації: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EEF8B3-ADA1-4FB5-99D5-E40BF1C4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2156885"/>
            <a:ext cx="30072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60A1889-1A1C-46F9-9E7D-E911E765C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72" y="2715409"/>
            <a:ext cx="114040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Для неявної типізації замість назви типу даних використовується ключове слово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var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Потім вже за компіляції компілятор сам виводить тип даних з присвоєного значення. Так як за умовчанням всі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цілочисленні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значення розглядаються як значення типу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то в результаті змінна c матиме тип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Аналогічно змінній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helloнадається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рядок, тому ця змінна матиме тип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lang="uk-UA" altLang="uk-UA" sz="1600" dirty="0">
                <a:solidFill>
                  <a:srgbClr val="000000"/>
                </a:solidFill>
                <a:cs typeface="Arial" panose="020B0604020202020204" pitchFamily="34" charset="0"/>
              </a:rPr>
              <a:t>.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Ці змінні подібні до звичайних, проте вони мають деякі обмеження.</a:t>
            </a:r>
            <a:r>
              <a:rPr lang="uk-UA" altLang="uk-UA" sz="1600" dirty="0">
                <a:cs typeface="Arial" panose="020B0604020202020204" pitchFamily="34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По-перше, ми не можемо спочатку оголосити змінну, що неявно типізується, а потім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ініціалізувати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: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A32396-4423-420B-8524-D0AF25CC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4010404"/>
            <a:ext cx="1227250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працює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не прац</a:t>
            </a:r>
            <a:r>
              <a:rPr lang="uk-UA" altLang="uk-UA" sz="1400" dirty="0">
                <a:solidFill>
                  <a:srgbClr val="008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BB5A8D-0E53-4EAE-88E4-BFA68E55A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72" y="4595179"/>
            <a:ext cx="1203099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По-друге, ми не можемо вказати як значення змінної, що неявно типізується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30764A1-EA41-496C-9761-8EE645E01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5945823"/>
            <a:ext cx="21480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не працює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c=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F0E1F8-705D-4890-AB38-ECF152FC3916}"/>
              </a:ext>
            </a:extLst>
          </p:cNvPr>
          <p:cNvSpPr txBox="1"/>
          <p:nvPr/>
        </p:nvSpPr>
        <p:spPr>
          <a:xfrm>
            <a:off x="483624" y="5562889"/>
            <a:ext cx="12668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Оскільки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компілятор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зможе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вивести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99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виведення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F10D9-E04B-455C-A51A-7CBCBE93AEAA}"/>
              </a:ext>
            </a:extLst>
          </p:cNvPr>
          <p:cNvSpPr txBox="1"/>
          <p:nvPr/>
        </p:nvSpPr>
        <p:spPr>
          <a:xfrm>
            <a:off x="600074" y="1361986"/>
            <a:ext cx="112109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виведення інформації на консоль ми вже використовували вбудований метод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Тобто, якщо ми хочемо вивести деяку інформацію на консоль, нам треба передати її в метод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E866A3-FF50-4ECD-857C-B29280D5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2501363"/>
            <a:ext cx="11134724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Привіт світ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Вітаю у світі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C#!"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світ..."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(24.5);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EC2F8-0467-4C30-A758-88A6C19BC8BA}"/>
              </a:ext>
            </a:extLst>
          </p:cNvPr>
          <p:cNvSpPr txBox="1"/>
          <p:nvPr/>
        </p:nvSpPr>
        <p:spPr>
          <a:xfrm>
            <a:off x="600074" y="4044484"/>
            <a:ext cx="6396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Консольний висновок: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9344364-EE8F-42CF-87D7-3313B6DB5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4448579"/>
            <a:ext cx="1858201" cy="64633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Привіт світ! </a:t>
            </a:r>
            <a:b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 у світі C#! </a:t>
            </a:r>
            <a:b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світ... 24,5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і дані 2">
                <a:extLst>
                  <a:ext uri="{FF2B5EF4-FFF2-40B4-BE49-F238E27FC236}">
                    <a16:creationId xmlns:a16="http://schemas.microsoft.com/office/drawing/2014/main" id="{16C214DD-2EAE-4036-ABD5-DAE84E4B9085}"/>
                  </a:ext>
                </a:extLst>
              </p14:cNvPr>
              <p14:cNvContentPartPr/>
              <p14:nvPr/>
            </p14:nvContentPartPr>
            <p14:xfrm>
              <a:off x="542910" y="3028860"/>
              <a:ext cx="3753000" cy="124560"/>
            </p14:xfrm>
          </p:contentPart>
        </mc:Choice>
        <mc:Fallback xmlns="">
          <p:pic>
            <p:nvPicPr>
              <p:cNvPr id="3" name="Рукописні дані 2">
                <a:extLst>
                  <a:ext uri="{FF2B5EF4-FFF2-40B4-BE49-F238E27FC236}">
                    <a16:creationId xmlns:a16="http://schemas.microsoft.com/office/drawing/2014/main" id="{16C214DD-2EAE-4036-ABD5-DAE84E4B90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270" y="3020220"/>
                <a:ext cx="3770640" cy="1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358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виведення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3DAFF-F918-4003-8219-1D34F99AF69C}"/>
              </a:ext>
            </a:extLst>
          </p:cNvPr>
          <p:cNvSpPr txBox="1"/>
          <p:nvPr/>
        </p:nvSpPr>
        <p:spPr>
          <a:xfrm>
            <a:off x="561974" y="1403832"/>
            <a:ext cx="11115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Нерідко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виникає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необхідність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вивести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консоль в одному рядку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відразу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цьому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випадку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прийом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називається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інтерполяцією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47E3FE-5DC7-4C22-BB72-C5420F2CE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2543424"/>
            <a:ext cx="802303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EC11AB-BCF4-483A-8FBF-1A81ED35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4" y="3621732"/>
            <a:ext cx="111156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Для вбудовування окремих значень у рядок, що виводиться на консоль, використовуються фігурні дужки, в які полягає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вбудовуване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значення {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}.{4 + 7}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При виведенні на консоль замість поміщених у фігурні дужки виразів виводитимуться їх значення: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68A21ED-258C-4B90-8BAE-441CA679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4" y="5654147"/>
            <a:ext cx="1229824" cy="64633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Вік: 34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Зріст: 1,7м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209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виведення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239EB-A06D-444B-BD06-A6F97A6A62C2}"/>
              </a:ext>
            </a:extLst>
          </p:cNvPr>
          <p:cNvSpPr txBox="1"/>
          <p:nvPr/>
        </p:nvSpPr>
        <p:spPr>
          <a:xfrm>
            <a:off x="546611" y="1335793"/>
            <a:ext cx="8784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Є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інший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спосіб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виведення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відразу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BDD27A0-D394-4CB0-9874-2A367448C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13" y="2152573"/>
            <a:ext cx="901048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Ім’я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{0}  Вік: {2}  Зріст: {1}м"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109EE4E-E73F-419C-81AA-1EE7ADF4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611" y="3061852"/>
            <a:ext cx="111636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Тут бачимо, що рядок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Console.WriteLineмістить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деякі числа у фігурних дужках: {0}, {1}, {2}. Це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плейсхолдери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замість яких під час виведення рядка на консоль будуть підставлятися деякі значення. Значення, що підставляються, вказуються після рядка через кому.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При цьому важливий порядок подібних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плейсхолдерів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Наприклад, в даному випадку після рядка першої вказана змінна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потім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heage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і потім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age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4B56E-5DB4-475A-9536-3592C87876A2}"/>
              </a:ext>
            </a:extLst>
          </p:cNvPr>
          <p:cNvSpPr txBox="1"/>
          <p:nvPr/>
        </p:nvSpPr>
        <p:spPr>
          <a:xfrm>
            <a:off x="644013" y="5362984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"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Ім’я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{0}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Вік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{2}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Зріст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{1}м"</a:t>
            </a:r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522BD-AA2B-4C02-B131-5E1908F545BD}"/>
              </a:ext>
            </a:extLst>
          </p:cNvPr>
          <p:cNvSpPr txBox="1"/>
          <p:nvPr/>
        </p:nvSpPr>
        <p:spPr>
          <a:xfrm>
            <a:off x="1088001" y="5814111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буде замінено на</a:t>
            </a:r>
            <a:endParaRPr lang="uk-U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615A3-618C-459E-BE0A-72ADFDB13C2F}"/>
              </a:ext>
            </a:extLst>
          </p:cNvPr>
          <p:cNvSpPr txBox="1"/>
          <p:nvPr/>
        </p:nvSpPr>
        <p:spPr>
          <a:xfrm>
            <a:off x="644013" y="6265238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"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Ім’я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Tom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Вік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34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Зріст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1,7м"</a:t>
            </a:r>
            <a:endParaRPr lang="uk-U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і дані 2">
                <a:extLst>
                  <a:ext uri="{FF2B5EF4-FFF2-40B4-BE49-F238E27FC236}">
                    <a16:creationId xmlns:a16="http://schemas.microsoft.com/office/drawing/2014/main" id="{9A631AB7-8DEC-471C-9850-AA1584DA1E81}"/>
                  </a:ext>
                </a:extLst>
              </p14:cNvPr>
              <p14:cNvContentPartPr/>
              <p14:nvPr/>
            </p14:nvContentPartPr>
            <p14:xfrm>
              <a:off x="3981270" y="961740"/>
              <a:ext cx="360" cy="360"/>
            </p14:xfrm>
          </p:contentPart>
        </mc:Choice>
        <mc:Fallback xmlns="">
          <p:pic>
            <p:nvPicPr>
              <p:cNvPr id="3" name="Рукописні дані 2">
                <a:extLst>
                  <a:ext uri="{FF2B5EF4-FFF2-40B4-BE49-F238E27FC236}">
                    <a16:creationId xmlns:a16="http://schemas.microsoft.com/office/drawing/2014/main" id="{9A631AB7-8DEC-471C-9850-AA1584DA1E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2630" y="9527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626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виведення.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-apple-system"/>
              </a:rPr>
              <a:t>Console.Write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A5534C-4D99-4059-B97A-98C2EA6F1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90097"/>
            <a:ext cx="11353800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Крім того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()можна використовувати метод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він працює так само за тим винятком, що не додає перехід на наступний рядок, тобто наступний консольний висновок буде виводитися на тому ж рядку.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085122-4720-42F9-9446-A3F491AB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993924"/>
            <a:ext cx="840935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965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FE07D-F3A4-4729-8779-151FA912BDBD}"/>
              </a:ext>
            </a:extLst>
          </p:cNvPr>
          <p:cNvSpPr txBox="1"/>
          <p:nvPr/>
        </p:nvSpPr>
        <p:spPr>
          <a:xfrm>
            <a:off x="570271" y="1357783"/>
            <a:ext cx="1105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Окрім виведення інформації на консоль, ми можемо отримувати інформацію з консолі. Для цього призначений метод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Console.ReadLine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Він дозволяє отримати введений рядок.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4E7EC6-5BF5-4870-A85C-67EB02241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2607442"/>
            <a:ext cx="44435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Console.Write(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"Введите свое имя: "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name = Console.ReadLine();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Console.WriteLine($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"Привет {name}"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A2107-CDCE-43C2-A3E4-82D1340D50D9}"/>
              </a:ext>
            </a:extLst>
          </p:cNvPr>
          <p:cNvSpPr txBox="1"/>
          <p:nvPr/>
        </p:nvSpPr>
        <p:spPr>
          <a:xfrm>
            <a:off x="570271" y="3462725"/>
            <a:ext cx="11051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разі все, що вводить користувач, з допомогою методу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Console.ReadLine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передається змінну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F4205-B2ED-4DE8-87CB-DF5CCCECB85D}"/>
              </a:ext>
            </a:extLst>
          </p:cNvPr>
          <p:cNvSpPr txBox="1"/>
          <p:nvPr/>
        </p:nvSpPr>
        <p:spPr>
          <a:xfrm>
            <a:off x="570271" y="4343054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роботи програми: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AF97A02-7085-4B93-8D46-F09B449A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4854051"/>
            <a:ext cx="2323072" cy="46166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своє 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Привіт Том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74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B954DB-6839-44C0-AD13-03D4958FF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05819"/>
            <a:ext cx="11353800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Особливістю методу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Console.ReadLine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()є те, що він може вважати інформацію з консолі лише у вигляді рядка. Крім того, можлива ситуація, коли для методу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Console.ReadLine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не виявиться доступних для зчитування рядків, тобто коли йому нема чого зчитувати, він повертає значення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тобто, грубо кажучи, фактично відсутність значення. І щоб відобразити цю ситуацію ми визначаємо змінну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в яку отримуємо введення з консолі, як змінну типу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?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. Тут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stringвказує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що змінна може зберігати значення типу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тобто рядки. А знак питання 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?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показує, що змінна також може зберігати значення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тобто насправді не мати ніякого значення. Далі ми детальніше розберемо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nullі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як з ним працювати.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0733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5A147-A935-4BC4-BE9A-A3E6CCF95EB6}"/>
              </a:ext>
            </a:extLst>
          </p:cNvPr>
          <p:cNvSpPr txBox="1"/>
          <p:nvPr/>
        </p:nvSpPr>
        <p:spPr>
          <a:xfrm>
            <a:off x="676275" y="1563588"/>
            <a:ext cx="108585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Однак, може виникнути питання, як нам бути, якщо, припустимо, ми хочемо ввести вік у змінну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або іншу інформацію у змінні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чи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decimal?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 замовчуванням платформа 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надає низку методів, які дозволяють конвертувати різні значення до типів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int, double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т.д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Деякі з цих методів: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Convert.ToInt32()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Convert.ToDouble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Convert.ToDecimal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decimal)</a:t>
            </a:r>
          </a:p>
        </p:txBody>
      </p:sp>
    </p:spTree>
    <p:extLst>
      <p:ext uri="{BB962C8B-B14F-4D97-AF65-F5344CB8AC3E}">
        <p14:creationId xmlns:p14="http://schemas.microsoft.com/office/powerpoint/2010/main" val="2615656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034F4-8579-4FCD-9CAE-A52D54807202}"/>
              </a:ext>
            </a:extLst>
          </p:cNvPr>
          <p:cNvSpPr txBox="1"/>
          <p:nvPr/>
        </p:nvSpPr>
        <p:spPr>
          <a:xfrm>
            <a:off x="638175" y="13213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введення значень: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2D9FC8-2A50-41F2-86A2-7049FED69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809751"/>
            <a:ext cx="125730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м’я: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вік: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зріст: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Convert.ToDouble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розмір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зп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Convert.ToDecimal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  Зарплата: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}$"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1F6FB00D-309A-4F85-875A-74B9EA7B8E10}"/>
                  </a:ext>
                </a:extLst>
              </p14:cNvPr>
              <p14:cNvContentPartPr/>
              <p14:nvPr/>
            </p14:nvContentPartPr>
            <p14:xfrm>
              <a:off x="-221070" y="1075500"/>
              <a:ext cx="11900160" cy="454644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1F6FB00D-309A-4F85-875A-74B9EA7B8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29710" y="1066860"/>
                <a:ext cx="11917800" cy="45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9522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21ADB-400C-4C89-92CE-8022FA205CBE}"/>
              </a:ext>
            </a:extLst>
          </p:cNvPr>
          <p:cNvSpPr txBox="1"/>
          <p:nvPr/>
        </p:nvSpPr>
        <p:spPr>
          <a:xfrm>
            <a:off x="838200" y="1518880"/>
            <a:ext cx="1051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введенні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важливо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враховувати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поточну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операційну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систему. В одних культурах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цілою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 дробовою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частиною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точка (США,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Великобританія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...), в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інших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кома (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Україна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Німеччина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поточна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ОС -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українською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 треба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вводити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дробові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числа з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коми.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локалізація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англомовна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значить,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цілої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дробової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час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введення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буде точка.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FD2272-8120-462F-BCBC-083A4DA0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4473128"/>
            <a:ext cx="2601994" cy="15696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вік: 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зростання: 1,75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розмір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зп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300,67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Вік: 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Зріст: 1,75м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Зарплата: 300,67$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857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1. 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706E0-ECA0-49BF-9A7C-1F9764DA14A0}"/>
              </a:ext>
            </a:extLst>
          </p:cNvPr>
          <p:cNvSpPr txBox="1"/>
          <p:nvPr/>
        </p:nvSpPr>
        <p:spPr>
          <a:xfrm>
            <a:off x="676275" y="1452860"/>
            <a:ext cx="10839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Умова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Напиши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яка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запитує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користувача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радіус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кола (тип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), 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потім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обчислює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площу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довжину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кола.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440F2-C90E-489F-B311-29A816D55D18}"/>
              </a:ext>
            </a:extLst>
          </p:cNvPr>
          <p:cNvSpPr txBox="1"/>
          <p:nvPr/>
        </p:nvSpPr>
        <p:spPr>
          <a:xfrm>
            <a:off x="676275" y="3136622"/>
            <a:ext cx="8258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Введи радіус: "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radius = </a:t>
            </a:r>
            <a:r>
              <a:rPr lang="fr-FR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.Parse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.ReadLine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Формули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для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площі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довжини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кола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area =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* radius * radius;</a:t>
            </a:r>
          </a:p>
          <a:p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circumference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2 * </a:t>
            </a:r>
            <a:r>
              <a:rPr lang="fr-FR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.PI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* radius;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Площа кола: 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area: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Довжина кола: 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circumference: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C9DF7-D112-4123-A5C1-7F6AEA32FE0D}"/>
              </a:ext>
            </a:extLst>
          </p:cNvPr>
          <p:cNvSpPr txBox="1"/>
          <p:nvPr/>
        </p:nvSpPr>
        <p:spPr>
          <a:xfrm>
            <a:off x="9601200" y="5721945"/>
            <a:ext cx="2400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Введи радіус: 2.5</a:t>
            </a:r>
          </a:p>
          <a:p>
            <a:r>
              <a:rPr lang="uk-UA" dirty="0"/>
              <a:t>Площа кола: 19.63</a:t>
            </a:r>
          </a:p>
          <a:p>
            <a:r>
              <a:rPr lang="uk-UA" dirty="0"/>
              <a:t>Довжина кола: 15.71</a:t>
            </a:r>
          </a:p>
        </p:txBody>
      </p:sp>
    </p:spTree>
    <p:extLst>
      <p:ext uri="{BB962C8B-B14F-4D97-AF65-F5344CB8AC3E}">
        <p14:creationId xmlns:p14="http://schemas.microsoft.com/office/powerpoint/2010/main" val="756867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2. 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706E0-ECA0-49BF-9A7C-1F9764DA14A0}"/>
              </a:ext>
            </a:extLst>
          </p:cNvPr>
          <p:cNvSpPr txBox="1"/>
          <p:nvPr/>
        </p:nvSpPr>
        <p:spPr>
          <a:xfrm>
            <a:off x="676275" y="1452860"/>
            <a:ext cx="10839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Умова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Напиши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яка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запитує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користувача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ціле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число і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виводить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наступне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попереднє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440F2-C90E-489F-B311-29A816D55D18}"/>
              </a:ext>
            </a:extLst>
          </p:cNvPr>
          <p:cNvSpPr txBox="1"/>
          <p:nvPr/>
        </p:nvSpPr>
        <p:spPr>
          <a:xfrm>
            <a:off x="676275" y="3136622"/>
            <a:ext cx="8258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Введи число: "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number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.Parse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.ReadLine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Обчислимо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попереднє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наступне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значення</a:t>
            </a:r>
            <a:endParaRPr lang="ru-RU" sz="18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previous = number - 1;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next = number + 1;</a:t>
            </a: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Попереднє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число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{previous}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uk-UA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Наступне число: </a:t>
            </a:r>
            <a:r>
              <a:rPr lang="uk-UA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C9DF7-D112-4123-A5C1-7F6AEA32FE0D}"/>
              </a:ext>
            </a:extLst>
          </p:cNvPr>
          <p:cNvSpPr txBox="1"/>
          <p:nvPr/>
        </p:nvSpPr>
        <p:spPr>
          <a:xfrm>
            <a:off x="9601200" y="5721945"/>
            <a:ext cx="2400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Введи число: 10</a:t>
            </a:r>
          </a:p>
          <a:p>
            <a:r>
              <a:rPr lang="ru-RU" dirty="0" err="1"/>
              <a:t>Попереднє</a:t>
            </a:r>
            <a:r>
              <a:rPr lang="ru-RU" dirty="0"/>
              <a:t> число: 9</a:t>
            </a:r>
          </a:p>
          <a:p>
            <a:r>
              <a:rPr lang="ru-RU" dirty="0" err="1"/>
              <a:t>Наступне</a:t>
            </a:r>
            <a:r>
              <a:rPr lang="ru-RU" dirty="0"/>
              <a:t> число: 11</a:t>
            </a:r>
          </a:p>
        </p:txBody>
      </p:sp>
    </p:spTree>
    <p:extLst>
      <p:ext uri="{BB962C8B-B14F-4D97-AF65-F5344CB8AC3E}">
        <p14:creationId xmlns:p14="http://schemas.microsoft.com/office/powerpoint/2010/main" val="3682700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10054</TotalTime>
  <Words>3717</Words>
  <Application>Microsoft Office PowerPoint</Application>
  <PresentationFormat>Широкий екран</PresentationFormat>
  <Paragraphs>381</Paragraphs>
  <Slides>41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41</vt:i4>
      </vt:variant>
    </vt:vector>
  </HeadingPairs>
  <TitlesOfParts>
    <vt:vector size="52" baseType="lpstr">
      <vt:lpstr>-apple-system</vt:lpstr>
      <vt:lpstr>Aptos</vt:lpstr>
      <vt:lpstr>Arial</vt:lpstr>
      <vt:lpstr>Calibri</vt:lpstr>
      <vt:lpstr>Calibri Light</vt:lpstr>
      <vt:lpstr>Cascadia Code</vt:lpstr>
      <vt:lpstr>Cascadia Mono</vt:lpstr>
      <vt:lpstr>Comfortaa</vt:lpstr>
      <vt:lpstr>Courier New</vt:lpstr>
      <vt:lpstr>SFMono-Regular</vt:lpstr>
      <vt:lpstr>Тема Office</vt:lpstr>
      <vt:lpstr>Презентація PowerPoint</vt:lpstr>
      <vt:lpstr>Створення проекту у Visual Studio</vt:lpstr>
      <vt:lpstr>Як додати бібліотеки? Install more tools…</vt:lpstr>
      <vt:lpstr>Як додати бібліотеки? Install more tools… </vt:lpstr>
      <vt:lpstr>Створення проекту у Visual Studio</vt:lpstr>
      <vt:lpstr>Створення проекту у Visual Studio</vt:lpstr>
      <vt:lpstr>Створення проекту у Visual Studio</vt:lpstr>
      <vt:lpstr>Виконання програми</vt:lpstr>
      <vt:lpstr>Виконання програми</vt:lpstr>
      <vt:lpstr>Інструкції</vt:lpstr>
      <vt:lpstr>Інструкції</vt:lpstr>
      <vt:lpstr>Інструкції</vt:lpstr>
      <vt:lpstr>Регістрозалежність</vt:lpstr>
      <vt:lpstr>Коментарі</vt:lpstr>
      <vt:lpstr>Файл проекту</vt:lpstr>
      <vt:lpstr>Файл проекту</vt:lpstr>
      <vt:lpstr>Файл проекту</vt:lpstr>
      <vt:lpstr>Зміні</vt:lpstr>
      <vt:lpstr>Зміні</vt:lpstr>
      <vt:lpstr>Зміні</vt:lpstr>
      <vt:lpstr>Зміні</vt:lpstr>
      <vt:lpstr>Зміні</vt:lpstr>
      <vt:lpstr>Константи</vt:lpstr>
      <vt:lpstr>Константи</vt:lpstr>
      <vt:lpstr>Типи даних</vt:lpstr>
      <vt:lpstr>Типи даних. Приклади</vt:lpstr>
      <vt:lpstr>Типи даних. Приклади</vt:lpstr>
      <vt:lpstr>Типи даних. Суфікси</vt:lpstr>
      <vt:lpstr>Типи даних. Використання системних типів</vt:lpstr>
      <vt:lpstr>Типи даних. Неявна типізація</vt:lpstr>
      <vt:lpstr>Консольне виведення</vt:lpstr>
      <vt:lpstr>Консольне виведення</vt:lpstr>
      <vt:lpstr>Консольне виведення</vt:lpstr>
      <vt:lpstr>Консольне виведення. Console.Write</vt:lpstr>
      <vt:lpstr>Консольне введення</vt:lpstr>
      <vt:lpstr>Консольне введення</vt:lpstr>
      <vt:lpstr>Консольне введення</vt:lpstr>
      <vt:lpstr>Консольне введення</vt:lpstr>
      <vt:lpstr>Консольне введення</vt:lpstr>
      <vt:lpstr>Приклад 1. </vt:lpstr>
      <vt:lpstr>Приклад 2.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77</cp:revision>
  <dcterms:created xsi:type="dcterms:W3CDTF">2024-06-01T09:56:10Z</dcterms:created>
  <dcterms:modified xsi:type="dcterms:W3CDTF">2025-10-29T15:46:18Z</dcterms:modified>
</cp:coreProperties>
</file>