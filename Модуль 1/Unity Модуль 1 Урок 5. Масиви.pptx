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85" r:id="rId16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із теми 1 –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Стиль із теми 1 –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0" d="100"/>
          <a:sy n="80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1528B-9B6F-4248-9BF4-341C8496BA36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0F577-1FC1-4001-B2C2-9EAF79F39BE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8069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3995b9e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3995b9e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3995b9eaa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3</a:t>
            </a:fld>
            <a:endParaRPr/>
          </a:p>
        </p:txBody>
      </p:sp>
      <p:sp>
        <p:nvSpPr>
          <p:cNvPr id="73" name="Google Shape;73;g363995b9ea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g363995b9eaa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3995b9eaa_0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63995b9eaa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3995b9eaa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3995b9eaa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3995b9eaa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3995b9eaa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3995b9eaa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3995b9eaa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3995b9eaa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3995b9eaa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3995b9eaa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3995b9eaa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3995b9eaa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3995b9eaa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3995b9eaa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3995b9eaa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3995b9ea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63995b9ea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3995b9eaa_1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63995b9eaa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31457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40F577-1FC1-4001-B2C2-9EAF79F39BE2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669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1F6D5-EE77-F05F-8B36-EE698B21D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3D416F-B419-0893-CF2A-60046F97A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3563C5-2ABA-6BE0-F79B-E9DB4BDEE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A4729E-F6C7-6BDF-624A-6D985B5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99CCF-CF8A-37C1-30D7-3A4F12E7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153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A7231-C686-D8CF-FA17-0D8627AB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66263C-782F-0D49-1AA1-2BD5EF1B6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FAE1C-22C9-0EC4-2ED7-9EEA6D42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4513AF-D9EC-2C9B-46F0-FBC11B99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56EC0D-BDCD-2993-E5B6-0E8FE244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84143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93858-E4D8-D43B-ACB3-0C9AC6B4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040E3-EA86-307F-07E0-BC7B3D6F1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AE8B8-12AD-19AA-1620-86D64CDAC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D6F026-C83D-F5A0-ED0E-2732983D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4D0E8-1B97-2B88-CD05-460E8D351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361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BF168-E018-8BDB-B8FF-CC85551D8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47B9E1-A4ED-1B6A-D2BD-234805750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711F3B-E99A-650B-790B-EB9151C87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4DA05C-7C21-661B-A41E-A547C635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32F842-7036-1B37-4C83-51CF5CEB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764A6A-7702-7ADF-5C4F-9C5F0708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304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EFC3-A00E-807A-05C0-DF79AA11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433749-A6A0-DF88-073F-1B884AAF6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B0E37A-0FCA-2171-00F0-57CBBAF9C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F75DC5-C2F0-8632-D5C2-78870B413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50BBA9-0F72-E537-3AA6-E7220DF4F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31BD10E-2051-5B25-60B5-3B3C1F25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C1E8CCA-C8B9-B59E-93D2-886D22AC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68BBCF-B605-D7C3-4AAB-2C25A24E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705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9D7A6-AA5A-4E60-C4B7-DBCAEB9C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54A816-DE8A-F94F-C031-AF59E488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8AEBC4-A90F-6450-4083-5BE5A503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55FBB7-22A4-3058-7C37-CEE2D484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85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350C2A-8EFE-9689-19C1-BF14E82E9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8B880-58A1-F037-1F63-5083FFA5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2F4755-3B72-F832-ABB2-A0AEFEFC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589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A3BB8-B52E-7EBB-C0BE-35834C4E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3E0E39-1E9D-35C3-4F60-A75C61D82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D482B5-6263-8E79-4B0C-E15B27B9A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289D75-50AD-DA3E-808C-305E4820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EA4FEA-94A7-4925-FE8D-43CA865E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861DBB-094D-CF71-2FF9-19A30C11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58092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27B8C0-2FB7-6B3A-8E33-A5354D6C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BABF2AA-3490-C8C9-E0EC-E11BE8F7C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17CE27-4946-90C2-B284-DCBA830B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6B0D4C-582D-74B3-9532-199CDED2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BF8CF-6DE6-47BA-C3FB-BF90B375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C40B4-5CEF-7836-05EF-3B723EB2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147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3A3CA9-4FCE-04E1-42BD-5B8A476C3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239AA0-5AD0-1B0E-FA81-48CE982A8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EA6C21-4BC9-7300-3FB7-F3398A82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7A3A4-7067-8108-E4DF-8C6E4CD8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C10FF2-CD08-629F-DDE1-7A138E0A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687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CB9DE7-6C28-F2AB-69D7-564D017BB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C1730D-0865-98A5-9C17-905D8F0BB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87782F-B42D-DC1E-E695-5BB95E7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8BE4FF-3308-A3BB-13AB-CB0656A1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42E754-E68F-D875-966D-BDE24CA16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7476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uk" smtClean="0"/>
              <a:pPr/>
              <a:t>‹№›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211058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21754-49F4-99BC-3186-F93ABDD1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49F773-8CE3-A1B9-D56C-9ADA522E7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E54FD-E9A9-BB88-3366-5240E179C1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3972C-1D59-4812-9879-0ADA85AB86FA}" type="datetimeFigureOut">
              <a:rPr lang="uk-UA" smtClean="0"/>
              <a:t>03.08.2025</a:t>
            </a:fld>
            <a:endParaRPr lang="uk-UA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3AFDBA-1AD2-2DC3-7099-9ED422E2C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368F6C-F98C-ABE5-567C-0C5A0D209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40B5E-42AC-4C62-8644-F9D9979E3C1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428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sv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4326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6858000"/>
            <a:chOff x="-635000" y="-635000"/>
            <a:chExt cx="12192000" cy="6858000"/>
          </a:xfrm>
          <a:noFill/>
        </p:grpSpPr>
        <p:sp>
          <p:nvSpPr>
            <p:cNvPr id="10" name="Shape4323">
              <a:extLst>
                <a:ext uri="{FF2B5EF4-FFF2-40B4-BE49-F238E27FC236}">
                  <a16:creationId xmlns:a16="http://schemas.microsoft.com/office/drawing/2014/main" id="{141CCFB4-2F64-06B8-AF1D-C9E48150CDA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-635000" y="-635000"/>
              <a:ext cx="121920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>
              <a:noAutofit/>
            </a:bodyPr>
            <a:lstStyle/>
            <a:p>
              <a:pPr algn="ctr"/>
              <a:endParaRPr lang="ru-RU" sz="1100">
                <a:solidFill>
                  <a:srgbClr val="000000"/>
                </a:solidFill>
                <a:latin typeface="Comfortaa"/>
                <a:cs typeface="Comfortaa"/>
              </a:endParaRPr>
            </a:p>
          </p:txBody>
        </p:sp>
      </p:grpSp>
      <p:grpSp>
        <p:nvGrpSpPr>
          <p:cNvPr id="3" name="Shape4327"/>
          <p:cNvGrpSpPr/>
          <p:nvPr>
            <p:custDataLst>
              <p:tags r:id="rId2"/>
            </p:custDataLst>
          </p:nvPr>
        </p:nvGrpSpPr>
        <p:grpSpPr>
          <a:xfrm>
            <a:off x="5197365" y="984555"/>
            <a:ext cx="1797269" cy="1797269"/>
            <a:chOff x="4562366" y="349555"/>
            <a:chExt cx="1797269" cy="1797269"/>
          </a:xfrm>
        </p:grpSpPr>
        <p:pic>
          <p:nvPicPr>
            <p:cNvPr id="5" name="Shape4328"/>
            <p:cNvPicPr/>
            <p:nvPr>
              <p:custDataLst>
                <p:tags r:id="rId6"/>
              </p:custDataLst>
            </p:nvPr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2366" y="349555"/>
              <a:ext cx="1797269" cy="1797269"/>
            </a:xfrm>
            <a:prstGeom prst="rect">
              <a:avLst/>
            </a:prstGeom>
          </p:spPr>
        </p:pic>
      </p:grpSp>
      <p:grpSp>
        <p:nvGrpSpPr>
          <p:cNvPr id="7" name="Shape4329"/>
          <p:cNvGrpSpPr/>
          <p:nvPr>
            <p:custDataLst>
              <p:tags r:id="rId3"/>
            </p:custDataLst>
          </p:nvPr>
        </p:nvGrpSpPr>
        <p:grpSpPr>
          <a:xfrm>
            <a:off x="5557345" y="3238244"/>
            <a:ext cx="1077311" cy="55245"/>
            <a:chOff x="4925483" y="2578947"/>
            <a:chExt cx="1077311" cy="55245"/>
          </a:xfrm>
        </p:grpSpPr>
        <p:sp>
          <p:nvSpPr>
            <p:cNvPr id="8" name="Shape4325">
              <a:extLst>
                <a:ext uri="{FF2B5EF4-FFF2-40B4-BE49-F238E27FC236}">
                  <a16:creationId xmlns:a16="http://schemas.microsoft.com/office/drawing/2014/main" id="{21F15AB7-005A-EB90-56E9-C5761A58FD31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4925483" y="2578947"/>
              <a:ext cx="1077311" cy="55245"/>
            </a:xfrm>
            <a:prstGeom prst="rect">
              <a:avLst/>
            </a:prstGeom>
            <a:solidFill>
              <a:schemeClr val="bg2"/>
            </a:solidFill>
            <a:ln w="28575">
              <a:noFill/>
              <a:prstDash val="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12717"/>
              <a:endParaRPr lang="en-US" sz="800">
                <a:solidFill>
                  <a:schemeClr val="tx1"/>
                </a:solidFill>
                <a:latin typeface="Comfortaa"/>
                <a:ea typeface="Comfortaa"/>
                <a:cs typeface="Comfortaa"/>
              </a:endParaRPr>
            </a:p>
          </p:txBody>
        </p:sp>
      </p:grpSp>
      <p:sp>
        <p:nvSpPr>
          <p:cNvPr id="6" name="Shape4324">
            <a:extLst>
              <a:ext uri="{FF2B5EF4-FFF2-40B4-BE49-F238E27FC236}">
                <a16:creationId xmlns:a16="http://schemas.microsoft.com/office/drawing/2014/main" id="{9CB60D78-BFA7-FBF3-D935-4D20CC03291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371700" y="3568704"/>
            <a:ext cx="5448607" cy="1929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Тема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6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уроку</a:t>
            </a:r>
            <a:r>
              <a:rPr lang="en-US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:
</a:t>
            </a:r>
            <a:r>
              <a:rPr lang="uk-UA" sz="6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cs typeface="Cascadia Code" panose="020B0609020000020004" pitchFamily="49" charset="0"/>
              </a:rPr>
              <a:t>Масиви</a:t>
            </a:r>
            <a:endParaRPr lang="en-US" sz="6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68133" y="211967"/>
            <a:ext cx="8487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uk" sz="4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Що таке </a:t>
            </a:r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масив </a:t>
            </a:r>
            <a:r>
              <a:rPr lang="uk" sz="4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пальцях</a:t>
            </a:r>
            <a:endParaRPr sz="1467">
              <a:solidFill>
                <a:srgbClr val="000000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91100" y="1061167"/>
            <a:ext cx="11462000" cy="1640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600"/>
              </a:spcBef>
            </a:pPr>
            <a:r>
              <a:rPr lang="uk" sz="1467">
                <a:solidFill>
                  <a:schemeClr val="dk1"/>
                </a:solidFill>
              </a:rPr>
              <a:t>Масив в C# — це як коробка, в яку ти можеш скласти багато однотипних речей.</a:t>
            </a:r>
            <a:endParaRPr sz="1467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467">
                <a:solidFill>
                  <a:schemeClr val="dk1"/>
                </a:solidFill>
              </a:rPr>
              <a:t>Уявіть, що тобі потрібно запам'ятати оцінки десяти учнів. Замість того, щоб створювати десять окремих змінних (</a:t>
            </a:r>
            <a:r>
              <a:rPr lang="uk" sz="146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оцінка1</a:t>
            </a:r>
            <a:r>
              <a:rPr lang="uk" sz="1467">
                <a:solidFill>
                  <a:schemeClr val="dk1"/>
                </a:solidFill>
              </a:rPr>
              <a:t>, </a:t>
            </a:r>
            <a:r>
              <a:rPr lang="uk" sz="146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оцінка2</a:t>
            </a:r>
            <a:r>
              <a:rPr lang="uk" sz="1467">
                <a:solidFill>
                  <a:schemeClr val="dk1"/>
                </a:solidFill>
              </a:rPr>
              <a:t>, </a:t>
            </a:r>
            <a:r>
              <a:rPr lang="uk" sz="1467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оцінка3</a:t>
            </a:r>
            <a:r>
              <a:rPr lang="uk" sz="1467">
                <a:solidFill>
                  <a:schemeClr val="dk1"/>
                </a:solidFill>
              </a:rPr>
              <a:t>...), ти можеш створити один </a:t>
            </a:r>
            <a:r>
              <a:rPr lang="uk" sz="1467" b="1">
                <a:solidFill>
                  <a:schemeClr val="dk1"/>
                </a:solidFill>
              </a:rPr>
              <a:t>масив</a:t>
            </a:r>
            <a:r>
              <a:rPr lang="uk" sz="1467">
                <a:solidFill>
                  <a:schemeClr val="dk1"/>
                </a:solidFill>
              </a:rPr>
              <a:t>, який буде містити всі ці оцінки.</a:t>
            </a:r>
            <a:endParaRPr sz="1467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98167" y="2257567"/>
            <a:ext cx="11462000" cy="1375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indent="-397923">
              <a:buClr>
                <a:schemeClr val="dk1"/>
              </a:buClr>
              <a:buSzPts val="1100"/>
              <a:buChar char="●"/>
            </a:pPr>
            <a:r>
              <a:rPr lang="uk" sz="1467">
                <a:solidFill>
                  <a:schemeClr val="dk1"/>
                </a:solidFill>
              </a:rPr>
              <a:t>Усі "речі" в коробці (масиві) повинні бути одного типу. Наприклад, масив для чисел (цілих, дробових) або масив для текстів.</a:t>
            </a:r>
            <a:endParaRPr sz="1467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●"/>
            </a:pPr>
            <a:r>
              <a:rPr lang="uk" sz="1467" b="1">
                <a:solidFill>
                  <a:schemeClr val="dk1"/>
                </a:solidFill>
              </a:rPr>
              <a:t>К</a:t>
            </a:r>
            <a:r>
              <a:rPr lang="uk" sz="1467">
                <a:solidFill>
                  <a:schemeClr val="dk1"/>
                </a:solidFill>
              </a:rPr>
              <a:t>оли ти створюєш масив, ти одразу кажеш, скільки місця він займає. Наприклад, "масив на 10 оцінок". Цей розмір потім не можна змінити.</a:t>
            </a:r>
            <a:endParaRPr sz="1467">
              <a:solidFill>
                <a:schemeClr val="dk1"/>
              </a:solidFill>
            </a:endParaRPr>
          </a:p>
          <a:p>
            <a:pPr marL="609585" indent="-397923">
              <a:buClr>
                <a:schemeClr val="dk1"/>
              </a:buClr>
              <a:buSzPts val="1100"/>
              <a:buChar char="●"/>
            </a:pPr>
            <a:r>
              <a:rPr lang="uk" sz="1467" b="1">
                <a:solidFill>
                  <a:schemeClr val="dk1"/>
                </a:solidFill>
              </a:rPr>
              <a:t>Доступ за номером (індексом):</a:t>
            </a:r>
            <a:r>
              <a:rPr lang="uk" sz="1467">
                <a:solidFill>
                  <a:schemeClr val="dk1"/>
                </a:solidFill>
              </a:rPr>
              <a:t> Щоб дістати або змінити якусь "річ" із коробки, ти використовуєш її "номер". Але пам'ятай, що нумерація в масивах завжди починається з </a:t>
            </a:r>
            <a:r>
              <a:rPr lang="uk" sz="1467" b="1">
                <a:solidFill>
                  <a:schemeClr val="dk1"/>
                </a:solidFill>
              </a:rPr>
              <a:t>0</a:t>
            </a:r>
            <a:r>
              <a:rPr lang="uk" sz="1467">
                <a:solidFill>
                  <a:schemeClr val="dk1"/>
                </a:solidFill>
              </a:rPr>
              <a:t>. Тобто, перший елемент має індекс 0, другий — 1, і так далі.</a:t>
            </a:r>
            <a:endParaRPr sz="1467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91100" y="3797334"/>
            <a:ext cx="10304400" cy="3016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// Створюємо масив на 5 цілих чисел (оцінок)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int[] grades = new int[5];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// Присвоюємо значення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grades[0] = 5; // Перша оцінка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grades[1] = 4; // Друга оцінка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grades[2] = 5; // ...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grades[3] = 3;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grades[4] = 4; // Остання оцінка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// Щоб вивести другу оцінку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Console.WriteLine(grades[1]); // Виведе 4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// Щоб змінити останню оцінку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r>
              <a:rPr lang="uk" sz="1200">
                <a:latin typeface="Courier New"/>
                <a:ea typeface="Courier New"/>
                <a:cs typeface="Courier New"/>
                <a:sym typeface="Courier New"/>
              </a:rPr>
              <a:t>grades[4] = 5;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7953100" y="4731134"/>
            <a:ext cx="4000000" cy="114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467" b="1">
                <a:solidFill>
                  <a:schemeClr val="dk1"/>
                </a:solidFill>
              </a:rPr>
              <a:t>Колекція</a:t>
            </a:r>
            <a:r>
              <a:rPr lang="uk" sz="1467">
                <a:solidFill>
                  <a:schemeClr val="dk1"/>
                </a:solidFill>
              </a:rPr>
              <a:t> однотипних даних.</a:t>
            </a:r>
            <a:endParaRPr sz="1467">
              <a:solidFill>
                <a:schemeClr val="dk1"/>
              </a:solidFill>
            </a:endParaRPr>
          </a:p>
          <a:p>
            <a:r>
              <a:rPr lang="uk" sz="1467">
                <a:solidFill>
                  <a:schemeClr val="dk1"/>
                </a:solidFill>
              </a:rPr>
              <a:t>З </a:t>
            </a:r>
            <a:r>
              <a:rPr lang="uk" sz="1467" b="1">
                <a:solidFill>
                  <a:schemeClr val="dk1"/>
                </a:solidFill>
              </a:rPr>
              <a:t>фіксованим розміром</a:t>
            </a:r>
            <a:r>
              <a:rPr lang="uk" sz="1467">
                <a:solidFill>
                  <a:schemeClr val="dk1"/>
                </a:solidFill>
              </a:rPr>
              <a:t>.</a:t>
            </a:r>
            <a:endParaRPr sz="1467">
              <a:solidFill>
                <a:schemeClr val="dk1"/>
              </a:solidFill>
            </a:endParaRPr>
          </a:p>
          <a:p>
            <a:r>
              <a:rPr lang="uk" sz="1467">
                <a:solidFill>
                  <a:schemeClr val="dk1"/>
                </a:solidFill>
              </a:rPr>
              <a:t>Доступ до елементів відбувається за їхнім </a:t>
            </a:r>
            <a:r>
              <a:rPr lang="uk" sz="1467" b="1">
                <a:solidFill>
                  <a:schemeClr val="dk1"/>
                </a:solidFill>
              </a:rPr>
              <a:t>індексом</a:t>
            </a:r>
            <a:r>
              <a:rPr lang="uk" sz="1467">
                <a:solidFill>
                  <a:schemeClr val="dk1"/>
                </a:solidFill>
              </a:rPr>
              <a:t>, який починається з </a:t>
            </a:r>
            <a:r>
              <a:rPr lang="uk" sz="1467" b="1">
                <a:solidFill>
                  <a:schemeClr val="dk1"/>
                </a:solidFill>
              </a:rPr>
              <a:t>0</a:t>
            </a:r>
            <a:r>
              <a:rPr lang="uk" sz="1467">
                <a:solidFill>
                  <a:schemeClr val="dk1"/>
                </a:solidFill>
              </a:rPr>
              <a:t>.</a:t>
            </a:r>
            <a:endParaRPr sz="1467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7642225" y="884239"/>
            <a:ext cx="673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7" name="Google Shape;77;p16"/>
          <p:cNvGraphicFramePr/>
          <p:nvPr/>
        </p:nvGraphicFramePr>
        <p:xfrm>
          <a:off x="2752725" y="2051051"/>
          <a:ext cx="4000000" cy="4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03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uk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500"/>
                    </a:p>
                  </a:txBody>
                  <a:tcPr marL="90000" marR="90000" marT="46800" marB="468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uk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500"/>
                    </a:p>
                  </a:txBody>
                  <a:tcPr marL="90000" marR="90000" marT="46800" marB="468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uk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500"/>
                    </a:p>
                  </a:txBody>
                  <a:tcPr marL="90000" marR="90000" marT="46800" marB="468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uk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 sz="1500"/>
                    </a:p>
                  </a:txBody>
                  <a:tcPr marL="90000" marR="90000" marT="46800" marB="468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uk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sz="1500"/>
                    </a:p>
                  </a:txBody>
                  <a:tcPr marL="90000" marR="90000" marT="46800" marB="468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8" name="Google Shape;78;p16"/>
          <p:cNvGraphicFramePr/>
          <p:nvPr/>
        </p:nvGraphicFramePr>
        <p:xfrm>
          <a:off x="2773363" y="1517651"/>
          <a:ext cx="4000000" cy="4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uk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500"/>
                    </a:p>
                  </a:txBody>
                  <a:tcPr marL="90000" marR="90000" marT="46800" marB="46800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uk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/>
                    </a:p>
                  </a:txBody>
                  <a:tcPr marL="90000" marR="90000" marT="46800" marB="46800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uk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500"/>
                    </a:p>
                  </a:txBody>
                  <a:tcPr marL="90000" marR="90000" marT="46800" marB="46800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uk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/>
                    </a:p>
                  </a:txBody>
                  <a:tcPr marL="90000" marR="90000" marT="46800" marB="46800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uk" sz="2400" b="1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500"/>
                    </a:p>
                  </a:txBody>
                  <a:tcPr marL="90000" marR="90000" marT="46800" marB="46800">
                    <a:lnL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1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Google Shape;79;p16"/>
          <p:cNvSpPr/>
          <p:nvPr/>
        </p:nvSpPr>
        <p:spPr>
          <a:xfrm>
            <a:off x="2217739" y="1277492"/>
            <a:ext cx="7426000" cy="1802400"/>
          </a:xfrm>
          <a:prstGeom prst="ellipse">
            <a:avLst/>
          </a:prstGeom>
          <a:noFill/>
          <a:ln w="143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2217739" y="1123728"/>
            <a:ext cx="522400" cy="4892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26941" dir="2700000" algn="ctr" rotWithShape="0">
              <a:schemeClr val="dk1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740027" y="1136280"/>
            <a:ext cx="981600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масив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299076" y="1414463"/>
            <a:ext cx="892400" cy="5336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26941" dir="2700000" algn="ctr" rotWithShape="0">
              <a:schemeClr val="dk1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67"/>
          </a:p>
        </p:txBody>
      </p:sp>
      <p:sp>
        <p:nvSpPr>
          <p:cNvPr id="83" name="Google Shape;83;p16"/>
          <p:cNvSpPr/>
          <p:nvPr/>
        </p:nvSpPr>
        <p:spPr>
          <a:xfrm>
            <a:off x="5081589" y="1925639"/>
            <a:ext cx="1404800" cy="773200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26941" dir="2700000" algn="ctr" rotWithShape="0">
              <a:schemeClr val="dk1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467"/>
          </a:p>
        </p:txBody>
      </p:sp>
      <p:sp>
        <p:nvSpPr>
          <p:cNvPr id="84" name="Google Shape;84;p16"/>
          <p:cNvSpPr/>
          <p:nvPr/>
        </p:nvSpPr>
        <p:spPr>
          <a:xfrm>
            <a:off x="7810512" y="714357"/>
            <a:ext cx="2459200" cy="998400"/>
          </a:xfrm>
          <a:prstGeom prst="wedgeRoundRectCallout">
            <a:avLst>
              <a:gd name="adj1" fmla="val -121403"/>
              <a:gd name="adj2" fmla="val 45866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6941" dir="2700000" algn="ctr" rotWithShape="0">
              <a:schemeClr val="dk2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НОМЕР </a:t>
            </a:r>
            <a:br>
              <a:rPr lang="uk" sz="18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18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елементу масиву</a:t>
            </a:r>
            <a:endParaRPr sz="18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uk" sz="18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(ІНДЕКС)</a:t>
            </a:r>
            <a:endParaRPr sz="1467"/>
          </a:p>
        </p:txBody>
      </p:sp>
      <p:sp>
        <p:nvSpPr>
          <p:cNvPr id="85" name="Google Shape;85;p16"/>
          <p:cNvSpPr/>
          <p:nvPr/>
        </p:nvSpPr>
        <p:spPr>
          <a:xfrm>
            <a:off x="2803525" y="3198813"/>
            <a:ext cx="1036400" cy="476400"/>
          </a:xfrm>
          <a:prstGeom prst="wedgeRoundRectCallout">
            <a:avLst>
              <a:gd name="adj1" fmla="val 4213"/>
              <a:gd name="adj2" fmla="val -171333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6941" dir="2700000" algn="ctr" rotWithShape="0">
              <a:schemeClr val="dk2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a[0]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019551" y="3198813"/>
            <a:ext cx="1036400" cy="476400"/>
          </a:xfrm>
          <a:prstGeom prst="wedgeRoundRectCallout">
            <a:avLst>
              <a:gd name="adj1" fmla="val 3597"/>
              <a:gd name="adj2" fmla="val -185333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6941" dir="2700000" algn="ctr" rotWithShape="0">
              <a:schemeClr val="dk2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a[1]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235575" y="3198813"/>
            <a:ext cx="1036400" cy="476400"/>
          </a:xfrm>
          <a:prstGeom prst="wedgeRoundRectCallout">
            <a:avLst>
              <a:gd name="adj1" fmla="val 7731"/>
              <a:gd name="adj2" fmla="val -178333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6941" dir="2700000" algn="ctr" rotWithShape="0">
              <a:schemeClr val="dk2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a[2]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6451600" y="3198813"/>
            <a:ext cx="1036400" cy="476400"/>
          </a:xfrm>
          <a:prstGeom prst="wedgeRoundRectCallout">
            <a:avLst>
              <a:gd name="adj1" fmla="val 1454"/>
              <a:gd name="adj2" fmla="val -182667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6941" dir="2700000" algn="ctr" rotWithShape="0">
              <a:schemeClr val="dk2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a[3]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7669215" y="3198813"/>
            <a:ext cx="1036400" cy="476400"/>
          </a:xfrm>
          <a:prstGeom prst="wedgeRoundRectCallout">
            <a:avLst>
              <a:gd name="adj1" fmla="val 1454"/>
              <a:gd name="adj2" fmla="val -185000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6941" dir="2700000" algn="ctr" rotWithShape="0">
              <a:schemeClr val="dk2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a[4]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04775" y="1947863"/>
            <a:ext cx="2352400" cy="841600"/>
          </a:xfrm>
          <a:prstGeom prst="wedgeRoundRectCallout">
            <a:avLst>
              <a:gd name="adj1" fmla="val -18218"/>
              <a:gd name="adj2" fmla="val -124889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6941" dir="2700000" algn="ctr" rotWithShape="0">
              <a:schemeClr val="dk2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18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ЗНАЧЕННЯ елементу масиву</a:t>
            </a:r>
            <a:endParaRPr sz="18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154613" y="4092576"/>
            <a:ext cx="1687600" cy="11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a[2]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453323" y="4029075"/>
            <a:ext cx="2840000" cy="801600"/>
          </a:xfrm>
          <a:prstGeom prst="wedgeRoundRectCallout">
            <a:avLst>
              <a:gd name="adj1" fmla="val -81863"/>
              <a:gd name="adj2" fmla="val 29092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6941" dir="2700000" algn="ctr" rotWithShape="0">
              <a:schemeClr val="dk2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НОМЕР (ІНДЕКС) </a:t>
            </a:r>
            <a:br>
              <a:rPr lang="uk" sz="18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18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елементу масиву: 2</a:t>
            </a:r>
            <a:endParaRPr sz="18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024033" y="4143381"/>
            <a:ext cx="2941600" cy="714400"/>
          </a:xfrm>
          <a:prstGeom prst="wedgeRoundRectCallout">
            <a:avLst>
              <a:gd name="adj1" fmla="val 60925"/>
              <a:gd name="adj2" fmla="val 13122"/>
              <a:gd name="adj3" fmla="val 16667"/>
            </a:avLst>
          </a:prstGeom>
          <a:solidFill>
            <a:srgbClr val="D8D8D8"/>
          </a:solidFill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6941" dir="2700000" algn="ctr" rotWithShape="0">
              <a:schemeClr val="dk2"/>
            </a:outerShdw>
          </a:effectLst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algn="ctr"/>
            <a:r>
              <a:rPr lang="uk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ЗНАЧЕННЯ</a:t>
            </a:r>
            <a:r>
              <a:rPr lang="uk" sz="18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uk" sz="18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uk" sz="186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елементу масиву: 15 </a:t>
            </a:r>
            <a:endParaRPr sz="186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170489" y="4081463"/>
            <a:ext cx="1654400" cy="1143200"/>
          </a:xfrm>
          <a:prstGeom prst="ellipse">
            <a:avLst/>
          </a:prstGeom>
          <a:noFill/>
          <a:ln w="143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860229" y="4403263"/>
            <a:ext cx="511200" cy="611200"/>
          </a:xfrm>
          <a:prstGeom prst="ellipse">
            <a:avLst/>
          </a:prstGeom>
          <a:noFill/>
          <a:ln w="143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6"/>
          <p:cNvGrpSpPr/>
          <p:nvPr/>
        </p:nvGrpSpPr>
        <p:grpSpPr>
          <a:xfrm>
            <a:off x="2024035" y="5286383"/>
            <a:ext cx="8086725" cy="936625"/>
            <a:chOff x="350" y="3436"/>
            <a:chExt cx="5094" cy="590"/>
          </a:xfrm>
        </p:grpSpPr>
        <p:sp>
          <p:nvSpPr>
            <p:cNvPr id="97" name="Google Shape;97;p16"/>
            <p:cNvSpPr txBox="1"/>
            <p:nvPr/>
          </p:nvSpPr>
          <p:spPr>
            <a:xfrm>
              <a:off x="644" y="3503"/>
              <a:ext cx="4800" cy="523"/>
            </a:xfrm>
            <a:prstGeom prst="rect">
              <a:avLst/>
            </a:prstGeom>
            <a:solidFill>
              <a:srgbClr val="D8D8D8"/>
            </a:solidFill>
            <a:ln w="9525" cap="flat" cmpd="sng">
              <a:solidFill>
                <a:srgbClr val="0000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t" anchorCtr="0">
              <a:spAutoFit/>
            </a:bodyPr>
            <a:lstStyle/>
            <a:p>
              <a:pPr algn="ctr"/>
              <a:r>
                <a:rPr lang="uk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Нумерація елементів масиву в Java починаєтся з  </a:t>
              </a:r>
              <a:r>
                <a:rPr lang="uk" sz="24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НУЛЯ</a:t>
              </a:r>
              <a:r>
                <a:rPr lang="uk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!</a:t>
              </a:r>
              <a:endParaRPr sz="1467"/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350" y="3436"/>
              <a:ext cx="300" cy="300"/>
            </a:xfrm>
            <a:prstGeom prst="ellipse">
              <a:avLst/>
            </a:prstGeom>
            <a:solidFill>
              <a:srgbClr val="D8D8D8"/>
            </a:solidFill>
            <a:ln w="71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r>
                <a:rPr lang="uk" sz="4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!</a:t>
              </a:r>
              <a:endParaRPr sz="1467"/>
            </a:p>
          </p:txBody>
        </p:sp>
      </p:grpSp>
      <p:sp>
        <p:nvSpPr>
          <p:cNvPr id="99" name="Google Shape;99;p16"/>
          <p:cNvSpPr txBox="1"/>
          <p:nvPr/>
        </p:nvSpPr>
        <p:spPr>
          <a:xfrm>
            <a:off x="168133" y="211968"/>
            <a:ext cx="8487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Масив </a:t>
            </a:r>
            <a:endParaRPr sz="1467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4779391" y="5522992"/>
            <a:ext cx="6125200" cy="479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CC7832"/>
              </a:buClr>
              <a:buSzPts val="1800"/>
              <a:buNone/>
            </a:pPr>
            <a:r>
              <a:rPr lang="uk" sz="24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uk" sz="24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lang="uk" sz="24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dArray </a:t>
            </a:r>
            <a:r>
              <a:rPr lang="uk" sz="24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uk" sz="24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new double</a:t>
            </a:r>
            <a:r>
              <a:rPr lang="uk" sz="24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uk" sz="2400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24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uk" sz="24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4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60576" y="1131561"/>
            <a:ext cx="7237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Масив можна проініціалізувати одразу зі значеннями.</a:t>
            </a:r>
            <a:endParaRPr sz="1467"/>
          </a:p>
        </p:txBody>
      </p:sp>
      <p:sp>
        <p:nvSpPr>
          <p:cNvPr id="106" name="Google Shape;106;p17"/>
          <p:cNvSpPr txBox="1"/>
          <p:nvPr/>
        </p:nvSpPr>
        <p:spPr>
          <a:xfrm>
            <a:off x="360576" y="1747830"/>
            <a:ext cx="6339600" cy="3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CC7832"/>
              </a:buClr>
              <a:buSzPts val="1400"/>
            </a:pP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lang="uk" sz="1867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iArray 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{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4779391" y="2744817"/>
            <a:ext cx="67848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uk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Зверніть увагу </a:t>
            </a: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операція створення масиву </a:t>
            </a:r>
            <a:r>
              <a:rPr lang="uk" sz="20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uk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тут пропущена, тому що вказані елементи і компілятор сам зрозуміє, що тут треба створити масив.</a:t>
            </a:r>
            <a:endParaRPr sz="1467"/>
          </a:p>
          <a:p>
            <a:pPr>
              <a:buClr>
                <a:schemeClr val="dk1"/>
              </a:buClr>
              <a:buSzPts val="1800"/>
            </a:pP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Також можна проініціалізувати масив задавши його розмір явно, використовуючи слово </a:t>
            </a:r>
            <a:r>
              <a:rPr lang="uk" sz="20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uk" sz="24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і конструкцію нижче:</a:t>
            </a:r>
            <a:endParaRPr sz="1467"/>
          </a:p>
        </p:txBody>
      </p:sp>
      <p:sp>
        <p:nvSpPr>
          <p:cNvPr id="108" name="Google Shape;108;p17"/>
          <p:cNvSpPr txBox="1"/>
          <p:nvPr/>
        </p:nvSpPr>
        <p:spPr>
          <a:xfrm>
            <a:off x="168133" y="211967"/>
            <a:ext cx="72376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Створення масивів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168133" y="211967"/>
            <a:ext cx="1190800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Індекси та одержання елементів масиву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0" y="1271634"/>
            <a:ext cx="12192000" cy="2013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</a:pPr>
            <a:r>
              <a:rPr lang="uk" sz="1600">
                <a:solidFill>
                  <a:schemeClr val="dk1"/>
                </a:solidFill>
              </a:rPr>
              <a:t>Для звернення до елементів масиву використовуються </a:t>
            </a:r>
            <a:r>
              <a:rPr lang="uk" sz="1600" b="1">
                <a:solidFill>
                  <a:schemeClr val="dk1"/>
                </a:solidFill>
              </a:rPr>
              <a:t>індекси</a:t>
            </a:r>
            <a:r>
              <a:rPr lang="uk" sz="1600">
                <a:solidFill>
                  <a:schemeClr val="dk1"/>
                </a:solidFill>
              </a:rPr>
              <a:t> . Індекс представляє номер елемента в масиві, при цьому нумерація починається з нуля, тому індекс першого елемента дорівнюватиме 0, індекс четвертого елемента - 3.</a:t>
            </a:r>
            <a:endParaRPr sz="1600">
              <a:solidFill>
                <a:schemeClr val="dk1"/>
              </a:solidFill>
            </a:endParaRPr>
          </a:p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Використовуючи індекси, ми можемо отримати елементи масиву: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98167" y="2885267"/>
            <a:ext cx="4000000" cy="332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[] numbers = { 1, 2, 3, 5 };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получение элемента массива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Console.WriteLine(numbers[3]);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5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получение элемента массива в переменную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var n = numbers[1]; 	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2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Console.WriteLine(n);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2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/>
        </p:nvSpPr>
        <p:spPr>
          <a:xfrm>
            <a:off x="168133" y="211967"/>
            <a:ext cx="11908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Індекси та одержання елементів масиву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228033" y="1113767"/>
            <a:ext cx="4000000" cy="14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Також ми можемо змінити елемент масиву за індексом: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228033" y="1990567"/>
            <a:ext cx="8708400" cy="209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[] numbers = { 1, 2, 3, 5 };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изменим второй элемент массива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numbers[1] = 505;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Console.WriteLine(numbers[1]);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505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28033" y="4042900"/>
            <a:ext cx="40000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І оскільки у нас масив визначений лише для 4 елементів, то ми не можемо звернутися, наприклад, до шостого елемента. Якщо так спробуємо зробити, ми отримаємо помилку під час виконання:</a:t>
            </a:r>
            <a:endParaRPr sz="2400"/>
          </a:p>
        </p:txBody>
      </p:sp>
      <p:sp>
        <p:nvSpPr>
          <p:cNvPr id="124" name="Google Shape;124;p19"/>
          <p:cNvSpPr txBox="1"/>
          <p:nvPr/>
        </p:nvSpPr>
        <p:spPr>
          <a:xfrm>
            <a:off x="264600" y="5661867"/>
            <a:ext cx="9075200" cy="117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[] numbers = { 1, 2, 3, 5 };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Console.WriteLine(numbers[6]);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! Ошибка - в массиве только 4 элемента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168133" y="211967"/>
            <a:ext cx="11908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Властивість Length та довжина масиву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245567" y="1197167"/>
            <a:ext cx="10734400" cy="14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кожен масив має властивість </a:t>
            </a:r>
            <a:r>
              <a:rPr lang="uk" sz="1600" b="1">
                <a:solidFill>
                  <a:schemeClr val="dk1"/>
                </a:solidFill>
              </a:rPr>
              <a:t>Length</a:t>
            </a:r>
            <a:r>
              <a:rPr lang="uk" sz="1600">
                <a:solidFill>
                  <a:schemeClr val="dk1"/>
                </a:solidFill>
              </a:rPr>
              <a:t> , яка зберігає довжину масиву. Наприклад, отримаємо довжину вище за створений масив numbers: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368333" y="2073967"/>
            <a:ext cx="8033200" cy="117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[] numbers = { 1, 2, 3, 5 };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Console.WriteLine(numbers.Length);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4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368333" y="3244833"/>
            <a:ext cx="11532400" cy="130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</a:pPr>
            <a:r>
              <a:rPr lang="uk" sz="1600">
                <a:solidFill>
                  <a:schemeClr val="dk1"/>
                </a:solidFill>
              </a:rPr>
              <a:t>Для отримання довжини масиву після назви масиву через точку вказується властивість </a:t>
            </a:r>
            <a:r>
              <a:rPr lang="uk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uk" sz="1600">
                <a:solidFill>
                  <a:schemeClr val="dk1"/>
                </a:solidFill>
              </a:rPr>
              <a:t>: </a:t>
            </a:r>
            <a:r>
              <a:rPr lang="uk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numbers.Length</a:t>
            </a:r>
            <a:r>
              <a:rPr lang="uk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  <a:spcBef>
                <a:spcPts val="1600"/>
              </a:spcBef>
            </a:pPr>
            <a:endParaRPr sz="1467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168133" y="211967"/>
            <a:ext cx="11908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Отримання елементів з кінця масиву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78933" y="1236568"/>
            <a:ext cx="117956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Завдяки наявності властивості </a:t>
            </a:r>
            <a:r>
              <a:rPr lang="uk" sz="1600">
                <a:solidFill>
                  <a:srgbClr val="188038"/>
                </a:solidFill>
                <a:highlight>
                  <a:srgbClr val="F7F7FA"/>
                </a:highlight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, ми можемо обчислити індекс останнього елемента масиву - це довжина масиву - 1. Наприклад, якщо довжина масиву - 4 (тобто масив має 4 елементи), то індекс останнього елемента дорівнюватиме 3. І, використовуючи властивість </a:t>
            </a:r>
            <a:r>
              <a:rPr lang="uk" sz="1600">
                <a:solidFill>
                  <a:srgbClr val="188038"/>
                </a:solidFill>
                <a:highlight>
                  <a:srgbClr val="F7F7FA"/>
                </a:highlight>
                <a:latin typeface="Roboto Mono"/>
                <a:ea typeface="Roboto Mono"/>
                <a:cs typeface="Roboto Mono"/>
                <a:sym typeface="Roboto Mono"/>
              </a:rPr>
              <a:t>Length</a:t>
            </a:r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, ми можемо легко отримати елементи з кінця масиву:</a:t>
            </a:r>
            <a:endParaRPr sz="2400"/>
          </a:p>
        </p:txBody>
      </p:sp>
      <p:sp>
        <p:nvSpPr>
          <p:cNvPr id="139" name="Google Shape;139;p21"/>
          <p:cNvSpPr txBox="1"/>
          <p:nvPr/>
        </p:nvSpPr>
        <p:spPr>
          <a:xfrm>
            <a:off x="491100" y="2341534"/>
            <a:ext cx="9839600" cy="240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[] numbers = { 1, 2, 3, 5};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400">
              <a:solidFill>
                <a:schemeClr val="dk1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Console.WriteLine(numbers[numbers.Length - 1]);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5 - первый с конца или последний элемент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Console.WriteLine(numbers[numbers.Length - 2]);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3 - второй с конца или предпоследний элемент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Console.WriteLine(numbers[numbers.Length - 3]);  </a:t>
            </a:r>
            <a:r>
              <a:rPr lang="uk" sz="1400">
                <a:solidFill>
                  <a:srgbClr val="00820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// 2 - третий элемент с конца</a:t>
            </a:r>
            <a:endParaRPr sz="1400">
              <a:solidFill>
                <a:srgbClr val="008200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168133" y="211967"/>
            <a:ext cx="11908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Отримання елементів з кінця масиву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271867" y="1236567"/>
            <a:ext cx="10944800" cy="2398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</a:pPr>
            <a:r>
              <a:rPr lang="uk" sz="1600">
                <a:solidFill>
                  <a:schemeClr val="dk1"/>
                </a:solidFill>
              </a:rPr>
              <a:t>Однак при подібному підході виразу типу </a:t>
            </a:r>
            <a:r>
              <a:rPr lang="uk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numbers.Length - 1</a:t>
            </a:r>
            <a:r>
              <a:rPr lang="uk" sz="1600">
                <a:solidFill>
                  <a:schemeClr val="dk1"/>
                </a:solidFill>
              </a:rPr>
              <a:t>, зміст яких полягає в тому, щоб отримати певний елемент з кінця масиву, обтяжують код. І, починаючи, з версії C# 8.0 до мови було додано спеціальний оператор </a:t>
            </a:r>
            <a:r>
              <a:rPr lang="uk" sz="1600" b="1">
                <a:solidFill>
                  <a:schemeClr val="dk1"/>
                </a:solidFill>
              </a:rPr>
              <a:t>^</a:t>
            </a:r>
            <a:r>
              <a:rPr lang="uk" sz="1600">
                <a:solidFill>
                  <a:schemeClr val="dk1"/>
                </a:solidFill>
              </a:rPr>
              <a:t> , з допомогою якого можна задати індекс щодо кінця колекції.</a:t>
            </a:r>
            <a:endParaRPr sz="1600">
              <a:solidFill>
                <a:schemeClr val="dk1"/>
              </a:solidFill>
            </a:endParaRPr>
          </a:p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Перепишемо попередній приклад, застосовуючи оператор </a:t>
            </a:r>
            <a:r>
              <a:rPr lang="uk" sz="1600" b="1">
                <a:solidFill>
                  <a:schemeClr val="dk1"/>
                </a:solidFill>
              </a:rPr>
              <a:t>^</a:t>
            </a:r>
            <a:r>
              <a:rPr lang="uk" sz="1600">
                <a:solidFill>
                  <a:schemeClr val="dk1"/>
                </a:solidFill>
              </a:rPr>
              <a:t> 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456033" y="3323767"/>
            <a:ext cx="4000000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2400"/>
              <a:t>int[] numbers = { 1, 2, 3, 5};</a:t>
            </a:r>
            <a:endParaRPr sz="2400"/>
          </a:p>
          <a:p>
            <a:r>
              <a:rPr lang="uk" sz="2400"/>
              <a:t> </a:t>
            </a:r>
            <a:endParaRPr sz="2400"/>
          </a:p>
          <a:p>
            <a:r>
              <a:rPr lang="uk" sz="2400"/>
              <a:t>Console.WriteLine(numbers[^1]);  // 5 - первый с конца или последний элемент</a:t>
            </a:r>
            <a:endParaRPr sz="2400"/>
          </a:p>
          <a:p>
            <a:r>
              <a:rPr lang="uk" sz="2400"/>
              <a:t>Console.WriteLine(numbers[^2]);  // 3 - второй с конца или предпоследний элемент</a:t>
            </a:r>
            <a:endParaRPr sz="2400"/>
          </a:p>
          <a:p>
            <a:r>
              <a:rPr lang="uk" sz="2400"/>
              <a:t>Console.WriteLine(numbers[^3]);  // 2 - третий элемент с конца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/>
        </p:nvSpPr>
        <p:spPr>
          <a:xfrm>
            <a:off x="168133" y="211968"/>
            <a:ext cx="11908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Перебір масивів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350767" y="1096234"/>
            <a:ext cx="10541200" cy="135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2400"/>
              <a:t>Для перебору масивів можна використовувати різні типи циклів. Наприклад, цикл foreach :</a:t>
            </a:r>
            <a:endParaRPr sz="2400"/>
          </a:p>
          <a:p>
            <a:endParaRPr sz="2400"/>
          </a:p>
        </p:txBody>
      </p:sp>
      <p:sp>
        <p:nvSpPr>
          <p:cNvPr id="153" name="Google Shape;153;p23"/>
          <p:cNvSpPr txBox="1"/>
          <p:nvPr/>
        </p:nvSpPr>
        <p:spPr>
          <a:xfrm>
            <a:off x="263100" y="1701334"/>
            <a:ext cx="4000000" cy="153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/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[] numbers = { 1, 2, 3, 4, 5 };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foreach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numbers)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Console.WriteLine(i);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263100" y="3284768"/>
            <a:ext cx="9655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</a:rPr>
              <a:t>Тут як контейнер виступає масив даних типу </a:t>
            </a:r>
            <a:r>
              <a:rPr lang="uk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uk" sz="1600">
                <a:solidFill>
                  <a:schemeClr val="dk1"/>
                </a:solidFill>
              </a:rPr>
              <a:t>. Тому ми оголошуємо змінну з типом</a:t>
            </a:r>
            <a:r>
              <a:rPr lang="uk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uk" sz="1600">
                <a:solidFill>
                  <a:schemeClr val="dk1"/>
                </a:solidFill>
              </a:rPr>
              <a:t>Подібні дії ми можемо зробити і за допомогою циклу for: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78933" y="4183200"/>
            <a:ext cx="4000000" cy="196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/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[] numbers = { 1, 2, 3, 4, 5 };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 = 0; i &lt; numbers.Length; i++)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Console.WriteLine(numbers[i]);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/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/>
        </p:nvSpPr>
        <p:spPr>
          <a:xfrm>
            <a:off x="168133" y="211968"/>
            <a:ext cx="119080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4800" b="1">
                <a:latin typeface="Times New Roman"/>
                <a:ea typeface="Times New Roman"/>
                <a:cs typeface="Times New Roman"/>
                <a:sym typeface="Times New Roman"/>
              </a:rPr>
              <a:t>Перебір масивів</a:t>
            </a:r>
            <a:endParaRPr sz="48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412200" y="1197168"/>
            <a:ext cx="113308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У той же час цикл </a:t>
            </a:r>
            <a:r>
              <a:rPr lang="uk" sz="1600" b="1">
                <a:solidFill>
                  <a:schemeClr val="dk1"/>
                </a:solidFill>
                <a:highlight>
                  <a:srgbClr val="F7F7FA"/>
                </a:highlight>
              </a:rPr>
              <a:t>for</a:t>
            </a:r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 більш гнучкий у порівнянні з </a:t>
            </a:r>
            <a:r>
              <a:rPr lang="uk" sz="1600" b="1">
                <a:solidFill>
                  <a:schemeClr val="dk1"/>
                </a:solidFill>
                <a:highlight>
                  <a:srgbClr val="F7F7FA"/>
                </a:highlight>
              </a:rPr>
              <a:t>foreach</a:t>
            </a:r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 . Якщо </a:t>
            </a:r>
            <a:r>
              <a:rPr lang="uk" sz="1600" b="1">
                <a:solidFill>
                  <a:schemeClr val="dk1"/>
                </a:solidFill>
                <a:highlight>
                  <a:srgbClr val="F7F7FA"/>
                </a:highlight>
              </a:rPr>
              <a:t>foreach</a:t>
            </a:r>
            <a:r>
              <a:rPr lang="uk" sz="1600">
                <a:solidFill>
                  <a:schemeClr val="dk1"/>
                </a:solidFill>
                <a:highlight>
                  <a:srgbClr val="F7F7FA"/>
                </a:highlight>
              </a:rPr>
              <a:t> послідовно витягує елементи контейнера і тільки для читання, то в циклі for ми можемо перескакувати на кілька елементів вперед залежно від збільшення лічильника, а також можемо змінювати елементи:</a:t>
            </a:r>
            <a:endParaRPr sz="2400"/>
          </a:p>
        </p:txBody>
      </p:sp>
      <p:sp>
        <p:nvSpPr>
          <p:cNvPr id="162" name="Google Shape;162;p24"/>
          <p:cNvSpPr txBox="1"/>
          <p:nvPr/>
        </p:nvSpPr>
        <p:spPr>
          <a:xfrm>
            <a:off x="228033" y="2227534"/>
            <a:ext cx="4806000" cy="209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[] numbers = { 1, 2, 3, 4, 5 };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" sz="1400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 = 0; i &lt; numbers.Length; i++)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numbers[i] = numbers[i] * 2;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Console.WriteLine(numbers[i]);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4437500" y="2972933"/>
            <a:ext cx="2972800" cy="180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56000"/>
              </a:lnSpc>
              <a:spcBef>
                <a:spcPts val="1600"/>
              </a:spcBef>
              <a:spcAft>
                <a:spcPts val="1600"/>
              </a:spcAft>
            </a:pPr>
            <a:r>
              <a:rPr lang="uk" sz="1600">
                <a:solidFill>
                  <a:schemeClr val="dk1"/>
                </a:solidFill>
              </a:rPr>
              <a:t>Також можна використовувати й інші види циклів, наприклад </a:t>
            </a:r>
            <a:r>
              <a:rPr lang="uk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uk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7349133" y="2227534"/>
            <a:ext cx="4630400" cy="240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84665" marR="84665">
              <a:lnSpc>
                <a:spcPct val="143181"/>
              </a:lnSpc>
            </a:pPr>
            <a:r>
              <a:rPr lang="uk" sz="1400" b="1">
                <a:solidFill>
                  <a:srgbClr val="80808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[] numbers = { 1, 2, 3, 4, 5 };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 b="1">
                <a:solidFill>
                  <a:srgbClr val="808080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400">
                <a:solidFill>
                  <a:schemeClr val="dk1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i = 0;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 b="1">
                <a:solidFill>
                  <a:srgbClr val="006699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(i &lt; numbers.Length)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Console.WriteLine(numbers[i]);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    i++;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84665" marR="84665">
              <a:lnSpc>
                <a:spcPct val="143181"/>
              </a:lnSpc>
            </a:pPr>
            <a:r>
              <a:rPr lang="uk" sz="1400">
                <a:solidFill>
                  <a:srgbClr val="188038"/>
                </a:solidFill>
                <a:highlight>
                  <a:srgbClr val="F5F5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188038"/>
              </a:solidFill>
              <a:highlight>
                <a:srgbClr val="F5F5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/>
        </p:nvSpPr>
        <p:spPr>
          <a:xfrm>
            <a:off x="2800741" y="5235251"/>
            <a:ext cx="8420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169329" indent="-169329"/>
            <a:r>
              <a:rPr lang="uk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Доповнення:</a:t>
            </a:r>
            <a:r>
              <a:rPr lang="uk" sz="2400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uk" sz="24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uk" sz="2400">
                <a:solidFill>
                  <a:srgbClr val="3333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uk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Integer.</a:t>
            </a:r>
            <a:r>
              <a:rPr lang="uk" sz="2400" b="1" i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MAX_VALUE</a:t>
            </a:r>
            <a:r>
              <a:rPr lang="uk" sz="2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-260063" y="-11963"/>
            <a:ext cx="6755200" cy="10844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0" y="75471"/>
            <a:ext cx="64196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Максимальний елемент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2800741" y="1695820"/>
            <a:ext cx="6589200" cy="35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rgbClr val="CC7832"/>
              </a:buClr>
              <a:buSzPts val="2100"/>
            </a:pP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max = Integer.</a:t>
            </a:r>
            <a:r>
              <a:rPr lang="uk" sz="2800" i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MIN_VALUE</a:t>
            </a: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 = </a:t>
            </a:r>
            <a:r>
              <a:rPr lang="uk" sz="2800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 &lt; n</a:t>
            </a: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i++) {</a:t>
            </a:r>
            <a:b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arr[i] = in.nextInt()</a:t>
            </a: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if </a:t>
            </a: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(arr[i] &gt; max) {</a:t>
            </a:r>
            <a:b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 = arr[i]</a:t>
            </a: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lang="uk" sz="2800" i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uk" sz="28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.println(max)</a:t>
            </a:r>
            <a:r>
              <a:rPr lang="uk" sz="28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5467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1068707" y="2252873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5"/>
          <p:cNvSpPr/>
          <p:nvPr/>
        </p:nvSpPr>
        <p:spPr>
          <a:xfrm>
            <a:off x="856295" y="2131780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1954827" y="5692451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1742413" y="5571357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9317160" y="385995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9104747" y="264901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10334071" y="3550093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10121659" y="3429000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/>
        </p:nvSpPr>
        <p:spPr>
          <a:xfrm>
            <a:off x="7182427" y="153161"/>
            <a:ext cx="43696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marL="169329" indent="-169329"/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Як отримати довжину масиву в Java?</a:t>
            </a:r>
            <a:endParaRPr sz="1467"/>
          </a:p>
        </p:txBody>
      </p:sp>
      <p:sp>
        <p:nvSpPr>
          <p:cNvPr id="186" name="Google Shape;186;p26"/>
          <p:cNvSpPr txBox="1"/>
          <p:nvPr/>
        </p:nvSpPr>
        <p:spPr>
          <a:xfrm>
            <a:off x="5852381" y="1571611"/>
            <a:ext cx="6646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 отримати останній елемент масиву?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192389" y="4894847"/>
            <a:ext cx="72452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 заповнити масив випадковими числами?</a:t>
            </a:r>
            <a:endParaRPr sz="1467"/>
          </a:p>
        </p:txBody>
      </p:sp>
      <p:sp>
        <p:nvSpPr>
          <p:cNvPr id="188" name="Google Shape;188;p26"/>
          <p:cNvSpPr txBox="1"/>
          <p:nvPr/>
        </p:nvSpPr>
        <p:spPr>
          <a:xfrm>
            <a:off x="7281159" y="1040404"/>
            <a:ext cx="3912000" cy="6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CC7832"/>
              </a:buClr>
              <a:buSzPts val="1400"/>
            </a:pP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uk" sz="1867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arrLength 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arr.length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348459" y="1012748"/>
            <a:ext cx="6094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 вивести масив?</a:t>
            </a:r>
            <a:endParaRPr sz="1467"/>
          </a:p>
        </p:txBody>
      </p:sp>
      <p:sp>
        <p:nvSpPr>
          <p:cNvPr id="190" name="Google Shape;190;p26"/>
          <p:cNvSpPr txBox="1"/>
          <p:nvPr/>
        </p:nvSpPr>
        <p:spPr>
          <a:xfrm>
            <a:off x="5880661" y="2089523"/>
            <a:ext cx="6094400" cy="37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rgbClr val="CC7832"/>
              </a:buClr>
              <a:buSzPts val="1400"/>
            </a:pP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uk" sz="1867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lastElem 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arr[arr.length -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-288341" y="-32225"/>
            <a:ext cx="6755200" cy="8784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0" y="75683"/>
            <a:ext cx="6212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/>
            <a:r>
              <a:rPr lang="uk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Пам’ятка про масиви</a:t>
            </a:r>
            <a:endParaRPr sz="1467"/>
          </a:p>
        </p:txBody>
      </p:sp>
      <p:sp>
        <p:nvSpPr>
          <p:cNvPr id="193" name="Google Shape;193;p26"/>
          <p:cNvSpPr/>
          <p:nvPr/>
        </p:nvSpPr>
        <p:spPr>
          <a:xfrm>
            <a:off x="11306885" y="4731943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/>
          <p:nvPr/>
        </p:nvSpPr>
        <p:spPr>
          <a:xfrm>
            <a:off x="11094472" y="4610849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/>
          <p:nvPr/>
        </p:nvSpPr>
        <p:spPr>
          <a:xfrm>
            <a:off x="4899988" y="1056171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6"/>
          <p:cNvSpPr/>
          <p:nvPr/>
        </p:nvSpPr>
        <p:spPr>
          <a:xfrm>
            <a:off x="4687575" y="935077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/>
          <p:nvPr/>
        </p:nvSpPr>
        <p:spPr>
          <a:xfrm>
            <a:off x="11658081" y="34644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11445668" y="-86449"/>
            <a:ext cx="759200" cy="686000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348459" y="1632604"/>
            <a:ext cx="7089200" cy="5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rgbClr val="CC7832"/>
              </a:buClr>
              <a:buSzPts val="1200"/>
            </a:pPr>
            <a:r>
              <a:rPr lang="uk" sz="16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uk" sz="16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" sz="16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uk" sz="16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uk" sz="16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uk" sz="1600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uk" sz="16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uk" sz="16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 &lt; n</a:t>
            </a:r>
            <a:r>
              <a:rPr lang="uk" sz="16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uk" sz="16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uk" sz="16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++) </a:t>
            </a:r>
            <a:br>
              <a:rPr lang="uk" sz="16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6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</a:t>
            </a:r>
            <a:r>
              <a:rPr lang="uk" sz="16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uk" sz="16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(arr[</a:t>
            </a:r>
            <a:r>
              <a:rPr lang="uk" sz="16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uk" sz="16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 + </a:t>
            </a:r>
            <a:r>
              <a:rPr lang="uk" sz="1600">
                <a:solidFill>
                  <a:srgbClr val="6A8759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lang="uk" sz="16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" sz="16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3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395359" y="5456445"/>
            <a:ext cx="6094400" cy="1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rgbClr val="CC7832"/>
              </a:buClr>
              <a:buSzPts val="1400"/>
            </a:pP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uk" sz="1867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i 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 &lt; arr.length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uk" sz="1867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++){</a:t>
            </a:r>
            <a:b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arr[</a:t>
            </a:r>
            <a:r>
              <a:rPr lang="uk" sz="1867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 =(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uk" sz="1867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 random() *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</a:t>
            </a:r>
            <a:r>
              <a:rPr lang="uk" sz="1867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(arr[</a:t>
            </a:r>
            <a:r>
              <a:rPr lang="uk" sz="1867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 + </a:t>
            </a:r>
            <a:r>
              <a:rPr lang="uk" sz="1867">
                <a:solidFill>
                  <a:srgbClr val="6A8759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7599900" y="5332619"/>
            <a:ext cx="4369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 відсортувати масив? </a:t>
            </a:r>
            <a:endParaRPr sz="1467"/>
          </a:p>
        </p:txBody>
      </p:sp>
      <p:sp>
        <p:nvSpPr>
          <p:cNvPr id="202" name="Google Shape;202;p26"/>
          <p:cNvSpPr/>
          <p:nvPr/>
        </p:nvSpPr>
        <p:spPr>
          <a:xfrm>
            <a:off x="7607523" y="5854523"/>
            <a:ext cx="44584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rgbClr val="CC7832"/>
              </a:buClr>
              <a:buSzPts val="1400"/>
            </a:pP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[] arr = {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Arrays.</a:t>
            </a:r>
            <a:r>
              <a:rPr lang="uk" sz="1867" i="1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sort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(arr)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117836" y="2863756"/>
            <a:ext cx="6094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 перетворити на рядок масив?</a:t>
            </a:r>
            <a:endParaRPr sz="1467"/>
          </a:p>
        </p:txBody>
      </p:sp>
      <p:sp>
        <p:nvSpPr>
          <p:cNvPr id="204" name="Google Shape;204;p26"/>
          <p:cNvSpPr/>
          <p:nvPr/>
        </p:nvSpPr>
        <p:spPr>
          <a:xfrm>
            <a:off x="198831" y="3425355"/>
            <a:ext cx="6212400" cy="6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rgbClr val="CC7832"/>
              </a:buClr>
              <a:buSzPts val="1400"/>
            </a:pP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[] arr = {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System.</a:t>
            </a:r>
            <a:r>
              <a:rPr lang="uk" sz="1867" i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.println(Arrays.</a:t>
            </a:r>
            <a:r>
              <a:rPr lang="uk" sz="1867" i="1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toString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(arr))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212264" y="3313899"/>
            <a:ext cx="6212400" cy="1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buClr>
                <a:srgbClr val="CC7832"/>
              </a:buClr>
              <a:buSzPts val="1400"/>
            </a:pP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[] arr1 = {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[] arr2 = {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b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(Arrays.</a:t>
            </a:r>
            <a:r>
              <a:rPr lang="uk" sz="1867" i="1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equals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(arr1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arr2))</a:t>
            </a:r>
            <a:b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</a:t>
            </a:r>
            <a:r>
              <a:rPr lang="uk" sz="1867" i="1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.println(</a:t>
            </a:r>
            <a:r>
              <a:rPr lang="uk" sz="1867">
                <a:solidFill>
                  <a:srgbClr val="6A8759"/>
                </a:solidFill>
                <a:latin typeface="Courier New"/>
                <a:ea typeface="Courier New"/>
                <a:cs typeface="Courier New"/>
                <a:sym typeface="Courier New"/>
              </a:rPr>
              <a:t>"Масиви рівні!"</a:t>
            </a:r>
            <a:r>
              <a:rPr lang="uk" sz="1867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uk" sz="1867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4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6212264" y="2861980"/>
            <a:ext cx="6396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uk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Як порівняти масиви?</a:t>
            </a:r>
            <a:endParaRPr sz="1467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1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1C734-52C3-4C23-A1F2-563AF6BD4FC9}"/>
              </a:ext>
            </a:extLst>
          </p:cNvPr>
          <p:cNvSpPr txBox="1"/>
          <p:nvPr/>
        </p:nvSpPr>
        <p:spPr>
          <a:xfrm>
            <a:off x="457200" y="1228209"/>
            <a:ext cx="11420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 err="1"/>
              <a:t>Виведіть</a:t>
            </a:r>
            <a:r>
              <a:rPr lang="ru-RU" sz="3200" dirty="0"/>
              <a:t> </a:t>
            </a:r>
            <a:r>
              <a:rPr lang="ru-RU" sz="3200" dirty="0" err="1"/>
              <a:t>всі</a:t>
            </a:r>
            <a:r>
              <a:rPr lang="ru-RU" sz="3200" dirty="0"/>
              <a:t> </a:t>
            </a:r>
            <a:r>
              <a:rPr lang="ru-RU" sz="3200" dirty="0" err="1"/>
              <a:t>елементи</a:t>
            </a:r>
            <a:r>
              <a:rPr lang="ru-RU" sz="3200" dirty="0"/>
              <a:t> </a:t>
            </a:r>
            <a:r>
              <a:rPr lang="ru-RU" sz="3200" dirty="0" err="1"/>
              <a:t>масиву</a:t>
            </a:r>
            <a:r>
              <a:rPr lang="ru-RU" sz="3200" dirty="0"/>
              <a:t> у </a:t>
            </a:r>
            <a:r>
              <a:rPr lang="ru-RU" sz="3200" dirty="0" err="1"/>
              <a:t>зворотному</a:t>
            </a:r>
            <a:r>
              <a:rPr lang="ru-RU" sz="3200" dirty="0"/>
              <a:t> порядку.</a:t>
            </a:r>
            <a:endParaRPr lang="uk-UA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F4F4C-2FCE-4639-A216-5D5A4931E101}"/>
              </a:ext>
            </a:extLst>
          </p:cNvPr>
          <p:cNvSpPr txBox="1"/>
          <p:nvPr/>
        </p:nvSpPr>
        <p:spPr>
          <a:xfrm>
            <a:off x="457200" y="2151727"/>
            <a:ext cx="93440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= { 5, 10, 15 };</a:t>
            </a:r>
          </a:p>
          <a:p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i =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arr.Length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- 1; i &gt;= 0; i--)</a:t>
            </a:r>
          </a:p>
          <a:p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[i]);</a:t>
            </a:r>
          </a:p>
          <a:p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7776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FDDC4D8-B307-439C-AC1F-AD35FFB0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96601" cy="1325563"/>
          </a:xfrm>
        </p:spPr>
        <p:txBody>
          <a:bodyPr>
            <a:normAutofit/>
          </a:bodyPr>
          <a:lstStyle/>
          <a:p>
            <a:pPr algn="l"/>
            <a:r>
              <a:rPr lang="uk-UA" b="1" i="0" dirty="0">
                <a:solidFill>
                  <a:srgbClr val="000000"/>
                </a:solidFill>
                <a:effectLst/>
                <a:latin typeface="-apple-system"/>
              </a:rPr>
              <a:t>Приклад 2</a:t>
            </a: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3F874-60E4-4E2D-BE79-C42734DDE085}"/>
              </a:ext>
            </a:extLst>
          </p:cNvPr>
          <p:cNvSpPr txBox="1"/>
          <p:nvPr/>
        </p:nvSpPr>
        <p:spPr>
          <a:xfrm>
            <a:off x="457199" y="1396484"/>
            <a:ext cx="10239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 err="1"/>
              <a:t>Знайди</a:t>
            </a:r>
            <a:r>
              <a:rPr lang="ru-RU" sz="3200" dirty="0"/>
              <a:t> </a:t>
            </a:r>
            <a:r>
              <a:rPr lang="ru-RU" sz="3200" dirty="0" err="1"/>
              <a:t>найбільше</a:t>
            </a:r>
            <a:r>
              <a:rPr lang="ru-RU" sz="3200" dirty="0"/>
              <a:t> число в </a:t>
            </a:r>
            <a:r>
              <a:rPr lang="ru-RU" sz="3200" dirty="0" err="1"/>
              <a:t>масиві</a:t>
            </a:r>
            <a:r>
              <a:rPr lang="ru-RU" sz="3200" dirty="0"/>
              <a:t>.</a:t>
            </a:r>
            <a:endParaRPr lang="uk-UA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D6A92-6E82-4471-844F-76BD7598A8E6}"/>
              </a:ext>
            </a:extLst>
          </p:cNvPr>
          <p:cNvSpPr txBox="1"/>
          <p:nvPr/>
        </p:nvSpPr>
        <p:spPr>
          <a:xfrm>
            <a:off x="457199" y="1880116"/>
            <a:ext cx="119538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= { 12, 5, 30, 7 };</a:t>
            </a:r>
          </a:p>
          <a:p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[0];</a:t>
            </a:r>
          </a:p>
          <a:p>
            <a:endParaRPr lang="uk-UA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&gt;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($"Максимум: {</a:t>
            </a:r>
            <a:r>
              <a:rPr lang="uk-UA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uk-UA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}");</a:t>
            </a:r>
          </a:p>
        </p:txBody>
      </p:sp>
    </p:spTree>
    <p:extLst>
      <p:ext uri="{BB962C8B-B14F-4D97-AF65-F5344CB8AC3E}">
        <p14:creationId xmlns:p14="http://schemas.microsoft.com/office/powerpoint/2010/main" val="1523894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2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12541</TotalTime>
  <Words>1700</Words>
  <Application>Microsoft Office PowerPoint</Application>
  <PresentationFormat>Широкий екран</PresentationFormat>
  <Paragraphs>172</Paragraphs>
  <Slides>15</Slides>
  <Notes>14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15</vt:i4>
      </vt:variant>
    </vt:vector>
  </HeadingPairs>
  <TitlesOfParts>
    <vt:vector size="26" baseType="lpstr">
      <vt:lpstr>-apple-system</vt:lpstr>
      <vt:lpstr>Aptos</vt:lpstr>
      <vt:lpstr>Arial</vt:lpstr>
      <vt:lpstr>Calibri</vt:lpstr>
      <vt:lpstr>Calibri Light</vt:lpstr>
      <vt:lpstr>Cascadia Code</vt:lpstr>
      <vt:lpstr>Comfortaa</vt:lpstr>
      <vt:lpstr>Courier New</vt:lpstr>
      <vt:lpstr>Roboto Mono</vt:lpstr>
      <vt:lpstr>Times New Roman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Приклад 1</vt:lpstr>
      <vt:lpstr>Приклад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Шейко Ростислав Олександрович</dc:creator>
  <cp:lastModifiedBy>Шейко Ростислав Олександрович</cp:lastModifiedBy>
  <cp:revision>101</cp:revision>
  <dcterms:created xsi:type="dcterms:W3CDTF">2024-06-01T09:56:10Z</dcterms:created>
  <dcterms:modified xsi:type="dcterms:W3CDTF">2025-08-03T20:55:52Z</dcterms:modified>
</cp:coreProperties>
</file>