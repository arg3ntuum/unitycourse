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1" r:id="rId3"/>
    <p:sldId id="262" r:id="rId4"/>
    <p:sldId id="263" r:id="rId5"/>
    <p:sldId id="292" r:id="rId6"/>
    <p:sldId id="290" r:id="rId7"/>
    <p:sldId id="291" r:id="rId8"/>
    <p:sldId id="258" r:id="rId9"/>
    <p:sldId id="259" r:id="rId10"/>
    <p:sldId id="260" r:id="rId11"/>
    <p:sldId id="264" r:id="rId12"/>
    <p:sldId id="265" r:id="rId13"/>
    <p:sldId id="266" r:id="rId14"/>
    <p:sldId id="267" r:id="rId15"/>
    <p:sldId id="269" r:id="rId16"/>
    <p:sldId id="268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6" r:id="rId33"/>
    <p:sldId id="287" r:id="rId34"/>
    <p:sldId id="293" r:id="rId35"/>
    <p:sldId id="288" r:id="rId36"/>
    <p:sldId id="294" r:id="rId3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0" d="100"/>
          <a:sy n="80" d="100"/>
        </p:scale>
        <p:origin x="61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1528B-9B6F-4248-9BF4-341C8496BA36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0F577-1FC1-4001-B2C2-9EAF79F39B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806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2191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1F6D5-EE77-F05F-8B36-EE698B21D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3D416F-B419-0893-CF2A-60046F97A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563C5-2ABA-6BE0-F79B-E9DB4BDE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A4729E-F6C7-6BDF-624A-6D985B5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99CCF-CF8A-37C1-30D7-3A4F12E7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53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A7231-C686-D8CF-FA17-0D8627AB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6263C-782F-0D49-1AA1-2BD5EF1B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FAE1C-22C9-0EC4-2ED7-9EEA6D4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513AF-D9EC-2C9B-46F0-FBC11B99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56EC0D-BDCD-2993-E5B6-0E8FE24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4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93858-E4D8-D43B-ACB3-0C9AC6B4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040E3-EA86-307F-07E0-BC7B3D6F1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AE8B8-12AD-19AA-1620-86D64CDA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6F026-C83D-F5A0-ED0E-2732983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4D0E8-1B97-2B88-CD05-460E8D35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36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F168-E018-8BDB-B8FF-CC85551D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7B9E1-A4ED-1B6A-D2BD-234805750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711F3B-E99A-650B-790B-EB9151C87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4DA05C-7C21-661B-A41E-A547C635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32F842-7036-1B37-4C83-51CF5CEB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764A6A-7702-7ADF-5C4F-9C5F070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304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EFC3-A00E-807A-05C0-DF79AA11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33749-A6A0-DF88-073F-1B884AAF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B0E37A-0FCA-2171-00F0-57CBBAF9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F75DC5-C2F0-8632-D5C2-78870B413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50BBA9-0F72-E537-3AA6-E7220DF4F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1BD10E-2051-5B25-60B5-3B3C1F25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1E8CCA-C8B9-B59E-93D2-886D22AC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68BBCF-B605-D7C3-4AAB-2C25A24E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705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9D7A6-AA5A-4E60-C4B7-DBCAEB9C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54A816-DE8A-F94F-C031-AF59E48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8AEBC4-A90F-6450-4083-5BE5A503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55FBB7-22A4-3058-7C37-CEE2D484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85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350C2A-8EFE-9689-19C1-BF14E82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8B880-58A1-F037-1F63-5083FFA5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2F4755-3B72-F832-ABB2-A0AEFEFC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89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A3BB8-B52E-7EBB-C0BE-35834C4E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3E0E39-1E9D-35C3-4F60-A75C61D8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D482B5-6263-8E79-4B0C-E15B27B9A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289D75-50AD-DA3E-808C-305E4820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A4FEA-94A7-4925-FE8D-43CA865E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861DBB-094D-CF71-2FF9-19A30C11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09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7B8C0-2FB7-6B3A-8E33-A5354D6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ABF2AA-3490-C8C9-E0EC-E11BE8F7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7CE27-4946-90C2-B284-DCBA830B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B0D4C-582D-74B3-9532-199CDED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BF8CF-6DE6-47BA-C3FB-BF90B375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C40B4-5CEF-7836-05EF-3B723EB2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14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A3CA9-4FCE-04E1-42BD-5B8A476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39AA0-5AD0-1B0E-FA81-48CE982A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A6C21-4BC9-7300-3FB7-F3398A82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7A3A4-7067-8108-E4DF-8C6E4CD8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0FF2-CD08-629F-DDE1-7A138E0A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687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CB9DE7-6C28-F2AB-69D7-564D017B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C1730D-0865-98A5-9C17-905D8F0B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7782F-B42D-DC1E-E695-5BB95E7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8BE4FF-3308-A3BB-13AB-CB0656A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2E754-E68F-D875-966D-BDE24CA1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747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21754-49F4-99BC-3186-F93ABDD1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49F773-8CE3-A1B9-D56C-9ADA522E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54FD-E9A9-BB88-3366-5240E179C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972C-1D59-4812-9879-0ADA85AB86FA}" type="datetimeFigureOut">
              <a:rPr lang="uk-UA" smtClean="0"/>
              <a:t>11.07.2025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AFDBA-1AD2-2DC3-7099-9ED422E2C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68F6C-F98C-ABE5-567C-0C5A0D209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2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sv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4326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858000"/>
            <a:chOff x="-635000" y="-635000"/>
            <a:chExt cx="12192000" cy="6858000"/>
          </a:xfrm>
          <a:noFill/>
        </p:grpSpPr>
        <p:sp>
          <p:nvSpPr>
            <p:cNvPr id="10" name="Shape4323">
              <a:extLst>
                <a:ext uri="{FF2B5EF4-FFF2-40B4-BE49-F238E27FC236}">
                  <a16:creationId xmlns:a16="http://schemas.microsoft.com/office/drawing/2014/main" id="{141CCFB4-2F64-06B8-AF1D-C9E48150CD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/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</p:grpSp>
      <p:grpSp>
        <p:nvGrpSpPr>
          <p:cNvPr id="3" name="Shape4327"/>
          <p:cNvGrpSpPr/>
          <p:nvPr>
            <p:custDataLst>
              <p:tags r:id="rId2"/>
            </p:custDataLst>
          </p:nvPr>
        </p:nvGrpSpPr>
        <p:grpSpPr>
          <a:xfrm>
            <a:off x="5197365" y="984555"/>
            <a:ext cx="1797269" cy="1797269"/>
            <a:chOff x="4562366" y="349555"/>
            <a:chExt cx="1797269" cy="1797269"/>
          </a:xfrm>
        </p:grpSpPr>
        <p:pic>
          <p:nvPicPr>
            <p:cNvPr id="5" name="Shape4328"/>
            <p:cNvPicPr/>
            <p:nvPr>
              <p:custDataLst>
                <p:tags r:id="rId6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2366" y="349555"/>
              <a:ext cx="1797269" cy="1797269"/>
            </a:xfrm>
            <a:prstGeom prst="rect">
              <a:avLst/>
            </a:prstGeom>
          </p:spPr>
        </p:pic>
      </p:grpSp>
      <p:grpSp>
        <p:nvGrpSpPr>
          <p:cNvPr id="7" name="Shape4329"/>
          <p:cNvGrpSpPr/>
          <p:nvPr>
            <p:custDataLst>
              <p:tags r:id="rId3"/>
            </p:custDataLst>
          </p:nvPr>
        </p:nvGrpSpPr>
        <p:grpSpPr>
          <a:xfrm>
            <a:off x="5557345" y="3238244"/>
            <a:ext cx="1077311" cy="55245"/>
            <a:chOff x="4925483" y="2578947"/>
            <a:chExt cx="1077311" cy="55245"/>
          </a:xfrm>
        </p:grpSpPr>
        <p:sp>
          <p:nvSpPr>
            <p:cNvPr id="8" name="Shape4325">
              <a:extLst>
                <a:ext uri="{FF2B5EF4-FFF2-40B4-BE49-F238E27FC236}">
                  <a16:creationId xmlns:a16="http://schemas.microsoft.com/office/drawing/2014/main" id="{21F15AB7-005A-EB90-56E9-C5761A58FD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4925483" y="2578947"/>
              <a:ext cx="1077311" cy="55245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12717"/>
              <a:endParaRPr lang="en-US" sz="800">
                <a:solidFill>
                  <a:schemeClr val="tx1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6" name="Shape4324">
            <a:extLst>
              <a:ext uri="{FF2B5EF4-FFF2-40B4-BE49-F238E27FC236}">
                <a16:creationId xmlns:a16="http://schemas.microsoft.com/office/drawing/2014/main" id="{9CB60D78-BFA7-FBF3-D935-4D20CC0329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90387" y="3568704"/>
            <a:ext cx="9411231" cy="2894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Тема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уроку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:
</a:t>
            </a: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Структура проекту. </a:t>
            </a:r>
          </a:p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Змінні</a:t>
            </a:r>
            <a:endParaRPr lang="en-US" sz="6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BE045-04C0-4091-B2BF-1F8172ABF80C}"/>
              </a:ext>
            </a:extLst>
          </p:cNvPr>
          <p:cNvSpPr txBox="1"/>
          <p:nvPr/>
        </p:nvSpPr>
        <p:spPr>
          <a:xfrm>
            <a:off x="400049" y="1473465"/>
            <a:ext cx="38538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Для початку треба створити проект</a:t>
            </a:r>
            <a:r>
              <a:rPr lang="en-US" sz="2400" dirty="0">
                <a:solidFill>
                  <a:srgbClr val="000000"/>
                </a:solidFill>
              </a:rPr>
              <a:t>. </a:t>
            </a:r>
            <a:r>
              <a:rPr lang="uk-UA" sz="2400" dirty="0">
                <a:solidFill>
                  <a:srgbClr val="000000"/>
                </a:solidFill>
              </a:rPr>
              <a:t>Виконайте наступні кроки: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1. Оберіть в мовах програмування «</a:t>
            </a:r>
            <a:r>
              <a:rPr lang="en-US" sz="2400" dirty="0">
                <a:solidFill>
                  <a:srgbClr val="000000"/>
                </a:solidFill>
              </a:rPr>
              <a:t>C#</a:t>
            </a:r>
            <a:r>
              <a:rPr lang="uk-UA" sz="2400" dirty="0">
                <a:solidFill>
                  <a:srgbClr val="000000"/>
                </a:solidFill>
              </a:rPr>
              <a:t>» в лівому </a:t>
            </a:r>
            <a:r>
              <a:rPr lang="uk-UA" sz="2400" dirty="0" err="1">
                <a:solidFill>
                  <a:srgbClr val="000000"/>
                </a:solidFill>
              </a:rPr>
              <a:t>випадаючому</a:t>
            </a:r>
            <a:r>
              <a:rPr lang="uk-UA" sz="2400" dirty="0">
                <a:solidFill>
                  <a:srgbClr val="000000"/>
                </a:solidFill>
              </a:rPr>
              <a:t> меню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	2. </a:t>
            </a:r>
            <a:r>
              <a:rPr lang="uk-UA" sz="2400" dirty="0">
                <a:solidFill>
                  <a:srgbClr val="000000"/>
                </a:solidFill>
              </a:rPr>
              <a:t>Оберіть 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uk-UA" sz="2400" dirty="0">
                <a:solidFill>
                  <a:srgbClr val="000000"/>
                </a:solidFill>
              </a:rPr>
              <a:t>«Консоль (.</a:t>
            </a:r>
            <a:r>
              <a:rPr lang="en-US" sz="2400" dirty="0">
                <a:solidFill>
                  <a:srgbClr val="000000"/>
                </a:solidFill>
              </a:rPr>
              <a:t>NET Framework</a:t>
            </a:r>
            <a:r>
              <a:rPr lang="uk-UA" sz="2400" dirty="0">
                <a:solidFill>
                  <a:srgbClr val="000000"/>
                </a:solidFill>
              </a:rPr>
              <a:t>)» в правому </a:t>
            </a:r>
            <a:r>
              <a:rPr lang="uk-UA" sz="2400" dirty="0" err="1">
                <a:solidFill>
                  <a:srgbClr val="000000"/>
                </a:solidFill>
              </a:rPr>
              <a:t>випадаючому</a:t>
            </a:r>
            <a:r>
              <a:rPr lang="uk-UA" sz="2400" dirty="0">
                <a:solidFill>
                  <a:srgbClr val="000000"/>
                </a:solidFill>
              </a:rPr>
              <a:t> меню.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3. Оберіть «Консольний додаток».</a:t>
            </a:r>
            <a:endParaRPr lang="uk-UA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CC266B-FFC3-4F37-AEEE-E762AC985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719" y="1473465"/>
            <a:ext cx="6966266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60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7992D6-76F5-45DE-8736-FCD92E185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903" y="1441021"/>
            <a:ext cx="7791797" cy="51883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400049" y="1473465"/>
            <a:ext cx="385385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Виконайте наступні кроки: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1. У обведене червоне поле напишіть назву латинськими (англійськими) літерами.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	2. </a:t>
            </a:r>
            <a:r>
              <a:rPr lang="uk-UA" sz="2400" dirty="0">
                <a:solidFill>
                  <a:srgbClr val="000000"/>
                </a:solidFill>
              </a:rPr>
              <a:t>Оберіть «Місце знаходження вашого проекту» за допомогою наступного синього поля.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3. Оберіть «</a:t>
            </a:r>
            <a:r>
              <a:rPr lang="en-US" sz="2400" dirty="0">
                <a:solidFill>
                  <a:srgbClr val="000000"/>
                </a:solidFill>
              </a:rPr>
              <a:t>Next</a:t>
            </a:r>
            <a:r>
              <a:rPr lang="uk-UA" sz="2400" dirty="0">
                <a:solidFill>
                  <a:srgbClr val="000000"/>
                </a:solidFill>
              </a:rPr>
              <a:t>».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59782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89149" y="1473465"/>
            <a:ext cx="38351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Виконайте наступні кроки:</a:t>
            </a:r>
          </a:p>
          <a:p>
            <a:r>
              <a:rPr lang="uk-UA" sz="2400" dirty="0">
                <a:solidFill>
                  <a:srgbClr val="000000"/>
                </a:solidFill>
              </a:rPr>
              <a:t>	</a:t>
            </a:r>
            <a:r>
              <a:rPr lang="en-US" sz="2400" dirty="0">
                <a:solidFill>
                  <a:srgbClr val="000000"/>
                </a:solidFill>
              </a:rPr>
              <a:t>1. </a:t>
            </a:r>
            <a:r>
              <a:rPr lang="uk-UA" sz="2400" dirty="0">
                <a:solidFill>
                  <a:srgbClr val="000000"/>
                </a:solidFill>
              </a:rPr>
              <a:t>Натискайте </a:t>
            </a:r>
            <a:r>
              <a:rPr lang="en-US" sz="2400" dirty="0">
                <a:solidFill>
                  <a:srgbClr val="000000"/>
                </a:solidFill>
              </a:rPr>
              <a:t>Create.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endParaRPr lang="uk-UA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  <a:p>
            <a:pPr algn="ctr"/>
            <a:r>
              <a:rPr lang="uk-UA" sz="2400" dirty="0">
                <a:solidFill>
                  <a:srgbClr val="000000"/>
                </a:solidFill>
              </a:rPr>
              <a:t>Вітаю вас у світі програмування!</a:t>
            </a:r>
            <a:endParaRPr lang="uk-UA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74AC15-E9B4-4A67-824E-DCA521CA5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5" y="1342951"/>
            <a:ext cx="8073776" cy="537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71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Створення проекту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89149" y="1473465"/>
            <a:ext cx="38351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Саме таке вікно у вас повинно було відкритись.</a:t>
            </a:r>
            <a:endParaRPr lang="uk-UA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D38976-E18F-4935-974F-14D3CD7D5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941321"/>
            <a:ext cx="831924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5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Як додати бібліотеки?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660649" y="2616465"/>
            <a:ext cx="38351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Для того, щоб додати бібліотеки </a:t>
            </a:r>
            <a:r>
              <a:rPr lang="uk-UA" sz="2400" dirty="0" err="1">
                <a:solidFill>
                  <a:srgbClr val="000000"/>
                </a:solidFill>
              </a:rPr>
              <a:t>недостаючі</a:t>
            </a:r>
            <a:r>
              <a:rPr lang="uk-UA" sz="2400" dirty="0">
                <a:solidFill>
                  <a:srgbClr val="000000"/>
                </a:solidFill>
              </a:rPr>
              <a:t>, натисніть:</a:t>
            </a:r>
            <a:endParaRPr lang="uk-UA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96638C-563D-491D-AAB0-44CC7CB30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562" y="1917832"/>
            <a:ext cx="5754289" cy="302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4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Як додати бібліотеки?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99028-F2F0-49E9-AD31-DB896BD54F4D}"/>
              </a:ext>
            </a:extLst>
          </p:cNvPr>
          <p:cNvSpPr txBox="1"/>
          <p:nvPr/>
        </p:nvSpPr>
        <p:spPr>
          <a:xfrm>
            <a:off x="660649" y="2616465"/>
            <a:ext cx="38351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000000"/>
                </a:solidFill>
              </a:rPr>
              <a:t>Переконайтесь, що у вас інстальовані наступні бібліотеки:</a:t>
            </a:r>
            <a:endParaRPr lang="uk-UA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A3F5A3-7688-4DCB-AAFF-687DF264DC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6" t="11710" r="29044" b="28433"/>
          <a:stretch/>
        </p:blipFill>
        <p:spPr>
          <a:xfrm>
            <a:off x="4940051" y="1238249"/>
            <a:ext cx="6591300" cy="32181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39D895-E697-472E-AF61-69C61C92D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4629151"/>
            <a:ext cx="59912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3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4400" b="1" i="0" dirty="0">
                <a:solidFill>
                  <a:srgbClr val="000000"/>
                </a:solidFill>
                <a:effectLst/>
                <a:latin typeface="-apple-system"/>
              </a:rPr>
              <a:t>Виконання програми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B76-9F72-445F-8282-B4725C7868B1}"/>
              </a:ext>
            </a:extLst>
          </p:cNvPr>
          <p:cNvSpPr txBox="1"/>
          <p:nvPr/>
        </p:nvSpPr>
        <p:spPr>
          <a:xfrm>
            <a:off x="400049" y="1404461"/>
            <a:ext cx="113252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Весь код програми мовою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міститься у файли з розширенням </a:t>
            </a:r>
            <a:r>
              <a:rPr lang="uk-UA" sz="2400" b="1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cs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За замовчуванням у проекті, який створюється у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Visual Studio (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а також при використанні 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 CLI),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вже є один файл з кодом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 -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файл </a:t>
            </a:r>
            <a:r>
              <a:rPr lang="en-US" sz="2400" b="1" i="0" dirty="0" err="1">
                <a:solidFill>
                  <a:srgbClr val="000000"/>
                </a:solidFill>
                <a:effectLst/>
              </a:rPr>
              <a:t>Program.cs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з таким вмістом:</a:t>
            </a:r>
            <a:endParaRPr lang="uk-UA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5E71CD-A0F1-4286-9CE7-6928E7CFDA91}"/>
              </a:ext>
            </a:extLst>
          </p:cNvPr>
          <p:cNvSpPr txBox="1"/>
          <p:nvPr/>
        </p:nvSpPr>
        <p:spPr>
          <a:xfrm>
            <a:off x="400049" y="5453539"/>
            <a:ext cx="113252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Саме код файлу </a:t>
            </a:r>
            <a:r>
              <a:rPr lang="en-US" sz="2400" b="1" i="0" dirty="0" err="1">
                <a:solidFill>
                  <a:srgbClr val="000000"/>
                </a:solidFill>
                <a:effectLst/>
              </a:rPr>
              <a:t>Program.cs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виконується за умовчанням, якщо ми запустимо проект виконання. Але за потреби ми також можемо додавати інші файли з кодом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C#.</a:t>
            </a:r>
            <a:endParaRPr lang="uk-UA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765D78-174C-4CCF-86FC-0357BE0DC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007" y="2730024"/>
            <a:ext cx="3363985" cy="257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58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Інструкції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B76-9F72-445F-8282-B4725C7868B1}"/>
              </a:ext>
            </a:extLst>
          </p:cNvPr>
          <p:cNvSpPr txBox="1"/>
          <p:nvPr/>
        </p:nvSpPr>
        <p:spPr>
          <a:xfrm>
            <a:off x="466726" y="1404461"/>
            <a:ext cx="112585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b="0" i="0" dirty="0">
                <a:solidFill>
                  <a:srgbClr val="000000"/>
                </a:solidFill>
                <a:effectLst/>
              </a:rPr>
              <a:t>Базовим будівельним блоком програми є </a:t>
            </a:r>
            <a:r>
              <a:rPr lang="uk-UA" sz="2400" b="1" i="0" dirty="0">
                <a:solidFill>
                  <a:srgbClr val="000000"/>
                </a:solidFill>
                <a:effectLst/>
              </a:rPr>
              <a:t>інструкції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 (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statement).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Інструкція представляє певну дію, наприклад, арифметичну операцію, виклик методу, оголошення змінної та присвоєння їй значення. Наприкінці кожної інструкції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ставиться крапка з комою (;). Цей знак вказує компілятор на кінець інструкції. Наприклад, у проекті консольної програми, який створюється за замовчуванням, є такий рядок:</a:t>
            </a:r>
            <a:endParaRPr lang="uk-UA" sz="24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A83AC41-6E10-432B-8B6F-1EC83F132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2" y="3712785"/>
            <a:ext cx="1125854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5E0D20C-4628-44FA-89DF-26E16003C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6" y="3999012"/>
            <a:ext cx="112585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Цей рядок представляє виклик методу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який виводить на консоль рядок. У разі виклик методу є інструкцією і тому завершується точкою з комою.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3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Інструкції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4877F-3FD0-4D0E-A44B-2D03394683A0}"/>
              </a:ext>
            </a:extLst>
          </p:cNvPr>
          <p:cNvSpPr txBox="1"/>
          <p:nvPr/>
        </p:nvSpPr>
        <p:spPr>
          <a:xfrm>
            <a:off x="552450" y="1400086"/>
            <a:ext cx="11029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Набір інструкцій може поєднуватися в блок коду. Блок коду полягає у фігурних дужках, а інструкції поміщаються між відкриває і закриває фігурними дужками.</a:t>
            </a:r>
            <a:r>
              <a:rPr kumimoji="0" lang="en-US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+mn-lt"/>
              </a:rPr>
              <a:t>Наприклад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+mn-lt"/>
              </a:rPr>
              <a:t>змінимо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 код файлу 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+mn-lt"/>
              </a:rPr>
              <a:t>Program.cs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 на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+mn-lt"/>
              </a:rPr>
              <a:t>наступний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A44CB-E75E-4BFD-8D9D-0D0600867CB3}"/>
              </a:ext>
            </a:extLst>
          </p:cNvPr>
          <p:cNvSpPr txBox="1"/>
          <p:nvPr/>
        </p:nvSpPr>
        <p:spPr>
          <a:xfrm>
            <a:off x="552450" y="5616485"/>
            <a:ext cx="110299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Тут блок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містить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дві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інструкції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. І при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виконанні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цього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коду,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виведе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два рядки:</a:t>
            </a:r>
          </a:p>
          <a:p>
            <a:br>
              <a:rPr lang="ru-RU" sz="2400" b="0" i="0" dirty="0">
                <a:solidFill>
                  <a:srgbClr val="000000"/>
                </a:solidFill>
                <a:effectLst/>
              </a:rPr>
            </a:br>
            <a:endParaRPr lang="uk-UA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286EBE-A04C-4063-ACFA-2C4CEACF340E}"/>
              </a:ext>
            </a:extLst>
          </p:cNvPr>
          <p:cNvSpPr txBox="1"/>
          <p:nvPr/>
        </p:nvSpPr>
        <p:spPr>
          <a:xfrm>
            <a:off x="609600" y="2540188"/>
            <a:ext cx="62007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endParaRPr lang="uk-UA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Test2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uk-UA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Вітаю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 символу { </a:t>
            </a:r>
            <a:r>
              <a:rPr lang="ru-RU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починається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блок коду</a:t>
            </a:r>
            <a:endParaRPr lang="ru-RU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uk-UA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Вітаю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block!"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uk-UA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Гарної подорожі у світі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C#"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 символу } </a:t>
            </a:r>
            <a:r>
              <a:rPr lang="ru-RU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закінчується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блок коду</a:t>
            </a:r>
            <a:endParaRPr lang="ru-RU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uk-U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uk-UA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570977-B102-4616-B051-D66C45C3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263" y="2612847"/>
            <a:ext cx="5640248" cy="30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34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Інструкції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F84A6-84B2-4523-8B3C-E4A1FD89DF8D}"/>
              </a:ext>
            </a:extLst>
          </p:cNvPr>
          <p:cNvSpPr txBox="1"/>
          <p:nvPr/>
        </p:nvSpPr>
        <p:spPr>
          <a:xfrm>
            <a:off x="314324" y="1314361"/>
            <a:ext cx="103917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Тут блок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містить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дві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інструкції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. І при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виконанні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цього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коду,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виведе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три рядки:</a:t>
            </a:r>
          </a:p>
          <a:p>
            <a:br>
              <a:rPr lang="ru-RU" sz="2400" b="0" i="0" dirty="0">
                <a:solidFill>
                  <a:srgbClr val="000000"/>
                </a:solidFill>
                <a:effectLst/>
              </a:rPr>
            </a:br>
            <a:endParaRPr lang="uk-UA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8C604A-2E7C-4132-A891-42D8A98DE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2" y="2068413"/>
            <a:ext cx="11801477" cy="92333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В?таю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ru-RU" altLang="uk-UA" b="0" i="0" u="none" strike="noStrike" cap="none" normalizeH="0" baseline="0" dirty="0">
              <a:ln>
                <a:noFill/>
              </a:ln>
              <a:solidFill>
                <a:srgbClr val="EEEEE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В?таю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подорож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у </a:t>
            </a:r>
            <a:r>
              <a:rPr kumimoji="0" lang="ru-RU" altLang="uk-UA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св?т</a:t>
            </a:r>
            <a:r>
              <a:rPr kumimoji="0" lang="ru-RU" altLang="uk-UA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C#</a:t>
            </a:r>
            <a:endParaRPr kumimoji="0" lang="uk-UA" altLang="uk-UA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520B8-A2FF-41EF-B85F-0616F0E9A292}"/>
              </a:ext>
            </a:extLst>
          </p:cNvPr>
          <p:cNvSpPr txBox="1"/>
          <p:nvPr/>
        </p:nvSpPr>
        <p:spPr>
          <a:xfrm>
            <a:off x="314323" y="3046302"/>
            <a:ext cx="11506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</a:rPr>
              <a:t>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цьому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блоці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дві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інструкції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які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виводять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на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певний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рядок.</a:t>
            </a:r>
            <a:endParaRPr lang="uk-UA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0049E-BCB7-4026-9809-48394C08A73A}"/>
              </a:ext>
            </a:extLst>
          </p:cNvPr>
          <p:cNvSpPr txBox="1"/>
          <p:nvPr/>
        </p:nvSpPr>
        <p:spPr>
          <a:xfrm>
            <a:off x="314323" y="364859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</a:rPr>
              <a:t>Одні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блоки коду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можуть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містити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інші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блоки:</a:t>
            </a:r>
            <a:endParaRPr lang="uk-UA" sz="24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9259BAB-CAF9-4B8D-8D53-88E4E2577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3" y="4066311"/>
            <a:ext cx="11353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"Перший блок"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{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"Другий блок"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}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645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 err="1">
                <a:solidFill>
                  <a:srgbClr val="000000"/>
                </a:solidFill>
                <a:latin typeface="-apple-system"/>
              </a:rPr>
              <a:t>Регістрозалежність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F84A6-84B2-4523-8B3C-E4A1FD89DF8D}"/>
              </a:ext>
            </a:extLst>
          </p:cNvPr>
          <p:cNvSpPr txBox="1"/>
          <p:nvPr/>
        </p:nvSpPr>
        <p:spPr>
          <a:xfrm>
            <a:off x="314325" y="1352461"/>
            <a:ext cx="103917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є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регістрозалежною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 мовою. Це означає, що в залежності від регістру символів певні назви можуть представляти різні класи, методи, змінні і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т.д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. </a:t>
            </a:r>
          </a:p>
          <a:p>
            <a:pPr algn="l"/>
            <a:endParaRPr lang="uk-UA" sz="2400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Наприклад, для виведення на консоль використовується метод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-apple-system"/>
              </a:rPr>
              <a:t>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 –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його ім'я починається саме з великої літери: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WriteLine". </a:t>
            </a:r>
            <a:endParaRPr lang="uk-UA" sz="24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uk-UA" sz="2400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Якщо ми замість "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-apple-system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"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напишемо "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-apple-system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",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то програма не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скомпілюється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, тому що даний метод обов'язково має називатися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WriteLine",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а не "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-apple-system"/>
              </a:rPr>
              <a:t>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"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або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WRITELINE"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або якось інакше.</a:t>
            </a:r>
          </a:p>
        </p:txBody>
      </p:sp>
    </p:spTree>
    <p:extLst>
      <p:ext uri="{BB962C8B-B14F-4D97-AF65-F5344CB8AC3E}">
        <p14:creationId xmlns:p14="http://schemas.microsoft.com/office/powerpoint/2010/main" val="3476856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Коментарі</a:t>
            </a:r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0D0E1-41EE-4C19-BCD8-E02A97515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26" y="1254244"/>
            <a:ext cx="1173971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Важливою частиною програмного коду є коментарі.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400" dirty="0">
              <a:solidFill>
                <a:srgbClr val="000000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Вони не є частиною програми, при компіляції вони ігноруються. Проте коментарі роблять код програми зрозумілішим, допомагаючи зрозуміти ті чи інші його частини.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є два типи коментарів: однорядковий та багаторядковий. Однорядковий коментар розміщується на одному рядку після подвійного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слішу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//. А багаторядковий коментар полягає між символами /* текст коментаря */. Він може розміщуватись на декількох рядках. Наприклад: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0C07F-5161-4193-8FA5-394BA0C0D7E1}"/>
              </a:ext>
            </a:extLst>
          </p:cNvPr>
          <p:cNvSpPr txBox="1"/>
          <p:nvPr/>
        </p:nvSpPr>
        <p:spPr>
          <a:xfrm>
            <a:off x="324464" y="4648363"/>
            <a:ext cx="115430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перша программа на C#,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яка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виводить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подорожі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світі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</a:t>
            </a:r>
            <a:r>
              <a:rPr lang="en-US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#”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algn="l" fontAlgn="base"/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Вітаю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");//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Виводимо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строку "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Вітаю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endParaRPr lang="en-US" sz="1400" b="0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fontAlgn="base"/>
            <a:r>
              <a:rPr lang="en-US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uk-U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або можна перед якоюсь дією ставити</a:t>
            </a:r>
          </a:p>
          <a:p>
            <a:pPr algn="l" fontAlgn="base"/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Виводимо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строку "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подорожі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у </a:t>
            </a:r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світі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C#"</a:t>
            </a:r>
          </a:p>
          <a:p>
            <a:pPr algn="l" fontAlgn="base"/>
            <a:r>
              <a:rPr lang="ru-RU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Гарної подорожі у світі </a:t>
            </a:r>
            <a:r>
              <a:rPr lang="ru-RU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C#");</a:t>
            </a:r>
          </a:p>
        </p:txBody>
      </p:sp>
    </p:spTree>
    <p:extLst>
      <p:ext uri="{BB962C8B-B14F-4D97-AF65-F5344CB8AC3E}">
        <p14:creationId xmlns:p14="http://schemas.microsoft.com/office/powerpoint/2010/main" val="1315322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Файл проекту</a:t>
            </a:r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0D0E1-41EE-4C19-BCD8-E02A97515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64" y="1322866"/>
            <a:ext cx="11543071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У кожному проекті проекту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C#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є файл, який відповідає за загальну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конфгурацію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 проекту. За промовчанням цей файл називається </a:t>
            </a:r>
            <a:r>
              <a:rPr lang="uk-UA" sz="2400" b="1" i="0" dirty="0" err="1">
                <a:solidFill>
                  <a:srgbClr val="000000"/>
                </a:solidFill>
                <a:effectLst/>
                <a:latin typeface="-apple-system"/>
              </a:rPr>
              <a:t>Назва_проекту</a:t>
            </a:r>
            <a:r>
              <a:rPr lang="uk-UA" sz="24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-apple-system"/>
              </a:rPr>
              <a:t>csproj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Отже, відкриємо цей файл. Для цього або подвійним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-apple-system"/>
              </a:rPr>
              <a:t>кліком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-apple-system"/>
              </a:rPr>
              <a:t> лівою кнопкою миші натиснемо на назву проекту, або натиснемо на назву проекту правою кнопкою миші і в меню виберемо пункт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-apple-system"/>
              </a:rPr>
              <a:t>Edit Project File</a:t>
            </a:r>
            <a:r>
              <a:rPr lang="uk-UA" sz="2400" b="1" i="0" dirty="0"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2BA122-F68D-4FAE-894A-00738CE33B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94" b="43869"/>
          <a:stretch/>
        </p:blipFill>
        <p:spPr>
          <a:xfrm>
            <a:off x="1199534" y="3429000"/>
            <a:ext cx="9792929" cy="2467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4AABD7-6E95-44E9-B43B-C2B09733B557}"/>
              </a:ext>
            </a:extLst>
          </p:cNvPr>
          <p:cNvSpPr txBox="1"/>
          <p:nvPr/>
        </p:nvSpPr>
        <p:spPr>
          <a:xfrm>
            <a:off x="314632" y="6046442"/>
            <a:ext cx="11543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Після цього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Visual Studio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відкриє нам файл проекту, який виглядатиме, як малюнок вище.</a:t>
            </a:r>
          </a:p>
          <a:p>
            <a:br>
              <a:rPr lang="uk-UA" sz="2400" dirty="0"/>
            </a:b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977701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Файл проекту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836F9-83B8-43F6-97AF-016BEB6360E5}"/>
              </a:ext>
            </a:extLst>
          </p:cNvPr>
          <p:cNvSpPr txBox="1"/>
          <p:nvPr/>
        </p:nvSpPr>
        <p:spPr>
          <a:xfrm>
            <a:off x="352425" y="219851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Project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Sdk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Microsoft.NET.Sdk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PropertyGroup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OutputType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OutputType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TargetFramework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net8.0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TargetFramework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ImplicitUsings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ImplicitUsings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PropertyGroup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uk-UA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Project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C7456-831B-4407-B968-6608FC0A0A9C}"/>
              </a:ext>
            </a:extLst>
          </p:cNvPr>
          <p:cNvSpPr txBox="1"/>
          <p:nvPr/>
        </p:nvSpPr>
        <p:spPr>
          <a:xfrm>
            <a:off x="352425" y="1367522"/>
            <a:ext cx="108775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Після цього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Visual Studio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відкриє нам файл проекту, який виглядатиме</a:t>
            </a:r>
            <a:r>
              <a:rPr lang="uk-UA" sz="2400" dirty="0">
                <a:solidFill>
                  <a:srgbClr val="000000"/>
                </a:solidFill>
              </a:rPr>
              <a:t> наступним чином:</a:t>
            </a:r>
            <a:endParaRPr lang="uk-UA" sz="24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40595-5A50-41F7-9D59-56EAC5958EB5}"/>
              </a:ext>
            </a:extLst>
          </p:cNvPr>
          <p:cNvSpPr txBox="1"/>
          <p:nvPr/>
        </p:nvSpPr>
        <p:spPr>
          <a:xfrm>
            <a:off x="352425" y="5337840"/>
            <a:ext cx="11487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Цей файл у вигляді коду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xml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визначає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конфгурацію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 проекту і може містити безліч елементів. 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886137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Файл проекту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D9BF1-998E-46E4-9928-3804B3B221F7}"/>
              </a:ext>
            </a:extLst>
          </p:cNvPr>
          <p:cNvSpPr txBox="1"/>
          <p:nvPr/>
        </p:nvSpPr>
        <p:spPr>
          <a:xfrm>
            <a:off x="371475" y="1332369"/>
            <a:ext cx="115443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Зупинимось тільки на двох основних:</a:t>
            </a:r>
          </a:p>
          <a:p>
            <a:pPr algn="l"/>
            <a:endParaRPr lang="uk-UA" sz="24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</a:rPr>
              <a:t>OutputType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: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визначає вихідний тип проекту. </a:t>
            </a: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Це може бути додаток у вигляді файлу з розширенням 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exe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який запускається по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натисканню.І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 також це може бути файл із розширенням </a:t>
            </a:r>
            <a:r>
              <a:rPr lang="uk-UA" sz="2400" b="1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2400" b="1" i="0" dirty="0" err="1">
                <a:solidFill>
                  <a:srgbClr val="000000"/>
                </a:solidFill>
                <a:effectLst/>
              </a:rPr>
              <a:t>dll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–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деякий набір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функціональностей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, який використовується іншими проектами. </a:t>
            </a: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За замовчуванням тут встановлено значення "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Exe",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що означає, що ми створюємо програму, що виконується.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uk-UA" sz="24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</a:rPr>
              <a:t>TargetFramework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: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визначає версію фреймворку 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що застосовується для компіляції. У разі це значення "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net6.0 " , 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тобто застосовується 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NET 6.0.</a:t>
            </a:r>
          </a:p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</a:rPr>
              <a:t>На ранніх етапах цей файл може не знадобитися, проте згодом може знадобитися </a:t>
            </a:r>
            <a:r>
              <a:rPr lang="uk-UA" sz="2400" b="0" i="0" dirty="0" err="1">
                <a:solidFill>
                  <a:srgbClr val="000000"/>
                </a:solidFill>
                <a:effectLst/>
              </a:rPr>
              <a:t>внести</a:t>
            </a:r>
            <a:r>
              <a:rPr lang="uk-UA" sz="2400" b="0" i="0" dirty="0">
                <a:solidFill>
                  <a:srgbClr val="000000"/>
                </a:solidFill>
                <a:effectLst/>
              </a:rPr>
              <a:t> деякі зміни в конфігурацію, і тоді може виникнути потреба у зверненні до цього файлу.</a:t>
            </a:r>
          </a:p>
        </p:txBody>
      </p:sp>
    </p:spTree>
    <p:extLst>
      <p:ext uri="{BB962C8B-B14F-4D97-AF65-F5344CB8AC3E}">
        <p14:creationId xmlns:p14="http://schemas.microsoft.com/office/powerpoint/2010/main" val="3082052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358A5E8-966A-4931-AB43-C03DEEEF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18" y="1386682"/>
            <a:ext cx="11728961" cy="344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Для зберігання даних у програмі застосовуються </a:t>
            </a:r>
            <a:r>
              <a:rPr kumimoji="0" lang="uk-UA" altLang="uk-UA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змінні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. Змінна являє саме ванну область пам'яті, в якій зберігається значення певного типу. Змінна має тип, ім'я та значення.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600" dirty="0">
              <a:solidFill>
                <a:srgbClr val="000000"/>
              </a:solidFill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Тип визначає, що такого роду інформацію може зберігати змінна.</a:t>
            </a:r>
            <a:r>
              <a:rPr lang="uk-UA" altLang="uk-UA" sz="2600" dirty="0">
                <a:latin typeface="+mn-lt"/>
              </a:rPr>
              <a:t> 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Перед використанням будь-яку змінну слід визначити. Синтаксис визначення змінної виглядає так: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D036D-538E-4EE3-88BE-53C04DCD696D}"/>
              </a:ext>
            </a:extLst>
          </p:cNvPr>
          <p:cNvSpPr txBox="1"/>
          <p:nvPr/>
        </p:nvSpPr>
        <p:spPr>
          <a:xfrm>
            <a:off x="231518" y="4827624"/>
            <a:ext cx="422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тип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ім’я_змінної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860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358A5E8-966A-4931-AB43-C03DEEEF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19" y="1428452"/>
            <a:ext cx="11728961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Спочатку йде тип змінної, потім її ім'я. Як ім'я змінної може виступати будь-яка довільна назва, яка задовольняє наступним вимогам: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Ім'я може містити будь-які цифри, букви та символ підкреслення, при цьому перший символ в імені має бути буквою або символом підкреслення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k-UA" altLang="uk-UA" sz="2600" dirty="0">
                <a:solidFill>
                  <a:srgbClr val="000000"/>
                </a:solidFill>
                <a:latin typeface="+mn-lt"/>
              </a:rPr>
              <a:t>В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імені не повинно бути знаків пунктуації та пропусків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Ім'я не може бути ключовим словом мови C#. Таких слів не так багато, і під час роботи у </a:t>
            </a:r>
            <a:r>
              <a:rPr kumimoji="0" lang="uk-UA" altLang="uk-UA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Visual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uk-UA" altLang="uk-UA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Studio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середовище розробки підсвічує ключові слова синім кольором.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Хоча ім'я зміною може бути будь-яким, але слід давати змінним описові імена, які будуть говорити про їхнє призначення.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446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A019DB6-1679-40F0-80B9-819631902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06" y="1759140"/>
            <a:ext cx="11454581" cy="384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2400">
                <a:solidFill>
                  <a:srgbClr val="000000"/>
                </a:solidFill>
                <a:latin typeface="+mn-lt"/>
              </a:rPr>
              <a:t>     </a:t>
            </a: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Наприклад, визначимо найпростішу змінну: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В даному випадку визначено змінну name, яка має тип </a:t>
            </a:r>
            <a:r>
              <a:rPr kumimoji="0" lang="uk-UA" altLang="uk-UA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string</a:t>
            </a: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. тобто змінна представляє рядок. Оскільки визначення змінної є інструкцією, то після нього ставиться крапка з комою.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При цьому слід враховувати, що C# є регістрозалежною мовою, тому наступні два визначення змінних будуть представляти дві різні змінні: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400">
              <a:solidFill>
                <a:srgbClr val="000000"/>
              </a:solidFill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137CF2-74BA-44EA-BCB1-C091622A80B3}"/>
              </a:ext>
            </a:extLst>
          </p:cNvPr>
          <p:cNvSpPr txBox="1"/>
          <p:nvPr/>
        </p:nvSpPr>
        <p:spPr>
          <a:xfrm>
            <a:off x="629265" y="20989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78679-E8CB-4826-B6B7-9D82AB546F9A}"/>
              </a:ext>
            </a:extLst>
          </p:cNvPr>
          <p:cNvSpPr txBox="1"/>
          <p:nvPr/>
        </p:nvSpPr>
        <p:spPr>
          <a:xfrm>
            <a:off x="629265" y="49538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</p:txBody>
      </p:sp>
    </p:spTree>
    <p:extLst>
      <p:ext uri="{BB962C8B-B14F-4D97-AF65-F5344CB8AC3E}">
        <p14:creationId xmlns:p14="http://schemas.microsoft.com/office/powerpoint/2010/main" val="1113228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A019DB6-1679-40F0-80B9-819631902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93" y="847062"/>
            <a:ext cx="1145458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2400" dirty="0">
                <a:solidFill>
                  <a:srgbClr val="000000"/>
                </a:solidFill>
                <a:latin typeface="+mn-lt"/>
              </a:rPr>
              <a:t>    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Після визначення змінної можна надати деяке значення: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2400" dirty="0">
              <a:solidFill>
                <a:srgbClr val="000000"/>
              </a:solidFill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Оскільки змінна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представляє тип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string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тобто рядок, ми можемо присвоїти їй рядок в подвійних лапках. Причому змінної можна присвоїти лише те значення, яке відповідає її типу.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4C1438-4121-4BFB-82B6-0B27FBF71C76}"/>
              </a:ext>
            </a:extLst>
          </p:cNvPr>
          <p:cNvSpPr txBox="1"/>
          <p:nvPr/>
        </p:nvSpPr>
        <p:spPr>
          <a:xfrm>
            <a:off x="432619" y="15920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name;</a:t>
            </a:r>
          </a:p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 = "Tom";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4D97575-A4AF-4AF8-802D-2CBA810BC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10" y="3798332"/>
            <a:ext cx="1043202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Надалі за допомогою імені змінної ми зможемо звертатися до тієї області пам'яті, де зберігається її значення.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Також ми можемо відразу при визначенні присвоїти змінної значення.</a:t>
            </a:r>
            <a:r>
              <a:rPr kumimoji="0" lang="en-US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uk-UA" altLang="uk-UA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Це називаєтьс</a:t>
            </a:r>
            <a:r>
              <a:rPr lang="uk-UA" altLang="uk-UA" sz="2600" dirty="0">
                <a:solidFill>
                  <a:srgbClr val="000000"/>
                </a:solidFill>
                <a:latin typeface="+mn-lt"/>
              </a:rPr>
              <a:t>я </a:t>
            </a:r>
            <a:r>
              <a:rPr lang="uk-UA" altLang="uk-UA" sz="2600" b="1" dirty="0">
                <a:solidFill>
                  <a:srgbClr val="000000"/>
                </a:solidFill>
                <a:latin typeface="+mn-lt"/>
              </a:rPr>
              <a:t>ініціалізацією</a:t>
            </a:r>
            <a:r>
              <a:rPr lang="uk-UA" altLang="uk-UA" sz="2600" dirty="0">
                <a:solidFill>
                  <a:srgbClr val="000000"/>
                </a:solidFill>
                <a:latin typeface="+mn-lt"/>
              </a:rPr>
              <a:t>.</a:t>
            </a:r>
            <a:endParaRPr kumimoji="0" lang="uk-UA" altLang="uk-UA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F5C427-EE6D-4785-853F-E75E61E9C733}"/>
              </a:ext>
            </a:extLst>
          </p:cNvPr>
          <p:cNvSpPr txBox="1"/>
          <p:nvPr/>
        </p:nvSpPr>
        <p:spPr>
          <a:xfrm>
            <a:off x="432619" y="3429000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 = "Tom"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F8971-252D-44E7-A849-AE2B3EE9C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10" y="5398144"/>
            <a:ext cx="289502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 = "Tom"; </a:t>
            </a:r>
          </a:p>
        </p:txBody>
      </p:sp>
    </p:spTree>
    <p:extLst>
      <p:ext uri="{BB962C8B-B14F-4D97-AF65-F5344CB8AC3E}">
        <p14:creationId xmlns:p14="http://schemas.microsoft.com/office/powerpoint/2010/main" val="2501974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Зміні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02BFAB-B2EC-4918-BE71-506FC4A63B99}"/>
              </a:ext>
            </a:extLst>
          </p:cNvPr>
          <p:cNvSpPr txBox="1"/>
          <p:nvPr/>
        </p:nvSpPr>
        <p:spPr>
          <a:xfrm>
            <a:off x="838200" y="1393577"/>
            <a:ext cx="9829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</a:rPr>
              <a:t>Відмінною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рисою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змінних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є те,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в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програмі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можна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багаторазово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міняти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значення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.</a:t>
            </a:r>
            <a:endParaRPr lang="uk-UA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91BB8B-18B4-47B1-A93B-62FD322EDFAD}"/>
              </a:ext>
            </a:extLst>
          </p:cNvPr>
          <p:cNvSpPr txBox="1"/>
          <p:nvPr/>
        </p:nvSpPr>
        <p:spPr>
          <a:xfrm>
            <a:off x="838200" y="3458600"/>
            <a:ext cx="6677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</a:rPr>
              <a:t>Консольний висновок програми:</a:t>
            </a:r>
            <a:endParaRPr lang="uk-UA" sz="24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FEE259D-3D26-41F6-AD89-BFD42C69C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973224"/>
            <a:ext cx="495300" cy="46166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uk-UA" sz="1200" b="0" i="0" u="none" strike="noStrike" cap="none" normalizeH="0" baseline="0" dirty="0">
              <a:ln>
                <a:noFill/>
              </a:ln>
              <a:solidFill>
                <a:srgbClr val="EEEEE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Bob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9D269-E32B-4F5E-B0CB-2D033E55AE5F}"/>
              </a:ext>
            </a:extLst>
          </p:cNvPr>
          <p:cNvSpPr txBox="1"/>
          <p:nvPr/>
        </p:nvSpPr>
        <p:spPr>
          <a:xfrm>
            <a:off x="838200" y="2205312"/>
            <a:ext cx="9829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name = "Tom";  // 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створюємо</a:t>
            </a:r>
            <a:r>
              <a:rPr lang="uk-UA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зміну і </a:t>
            </a:r>
            <a:r>
              <a:rPr lang="uk-UA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ініціалізуємо</a:t>
            </a:r>
            <a:r>
              <a:rPr lang="uk-UA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її</a:t>
            </a:r>
          </a:p>
          <a:p>
            <a:pPr algn="l" fontAlgn="base"/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(name);    // Tom</a:t>
            </a:r>
          </a:p>
          <a:p>
            <a:pPr algn="l" fontAlgn="base"/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 = "Bob";       // </a:t>
            </a:r>
            <a:r>
              <a:rPr lang="uk-UA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змінюємо значення</a:t>
            </a:r>
          </a:p>
          <a:p>
            <a:pPr algn="l" fontAlgn="base"/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(name);    // Bob</a:t>
            </a:r>
          </a:p>
        </p:txBody>
      </p:sp>
    </p:spTree>
    <p:extLst>
      <p:ext uri="{BB962C8B-B14F-4D97-AF65-F5344CB8AC3E}">
        <p14:creationId xmlns:p14="http://schemas.microsoft.com/office/powerpoint/2010/main" val="254794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Константи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D0BD2-3751-4FF2-8F9D-EAB8B10D70EA}"/>
              </a:ext>
            </a:extLst>
          </p:cNvPr>
          <p:cNvSpPr txBox="1"/>
          <p:nvPr/>
        </p:nvSpPr>
        <p:spPr>
          <a:xfrm>
            <a:off x="657224" y="1317189"/>
            <a:ext cx="110394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Відмінною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особливістю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змінних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є те,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змінити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їхнє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процесі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Але,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крім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того, у C# є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має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бути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обов'язково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ініціалізована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і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після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бути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змінено</a:t>
            </a:r>
            <a:endParaRPr lang="ru-RU" sz="20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призначені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опису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таких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повинні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змінюватись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програмі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Для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визначення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констант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використовується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ключове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слово </a:t>
            </a:r>
            <a:r>
              <a:rPr lang="ru-RU" sz="20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яке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вказується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перед типом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константи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2BFB8E-B228-44CA-8F26-0B4599A9E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3290500"/>
            <a:ext cx="716862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NAME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определяем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константу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49D32AF-ACE8-4C6C-B4AF-FEEC6BD9A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4" y="3636734"/>
            <a:ext cx="11782425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Так, у даному випадку визначена константа NAME, яка зберігає рядок "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Tom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969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Константи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D0BD2-3751-4FF2-8F9D-EAB8B10D70EA}"/>
              </a:ext>
            </a:extLst>
          </p:cNvPr>
          <p:cNvSpPr txBox="1"/>
          <p:nvPr/>
        </p:nvSpPr>
        <p:spPr>
          <a:xfrm>
            <a:off x="383458" y="1290266"/>
            <a:ext cx="113464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використанні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констант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слід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пам'ятати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оголосити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лише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один раз і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момент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компіляції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вони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мають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бути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визначені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Так,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наступному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випадку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отримаємо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помилку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тому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константі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надано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початкове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B5C56-C3CA-4056-A045-B1CF48755254}"/>
              </a:ext>
            </a:extLst>
          </p:cNvPr>
          <p:cNvSpPr txBox="1"/>
          <p:nvPr/>
        </p:nvSpPr>
        <p:spPr>
          <a:xfrm>
            <a:off x="383457" y="2819348"/>
            <a:ext cx="10087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NAME;  // !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Ошибка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- константа NAME не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ініціалізована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6657B-189B-4A83-A867-210C6442F005}"/>
              </a:ext>
            </a:extLst>
          </p:cNvPr>
          <p:cNvSpPr txBox="1"/>
          <p:nvPr/>
        </p:nvSpPr>
        <p:spPr>
          <a:xfrm>
            <a:off x="383457" y="3214933"/>
            <a:ext cx="9527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Крім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того,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зможемо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процесі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D07E6EB-5348-4CE9-B8E4-BAD2AF789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82" y="3645821"/>
            <a:ext cx="88229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NAME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створюємо константу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Bob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 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!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Ошибка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 у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констати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неможна змінити значення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526FE-8061-492D-8429-A47E2B22FF4D}"/>
              </a:ext>
            </a:extLst>
          </p:cNvPr>
          <p:cNvSpPr txBox="1"/>
          <p:nvPr/>
        </p:nvSpPr>
        <p:spPr>
          <a:xfrm>
            <a:off x="383457" y="4257452"/>
            <a:ext cx="11346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Таким чином,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нам треба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зберігати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деякі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але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слід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вони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визначаються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вигляді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констант.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змінювати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вони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визначаються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вигляді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987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</a:t>
            </a:r>
            <a:endParaRPr lang="uk-UA" dirty="0"/>
          </a:p>
        </p:txBody>
      </p:sp>
      <p:pic>
        <p:nvPicPr>
          <p:cNvPr id="6146" name="Picture 2" descr="Тема 2. Основи мови програмування C#">
            <a:extLst>
              <a:ext uri="{FF2B5EF4-FFF2-40B4-BE49-F238E27FC236}">
                <a16:creationId xmlns:a16="http://schemas.microsoft.com/office/drawing/2014/main" id="{8A573EBF-5EFD-4DA3-8D0D-70DD6FFC3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781" y="1404547"/>
            <a:ext cx="9596438" cy="519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431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даних. Суфікси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E4122-7B62-4C93-A89B-BB5701DC264D}"/>
              </a:ext>
            </a:extLst>
          </p:cNvPr>
          <p:cNvSpPr txBox="1"/>
          <p:nvPr/>
        </p:nvSpPr>
        <p:spPr>
          <a:xfrm>
            <a:off x="619125" y="1309147"/>
            <a:ext cx="107869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присвоєння значень слід пам'ятати таку тонкість: все речові літерали (дрібні числа) розглядаються як значення типу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 щоб вказати, що дробове число представляє тип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або тип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необхідно до літералу додавати суфікс: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F/f –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M/m –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F3E529D-EEAF-4E6D-B748-3BFCCE058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45" y="2813447"/>
            <a:ext cx="1780937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SFMono-Regular"/>
              </a:rPr>
              <a:t>float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 a = 3.14F;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SFMono-Regular"/>
              </a:rPr>
              <a:t>float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 b = 30.6f;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SFMono-Regular"/>
              </a:rPr>
              <a:t>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 c = 1005.8M;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SFMono-Regular"/>
              </a:rPr>
              <a:t>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 d = 334.8m;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D2FEA-E3FE-4276-83A9-B4A89B10C1B6}"/>
              </a:ext>
            </a:extLst>
          </p:cNvPr>
          <p:cNvSpPr txBox="1"/>
          <p:nvPr/>
        </p:nvSpPr>
        <p:spPr>
          <a:xfrm>
            <a:off x="619125" y="3979193"/>
            <a:ext cx="106512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Подібним чином всі цілі літерали розглядаються як значення типу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Щоб явним чином вказати, що цілий літерал представляє значення типу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треба використовувати суфікс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U/u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типу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-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суфікс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L/l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,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 для типу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ulong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-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суфікс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UL/ul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F882E93-6623-4136-8EFB-AD2ACE722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45" y="5548852"/>
            <a:ext cx="185146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10U;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= 20L;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30UL;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101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даних. </a:t>
            </a: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Використання системних типів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1618C-F070-4A9D-BAE0-2240AAB1F02B}"/>
              </a:ext>
            </a:extLst>
          </p:cNvPr>
          <p:cNvSpPr txBox="1"/>
          <p:nvPr/>
        </p:nvSpPr>
        <p:spPr>
          <a:xfrm>
            <a:off x="952500" y="1728878"/>
            <a:ext cx="10763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Вище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перерахуванні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всіх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базових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типів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кожного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згадувався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системний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тип. Тому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назва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вбудованого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типу по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суті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є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скороченим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позначенням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системного типу.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Наприклад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наступні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будуть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еквівалентні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за типом: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27611DE-2019-4C9D-8E43-36FB8D948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3429000"/>
            <a:ext cx="234519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= 4;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System.Int32 b = 4;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455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962AA-E90C-45EA-A7CD-EBC51909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dirty="0">
                <a:solidFill>
                  <a:srgbClr val="000000"/>
                </a:solidFill>
                <a:latin typeface="-apple-system"/>
              </a:rPr>
              <a:t>Типи даних. </a:t>
            </a:r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Неявна типізація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63A764-B723-45BE-934E-622F626B3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24" y="1295111"/>
            <a:ext cx="1149514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Раніше ми явно вказували тип змінних, наприклад,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x;. І компілятор при запуску вже знав, що x зберігає ціле значення.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Проте ми можемо використати і модель неявної типізації: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1EEF8B3-ADA1-4FB5-99D5-E40BF1C4D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48" y="2156885"/>
            <a:ext cx="30072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= 20;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60A1889-1A1C-46F9-9E7D-E911E765C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72" y="2715409"/>
            <a:ext cx="1140407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Для неявної типізації замість назви типу даних використовується ключове слово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var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 Потім вже за компіляції компілятор сам виводить тип даних з присвоєного значення. Так як за умовчанням всі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цілочисленні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значення розглядаються як значення типу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то в результаті змінна c матиме тип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 Аналогічно змінній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helloнадається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рядок, тому ця змінна матиме тип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</a:t>
            </a:r>
            <a:r>
              <a:rPr lang="uk-UA" altLang="uk-UA" sz="1600" dirty="0">
                <a:solidFill>
                  <a:srgbClr val="000000"/>
                </a:solidFill>
                <a:cs typeface="Arial" panose="020B0604020202020204" pitchFamily="34" charset="0"/>
              </a:rPr>
              <a:t>.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Ці змінні подібні до звичайних, проте вони мають деякі обмеження.</a:t>
            </a:r>
            <a:r>
              <a:rPr lang="uk-UA" altLang="uk-UA" sz="1600" dirty="0">
                <a:cs typeface="Arial" panose="020B0604020202020204" pitchFamily="34" charset="0"/>
              </a:rPr>
              <a:t>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По-перше, ми не можемо спочатку оголосити змінну, що неявно типізується, а потім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ініціалізувати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: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A32396-4423-420B-8524-D0AF25CCA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48" y="4010404"/>
            <a:ext cx="12272501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цей код працює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20;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цей код не прац</a:t>
            </a:r>
            <a:r>
              <a:rPr lang="uk-UA" altLang="uk-UA" sz="1400" dirty="0">
                <a:solidFill>
                  <a:srgbClr val="008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ює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c= 20;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BB5A8D-0E53-4EAE-88E4-BFA68E55A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72" y="4595179"/>
            <a:ext cx="12030997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По-друге, ми не можемо вказати як значення змінної, що неявно типізується 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C30764A1-EA41-496C-9761-8EE645E01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48" y="5945823"/>
            <a:ext cx="21480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цей код не працює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c=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F0E1F8-705D-4890-AB38-ECF152FC3916}"/>
              </a:ext>
            </a:extLst>
          </p:cNvPr>
          <p:cNvSpPr txBox="1"/>
          <p:nvPr/>
        </p:nvSpPr>
        <p:spPr>
          <a:xfrm>
            <a:off x="483624" y="5562889"/>
            <a:ext cx="12668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Оскільки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то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компілятор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зможе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вивести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тип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99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</a:t>
            </a:r>
            <a:r>
              <a:rPr lang="uk-UA" b="1" i="0" dirty="0" err="1">
                <a:solidFill>
                  <a:srgbClr val="000000"/>
                </a:solidFill>
                <a:effectLst/>
                <a:latin typeface="-apple-system"/>
              </a:rPr>
              <a:t>ввиведення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F10D9-E04B-455C-A51A-7CBCBE93AEAA}"/>
              </a:ext>
            </a:extLst>
          </p:cNvPr>
          <p:cNvSpPr txBox="1"/>
          <p:nvPr/>
        </p:nvSpPr>
        <p:spPr>
          <a:xfrm>
            <a:off x="600074" y="1361986"/>
            <a:ext cx="112109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виведення інформації на консоль ми вже використовували вбудований метод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Тобто, якщо ми хочемо вивести деяку інформацію на консоль, нам треба передати її в метод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Console.WriteLine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7E866A3-FF50-4ECD-857C-B29280D57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2501363"/>
            <a:ext cx="11134724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Привіт світ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Вітаю у світі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C#!"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світ..."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(24.5);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0EC2F8-0467-4C30-A758-88A6C19BC8BA}"/>
              </a:ext>
            </a:extLst>
          </p:cNvPr>
          <p:cNvSpPr txBox="1"/>
          <p:nvPr/>
        </p:nvSpPr>
        <p:spPr>
          <a:xfrm>
            <a:off x="600074" y="4044484"/>
            <a:ext cx="6396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Консольний висновок: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9344364-EE8F-42CF-87D7-3313B6DB5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4448579"/>
            <a:ext cx="1858201" cy="64633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Привіт світ! </a:t>
            </a:r>
            <a:b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Вітаю у світі C#! </a:t>
            </a:r>
            <a:b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світ... 24,5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358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</a:t>
            </a:r>
            <a:r>
              <a:rPr lang="uk-UA" b="1" i="0" dirty="0" err="1">
                <a:solidFill>
                  <a:srgbClr val="000000"/>
                </a:solidFill>
                <a:effectLst/>
                <a:latin typeface="-apple-system"/>
              </a:rPr>
              <a:t>ввиведення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3DAFF-F918-4003-8219-1D34F99AF69C}"/>
              </a:ext>
            </a:extLst>
          </p:cNvPr>
          <p:cNvSpPr txBox="1"/>
          <p:nvPr/>
        </p:nvSpPr>
        <p:spPr>
          <a:xfrm>
            <a:off x="561974" y="1403832"/>
            <a:ext cx="11115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Нерідко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виникає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необхідність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вивести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консоль в одному рядку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відразу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кількох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змінних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цьому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випадку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можемо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використовувати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прийом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називається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інтерполяцією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47E3FE-5DC7-4C22-BB72-C5420F2CE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2543424"/>
            <a:ext cx="802303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34;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1.7;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"Ім’я: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Вік: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Зріст: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}м"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AEC11AB-BCF4-483A-8FBF-1A81ED35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4" y="3621732"/>
            <a:ext cx="111156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Для вбудовування окремих значень у рядок, що виводиться на консоль, використовуються фігурні дужки, в які полягає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вбудовуване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значення {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}.{4 + 7}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При виведенні на консоль замість поміщених у фігурні дужки виразів виводитимуться їх значення: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68A21ED-258C-4B90-8BAE-441CA679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4" y="5654147"/>
            <a:ext cx="1229824" cy="64633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Ім'я: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Вік: 34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Зріст: 1,7м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209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</a:t>
            </a:r>
            <a:r>
              <a:rPr lang="uk-UA" b="1" i="0" dirty="0" err="1">
                <a:solidFill>
                  <a:srgbClr val="000000"/>
                </a:solidFill>
                <a:effectLst/>
                <a:latin typeface="-apple-system"/>
              </a:rPr>
              <a:t>ввиведення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239EB-A06D-444B-BD06-A6F97A6A62C2}"/>
              </a:ext>
            </a:extLst>
          </p:cNvPr>
          <p:cNvSpPr txBox="1"/>
          <p:nvPr/>
        </p:nvSpPr>
        <p:spPr>
          <a:xfrm>
            <a:off x="546611" y="1335793"/>
            <a:ext cx="8784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Є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інший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спосіб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виведення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консоль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відразу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кількох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значень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BDD27A0-D394-4CB0-9874-2A367448C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13" y="2152573"/>
            <a:ext cx="901048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34;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1.7;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Ім’я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{0}  Вік: {2}  Зріст: {1}м"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109EE4E-E73F-419C-81AA-1EE7ADF4E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611" y="3061852"/>
            <a:ext cx="1116360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Тут бачимо, що рядок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Console.WriteLineмістить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деякі числа у фігурних дужках: {0}, {1}, {2}. Це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плейсхолдери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замість яких під час виведення рядка на консоль будуть підставлятися деякі значення. Значення, що підставляються, вказуються після рядка через кому.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При цьому важливий порядок подібних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плейсхолдерів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 Наприклад, в даному випадку після рядка першої вказана змінна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потім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heage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і потім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age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4B56E-5DB4-475A-9536-3592C87876A2}"/>
              </a:ext>
            </a:extLst>
          </p:cNvPr>
          <p:cNvSpPr txBox="1"/>
          <p:nvPr/>
        </p:nvSpPr>
        <p:spPr>
          <a:xfrm>
            <a:off x="644013" y="5362984"/>
            <a:ext cx="919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"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Ім’я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{0}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Вік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{2}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Зріст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{1}м"</a:t>
            </a:r>
            <a:endParaRPr lang="uk-U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522BD-AA2B-4C02-B131-5E1908F545BD}"/>
              </a:ext>
            </a:extLst>
          </p:cNvPr>
          <p:cNvSpPr txBox="1"/>
          <p:nvPr/>
        </p:nvSpPr>
        <p:spPr>
          <a:xfrm>
            <a:off x="1088001" y="5814111"/>
            <a:ext cx="919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-apple-system"/>
              </a:rPr>
              <a:t>буде замінено на</a:t>
            </a:r>
            <a:endParaRPr lang="uk-U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615A3-618C-459E-BE0A-72ADFDB13C2F}"/>
              </a:ext>
            </a:extLst>
          </p:cNvPr>
          <p:cNvSpPr txBox="1"/>
          <p:nvPr/>
        </p:nvSpPr>
        <p:spPr>
          <a:xfrm>
            <a:off x="644013" y="6265238"/>
            <a:ext cx="919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"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Ім’я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Tom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Вік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34  </a:t>
            </a:r>
            <a:r>
              <a:rPr lang="ru-RU" b="0" i="0" dirty="0" err="1">
                <a:solidFill>
                  <a:srgbClr val="DB003E"/>
                </a:solidFill>
                <a:effectLst/>
                <a:latin typeface="SFMono-Regular"/>
              </a:rPr>
              <a:t>Зріст</a:t>
            </a:r>
            <a:r>
              <a:rPr lang="ru-RU" b="0" i="0" dirty="0">
                <a:solidFill>
                  <a:srgbClr val="DB003E"/>
                </a:solidFill>
                <a:effectLst/>
                <a:latin typeface="SFMono-Regular"/>
              </a:rPr>
              <a:t>: 1,7м"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91626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виведення.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-apple-system"/>
              </a:rPr>
              <a:t>Console.Write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8A5534C-4D99-4059-B97A-98C2EA6F1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390097"/>
            <a:ext cx="11353800" cy="1569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Крім того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Console.WriteLine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()можна використовувати метод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Console.Write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()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, він працює так само за тим винятком, що не додає перехід на наступний рядок, тобто наступний консольний висновок буде виводитися на тому ж рядку.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085122-4720-42F9-9446-A3F491AB5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993924"/>
            <a:ext cx="840935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34;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1.7;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"Ім’я: 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Вік: 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Зріст: 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}м"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965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FE07D-F3A4-4729-8779-151FA912BDBD}"/>
              </a:ext>
            </a:extLst>
          </p:cNvPr>
          <p:cNvSpPr txBox="1"/>
          <p:nvPr/>
        </p:nvSpPr>
        <p:spPr>
          <a:xfrm>
            <a:off x="570271" y="1357783"/>
            <a:ext cx="11051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Окрім виведення інформації на консоль, ми можемо отримувати інформацію з консолі. Для цього призначений метод 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Console.ReadLine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.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Він дозволяє отримати введений рядок.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D4E7EC6-5BF5-4870-A85C-67EB02241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77" y="2607442"/>
            <a:ext cx="44435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Console.Write(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"Введите свое имя: "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name = Console.ReadLine();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Console.WriteLine($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"Привет {name}"</a:t>
            </a:r>
            <a:r>
              <a:rPr kumimoji="0" lang="uk-UA" altLang="uk-UA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A2107-CDCE-43C2-A3E4-82D1340D50D9}"/>
              </a:ext>
            </a:extLst>
          </p:cNvPr>
          <p:cNvSpPr txBox="1"/>
          <p:nvPr/>
        </p:nvSpPr>
        <p:spPr>
          <a:xfrm>
            <a:off x="570271" y="3462725"/>
            <a:ext cx="110514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разі все, що вводить користувач, з допомогою методу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Console.ReadLine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передається змінну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name.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0F4205-B2ED-4DE8-87CB-DF5CCCECB85D}"/>
              </a:ext>
            </a:extLst>
          </p:cNvPr>
          <p:cNvSpPr txBox="1"/>
          <p:nvPr/>
        </p:nvSpPr>
        <p:spPr>
          <a:xfrm>
            <a:off x="570271" y="4343054"/>
            <a:ext cx="647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Приклад роботи програми: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AF97A02-7085-4B93-8D46-F09B449A9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77" y="4854051"/>
            <a:ext cx="2323072" cy="46166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своє ім'я: Том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Привіт Том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474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0B954DB-6839-44C0-AD13-03D4958FF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305819"/>
            <a:ext cx="11353800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Особливістю методу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Console.ReadLine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()є те, що він може вважати інформацію з консолі лише у вигляді рядка. Крім того, можлива ситуація, коли для методу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Console.ReadLine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не виявиться доступних для зчитування рядків, тобто коли йому нема чого зчитувати, він повертає значення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null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, тобто, грубо кажучи, фактично відсутність значення. І щоб відобразити цю ситуацію ми визначаємо змінну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name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в яку отримуємо введення з консолі, як змінну типу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?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. Тут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stringвказує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що змінна може зберігати значення типу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string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тобто рядки. А знак питання 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?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показує, що змінна також може зберігати значення 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null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, тобто насправді не мати ніякого значення. Далі ми детальніше розберемо 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nullі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як з ним працювати.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0733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5A147-A935-4BC4-BE9A-A3E6CCF95EB6}"/>
              </a:ext>
            </a:extLst>
          </p:cNvPr>
          <p:cNvSpPr txBox="1"/>
          <p:nvPr/>
        </p:nvSpPr>
        <p:spPr>
          <a:xfrm>
            <a:off x="676275" y="1563588"/>
            <a:ext cx="108585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Однак, може виникнути питання, як нам бути, якщо, припустимо, ми хочемо ввести вік у змінну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або іншу інформацію у змінні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чи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decimal?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 замовчуванням платформа 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надає низку методів, які дозволяють конвертувати різні значення до типів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int, double 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 </a:t>
            </a:r>
            <a:r>
              <a:rPr lang="uk-UA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т.д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Деякі з цих методів: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Convert.ToInt32()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перетворює до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Convert.ToDouble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перетворює до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Convert.ToDecimal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перетворює до типу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decimal)</a:t>
            </a:r>
          </a:p>
        </p:txBody>
      </p:sp>
    </p:spTree>
    <p:extLst>
      <p:ext uri="{BB962C8B-B14F-4D97-AF65-F5344CB8AC3E}">
        <p14:creationId xmlns:p14="http://schemas.microsoft.com/office/powerpoint/2010/main" val="2615656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77CD1-D653-460A-8B6B-FA45390F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034F4-8579-4FCD-9CAE-A52D54807202}"/>
              </a:ext>
            </a:extLst>
          </p:cNvPr>
          <p:cNvSpPr txBox="1"/>
          <p:nvPr/>
        </p:nvSpPr>
        <p:spPr>
          <a:xfrm>
            <a:off x="638175" y="13213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Приклад введення значень: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2D9FC8-2A50-41F2-86A2-7049FED69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809751"/>
            <a:ext cx="1257300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</a:t>
            </a:r>
            <a:r>
              <a:rPr lang="uk-UA" altLang="uk-UA" sz="1600" dirty="0">
                <a:solidFill>
                  <a:srgbClr val="DB00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і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м’я: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вік: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Convert.ToInt32(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зріст: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Convert.ToDouble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"Введіть розмір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зп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Convert.ToDecimal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"Ім’я: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Вік: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  Зріст: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}м  Зарплата: {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DB003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}$"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522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21ADB-400C-4C89-92CE-8022FA205CBE}"/>
              </a:ext>
            </a:extLst>
          </p:cNvPr>
          <p:cNvSpPr txBox="1"/>
          <p:nvPr/>
        </p:nvSpPr>
        <p:spPr>
          <a:xfrm>
            <a:off x="838200" y="1518880"/>
            <a:ext cx="10515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введенні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важливо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враховувати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поточну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операційну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систему. В одних культурах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роздільником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цілою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 дробовою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частиною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є точка (США,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Великобританія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...), в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інших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кома (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Росія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Німеччина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...).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Наприклад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поточна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ОС -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українською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то треба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вводити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дробові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числа з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роздільником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коми.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Якщо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локалізація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англомовна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значить,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роздільником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цілої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дробової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частини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під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час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введення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буде точка.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Приклад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FBD2F3A-1E6C-4792-AD1D-2EF50F39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Консольне введення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6FD2272-8120-462F-BCBC-083A4DA0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4473128"/>
            <a:ext cx="2601994" cy="15696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ім'я: Том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вік: 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зростання: 1,75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Введіть розмір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зп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300,67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Ім'я: Том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Вік: 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Зріст: 1,75м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rgbClr val="EEEEE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Зарплата: 300,67$</a:t>
            </a:r>
            <a:r>
              <a:rPr kumimoji="0" lang="uk-UA" altLang="uk-UA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8574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7421</TotalTime>
  <Words>3089</Words>
  <Application>Microsoft Office PowerPoint</Application>
  <PresentationFormat>Широкий екран</PresentationFormat>
  <Paragraphs>280</Paragraphs>
  <Slides>36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36</vt:i4>
      </vt:variant>
    </vt:vector>
  </HeadingPairs>
  <TitlesOfParts>
    <vt:vector size="47" baseType="lpstr">
      <vt:lpstr>-apple-system</vt:lpstr>
      <vt:lpstr>Aptos</vt:lpstr>
      <vt:lpstr>Arial</vt:lpstr>
      <vt:lpstr>Calibri</vt:lpstr>
      <vt:lpstr>Calibri Light</vt:lpstr>
      <vt:lpstr>Cascadia Code</vt:lpstr>
      <vt:lpstr>Cascadia Mono</vt:lpstr>
      <vt:lpstr>Comfortaa</vt:lpstr>
      <vt:lpstr>Courier New</vt:lpstr>
      <vt:lpstr>SFMono-Regular</vt:lpstr>
      <vt:lpstr>Тема Office</vt:lpstr>
      <vt:lpstr>Презентація PowerPoint</vt:lpstr>
      <vt:lpstr>Створення проекту</vt:lpstr>
      <vt:lpstr>Створення проекту</vt:lpstr>
      <vt:lpstr>Створення проекту</vt:lpstr>
      <vt:lpstr>Створення проекту</vt:lpstr>
      <vt:lpstr>Як додати бібліотеки?</vt:lpstr>
      <vt:lpstr>Як додати бібліотеки?</vt:lpstr>
      <vt:lpstr>Виконання програми</vt:lpstr>
      <vt:lpstr>Інструкції</vt:lpstr>
      <vt:lpstr>Інструкції</vt:lpstr>
      <vt:lpstr>Інструкції</vt:lpstr>
      <vt:lpstr>Регістрозалежність</vt:lpstr>
      <vt:lpstr>Коментарі</vt:lpstr>
      <vt:lpstr>Файл проекту</vt:lpstr>
      <vt:lpstr>Файл проекту</vt:lpstr>
      <vt:lpstr>Файл проекту</vt:lpstr>
      <vt:lpstr>Зміні</vt:lpstr>
      <vt:lpstr>Зміні</vt:lpstr>
      <vt:lpstr>Зміні</vt:lpstr>
      <vt:lpstr>Зміні</vt:lpstr>
      <vt:lpstr>Зміні</vt:lpstr>
      <vt:lpstr>Константи</vt:lpstr>
      <vt:lpstr>Константи</vt:lpstr>
      <vt:lpstr>Типи даних</vt:lpstr>
      <vt:lpstr>Типи даних. Суфікси</vt:lpstr>
      <vt:lpstr>Типи даних. Використання системних типів</vt:lpstr>
      <vt:lpstr>Типи даних. Неявна типізація</vt:lpstr>
      <vt:lpstr>Консольне ввиведення</vt:lpstr>
      <vt:lpstr>Консольне ввиведення</vt:lpstr>
      <vt:lpstr>Консольне ввиведення</vt:lpstr>
      <vt:lpstr>Консольне виведення. Console.Write</vt:lpstr>
      <vt:lpstr>Консольне введення</vt:lpstr>
      <vt:lpstr>Консольне введення</vt:lpstr>
      <vt:lpstr>Консольне введення</vt:lpstr>
      <vt:lpstr>Консольне введення</vt:lpstr>
      <vt:lpstr>Консольне введення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45</cp:revision>
  <dcterms:created xsi:type="dcterms:W3CDTF">2024-06-01T09:56:10Z</dcterms:created>
  <dcterms:modified xsi:type="dcterms:W3CDTF">2025-07-15T20:51:45Z</dcterms:modified>
</cp:coreProperties>
</file>